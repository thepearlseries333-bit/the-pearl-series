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8.jpg"/><Relationship Id="rId9" Type="http://schemas.openxmlformats.org/officeDocument/2006/relationships/image" Target="../media/image9.jpg"/><Relationship Id="rId10" Type="http://schemas.openxmlformats.org/officeDocument/2006/relationships/image" Target="../media/image10.jpg"/><Relationship Id="rId11" Type="http://schemas.openxmlformats.org/officeDocument/2006/relationships/image" Target="../media/image11.jpg"/><Relationship Id="rId12" Type="http://schemas.openxmlformats.org/officeDocument/2006/relationships/image" Target="../media/image12.jpg"/><Relationship Id="rId13"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26.jpg"/><Relationship Id="rId6" Type="http://schemas.openxmlformats.org/officeDocument/2006/relationships/image" Target="../media/image27.jpg"/><Relationship Id="rId7" Type="http://schemas.openxmlformats.org/officeDocument/2006/relationships/image" Target="../media/image28.jpg"/><Relationship Id="rId8" Type="http://schemas.openxmlformats.org/officeDocument/2006/relationships/image" Target="../media/image29.jpg"/><Relationship Id="rId9" Type="http://schemas.openxmlformats.org/officeDocument/2006/relationships/image" Target="../media/image3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 Id="rId6" Type="http://schemas.openxmlformats.org/officeDocument/2006/relationships/image" Target="../media/image35.jpg"/><Relationship Id="rId7" Type="http://schemas.openxmlformats.org/officeDocument/2006/relationships/image" Target="../media/image36.jpg"/><Relationship Id="rId8" Type="http://schemas.openxmlformats.org/officeDocument/2006/relationships/image" Target="../media/image37.jpg"/><Relationship Id="rId9" Type="http://schemas.openxmlformats.org/officeDocument/2006/relationships/image" Target="../media/image3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image" Target="../media/image4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42.jpg"/><Relationship Id="rId4" Type="http://schemas.openxmlformats.org/officeDocument/2006/relationships/image" Target="../media/image43.jpg"/><Relationship Id="rId5" Type="http://schemas.openxmlformats.org/officeDocument/2006/relationships/image" Target="../media/image44.jpg"/><Relationship Id="rId6" Type="http://schemas.openxmlformats.org/officeDocument/2006/relationships/image" Target="../media/image45.jpg"/><Relationship Id="rId7" Type="http://schemas.openxmlformats.org/officeDocument/2006/relationships/image" Target="../media/image46.jpg"/><Relationship Id="rId8" Type="http://schemas.openxmlformats.org/officeDocument/2006/relationships/image" Target="../media/image47.jpg"/><Relationship Id="rId9" Type="http://schemas.openxmlformats.org/officeDocument/2006/relationships/image" Target="../media/image4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image" Target="../media/image5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52.jpg"/><Relationship Id="rId4" Type="http://schemas.openxmlformats.org/officeDocument/2006/relationships/image" Target="../media/image53.jpg"/><Relationship Id="rId5" Type="http://schemas.openxmlformats.org/officeDocument/2006/relationships/image" Target="../media/image54.jpg"/><Relationship Id="rId6" Type="http://schemas.openxmlformats.org/officeDocument/2006/relationships/image" Target="../media/image55.jpg"/><Relationship Id="rId7" Type="http://schemas.openxmlformats.org/officeDocument/2006/relationships/image" Target="../media/image56.jpg"/><Relationship Id="rId8" Type="http://schemas.openxmlformats.org/officeDocument/2006/relationships/image" Target="../media/image57.jpg"/><Relationship Id="rId9" Type="http://schemas.openxmlformats.org/officeDocument/2006/relationships/image" Target="../media/image5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image" Target="../media/image62.jpg"/><Relationship Id="rId4" Type="http://schemas.openxmlformats.org/officeDocument/2006/relationships/image" Target="../media/image63.jpg"/><Relationship Id="rId5" Type="http://schemas.openxmlformats.org/officeDocument/2006/relationships/image" Target="../media/image64.jpg"/><Relationship Id="rId6" Type="http://schemas.openxmlformats.org/officeDocument/2006/relationships/image" Target="../media/image65.jpg"/><Relationship Id="rId7" Type="http://schemas.openxmlformats.org/officeDocument/2006/relationships/image" Target="../media/image66.jpg"/><Relationship Id="rId8" Type="http://schemas.openxmlformats.org/officeDocument/2006/relationships/image" Target="../media/image67.jpg"/><Relationship Id="rId9" Type="http://schemas.openxmlformats.org/officeDocument/2006/relationships/image" Target="../media/image6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image" Target="../media/image7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image" Target="../media/image72.jpg"/><Relationship Id="rId4" Type="http://schemas.openxmlformats.org/officeDocument/2006/relationships/image" Target="../media/image73.jpg"/><Relationship Id="rId5" Type="http://schemas.openxmlformats.org/officeDocument/2006/relationships/image" Target="../media/image74.jpg"/><Relationship Id="rId6" Type="http://schemas.openxmlformats.org/officeDocument/2006/relationships/image" Target="../media/image75.jpg"/><Relationship Id="rId7" Type="http://schemas.openxmlformats.org/officeDocument/2006/relationships/image" Target="../media/image76.jpg"/><Relationship Id="rId8" Type="http://schemas.openxmlformats.org/officeDocument/2006/relationships/image" Target="../media/image77.jpg"/><Relationship Id="rId9" Type="http://schemas.openxmlformats.org/officeDocument/2006/relationships/image" Target="../media/image7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image" Target="../media/image80.jpg"/><Relationship Id="rId4" Type="http://schemas.openxmlformats.org/officeDocument/2006/relationships/image" Target="../media/image81.jpg"/><Relationship Id="rId5" Type="http://schemas.openxmlformats.org/officeDocument/2006/relationships/image" Target="../media/image82.jpg"/><Relationship Id="rId6" Type="http://schemas.openxmlformats.org/officeDocument/2006/relationships/image" Target="../media/image83.jpg"/><Relationship Id="rId7" Type="http://schemas.openxmlformats.org/officeDocument/2006/relationships/image" Target="../media/image84.jpg"/><Relationship Id="rId8" Type="http://schemas.openxmlformats.org/officeDocument/2006/relationships/image" Target="../media/image85.jpg"/><Relationship Id="rId9" Type="http://schemas.openxmlformats.org/officeDocument/2006/relationships/image" Target="../media/image8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jpg"/><Relationship Id="rId3" Type="http://schemas.openxmlformats.org/officeDocument/2006/relationships/image" Target="../media/image88.jpg"/><Relationship Id="rId4" Type="http://schemas.openxmlformats.org/officeDocument/2006/relationships/image" Target="../media/image89.jpg"/><Relationship Id="rId5" Type="http://schemas.openxmlformats.org/officeDocument/2006/relationships/image" Target="../media/image90.jpg"/><Relationship Id="rId6" Type="http://schemas.openxmlformats.org/officeDocument/2006/relationships/image" Target="../media/image91.jpg"/><Relationship Id="rId7" Type="http://schemas.openxmlformats.org/officeDocument/2006/relationships/image" Target="../media/image92.jpg"/><Relationship Id="rId8" Type="http://schemas.openxmlformats.org/officeDocument/2006/relationships/image" Target="../media/image93.jpg"/><Relationship Id="rId9" Type="http://schemas.openxmlformats.org/officeDocument/2006/relationships/image" Target="../media/image9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4754880"/>
            <a:ext cx="12191695" cy="73152"/>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pic>
        <p:nvPicPr>
          <p:cNvPr id="4" name="Picture 3" descr="tmpzyvmx4t4.jpg"/>
          <p:cNvPicPr>
            <a:picLocks noChangeAspect="1"/>
          </p:cNvPicPr>
          <p:nvPr/>
        </p:nvPicPr>
        <p:blipFill>
          <a:blip r:embed="rId2"/>
          <a:stretch>
            <a:fillRect/>
          </a:stretch>
        </p:blipFill>
        <p:spPr>
          <a:xfrm>
            <a:off x="5227167" y="411480"/>
            <a:ext cx="1737360" cy="1737360"/>
          </a:xfrm>
          <a:prstGeom prst="ellipse">
            <a:avLst/>
          </a:prstGeom>
          <a:ln w="50800">
            <a:solidFill>
              <a:srgbClr val="FFFFFF"/>
            </a:solidFill>
          </a:ln>
        </p:spPr>
      </p:pic>
      <p:sp>
        <p:nvSpPr>
          <p:cNvPr id="5" name="TextBox 4"/>
          <p:cNvSpPr txBox="1"/>
          <p:nvPr/>
        </p:nvSpPr>
        <p:spPr>
          <a:xfrm>
            <a:off x="914400" y="2240280"/>
            <a:ext cx="10332720" cy="2468880"/>
          </a:xfrm>
          <a:prstGeom prst="rect">
            <a:avLst/>
          </a:prstGeom>
          <a:noFill/>
        </p:spPr>
        <p:txBody>
          <a:bodyPr wrap="square" lIns="109728" rIns="109728" tIns="54864" bIns="54864" anchor="ctr">
            <a:spAutoFit/>
          </a:bodyPr>
          <a:lstStyle/>
          <a:p>
            <a:pPr algn="ctr" rtl="0"/>
            <a:r>
              <a:rPr sz="1600" b="1" i="0" lang="en-US">
                <a:solidFill>
                  <a:srgbClr val="C8922A"/>
                </a:solidFill>
                <a:latin typeface="Segoe UI"/>
              </a:rPr>
              <a:t>THE PEARL SERIES  ·  GRAMMAR</a:t>
            </a:r>
          </a:p>
          <a:p>
            <a:pPr algn="ctr" rtl="0"/>
            <a:r>
              <a:rPr sz="5000" b="1" i="0" lang="en-US">
                <a:solidFill>
                  <a:srgbClr val="FFFFFF"/>
                </a:solidFill>
                <a:latin typeface="Segoe UI"/>
              </a:rPr>
              <a:t>Grammar for Kids</a:t>
            </a:r>
          </a:p>
          <a:p>
            <a:pPr algn="ctr" rtl="0"/>
            <a:r>
              <a:rPr sz="2200" b="0" i="0" lang="en-US">
                <a:solidFill>
                  <a:srgbClr val="DDE6F3"/>
                </a:solidFill>
                <a:latin typeface="Segoe UI"/>
              </a:rPr>
              <a:t>The Pearl Series — A Complete Grammar Foundation Course</a:t>
            </a:r>
          </a:p>
          <a:p>
            <a:pPr algn="ctr" rtl="1"/>
            <a:r>
              <a:rPr sz="2100" b="0" i="0" lang="ar-EG" altLang="en-US">
                <a:solidFill>
                  <a:srgbClr val="FFFFFF"/>
                </a:solidFill>
                <a:latin typeface="Traditional Arabic"/>
              </a:rPr>
              <a:t>مذكرة شاملة في قواعد اللغة الإنجليزية — شرح مبسّط · أمثلة محلولة · تدريبات متنوعة بالإجابات</a:t>
            </a:r>
          </a:p>
        </p:txBody>
      </p:sp>
      <p:sp>
        <p:nvSpPr>
          <p:cNvPr id="6" name="TextBox 5"/>
          <p:cNvSpPr txBox="1"/>
          <p:nvPr/>
        </p:nvSpPr>
        <p:spPr>
          <a:xfrm>
            <a:off x="914400" y="5029200"/>
            <a:ext cx="10332720" cy="1097280"/>
          </a:xfrm>
          <a:prstGeom prst="rect">
            <a:avLst/>
          </a:prstGeom>
          <a:noFill/>
        </p:spPr>
        <p:txBody>
          <a:bodyPr wrap="square" lIns="109728" rIns="109728" tIns="54864" bIns="54864" anchor="ctr">
            <a:spAutoFit/>
          </a:bodyPr>
          <a:lstStyle/>
          <a:p>
            <a:pPr algn="ctr" rtl="0"/>
            <a:r>
              <a:rPr sz="2200" b="1" i="0" lang="en-US">
                <a:solidFill>
                  <a:srgbClr val="FFFFFF"/>
                </a:solidFill>
                <a:latin typeface="Segoe UI"/>
              </a:rPr>
              <a:t>Prepared by  Mr. Youssef Osman</a:t>
            </a:r>
          </a:p>
          <a:p>
            <a:pPr algn="ctr" rtl="0"/>
            <a:r>
              <a:rPr sz="1800" b="0" i="0" lang="en-US">
                <a:solidFill>
                  <a:srgbClr val="C8922A"/>
                </a:solidFill>
                <a:latin typeface="Segoe UI"/>
              </a:rPr>
              <a:t>01000679764</a:t>
            </a:r>
          </a:p>
        </p:txBody>
      </p:sp>
    </p:spTree>
  </p:cSld>
  <p:clrMapOvr>
    <a:masterClrMapping/>
  </p:clrMapOvr>
  <p:transition spd="med">
    <p:zoom dir="in"/>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TextBox 3"/>
          <p:cNvSpPr txBox="1"/>
          <p:nvPr/>
        </p:nvSpPr>
        <p:spPr>
          <a:xfrm>
            <a:off x="365760" y="73152"/>
            <a:ext cx="8412480" cy="822960"/>
          </a:xfrm>
          <a:prstGeom prst="rect">
            <a:avLst/>
          </a:prstGeom>
          <a:noFill/>
        </p:spPr>
        <p:txBody>
          <a:bodyPr wrap="square" lIns="109728" rIns="109728" tIns="54864" bIns="54864" anchor="ctr">
            <a:spAutoFit/>
          </a:bodyPr>
          <a:lstStyle/>
          <a:p>
            <a:pPr rtl="1" algn="r"/>
            <a:r>
              <a:rPr sz="2900" b="1" i="0" lang="ar-EG" altLang="en-US">
                <a:solidFill>
                  <a:srgbClr val="FFFFFF"/>
                </a:solidFill>
                <a:latin typeface="Traditional Arabic"/>
              </a:rPr>
              <a:t>CONTENTS — المحتويات</a:t>
            </a:r>
          </a:p>
          <a:p>
            <a:pPr rtl="0" algn="l"/>
            <a:r>
              <a:rPr sz="1400" b="0" i="0" lang="en-US">
                <a:solidFill>
                  <a:srgbClr val="DDE6F3"/>
                </a:solidFill>
                <a:latin typeface="Segoe UI"/>
              </a:rPr>
              <a:t>22 Units</a:t>
            </a:r>
          </a:p>
        </p:txBody>
      </p:sp>
      <p:sp>
        <p:nvSpPr>
          <p:cNvPr id="5" name="TextBox 4"/>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6" name="TextBox 5"/>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7" name="TextBox 6"/>
          <p:cNvSpPr txBox="1"/>
          <p:nvPr/>
        </p:nvSpPr>
        <p:spPr>
          <a:xfrm>
            <a:off x="457200" y="1188720"/>
            <a:ext cx="5577840" cy="5120640"/>
          </a:xfrm>
          <a:prstGeom prst="rect">
            <a:avLst/>
          </a:prstGeom>
          <a:noFill/>
        </p:spPr>
        <p:txBody>
          <a:bodyPr wrap="square" lIns="109728" rIns="109728" tIns="54864" bIns="54864" anchor="t">
            <a:spAutoFit/>
          </a:bodyPr>
          <a:lstStyle/>
          <a:p>
            <a:pPr rtl="0" algn="l">
              <a:spcAft>
                <a:spcPts val="400"/>
              </a:spcAft>
            </a:pPr>
            <a:r>
              <a:rPr sz="1600" b="1" i="0" lang="en-US">
                <a:solidFill>
                  <a:srgbClr val="24609C"/>
                </a:solidFill>
                <a:latin typeface="Segoe UI"/>
              </a:rPr>
              <a:t>1.  </a:t>
            </a:r>
            <a:r>
              <a:rPr sz="1600" b="1" i="0" lang="en-US">
                <a:solidFill>
                  <a:srgbClr val="1C2333"/>
                </a:solidFill>
                <a:latin typeface="Segoe UI"/>
              </a:rPr>
              <a:t>The Articles: a / an</a:t>
            </a:r>
            <a:r>
              <a:rPr sz="1700" b="0" i="0" lang="ar-EG" altLang="en-US">
                <a:solidFill>
                  <a:srgbClr val="5B6478"/>
                </a:solidFill>
                <a:latin typeface="Traditional Arabic"/>
              </a:rPr>
              <a:t>   أدوات النكرة</a:t>
            </a:r>
          </a:p>
          <a:p>
            <a:pPr rtl="0" algn="l">
              <a:spcAft>
                <a:spcPts val="400"/>
              </a:spcAft>
            </a:pPr>
            <a:r>
              <a:rPr sz="1600" b="1" i="0" lang="en-US">
                <a:solidFill>
                  <a:srgbClr val="249C60"/>
                </a:solidFill>
                <a:latin typeface="Segoe UI"/>
              </a:rPr>
              <a:t>2.  </a:t>
            </a:r>
            <a:r>
              <a:rPr sz="1600" b="1" i="0" lang="en-US">
                <a:solidFill>
                  <a:srgbClr val="1C2333"/>
                </a:solidFill>
                <a:latin typeface="Segoe UI"/>
              </a:rPr>
              <a:t>The Plural</a:t>
            </a:r>
            <a:r>
              <a:rPr sz="1700" b="0" i="0" lang="ar-EG" altLang="en-US">
                <a:solidFill>
                  <a:srgbClr val="5B6478"/>
                </a:solidFill>
                <a:latin typeface="Traditional Arabic"/>
              </a:rPr>
              <a:t>   الجمع</a:t>
            </a:r>
          </a:p>
          <a:p>
            <a:pPr rtl="0" algn="l">
              <a:spcAft>
                <a:spcPts val="400"/>
              </a:spcAft>
            </a:pPr>
            <a:r>
              <a:rPr sz="1600" b="1" i="0" lang="en-US">
                <a:solidFill>
                  <a:srgbClr val="6A249C"/>
                </a:solidFill>
                <a:latin typeface="Segoe UI"/>
              </a:rPr>
              <a:t>3.  </a:t>
            </a:r>
            <a:r>
              <a:rPr sz="1600" b="1" i="0" lang="en-US">
                <a:solidFill>
                  <a:srgbClr val="1C2333"/>
                </a:solidFill>
                <a:latin typeface="Segoe UI"/>
              </a:rPr>
              <a:t>Punctuation Marks</a:t>
            </a:r>
            <a:r>
              <a:rPr sz="1700" b="0" i="0" lang="ar-EG" altLang="en-US">
                <a:solidFill>
                  <a:srgbClr val="5B6478"/>
                </a:solidFill>
                <a:latin typeface="Traditional Arabic"/>
              </a:rPr>
              <a:t>   علامات الترقيم</a:t>
            </a:r>
          </a:p>
          <a:p>
            <a:pPr rtl="0" algn="l">
              <a:spcAft>
                <a:spcPts val="400"/>
              </a:spcAft>
            </a:pPr>
            <a:r>
              <a:rPr sz="1600" b="1" i="0" lang="en-US">
                <a:solidFill>
                  <a:srgbClr val="9C244C"/>
                </a:solidFill>
                <a:latin typeface="Segoe UI"/>
              </a:rPr>
              <a:t>4.  </a:t>
            </a:r>
            <a:r>
              <a:rPr sz="1600" b="1" i="0" lang="en-US">
                <a:solidFill>
                  <a:srgbClr val="1C2333"/>
                </a:solidFill>
                <a:latin typeface="Segoe UI"/>
              </a:rPr>
              <a:t>Subject Pronouns &amp; Verb to be</a:t>
            </a:r>
            <a:r>
              <a:rPr sz="1700" b="0" i="0" lang="ar-EG" altLang="en-US">
                <a:solidFill>
                  <a:srgbClr val="5B6478"/>
                </a:solidFill>
                <a:latin typeface="Traditional Arabic"/>
              </a:rPr>
              <a:t>   ضمائر الفاعل وفعل الكون</a:t>
            </a:r>
          </a:p>
          <a:p>
            <a:pPr rtl="0" algn="l">
              <a:spcAft>
                <a:spcPts val="400"/>
              </a:spcAft>
            </a:pPr>
            <a:r>
              <a:rPr sz="1600" b="1" i="0" lang="en-US">
                <a:solidFill>
                  <a:srgbClr val="9C6024"/>
                </a:solidFill>
                <a:latin typeface="Segoe UI"/>
              </a:rPr>
              <a:t>5.  </a:t>
            </a:r>
            <a:r>
              <a:rPr sz="1600" b="1" i="0" lang="en-US">
                <a:solidFill>
                  <a:srgbClr val="1C2333"/>
                </a:solidFill>
                <a:latin typeface="Segoe UI"/>
              </a:rPr>
              <a:t>Greetings &amp; Personal Information</a:t>
            </a:r>
            <a:r>
              <a:rPr sz="1700" b="0" i="0" lang="ar-EG" altLang="en-US">
                <a:solidFill>
                  <a:srgbClr val="5B6478"/>
                </a:solidFill>
                <a:latin typeface="Traditional Arabic"/>
              </a:rPr>
              <a:t>   التحيات والمعلومات الشخصية</a:t>
            </a:r>
          </a:p>
          <a:p>
            <a:pPr rtl="0" algn="l">
              <a:spcAft>
                <a:spcPts val="400"/>
              </a:spcAft>
            </a:pPr>
            <a:r>
              <a:rPr sz="1600" b="1" i="0" lang="en-US">
                <a:solidFill>
                  <a:srgbClr val="249C24"/>
                </a:solidFill>
                <a:latin typeface="Segoe UI"/>
              </a:rPr>
              <a:t>6.  </a:t>
            </a:r>
            <a:r>
              <a:rPr sz="1600" b="1" i="0" lang="en-US">
                <a:solidFill>
                  <a:srgbClr val="1C2333"/>
                </a:solidFill>
                <a:latin typeface="Segoe UI"/>
              </a:rPr>
              <a:t>There is / There are</a:t>
            </a:r>
            <a:r>
              <a:rPr sz="1700" b="0" i="0" lang="ar-EG" altLang="en-US">
                <a:solidFill>
                  <a:srgbClr val="5B6478"/>
                </a:solidFill>
                <a:latin typeface="Traditional Arabic"/>
              </a:rPr>
              <a:t>   يوجد</a:t>
            </a:r>
          </a:p>
          <a:p>
            <a:pPr rtl="1" algn="r">
              <a:spcAft>
                <a:spcPts val="400"/>
              </a:spcAft>
            </a:pPr>
            <a:r>
              <a:rPr sz="1600" b="1" i="0" lang="en-US">
                <a:solidFill>
                  <a:srgbClr val="9C4224"/>
                </a:solidFill>
                <a:latin typeface="Segoe UI"/>
              </a:rPr>
              <a:t>7.  </a:t>
            </a:r>
            <a:r>
              <a:rPr sz="1600" b="1" i="0" lang="en-US">
                <a:solidFill>
                  <a:srgbClr val="1C2333"/>
                </a:solidFill>
                <a:latin typeface="Segoe UI"/>
              </a:rPr>
              <a:t>This / That</a:t>
            </a:r>
            <a:r>
              <a:rPr sz="1700" b="0" i="0" lang="ar-EG" altLang="en-US">
                <a:solidFill>
                  <a:srgbClr val="5B6478"/>
                </a:solidFill>
                <a:latin typeface="Traditional Arabic"/>
              </a:rPr>
              <a:t>   أسماء الإشارة للمفرد</a:t>
            </a:r>
          </a:p>
          <a:p>
            <a:pPr rtl="1" algn="r">
              <a:spcAft>
                <a:spcPts val="400"/>
              </a:spcAft>
            </a:pPr>
            <a:r>
              <a:rPr sz="1600" b="1" i="0" lang="en-US">
                <a:solidFill>
                  <a:srgbClr val="247E9C"/>
                </a:solidFill>
                <a:latin typeface="Segoe UI"/>
              </a:rPr>
              <a:t>8.  </a:t>
            </a:r>
            <a:r>
              <a:rPr sz="1600" b="1" i="0" lang="en-US">
                <a:solidFill>
                  <a:srgbClr val="1C2333"/>
                </a:solidFill>
                <a:latin typeface="Segoe UI"/>
              </a:rPr>
              <a:t>These / Those</a:t>
            </a:r>
            <a:r>
              <a:rPr sz="1700" b="0" i="0" lang="ar-EG" altLang="en-US">
                <a:solidFill>
                  <a:srgbClr val="5B6478"/>
                </a:solidFill>
                <a:latin typeface="Traditional Arabic"/>
              </a:rPr>
              <a:t>   أسماء الإشارة للجمع</a:t>
            </a:r>
          </a:p>
          <a:p>
            <a:pPr rtl="0" algn="l">
              <a:spcAft>
                <a:spcPts val="400"/>
              </a:spcAft>
            </a:pPr>
            <a:r>
              <a:rPr sz="1600" b="1" i="0" lang="en-US">
                <a:solidFill>
                  <a:srgbClr val="9C7E24"/>
                </a:solidFill>
                <a:latin typeface="Segoe UI"/>
              </a:rPr>
              <a:t>9.  </a:t>
            </a:r>
            <a:r>
              <a:rPr sz="1600" b="1" i="0" lang="en-US">
                <a:solidFill>
                  <a:srgbClr val="1C2333"/>
                </a:solidFill>
                <a:latin typeface="Segoe UI"/>
              </a:rPr>
              <a:t>Prepositions of Time (in – on – at)</a:t>
            </a:r>
            <a:r>
              <a:rPr sz="1700" b="0" i="0" lang="ar-EG" altLang="en-US">
                <a:solidFill>
                  <a:srgbClr val="5B6478"/>
                </a:solidFill>
                <a:latin typeface="Traditional Arabic"/>
              </a:rPr>
              <a:t>   حروف جر الزمان</a:t>
            </a:r>
          </a:p>
          <a:p>
            <a:pPr rtl="0" algn="l">
              <a:spcAft>
                <a:spcPts val="400"/>
              </a:spcAft>
            </a:pPr>
            <a:r>
              <a:rPr sz="1600" b="1" i="0" lang="en-US">
                <a:solidFill>
                  <a:srgbClr val="4C249C"/>
                </a:solidFill>
                <a:latin typeface="Segoe UI"/>
              </a:rPr>
              <a:t>10.  </a:t>
            </a:r>
            <a:r>
              <a:rPr sz="1600" b="1" i="0" lang="en-US">
                <a:solidFill>
                  <a:srgbClr val="1C2333"/>
                </a:solidFill>
                <a:latin typeface="Segoe UI"/>
              </a:rPr>
              <a:t>Verb to have (have / has)</a:t>
            </a:r>
            <a:r>
              <a:rPr sz="1700" b="0" i="0" lang="ar-EG" altLang="en-US">
                <a:solidFill>
                  <a:srgbClr val="5B6478"/>
                </a:solidFill>
                <a:latin typeface="Traditional Arabic"/>
              </a:rPr>
              <a:t>   فعل الامتلاك</a:t>
            </a:r>
          </a:p>
          <a:p>
            <a:pPr rtl="0" algn="l">
              <a:spcAft>
                <a:spcPts val="400"/>
              </a:spcAft>
            </a:pPr>
            <a:r>
              <a:rPr sz="1600" b="1" i="0" lang="en-US">
                <a:solidFill>
                  <a:srgbClr val="9C249C"/>
                </a:solidFill>
                <a:latin typeface="Segoe UI"/>
              </a:rPr>
              <a:t>11.  </a:t>
            </a:r>
            <a:r>
              <a:rPr sz="1600" b="1" i="0" lang="en-US">
                <a:solidFill>
                  <a:srgbClr val="1C2333"/>
                </a:solidFill>
                <a:latin typeface="Segoe UI"/>
              </a:rPr>
              <a:t>Pronouns</a:t>
            </a:r>
            <a:r>
              <a:rPr sz="1700" b="0" i="0" lang="ar-EG" altLang="en-US">
                <a:solidFill>
                  <a:srgbClr val="5B6478"/>
                </a:solidFill>
                <a:latin typeface="Traditional Arabic"/>
              </a:rPr>
              <a:t>   الضمائر</a:t>
            </a:r>
          </a:p>
        </p:txBody>
      </p:sp>
      <p:sp>
        <p:nvSpPr>
          <p:cNvPr id="8" name="TextBox 7"/>
          <p:cNvSpPr txBox="1"/>
          <p:nvPr/>
        </p:nvSpPr>
        <p:spPr>
          <a:xfrm>
            <a:off x="6217920" y="1188720"/>
            <a:ext cx="5577840" cy="5120640"/>
          </a:xfrm>
          <a:prstGeom prst="rect">
            <a:avLst/>
          </a:prstGeom>
          <a:noFill/>
        </p:spPr>
        <p:txBody>
          <a:bodyPr wrap="square" lIns="109728" rIns="109728" tIns="54864" bIns="54864" anchor="t">
            <a:spAutoFit/>
          </a:bodyPr>
          <a:lstStyle/>
          <a:p>
            <a:pPr rtl="0" algn="l">
              <a:spcAft>
                <a:spcPts val="400"/>
              </a:spcAft>
            </a:pPr>
            <a:r>
              <a:rPr sz="1600" b="1" i="0" lang="en-US">
                <a:solidFill>
                  <a:srgbClr val="9C2460"/>
                </a:solidFill>
                <a:latin typeface="Segoe UI"/>
              </a:rPr>
              <a:t>12.  </a:t>
            </a:r>
            <a:r>
              <a:rPr sz="1600" b="1" i="0" lang="en-US">
                <a:solidFill>
                  <a:srgbClr val="1C2333"/>
                </a:solidFill>
                <a:latin typeface="Segoe UI"/>
              </a:rPr>
              <a:t>Like + v-ing / to + inf.</a:t>
            </a:r>
            <a:r>
              <a:rPr sz="1700" b="0" i="0" lang="ar-EG" altLang="en-US">
                <a:solidFill>
                  <a:srgbClr val="5B6478"/>
                </a:solidFill>
                <a:latin typeface="Traditional Arabic"/>
              </a:rPr>
              <a:t>   فعل الإعجاب</a:t>
            </a:r>
          </a:p>
          <a:p>
            <a:pPr rtl="1" algn="r">
              <a:spcAft>
                <a:spcPts val="400"/>
              </a:spcAft>
            </a:pPr>
            <a:r>
              <a:rPr sz="1600" b="1" i="0" lang="en-US">
                <a:solidFill>
                  <a:srgbClr val="249C9C"/>
                </a:solidFill>
                <a:latin typeface="Segoe UI"/>
              </a:rPr>
              <a:t>13.  </a:t>
            </a:r>
            <a:r>
              <a:rPr sz="1600" b="1" i="0" lang="en-US">
                <a:solidFill>
                  <a:srgbClr val="1C2333"/>
                </a:solidFill>
                <a:latin typeface="Segoe UI"/>
              </a:rPr>
              <a:t>How much / How many</a:t>
            </a:r>
            <a:r>
              <a:rPr sz="1700" b="0" i="0" lang="ar-EG" altLang="en-US">
                <a:solidFill>
                  <a:srgbClr val="5B6478"/>
                </a:solidFill>
                <a:latin typeface="Traditional Arabic"/>
              </a:rPr>
              <a:t>   السؤال عن العدد والثمن</a:t>
            </a:r>
          </a:p>
          <a:p>
            <a:pPr rtl="0" algn="l">
              <a:spcAft>
                <a:spcPts val="400"/>
              </a:spcAft>
            </a:pPr>
            <a:r>
              <a:rPr sz="1600" b="1" i="0" lang="en-US">
                <a:solidFill>
                  <a:srgbClr val="9C2424"/>
                </a:solidFill>
                <a:latin typeface="Segoe UI"/>
              </a:rPr>
              <a:t>14.  </a:t>
            </a:r>
            <a:r>
              <a:rPr sz="1600" b="1" i="0" lang="en-US">
                <a:solidFill>
                  <a:srgbClr val="1C2333"/>
                </a:solidFill>
                <a:latin typeface="Segoe UI"/>
              </a:rPr>
              <a:t>Verb to be in the past (was / were)</a:t>
            </a:r>
            <a:r>
              <a:rPr sz="1700" b="0" i="0" lang="ar-EG" altLang="en-US">
                <a:solidFill>
                  <a:srgbClr val="5B6478"/>
                </a:solidFill>
                <a:latin typeface="Traditional Arabic"/>
              </a:rPr>
              <a:t>   فعل الكون في الماضي</a:t>
            </a:r>
          </a:p>
          <a:p>
            <a:pPr rtl="0" algn="l">
              <a:spcAft>
                <a:spcPts val="400"/>
              </a:spcAft>
            </a:pPr>
            <a:r>
              <a:rPr sz="1600" b="1" i="0" lang="en-US">
                <a:solidFill>
                  <a:srgbClr val="4C9C24"/>
                </a:solidFill>
                <a:latin typeface="Segoe UI"/>
              </a:rPr>
              <a:t>15.  </a:t>
            </a:r>
            <a:r>
              <a:rPr sz="1600" b="1" i="0" lang="en-US">
                <a:solidFill>
                  <a:srgbClr val="1C2333"/>
                </a:solidFill>
                <a:latin typeface="Segoe UI"/>
              </a:rPr>
              <a:t>Writing: A paragraph about an animal or a bird</a:t>
            </a:r>
            <a:r>
              <a:rPr sz="1700" b="0" i="0" lang="ar-EG" altLang="en-US">
                <a:solidFill>
                  <a:srgbClr val="5B6478"/>
                </a:solidFill>
                <a:latin typeface="Traditional Arabic"/>
              </a:rPr>
              <a:t>   كيف تكتب براجراف عن حيوان أو طائر</a:t>
            </a:r>
          </a:p>
          <a:p>
            <a:pPr rtl="0" algn="l">
              <a:spcAft>
                <a:spcPts val="400"/>
              </a:spcAft>
            </a:pPr>
            <a:r>
              <a:rPr sz="1600" b="1" i="0" lang="en-US">
                <a:solidFill>
                  <a:srgbClr val="7E249C"/>
                </a:solidFill>
                <a:latin typeface="Segoe UI"/>
              </a:rPr>
              <a:t>16.  </a:t>
            </a:r>
            <a:r>
              <a:rPr sz="1600" b="1" i="0" lang="en-US">
                <a:solidFill>
                  <a:srgbClr val="1C2333"/>
                </a:solidFill>
                <a:latin typeface="Segoe UI"/>
              </a:rPr>
              <a:t>Comparative &amp; Superlative Adjectives</a:t>
            </a:r>
            <a:r>
              <a:rPr sz="1700" b="0" i="0" lang="ar-EG" altLang="en-US">
                <a:solidFill>
                  <a:srgbClr val="5B6478"/>
                </a:solidFill>
                <a:latin typeface="Traditional Arabic"/>
              </a:rPr>
              <a:t>   صفات المقارنة والتفضيل</a:t>
            </a:r>
          </a:p>
          <a:p>
            <a:pPr rtl="1" algn="r">
              <a:spcAft>
                <a:spcPts val="400"/>
              </a:spcAft>
            </a:pPr>
            <a:r>
              <a:rPr sz="1600" b="1" i="0" lang="en-US">
                <a:solidFill>
                  <a:srgbClr val="249C7E"/>
                </a:solidFill>
                <a:latin typeface="Segoe UI"/>
              </a:rPr>
              <a:t>17.  </a:t>
            </a:r>
            <a:r>
              <a:rPr sz="1600" b="1" i="0" lang="en-US">
                <a:solidFill>
                  <a:srgbClr val="1C2333"/>
                </a:solidFill>
                <a:latin typeface="Segoe UI"/>
              </a:rPr>
              <a:t>Can</a:t>
            </a:r>
            <a:r>
              <a:rPr sz="1700" b="0" i="0" lang="ar-EG" altLang="en-US">
                <a:solidFill>
                  <a:srgbClr val="5B6478"/>
                </a:solidFill>
                <a:latin typeface="Traditional Arabic"/>
              </a:rPr>
              <a:t>   فعل الاستطاعة</a:t>
            </a:r>
          </a:p>
          <a:p>
            <a:pPr rtl="0" algn="l">
              <a:spcAft>
                <a:spcPts val="400"/>
              </a:spcAft>
            </a:pPr>
            <a:r>
              <a:rPr sz="1600" b="1" i="0" lang="en-US">
                <a:solidFill>
                  <a:srgbClr val="24749C"/>
                </a:solidFill>
                <a:latin typeface="Segoe UI"/>
              </a:rPr>
              <a:t>18.  </a:t>
            </a:r>
            <a:r>
              <a:rPr sz="1600" b="1" i="0" lang="en-US">
                <a:solidFill>
                  <a:srgbClr val="1C2333"/>
                </a:solidFill>
                <a:latin typeface="Segoe UI"/>
              </a:rPr>
              <a:t>The Present Simple Tense</a:t>
            </a:r>
            <a:r>
              <a:rPr sz="1700" b="0" i="0" lang="ar-EG" altLang="en-US">
                <a:solidFill>
                  <a:srgbClr val="5B6478"/>
                </a:solidFill>
                <a:latin typeface="Traditional Arabic"/>
              </a:rPr>
              <a:t>   زمن المضارع البسيط</a:t>
            </a:r>
          </a:p>
          <a:p>
            <a:pPr rtl="0" algn="l">
              <a:spcAft>
                <a:spcPts val="400"/>
              </a:spcAft>
            </a:pPr>
            <a:r>
              <a:rPr sz="1600" b="1" i="0" lang="en-US">
                <a:solidFill>
                  <a:srgbClr val="249C88"/>
                </a:solidFill>
                <a:latin typeface="Segoe UI"/>
              </a:rPr>
              <a:t>19.  </a:t>
            </a:r>
            <a:r>
              <a:rPr sz="1600" b="1" i="0" lang="en-US">
                <a:solidFill>
                  <a:srgbClr val="1C2333"/>
                </a:solidFill>
                <a:latin typeface="Segoe UI"/>
              </a:rPr>
              <a:t>The Present Continuous Tense</a:t>
            </a:r>
            <a:r>
              <a:rPr sz="1700" b="0" i="0" lang="ar-EG" altLang="en-US">
                <a:solidFill>
                  <a:srgbClr val="5B6478"/>
                </a:solidFill>
                <a:latin typeface="Traditional Arabic"/>
              </a:rPr>
              <a:t>   زمن المضارع المستمر</a:t>
            </a:r>
          </a:p>
          <a:p>
            <a:pPr rtl="0" algn="l">
              <a:spcAft>
                <a:spcPts val="400"/>
              </a:spcAft>
            </a:pPr>
            <a:r>
              <a:rPr sz="1600" b="1" i="0" lang="en-US">
                <a:solidFill>
                  <a:srgbClr val="9C5624"/>
                </a:solidFill>
                <a:latin typeface="Segoe UI"/>
              </a:rPr>
              <a:t>20.  </a:t>
            </a:r>
            <a:r>
              <a:rPr sz="1600" b="1" i="0" lang="en-US">
                <a:solidFill>
                  <a:srgbClr val="1C2333"/>
                </a:solidFill>
                <a:latin typeface="Segoe UI"/>
              </a:rPr>
              <a:t>Irregular Verbs</a:t>
            </a:r>
            <a:r>
              <a:rPr sz="1700" b="0" i="0" lang="ar-EG" altLang="en-US">
                <a:solidFill>
                  <a:srgbClr val="5B6478"/>
                </a:solidFill>
                <a:latin typeface="Traditional Arabic"/>
              </a:rPr>
              <a:t>   الأفعال الشاذة</a:t>
            </a:r>
          </a:p>
          <a:p>
            <a:pPr rtl="0" algn="l">
              <a:spcAft>
                <a:spcPts val="400"/>
              </a:spcAft>
            </a:pPr>
            <a:r>
              <a:rPr sz="1600" b="1" i="0" lang="en-US">
                <a:solidFill>
                  <a:srgbClr val="9C242E"/>
                </a:solidFill>
                <a:latin typeface="Segoe UI"/>
              </a:rPr>
              <a:t>21.  </a:t>
            </a:r>
            <a:r>
              <a:rPr sz="1600" b="1" i="0" lang="en-US">
                <a:solidFill>
                  <a:srgbClr val="1C2333"/>
                </a:solidFill>
                <a:latin typeface="Segoe UI"/>
              </a:rPr>
              <a:t>The Past Simple Tense</a:t>
            </a:r>
            <a:r>
              <a:rPr sz="1700" b="0" i="0" lang="ar-EG" altLang="en-US">
                <a:solidFill>
                  <a:srgbClr val="5B6478"/>
                </a:solidFill>
                <a:latin typeface="Traditional Arabic"/>
              </a:rPr>
              <a:t>   زمن الماضي البسيط</a:t>
            </a:r>
          </a:p>
          <a:p>
            <a:pPr rtl="1" algn="r">
              <a:spcAft>
                <a:spcPts val="400"/>
              </a:spcAft>
            </a:pPr>
            <a:r>
              <a:rPr sz="1600" b="1" i="0" lang="en-US">
                <a:solidFill>
                  <a:srgbClr val="249C38"/>
                </a:solidFill>
                <a:latin typeface="Segoe UI"/>
              </a:rPr>
              <a:t>22.  </a:t>
            </a:r>
            <a:r>
              <a:rPr sz="1600" b="1" i="0" lang="en-US">
                <a:solidFill>
                  <a:srgbClr val="1C2333"/>
                </a:solidFill>
                <a:latin typeface="Segoe UI"/>
              </a:rPr>
              <a:t>Should</a:t>
            </a:r>
            <a:r>
              <a:rPr sz="1700" b="0" i="0" lang="ar-EG" altLang="en-US">
                <a:solidFill>
                  <a:srgbClr val="5B6478"/>
                </a:solidFill>
                <a:latin typeface="Traditional Arabic"/>
              </a:rPr>
              <a:t>   فعل النصيحة</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a:t>
            </a:r>
          </a:p>
          <a:p>
            <a:pPr algn="ctr" rtl="0"/>
            <a:r>
              <a:rPr sz="4600" b="1" i="0" lang="en-US">
                <a:solidFill>
                  <a:srgbClr val="FFFFFF"/>
                </a:solidFill>
                <a:latin typeface="Segoe UI"/>
              </a:rPr>
              <a:t>The Articles: a / an</a:t>
            </a:r>
          </a:p>
          <a:p>
            <a:pPr algn="ctr" rtl="1"/>
            <a:r>
              <a:rPr sz="2900" b="0" i="0" lang="ar-EG" altLang="en-US">
                <a:solidFill>
                  <a:srgbClr val="FFFFFF"/>
                </a:solidFill>
                <a:latin typeface="Traditional Arabic"/>
              </a:rPr>
              <a:t>أدوات النكرة</a:t>
            </a:r>
          </a:p>
        </p:txBody>
      </p:sp>
    </p:spTree>
  </p:cSld>
  <p:clrMapOvr>
    <a:masterClrMapping/>
  </p:clrMapOvr>
  <p:transition spd="med">
    <p:zoom dir="in"/>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5B94"/>
                </a:solidFill>
                <a:latin typeface="Segoe UI"/>
              </a:rPr>
              <a:t>▶ a + consonant sound</a:t>
            </a:r>
          </a:p>
          <a:p>
            <a:pPr rtl="1" algn="r">
              <a:spcAft>
                <a:spcPts val="600"/>
              </a:spcAft>
            </a:pPr>
            <a:r>
              <a:rPr sz="2100" b="0" i="0" lang="ar-EG" altLang="en-US">
                <a:solidFill>
                  <a:srgbClr val="1C2333"/>
                </a:solidFill>
                <a:latin typeface="Traditional Arabic"/>
              </a:rPr>
              <a:t>تأتي (a) قبل الاسم المفرد الذي يبدأ بصوت ساكن (حرف غير متحرك).</a:t>
            </a:r>
          </a:p>
          <a:p>
            <a:pPr rtl="0" algn="l">
              <a:spcAft>
                <a:spcPts val="600"/>
              </a:spcAft>
            </a:pPr>
            <a:r>
              <a:rPr sz="2000" b="1" i="0" lang="en-US">
                <a:solidFill>
                  <a:srgbClr val="225B94"/>
                </a:solidFill>
                <a:latin typeface="Segoe UI"/>
              </a:rPr>
              <a:t>▶ an + vowel sound (a - e - i - o - u)</a:t>
            </a:r>
          </a:p>
          <a:p>
            <a:pPr rtl="1" algn="r">
              <a:spcAft>
                <a:spcPts val="600"/>
              </a:spcAft>
            </a:pPr>
            <a:r>
              <a:rPr sz="2100" b="0" i="0" lang="ar-EG" altLang="en-US">
                <a:solidFill>
                  <a:srgbClr val="1C2333"/>
                </a:solidFill>
                <a:latin typeface="Traditional Arabic"/>
              </a:rPr>
              <a:t>    تأتي (an) قبل الاسم المفرد الذي يبدأ بصوت متحرك، والحروف المتحركة هي: a - e - i - o - u</a:t>
            </a:r>
          </a:p>
          <a:p>
            <a:pPr rtl="0" algn="l">
              <a:spcAft>
                <a:spcPts val="600"/>
              </a:spcAft>
            </a:pPr>
            <a:r>
              <a:rPr sz="1700" b="0" i="1" lang="en-US">
                <a:solidFill>
                  <a:srgbClr val="5B6478"/>
                </a:solidFill>
                <a:latin typeface="Segoe UI"/>
              </a:rPr>
              <a:t>   e.g. a horse – a doctor – a pen | an orange – an egg – an umbrella</a:t>
            </a:r>
          </a:p>
        </p:txBody>
      </p:sp>
    </p:spTree>
  </p:cSld>
  <p:clrMapOvr>
    <a:masterClrMapping/>
  </p:clrMapOvr>
  <p:transition spd="med">
    <p:push dir="l"/>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5B94"/>
                          </a:solidFill>
                          <a:latin typeface="Segoe UI"/>
                        </a:rPr>
                        <a:t>a horse</a:t>
                      </a:r>
                    </a:p>
                  </a:txBody>
                  <a:tcPr>
                    <a:solidFill>
                      <a:srgbClr val="FFFFFF"/>
                    </a:solidFill>
                  </a:tcPr>
                </a:tc>
                <a:tc>
                  <a:txBody>
                    <a:bodyPr/>
                    <a:lstStyle/>
                    <a:p>
                      <a:pPr rtl="1" algn="r"/>
                      <a:r>
                        <a:rPr sz="1700" b="0" i="0" lang="ar-EG" altLang="en-US">
                          <a:solidFill>
                            <a:srgbClr val="1C2333"/>
                          </a:solidFill>
                          <a:latin typeface="Traditional Arabic"/>
                        </a:rPr>
                        <a:t>حصان</a:t>
                      </a:r>
                    </a:p>
                  </a:txBody>
                  <a:tcPr>
                    <a:solidFill>
                      <a:srgbClr val="FFFFFF"/>
                    </a:solidFill>
                  </a:tcPr>
                </a:tc>
                <a:tc>
                  <a:txBody>
                    <a:bodyPr/>
                    <a:lstStyle/>
                    <a:p>
                      <a:pPr rtl="0" algn="l"/>
                      <a:r>
                        <a:rPr sz="1500" b="1" i="0" lang="en-US">
                          <a:solidFill>
                            <a:srgbClr val="225B94"/>
                          </a:solidFill>
                          <a:latin typeface="Segoe UI"/>
                        </a:rPr>
                        <a:t>a pen</a:t>
                      </a:r>
                    </a:p>
                  </a:txBody>
                  <a:tcPr>
                    <a:solidFill>
                      <a:srgbClr val="FFFFFF"/>
                    </a:solidFill>
                  </a:tcPr>
                </a:tc>
                <a:tc>
                  <a:txBody>
                    <a:bodyPr/>
                    <a:lstStyle/>
                    <a:p>
                      <a:pPr rtl="1" algn="r"/>
                      <a:r>
                        <a:rPr sz="1700" b="0" i="0" lang="ar-EG" altLang="en-US">
                          <a:solidFill>
                            <a:srgbClr val="1C2333"/>
                          </a:solidFill>
                          <a:latin typeface="Traditional Arabic"/>
                        </a:rPr>
                        <a:t>قلم جاف</a:t>
                      </a:r>
                    </a:p>
                  </a:txBody>
                  <a:tcPr>
                    <a:solidFill>
                      <a:srgbClr val="FFFFFF"/>
                    </a:solidFill>
                  </a:tcPr>
                </a:tc>
                <a:tc>
                  <a:txBody>
                    <a:bodyPr/>
                    <a:lstStyle/>
                    <a:p>
                      <a:pPr rtl="0" algn="l"/>
                      <a:r>
                        <a:rPr sz="1500" b="1" i="0" lang="en-US">
                          <a:solidFill>
                            <a:srgbClr val="225B94"/>
                          </a:solidFill>
                          <a:latin typeface="Segoe UI"/>
                        </a:rPr>
                        <a:t>a table</a:t>
                      </a:r>
                    </a:p>
                  </a:txBody>
                  <a:tcPr>
                    <a:solidFill>
                      <a:srgbClr val="FFFFFF"/>
                    </a:solidFill>
                  </a:tcPr>
                </a:tc>
                <a:tc>
                  <a:txBody>
                    <a:bodyPr/>
                    <a:lstStyle/>
                    <a:p>
                      <a:pPr rtl="1" algn="r"/>
                      <a:r>
                        <a:rPr sz="1700" b="0" i="0" lang="ar-EG" altLang="en-US">
                          <a:solidFill>
                            <a:srgbClr val="1C2333"/>
                          </a:solidFill>
                          <a:latin typeface="Traditional Arabic"/>
                        </a:rPr>
                        <a:t>منضدة</a:t>
                      </a:r>
                    </a:p>
                  </a:txBody>
                  <a:tcPr>
                    <a:solidFill>
                      <a:srgbClr val="FFFFFF"/>
                    </a:solidFill>
                  </a:tcPr>
                </a:tc>
              </a:tr>
              <a:tr h="384048">
                <a:tc>
                  <a:txBody>
                    <a:bodyPr/>
                    <a:lstStyle/>
                    <a:p>
                      <a:pPr rtl="0" algn="l"/>
                      <a:r>
                        <a:rPr sz="1500" b="1" i="0" lang="en-US">
                          <a:solidFill>
                            <a:srgbClr val="225B94"/>
                          </a:solidFill>
                          <a:latin typeface="Segoe UI"/>
                        </a:rPr>
                        <a:t>an orange</a:t>
                      </a:r>
                    </a:p>
                  </a:txBody>
                  <a:tcPr>
                    <a:solidFill>
                      <a:srgbClr val="EEF3FA"/>
                    </a:solidFill>
                  </a:tcPr>
                </a:tc>
                <a:tc>
                  <a:txBody>
                    <a:bodyPr/>
                    <a:lstStyle/>
                    <a:p>
                      <a:pPr rtl="1" algn="r"/>
                      <a:r>
                        <a:rPr sz="1700" b="0" i="0" lang="ar-EG" altLang="en-US">
                          <a:solidFill>
                            <a:srgbClr val="1C2333"/>
                          </a:solidFill>
                          <a:latin typeface="Traditional Arabic"/>
                        </a:rPr>
                        <a:t>برتقالة</a:t>
                      </a:r>
                    </a:p>
                  </a:txBody>
                  <a:tcPr>
                    <a:solidFill>
                      <a:srgbClr val="EEF3FA"/>
                    </a:solidFill>
                  </a:tcPr>
                </a:tc>
                <a:tc>
                  <a:txBody>
                    <a:bodyPr/>
                    <a:lstStyle/>
                    <a:p>
                      <a:pPr rtl="0" algn="l"/>
                      <a:r>
                        <a:rPr sz="1500" b="1" i="0" lang="en-US">
                          <a:solidFill>
                            <a:srgbClr val="225B94"/>
                          </a:solidFill>
                          <a:latin typeface="Segoe UI"/>
                        </a:rPr>
                        <a:t>an egg</a:t>
                      </a:r>
                    </a:p>
                  </a:txBody>
                  <a:tcPr>
                    <a:solidFill>
                      <a:srgbClr val="EEF3FA"/>
                    </a:solidFill>
                  </a:tcPr>
                </a:tc>
                <a:tc>
                  <a:txBody>
                    <a:bodyPr/>
                    <a:lstStyle/>
                    <a:p>
                      <a:pPr rtl="1" algn="r"/>
                      <a:r>
                        <a:rPr sz="1700" b="0" i="0" lang="ar-EG" altLang="en-US">
                          <a:solidFill>
                            <a:srgbClr val="1C2333"/>
                          </a:solidFill>
                          <a:latin typeface="Traditional Arabic"/>
                        </a:rPr>
                        <a:t>بيضة</a:t>
                      </a:r>
                    </a:p>
                  </a:txBody>
                  <a:tcPr>
                    <a:solidFill>
                      <a:srgbClr val="EEF3FA"/>
                    </a:solidFill>
                  </a:tcPr>
                </a:tc>
                <a:tc>
                  <a:txBody>
                    <a:bodyPr/>
                    <a:lstStyle/>
                    <a:p>
                      <a:pPr rtl="0" algn="l"/>
                      <a:r>
                        <a:rPr sz="1500" b="1" i="0" lang="en-US">
                          <a:solidFill>
                            <a:srgbClr val="225B94"/>
                          </a:solidFill>
                          <a:latin typeface="Segoe UI"/>
                        </a:rPr>
                        <a:t>an engineer</a:t>
                      </a:r>
                    </a:p>
                  </a:txBody>
                  <a:tcPr>
                    <a:solidFill>
                      <a:srgbClr val="EEF3FA"/>
                    </a:solidFill>
                  </a:tcPr>
                </a:tc>
                <a:tc>
                  <a:txBody>
                    <a:bodyPr/>
                    <a:lstStyle/>
                    <a:p>
                      <a:pPr rtl="1" algn="r"/>
                      <a:r>
                        <a:rPr sz="1700" b="0" i="0" lang="ar-EG" altLang="en-US">
                          <a:solidFill>
                            <a:srgbClr val="1C2333"/>
                          </a:solidFill>
                          <a:latin typeface="Traditional Arabic"/>
                        </a:rPr>
                        <a:t>مهندس</a:t>
                      </a:r>
                    </a:p>
                  </a:txBody>
                  <a:tcPr>
                    <a:solidFill>
                      <a:srgbClr val="EEF3FA"/>
                    </a:solidFill>
                  </a:tcPr>
                </a:tc>
              </a:tr>
              <a:tr h="384048">
                <a:tc>
                  <a:txBody>
                    <a:bodyPr/>
                    <a:lstStyle/>
                    <a:p>
                      <a:pPr rtl="0" algn="l"/>
                      <a:r>
                        <a:rPr sz="1500" b="1" i="0" lang="en-US">
                          <a:solidFill>
                            <a:srgbClr val="225B94"/>
                          </a:solidFill>
                          <a:latin typeface="Segoe UI"/>
                        </a:rPr>
                        <a:t>a doctor</a:t>
                      </a:r>
                    </a:p>
                  </a:txBody>
                  <a:tcPr>
                    <a:solidFill>
                      <a:srgbClr val="FFFFFF"/>
                    </a:solidFill>
                  </a:tcPr>
                </a:tc>
                <a:tc>
                  <a:txBody>
                    <a:bodyPr/>
                    <a:lstStyle/>
                    <a:p>
                      <a:pPr rtl="1" algn="r"/>
                      <a:r>
                        <a:rPr sz="1700" b="0" i="0" lang="ar-EG" altLang="en-US">
                          <a:solidFill>
                            <a:srgbClr val="1C2333"/>
                          </a:solidFill>
                          <a:latin typeface="Traditional Arabic"/>
                        </a:rPr>
                        <a:t>طبيب</a:t>
                      </a:r>
                    </a:p>
                  </a:txBody>
                  <a:tcPr>
                    <a:solidFill>
                      <a:srgbClr val="FFFFFF"/>
                    </a:solidFill>
                  </a:tcPr>
                </a:tc>
                <a:tc>
                  <a:txBody>
                    <a:bodyPr/>
                    <a:lstStyle/>
                    <a:p>
                      <a:pPr rtl="0" algn="l"/>
                      <a:r>
                        <a:rPr sz="1500" b="1" i="0" lang="en-US">
                          <a:solidFill>
                            <a:srgbClr val="225B94"/>
                          </a:solidFill>
                          <a:latin typeface="Segoe UI"/>
                        </a:rPr>
                        <a:t>a teacher</a:t>
                      </a:r>
                    </a:p>
                  </a:txBody>
                  <a:tcPr>
                    <a:solidFill>
                      <a:srgbClr val="FFFFFF"/>
                    </a:solidFill>
                  </a:tcPr>
                </a:tc>
                <a:tc>
                  <a:txBody>
                    <a:bodyPr/>
                    <a:lstStyle/>
                    <a:p>
                      <a:pPr rtl="1" algn="r"/>
                      <a:r>
                        <a:rPr sz="1700" b="0" i="0" lang="ar-EG" altLang="en-US">
                          <a:solidFill>
                            <a:srgbClr val="1C2333"/>
                          </a:solidFill>
                          <a:latin typeface="Traditional Arabic"/>
                        </a:rPr>
                        <a:t>معلم</a:t>
                      </a:r>
                    </a:p>
                  </a:txBody>
                  <a:tcPr>
                    <a:solidFill>
                      <a:srgbClr val="FFFFFF"/>
                    </a:solidFill>
                  </a:tcPr>
                </a:tc>
                <a:tc>
                  <a:txBody>
                    <a:bodyPr/>
                    <a:lstStyle/>
                    <a:p>
                      <a:pPr rtl="0" algn="l"/>
                      <a:r>
                        <a:rPr sz="1500" b="1" i="0" lang="en-US">
                          <a:solidFill>
                            <a:srgbClr val="225B94"/>
                          </a:solidFill>
                          <a:latin typeface="Segoe UI"/>
                        </a:rPr>
                        <a:t>a nurse</a:t>
                      </a:r>
                    </a:p>
                  </a:txBody>
                  <a:tcPr>
                    <a:solidFill>
                      <a:srgbClr val="FFFFFF"/>
                    </a:solidFill>
                  </a:tcPr>
                </a:tc>
                <a:tc>
                  <a:txBody>
                    <a:bodyPr/>
                    <a:lstStyle/>
                    <a:p>
                      <a:pPr rtl="1" algn="r"/>
                      <a:r>
                        <a:rPr sz="1700" b="0" i="0" lang="ar-EG" altLang="en-US">
                          <a:solidFill>
                            <a:srgbClr val="1C2333"/>
                          </a:solidFill>
                          <a:latin typeface="Traditional Arabic"/>
                        </a:rPr>
                        <a:t>ممرضة</a:t>
                      </a:r>
                    </a:p>
                  </a:txBody>
                  <a:tcPr>
                    <a:solidFill>
                      <a:srgbClr val="FFFFFF"/>
                    </a:solidFill>
                  </a:tcPr>
                </a:tc>
              </a:tr>
              <a:tr h="384048">
                <a:tc>
                  <a:txBody>
                    <a:bodyPr/>
                    <a:lstStyle/>
                    <a:p>
                      <a:pPr rtl="0" algn="l"/>
                      <a:r>
                        <a:rPr sz="1500" b="1" i="0" lang="en-US">
                          <a:solidFill>
                            <a:srgbClr val="225B94"/>
                          </a:solidFill>
                          <a:latin typeface="Segoe UI"/>
                        </a:rPr>
                        <a:t>an ant</a:t>
                      </a:r>
                    </a:p>
                  </a:txBody>
                  <a:tcPr>
                    <a:solidFill>
                      <a:srgbClr val="EEF3FA"/>
                    </a:solidFill>
                  </a:tcPr>
                </a:tc>
                <a:tc>
                  <a:txBody>
                    <a:bodyPr/>
                    <a:lstStyle/>
                    <a:p>
                      <a:pPr rtl="1" algn="r"/>
                      <a:r>
                        <a:rPr sz="1700" b="0" i="0" lang="ar-EG" altLang="en-US">
                          <a:solidFill>
                            <a:srgbClr val="1C2333"/>
                          </a:solidFill>
                          <a:latin typeface="Traditional Arabic"/>
                        </a:rPr>
                        <a:t>نملة</a:t>
                      </a:r>
                    </a:p>
                  </a:txBody>
                  <a:tcPr>
                    <a:solidFill>
                      <a:srgbClr val="EEF3FA"/>
                    </a:solidFill>
                  </a:tcPr>
                </a:tc>
                <a:tc>
                  <a:txBody>
                    <a:bodyPr/>
                    <a:lstStyle/>
                    <a:p>
                      <a:pPr rtl="0" algn="l"/>
                      <a:r>
                        <a:rPr sz="1500" b="1" i="0" lang="en-US">
                          <a:solidFill>
                            <a:srgbClr val="225B94"/>
                          </a:solidFill>
                          <a:latin typeface="Segoe UI"/>
                        </a:rPr>
                        <a:t>an umbrella</a:t>
                      </a:r>
                    </a:p>
                  </a:txBody>
                  <a:tcPr>
                    <a:solidFill>
                      <a:srgbClr val="EEF3FA"/>
                    </a:solidFill>
                  </a:tcPr>
                </a:tc>
                <a:tc>
                  <a:txBody>
                    <a:bodyPr/>
                    <a:lstStyle/>
                    <a:p>
                      <a:pPr rtl="1" algn="r"/>
                      <a:r>
                        <a:rPr sz="1700" b="0" i="0" lang="ar-EG" altLang="en-US">
                          <a:solidFill>
                            <a:srgbClr val="1C2333"/>
                          </a:solidFill>
                          <a:latin typeface="Traditional Arabic"/>
                        </a:rPr>
                        <a:t>شمسية</a:t>
                      </a:r>
                    </a:p>
                  </a:txBody>
                  <a:tcPr>
                    <a:solidFill>
                      <a:srgbClr val="EEF3FA"/>
                    </a:solidFill>
                  </a:tcPr>
                </a:tc>
                <a:tc>
                  <a:txBody>
                    <a:bodyPr/>
                    <a:lstStyle/>
                    <a:p>
                      <a:pPr rtl="0" algn="l"/>
                      <a:r>
                        <a:rPr sz="1500" b="1" i="0" lang="en-US">
                          <a:solidFill>
                            <a:srgbClr val="225B94"/>
                          </a:solidFill>
                          <a:latin typeface="Segoe UI"/>
                        </a:rPr>
                        <a:t>an animal</a:t>
                      </a:r>
                    </a:p>
                  </a:txBody>
                  <a:tcPr>
                    <a:solidFill>
                      <a:srgbClr val="EEF3FA"/>
                    </a:solidFill>
                  </a:tcPr>
                </a:tc>
                <a:tc>
                  <a:txBody>
                    <a:bodyPr/>
                    <a:lstStyle/>
                    <a:p>
                      <a:pPr rtl="1" algn="r"/>
                      <a:r>
                        <a:rPr sz="1700" b="0" i="0" lang="ar-EG" altLang="en-US">
                          <a:solidFill>
                            <a:srgbClr val="1C2333"/>
                          </a:solidFill>
                          <a:latin typeface="Traditional Arabic"/>
                        </a:rPr>
                        <a:t>حيوان</a:t>
                      </a:r>
                    </a:p>
                  </a:txBody>
                  <a:tcPr>
                    <a:solidFill>
                      <a:srgbClr val="EEF3FA"/>
                    </a:solidFill>
                  </a:tcPr>
                </a:tc>
              </a:tr>
              <a:tr h="384048">
                <a:tc>
                  <a:txBody>
                    <a:bodyPr/>
                    <a:lstStyle/>
                    <a:p>
                      <a:pPr rtl="0" algn="l"/>
                      <a:r>
                        <a:rPr sz="1500" b="1" i="0" lang="en-US">
                          <a:solidFill>
                            <a:srgbClr val="225B94"/>
                          </a:solidFill>
                          <a:latin typeface="Segoe UI"/>
                        </a:rPr>
                        <a:t>a snake</a:t>
                      </a:r>
                    </a:p>
                  </a:txBody>
                  <a:tcPr>
                    <a:solidFill>
                      <a:srgbClr val="FFFFFF"/>
                    </a:solidFill>
                  </a:tcPr>
                </a:tc>
                <a:tc>
                  <a:txBody>
                    <a:bodyPr/>
                    <a:lstStyle/>
                    <a:p>
                      <a:pPr rtl="1" algn="r"/>
                      <a:r>
                        <a:rPr sz="1700" b="0" i="0" lang="ar-EG" altLang="en-US">
                          <a:solidFill>
                            <a:srgbClr val="1C2333"/>
                          </a:solidFill>
                          <a:latin typeface="Traditional Arabic"/>
                        </a:rPr>
                        <a:t>ثعبان</a:t>
                      </a:r>
                    </a:p>
                  </a:txBody>
                  <a:tcPr>
                    <a:solidFill>
                      <a:srgbClr val="FFFFFF"/>
                    </a:solidFill>
                  </a:tcPr>
                </a:tc>
                <a:tc>
                  <a:txBody>
                    <a:bodyPr/>
                    <a:lstStyle/>
                    <a:p>
                      <a:pPr rtl="0" algn="l"/>
                      <a:r>
                        <a:rPr sz="1500" b="1" i="0" lang="en-US">
                          <a:solidFill>
                            <a:srgbClr val="225B94"/>
                          </a:solidFill>
                          <a:latin typeface="Segoe UI"/>
                        </a:rPr>
                        <a:t>a camel</a:t>
                      </a:r>
                    </a:p>
                  </a:txBody>
                  <a:tcPr>
                    <a:solidFill>
                      <a:srgbClr val="FFFFFF"/>
                    </a:solidFill>
                  </a:tcPr>
                </a:tc>
                <a:tc>
                  <a:txBody>
                    <a:bodyPr/>
                    <a:lstStyle/>
                    <a:p>
                      <a:pPr rtl="1" algn="r"/>
                      <a:r>
                        <a:rPr sz="1700" b="0" i="0" lang="ar-EG" altLang="en-US">
                          <a:solidFill>
                            <a:srgbClr val="1C2333"/>
                          </a:solidFill>
                          <a:latin typeface="Traditional Arabic"/>
                        </a:rPr>
                        <a:t>جمل</a:t>
                      </a:r>
                    </a:p>
                  </a:txBody>
                  <a:tcPr>
                    <a:solidFill>
                      <a:srgbClr val="FFFFFF"/>
                    </a:solidFill>
                  </a:tcPr>
                </a:tc>
                <a:tc>
                  <a:txBody>
                    <a:bodyPr/>
                    <a:lstStyle/>
                    <a:p>
                      <a:pPr rtl="0" algn="l"/>
                      <a:r>
                        <a:rPr sz="1500" b="1" i="0" lang="en-US">
                          <a:solidFill>
                            <a:srgbClr val="225B94"/>
                          </a:solidFill>
                          <a:latin typeface="Segoe UI"/>
                        </a:rPr>
                        <a:t>a farmer</a:t>
                      </a:r>
                    </a:p>
                  </a:txBody>
                  <a:tcPr>
                    <a:solidFill>
                      <a:srgbClr val="FFFFFF"/>
                    </a:solidFill>
                  </a:tcPr>
                </a:tc>
                <a:tc>
                  <a:txBody>
                    <a:bodyPr/>
                    <a:lstStyle/>
                    <a:p>
                      <a:pPr rtl="1" algn="r"/>
                      <a:r>
                        <a:rPr sz="1700" b="0" i="0" lang="ar-EG" altLang="en-US">
                          <a:solidFill>
                            <a:srgbClr val="1C2333"/>
                          </a:solidFill>
                          <a:latin typeface="Traditional Arabic"/>
                        </a:rPr>
                        <a:t>فلاح</a:t>
                      </a:r>
                    </a:p>
                  </a:txBody>
                  <a:tcPr>
                    <a:solidFill>
                      <a:srgbClr val="FFFFFF"/>
                    </a:solidFill>
                  </a:tcPr>
                </a:tc>
              </a:tr>
              <a:tr h="384048">
                <a:tc>
                  <a:txBody>
                    <a:bodyPr/>
                    <a:lstStyle/>
                    <a:p>
                      <a:pPr rtl="0" algn="l"/>
                      <a:r>
                        <a:rPr sz="1500" b="1" i="0" lang="en-US">
                          <a:solidFill>
                            <a:srgbClr val="225B94"/>
                          </a:solidFill>
                          <a:latin typeface="Segoe UI"/>
                        </a:rPr>
                        <a:t>an elephant</a:t>
                      </a:r>
                    </a:p>
                  </a:txBody>
                  <a:tcPr>
                    <a:solidFill>
                      <a:srgbClr val="EEF3FA"/>
                    </a:solidFill>
                  </a:tcPr>
                </a:tc>
                <a:tc>
                  <a:txBody>
                    <a:bodyPr/>
                    <a:lstStyle/>
                    <a:p>
                      <a:pPr rtl="1" algn="r"/>
                      <a:r>
                        <a:rPr sz="1700" b="0" i="0" lang="ar-EG" altLang="en-US">
                          <a:solidFill>
                            <a:srgbClr val="1C2333"/>
                          </a:solidFill>
                          <a:latin typeface="Traditional Arabic"/>
                        </a:rPr>
                        <a:t>فيل</a:t>
                      </a:r>
                    </a:p>
                  </a:txBody>
                  <a:tcPr>
                    <a:solidFill>
                      <a:srgbClr val="EEF3FA"/>
                    </a:solidFill>
                  </a:tcPr>
                </a:tc>
                <a:tc>
                  <a:txBody>
                    <a:bodyPr/>
                    <a:lstStyle/>
                    <a:p>
                      <a:pPr rtl="0" algn="l"/>
                      <a:r>
                        <a:rPr sz="1500" b="1" i="0" lang="en-US">
                          <a:solidFill>
                            <a:srgbClr val="225B94"/>
                          </a:solidFill>
                          <a:latin typeface="Segoe UI"/>
                        </a:rPr>
                        <a:t>an arm</a:t>
                      </a:r>
                    </a:p>
                  </a:txBody>
                  <a:tcPr>
                    <a:solidFill>
                      <a:srgbClr val="EEF3FA"/>
                    </a:solidFill>
                  </a:tcPr>
                </a:tc>
                <a:tc>
                  <a:txBody>
                    <a:bodyPr/>
                    <a:lstStyle/>
                    <a:p>
                      <a:pPr rtl="1" algn="r"/>
                      <a:r>
                        <a:rPr sz="1700" b="0" i="0" lang="ar-EG" altLang="en-US">
                          <a:solidFill>
                            <a:srgbClr val="1C2333"/>
                          </a:solidFill>
                          <a:latin typeface="Traditional Arabic"/>
                        </a:rPr>
                        <a:t>ذراع</a:t>
                      </a:r>
                    </a:p>
                  </a:txBody>
                  <a:tcPr>
                    <a:solidFill>
                      <a:srgbClr val="EEF3FA"/>
                    </a:solidFill>
                  </a:tcPr>
                </a:tc>
                <a:tc>
                  <a:txBody>
                    <a:bodyPr/>
                    <a:lstStyle/>
                    <a:p>
                      <a:pPr rtl="0" algn="l"/>
                      <a:r>
                        <a:rPr sz="1500" b="1" i="0" lang="en-US">
                          <a:solidFill>
                            <a:srgbClr val="225B94"/>
                          </a:solidFill>
                          <a:latin typeface="Segoe UI"/>
                        </a:rPr>
                        <a:t>an ear</a:t>
                      </a:r>
                    </a:p>
                  </a:txBody>
                  <a:tcPr>
                    <a:solidFill>
                      <a:srgbClr val="EEF3FA"/>
                    </a:solidFill>
                  </a:tcPr>
                </a:tc>
                <a:tc>
                  <a:txBody>
                    <a:bodyPr/>
                    <a:lstStyle/>
                    <a:p>
                      <a:pPr rtl="1" algn="r"/>
                      <a:r>
                        <a:rPr sz="1700" b="0" i="0" lang="ar-EG" altLang="en-US">
                          <a:solidFill>
                            <a:srgbClr val="1C2333"/>
                          </a:solidFill>
                          <a:latin typeface="Traditional Arabic"/>
                        </a:rPr>
                        <a:t>أذن</a:t>
                      </a:r>
                    </a:p>
                  </a:txBody>
                  <a:tcPr>
                    <a:solidFill>
                      <a:srgbClr val="EEF3FA"/>
                    </a:solidFill>
                  </a:tcPr>
                </a:tc>
              </a:tr>
              <a:tr h="384048">
                <a:tc>
                  <a:txBody>
                    <a:bodyPr/>
                    <a:lstStyle/>
                    <a:p>
                      <a:pPr rtl="0" algn="l"/>
                      <a:r>
                        <a:rPr sz="1500" b="1" i="0" lang="en-US">
                          <a:solidFill>
                            <a:srgbClr val="225B94"/>
                          </a:solidFill>
                          <a:latin typeface="Segoe UI"/>
                        </a:rPr>
                        <a:t>a dog</a:t>
                      </a:r>
                    </a:p>
                  </a:txBody>
                  <a:tcPr>
                    <a:solidFill>
                      <a:srgbClr val="FFFFFF"/>
                    </a:solidFill>
                  </a:tcPr>
                </a:tc>
                <a:tc>
                  <a:txBody>
                    <a:bodyPr/>
                    <a:lstStyle/>
                    <a:p>
                      <a:pPr rtl="1" algn="r"/>
                      <a:r>
                        <a:rPr sz="1700" b="0" i="0" lang="ar-EG" altLang="en-US">
                          <a:solidFill>
                            <a:srgbClr val="1C2333"/>
                          </a:solidFill>
                          <a:latin typeface="Traditional Arabic"/>
                        </a:rPr>
                        <a:t>كلب</a:t>
                      </a:r>
                    </a:p>
                  </a:txBody>
                  <a:tcPr>
                    <a:solidFill>
                      <a:srgbClr val="FFFFFF"/>
                    </a:solidFill>
                  </a:tcPr>
                </a:tc>
                <a:tc>
                  <a:txBody>
                    <a:bodyPr/>
                    <a:lstStyle/>
                    <a:p>
                      <a:pPr rtl="0" algn="l"/>
                      <a:r>
                        <a:rPr sz="1500" b="1" i="0" lang="en-US">
                          <a:solidFill>
                            <a:srgbClr val="225B94"/>
                          </a:solidFill>
                          <a:latin typeface="Segoe UI"/>
                        </a:rPr>
                        <a:t>a goat</a:t>
                      </a:r>
                    </a:p>
                  </a:txBody>
                  <a:tcPr>
                    <a:solidFill>
                      <a:srgbClr val="FFFFFF"/>
                    </a:solidFill>
                  </a:tcPr>
                </a:tc>
                <a:tc>
                  <a:txBody>
                    <a:bodyPr/>
                    <a:lstStyle/>
                    <a:p>
                      <a:pPr rtl="1" algn="r"/>
                      <a:r>
                        <a:rPr sz="1700" b="0" i="0" lang="ar-EG" altLang="en-US">
                          <a:solidFill>
                            <a:srgbClr val="1C2333"/>
                          </a:solidFill>
                          <a:latin typeface="Traditional Arabic"/>
                        </a:rPr>
                        <a:t>عنزة</a:t>
                      </a:r>
                    </a:p>
                  </a:txBody>
                  <a:tcPr>
                    <a:solidFill>
                      <a:srgbClr val="FFFFFF"/>
                    </a:solidFill>
                  </a:tcPr>
                </a:tc>
                <a:tc>
                  <a:txBody>
                    <a:bodyPr/>
                    <a:lstStyle/>
                    <a:p>
                      <a:pPr rtl="0" algn="l"/>
                      <a:r>
                        <a:rPr sz="1500" b="1" i="0" lang="en-US">
                          <a:solidFill>
                            <a:srgbClr val="225B94"/>
                          </a:solidFill>
                          <a:latin typeface="Segoe UI"/>
                        </a:rPr>
                        <a:t>a carpenter</a:t>
                      </a:r>
                    </a:p>
                  </a:txBody>
                  <a:tcPr>
                    <a:solidFill>
                      <a:srgbClr val="FFFFFF"/>
                    </a:solidFill>
                  </a:tcPr>
                </a:tc>
                <a:tc>
                  <a:txBody>
                    <a:bodyPr/>
                    <a:lstStyle/>
                    <a:p>
                      <a:pPr rtl="1" algn="r"/>
                      <a:r>
                        <a:rPr sz="1700" b="0" i="0" lang="ar-EG" altLang="en-US">
                          <a:solidFill>
                            <a:srgbClr val="1C2333"/>
                          </a:solidFill>
                          <a:latin typeface="Traditional Arabic"/>
                        </a:rPr>
                        <a:t>نجار</a:t>
                      </a:r>
                    </a:p>
                  </a:txBody>
                  <a:tcPr>
                    <a:solidFill>
                      <a:srgbClr val="FFFFFF"/>
                    </a:solidFill>
                  </a:tcPr>
                </a:tc>
              </a:tr>
              <a:tr h="384048">
                <a:tc>
                  <a:txBody>
                    <a:bodyPr/>
                    <a:lstStyle/>
                    <a:p>
                      <a:pPr rtl="0" algn="l"/>
                      <a:r>
                        <a:rPr sz="1500" b="1" i="0" lang="en-US">
                          <a:solidFill>
                            <a:srgbClr val="225B94"/>
                          </a:solidFill>
                          <a:latin typeface="Segoe UI"/>
                        </a:rPr>
                        <a:t>an apple</a:t>
                      </a:r>
                    </a:p>
                  </a:txBody>
                  <a:tcPr>
                    <a:solidFill>
                      <a:srgbClr val="EEF3FA"/>
                    </a:solidFill>
                  </a:tcPr>
                </a:tc>
                <a:tc>
                  <a:txBody>
                    <a:bodyPr/>
                    <a:lstStyle/>
                    <a:p>
                      <a:pPr rtl="1" algn="r"/>
                      <a:r>
                        <a:rPr sz="1700" b="0" i="0" lang="ar-EG" altLang="en-US">
                          <a:solidFill>
                            <a:srgbClr val="1C2333"/>
                          </a:solidFill>
                          <a:latin typeface="Traditional Arabic"/>
                        </a:rPr>
                        <a:t>تفاحة</a:t>
                      </a:r>
                    </a:p>
                  </a:txBody>
                  <a:tcPr>
                    <a:solidFill>
                      <a:srgbClr val="EEF3FA"/>
                    </a:solidFill>
                  </a:tcPr>
                </a:tc>
                <a:tc>
                  <a:txBody>
                    <a:bodyPr/>
                    <a:lstStyle/>
                    <a:p>
                      <a:pPr rtl="0" algn="l"/>
                      <a:r>
                        <a:rPr sz="1500" b="1" i="0" lang="en-US">
                          <a:solidFill>
                            <a:srgbClr val="225B94"/>
                          </a:solidFill>
                          <a:latin typeface="Segoe UI"/>
                        </a:rPr>
                        <a:t>an insect</a:t>
                      </a:r>
                    </a:p>
                  </a:txBody>
                  <a:tcPr>
                    <a:solidFill>
                      <a:srgbClr val="EEF3FA"/>
                    </a:solidFill>
                  </a:tcPr>
                </a:tc>
                <a:tc>
                  <a:txBody>
                    <a:bodyPr/>
                    <a:lstStyle/>
                    <a:p>
                      <a:pPr rtl="1" algn="r"/>
                      <a:r>
                        <a:rPr sz="1700" b="0" i="0" lang="ar-EG" altLang="en-US">
                          <a:solidFill>
                            <a:srgbClr val="1C2333"/>
                          </a:solidFill>
                          <a:latin typeface="Traditional Arabic"/>
                        </a:rPr>
                        <a:t>حشرة</a:t>
                      </a:r>
                    </a:p>
                  </a:txBody>
                  <a:tcPr>
                    <a:solidFill>
                      <a:srgbClr val="EEF3FA"/>
                    </a:solidFill>
                  </a:tcPr>
                </a:tc>
                <a:tc>
                  <a:txBody>
                    <a:bodyPr/>
                    <a:lstStyle/>
                    <a:p>
                      <a:pPr rtl="0" algn="l"/>
                      <a:r>
                        <a:rPr sz="1500" b="1" i="0" lang="en-US">
                          <a:solidFill>
                            <a:srgbClr val="225B94"/>
                          </a:solidFill>
                          <a:latin typeface="Segoe UI"/>
                        </a:rPr>
                        <a:t>an ox</a:t>
                      </a:r>
                    </a:p>
                  </a:txBody>
                  <a:tcPr>
                    <a:solidFill>
                      <a:srgbClr val="EEF3FA"/>
                    </a:solidFill>
                  </a:tcPr>
                </a:tc>
                <a:tc>
                  <a:txBody>
                    <a:bodyPr/>
                    <a:lstStyle/>
                    <a:p>
                      <a:pPr rtl="1" algn="r"/>
                      <a:r>
                        <a:rPr sz="1700" b="0" i="0" lang="ar-EG" altLang="en-US">
                          <a:solidFill>
                            <a:srgbClr val="1C2333"/>
                          </a:solidFill>
                          <a:latin typeface="Traditional Arabic"/>
                        </a:rPr>
                        <a:t>ثور</a:t>
                      </a:r>
                    </a:p>
                  </a:txBody>
                  <a:tcPr>
                    <a:solidFill>
                      <a:srgbClr val="EEF3FA"/>
                    </a:solidFill>
                  </a:tcPr>
                </a:tc>
              </a:tr>
            </a:tbl>
          </a:graphicData>
        </a:graphic>
      </p:graphicFrame>
    </p:spTree>
  </p:cSld>
  <p:clrMapOvr>
    <a:masterClrMapping/>
  </p:clrMapOvr>
  <p:transition spd="med">
    <p:wipe dir="r"/>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 a + consonant — بالصور</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zldtpqzt.jpg"/>
          <p:cNvPicPr>
            <a:picLocks noChangeAspect="1"/>
          </p:cNvPicPr>
          <p:nvPr/>
        </p:nvPicPr>
        <p:blipFill>
          <a:blip r:embed="rId2"/>
          <a:stretch>
            <a:fillRect/>
          </a:stretch>
        </p:blipFill>
        <p:spPr>
          <a:xfrm>
            <a:off x="457200" y="1674265"/>
            <a:ext cx="1727149" cy="766270"/>
          </a:xfrm>
          <a:prstGeom prst="rect">
            <a:avLst/>
          </a:prstGeom>
        </p:spPr>
      </p:pic>
      <p:sp>
        <p:nvSpPr>
          <p:cNvPr id="9" name="TextBox 8"/>
          <p:cNvSpPr txBox="1"/>
          <p:nvPr/>
        </p:nvSpPr>
        <p:spPr>
          <a:xfrm>
            <a:off x="365760"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horse</a:t>
            </a:r>
          </a:p>
          <a:p>
            <a:pPr algn="ctr" rtl="1"/>
            <a:r>
              <a:rPr sz="1700" b="0" i="0" lang="ar-EG" altLang="en-US">
                <a:solidFill>
                  <a:srgbClr val="1C2333"/>
                </a:solidFill>
                <a:latin typeface="Traditional Arabic"/>
              </a:rPr>
              <a:t>حصان</a:t>
            </a:r>
          </a:p>
        </p:txBody>
      </p:sp>
      <p:pic>
        <p:nvPicPr>
          <p:cNvPr id="10" name="Picture 9" descr="tmpu4ykixcl.jpg"/>
          <p:cNvPicPr>
            <a:picLocks noChangeAspect="1"/>
          </p:cNvPicPr>
          <p:nvPr/>
        </p:nvPicPr>
        <p:blipFill>
          <a:blip r:embed="rId3"/>
          <a:stretch>
            <a:fillRect/>
          </a:stretch>
        </p:blipFill>
        <p:spPr>
          <a:xfrm>
            <a:off x="2367229" y="1520065"/>
            <a:ext cx="1727149" cy="1074670"/>
          </a:xfrm>
          <a:prstGeom prst="rect">
            <a:avLst/>
          </a:prstGeom>
        </p:spPr>
      </p:pic>
      <p:sp>
        <p:nvSpPr>
          <p:cNvPr id="11" name="TextBox 10"/>
          <p:cNvSpPr txBox="1"/>
          <p:nvPr/>
        </p:nvSpPr>
        <p:spPr>
          <a:xfrm>
            <a:off x="2275789"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doctor</a:t>
            </a:r>
          </a:p>
          <a:p>
            <a:pPr algn="ctr" rtl="1"/>
            <a:r>
              <a:rPr sz="1700" b="0" i="0" lang="ar-EG" altLang="en-US">
                <a:solidFill>
                  <a:srgbClr val="1C2333"/>
                </a:solidFill>
                <a:latin typeface="Traditional Arabic"/>
              </a:rPr>
              <a:t>طبيب</a:t>
            </a:r>
          </a:p>
        </p:txBody>
      </p:sp>
      <p:pic>
        <p:nvPicPr>
          <p:cNvPr id="12" name="Picture 11" descr="tmpgkm5v63b.jpg"/>
          <p:cNvPicPr>
            <a:picLocks noChangeAspect="1"/>
          </p:cNvPicPr>
          <p:nvPr/>
        </p:nvPicPr>
        <p:blipFill>
          <a:blip r:embed="rId4"/>
          <a:stretch>
            <a:fillRect/>
          </a:stretch>
        </p:blipFill>
        <p:spPr>
          <a:xfrm>
            <a:off x="4277258" y="1527909"/>
            <a:ext cx="1727149" cy="1058981"/>
          </a:xfrm>
          <a:prstGeom prst="rect">
            <a:avLst/>
          </a:prstGeom>
        </p:spPr>
      </p:pic>
      <p:sp>
        <p:nvSpPr>
          <p:cNvPr id="13" name="TextBox 12"/>
          <p:cNvSpPr txBox="1"/>
          <p:nvPr/>
        </p:nvSpPr>
        <p:spPr>
          <a:xfrm>
            <a:off x="4185818"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snake</a:t>
            </a:r>
          </a:p>
          <a:p>
            <a:pPr algn="ctr" rtl="1"/>
            <a:r>
              <a:rPr sz="1700" b="0" i="0" lang="ar-EG" altLang="en-US">
                <a:solidFill>
                  <a:srgbClr val="1C2333"/>
                </a:solidFill>
                <a:latin typeface="Traditional Arabic"/>
              </a:rPr>
              <a:t>ثعبان</a:t>
            </a:r>
          </a:p>
        </p:txBody>
      </p:sp>
      <p:pic>
        <p:nvPicPr>
          <p:cNvPr id="14" name="Picture 13" descr="tmpk6cnie76.jpg"/>
          <p:cNvPicPr>
            <a:picLocks noChangeAspect="1"/>
          </p:cNvPicPr>
          <p:nvPr/>
        </p:nvPicPr>
        <p:blipFill>
          <a:blip r:embed="rId5"/>
          <a:stretch>
            <a:fillRect/>
          </a:stretch>
        </p:blipFill>
        <p:spPr>
          <a:xfrm>
            <a:off x="6187287" y="1440147"/>
            <a:ext cx="1727149" cy="1234505"/>
          </a:xfrm>
          <a:prstGeom prst="rect">
            <a:avLst/>
          </a:prstGeom>
        </p:spPr>
      </p:pic>
      <p:sp>
        <p:nvSpPr>
          <p:cNvPr id="15" name="TextBox 14"/>
          <p:cNvSpPr txBox="1"/>
          <p:nvPr/>
        </p:nvSpPr>
        <p:spPr>
          <a:xfrm>
            <a:off x="6095847"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dog</a:t>
            </a:r>
          </a:p>
          <a:p>
            <a:pPr algn="ctr" rtl="1"/>
            <a:r>
              <a:rPr sz="1700" b="0" i="0" lang="ar-EG" altLang="en-US">
                <a:solidFill>
                  <a:srgbClr val="1C2333"/>
                </a:solidFill>
                <a:latin typeface="Traditional Arabic"/>
              </a:rPr>
              <a:t>كلب</a:t>
            </a:r>
          </a:p>
        </p:txBody>
      </p:sp>
      <p:pic>
        <p:nvPicPr>
          <p:cNvPr id="16" name="Picture 15" descr="tmphau9_mei.jpg"/>
          <p:cNvPicPr>
            <a:picLocks noChangeAspect="1"/>
          </p:cNvPicPr>
          <p:nvPr/>
        </p:nvPicPr>
        <p:blipFill>
          <a:blip r:embed="rId6"/>
          <a:stretch>
            <a:fillRect/>
          </a:stretch>
        </p:blipFill>
        <p:spPr>
          <a:xfrm>
            <a:off x="8097316" y="1471062"/>
            <a:ext cx="1727149" cy="1172676"/>
          </a:xfrm>
          <a:prstGeom prst="rect">
            <a:avLst/>
          </a:prstGeom>
        </p:spPr>
      </p:pic>
      <p:sp>
        <p:nvSpPr>
          <p:cNvPr id="17" name="TextBox 16"/>
          <p:cNvSpPr txBox="1"/>
          <p:nvPr/>
        </p:nvSpPr>
        <p:spPr>
          <a:xfrm>
            <a:off x="8005876"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pen</a:t>
            </a:r>
          </a:p>
          <a:p>
            <a:pPr algn="ctr" rtl="1"/>
            <a:r>
              <a:rPr sz="1700" b="0" i="0" lang="ar-EG" altLang="en-US">
                <a:solidFill>
                  <a:srgbClr val="1C2333"/>
                </a:solidFill>
                <a:latin typeface="Traditional Arabic"/>
              </a:rPr>
              <a:t>قلم جاف</a:t>
            </a:r>
          </a:p>
        </p:txBody>
      </p:sp>
      <p:pic>
        <p:nvPicPr>
          <p:cNvPr id="18" name="Picture 17" descr="tmpzv3yp40g.jpg"/>
          <p:cNvPicPr>
            <a:picLocks noChangeAspect="1"/>
          </p:cNvPicPr>
          <p:nvPr/>
        </p:nvPicPr>
        <p:blipFill>
          <a:blip r:embed="rId7"/>
          <a:stretch>
            <a:fillRect/>
          </a:stretch>
        </p:blipFill>
        <p:spPr>
          <a:xfrm>
            <a:off x="10007345" y="1425887"/>
            <a:ext cx="1727149" cy="1263025"/>
          </a:xfrm>
          <a:prstGeom prst="rect">
            <a:avLst/>
          </a:prstGeom>
        </p:spPr>
      </p:pic>
      <p:sp>
        <p:nvSpPr>
          <p:cNvPr id="19" name="TextBox 18"/>
          <p:cNvSpPr txBox="1"/>
          <p:nvPr/>
        </p:nvSpPr>
        <p:spPr>
          <a:xfrm>
            <a:off x="9915905"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teacher</a:t>
            </a:r>
          </a:p>
          <a:p>
            <a:pPr algn="ctr" rtl="1"/>
            <a:r>
              <a:rPr sz="1700" b="0" i="0" lang="ar-EG" altLang="en-US">
                <a:solidFill>
                  <a:srgbClr val="1C2333"/>
                </a:solidFill>
                <a:latin typeface="Traditional Arabic"/>
              </a:rPr>
              <a:t>معلم</a:t>
            </a:r>
          </a:p>
        </p:txBody>
      </p:sp>
      <p:pic>
        <p:nvPicPr>
          <p:cNvPr id="20" name="Picture 19" descr="tmpc_raeqn7.jpg"/>
          <p:cNvPicPr>
            <a:picLocks noChangeAspect="1"/>
          </p:cNvPicPr>
          <p:nvPr/>
        </p:nvPicPr>
        <p:blipFill>
          <a:blip r:embed="rId8"/>
          <a:stretch>
            <a:fillRect/>
          </a:stretch>
        </p:blipFill>
        <p:spPr>
          <a:xfrm>
            <a:off x="457200" y="4136163"/>
            <a:ext cx="1727149" cy="963114"/>
          </a:xfrm>
          <a:prstGeom prst="rect">
            <a:avLst/>
          </a:prstGeom>
        </p:spPr>
      </p:pic>
      <p:sp>
        <p:nvSpPr>
          <p:cNvPr id="21" name="TextBox 20"/>
          <p:cNvSpPr txBox="1"/>
          <p:nvPr/>
        </p:nvSpPr>
        <p:spPr>
          <a:xfrm>
            <a:off x="365760" y="548640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goat</a:t>
            </a:r>
          </a:p>
          <a:p>
            <a:pPr algn="ctr" rtl="1"/>
            <a:r>
              <a:rPr sz="1700" b="0" i="0" lang="ar-EG" altLang="en-US">
                <a:solidFill>
                  <a:srgbClr val="1C2333"/>
                </a:solidFill>
                <a:latin typeface="Traditional Arabic"/>
              </a:rPr>
              <a:t>عنزة</a:t>
            </a:r>
          </a:p>
        </p:txBody>
      </p:sp>
      <p:pic>
        <p:nvPicPr>
          <p:cNvPr id="22" name="Picture 21" descr="tmpnd8dxxrg.jpg"/>
          <p:cNvPicPr>
            <a:picLocks noChangeAspect="1"/>
          </p:cNvPicPr>
          <p:nvPr/>
        </p:nvPicPr>
        <p:blipFill>
          <a:blip r:embed="rId9"/>
          <a:stretch>
            <a:fillRect/>
          </a:stretch>
        </p:blipFill>
        <p:spPr>
          <a:xfrm>
            <a:off x="2367229" y="3858191"/>
            <a:ext cx="1727149" cy="1519058"/>
          </a:xfrm>
          <a:prstGeom prst="rect">
            <a:avLst/>
          </a:prstGeom>
        </p:spPr>
      </p:pic>
      <p:sp>
        <p:nvSpPr>
          <p:cNvPr id="23" name="TextBox 22"/>
          <p:cNvSpPr txBox="1"/>
          <p:nvPr/>
        </p:nvSpPr>
        <p:spPr>
          <a:xfrm>
            <a:off x="2275789" y="548640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table</a:t>
            </a:r>
          </a:p>
          <a:p>
            <a:pPr algn="ctr" rtl="1"/>
            <a:r>
              <a:rPr sz="1700" b="0" i="0" lang="ar-EG" altLang="en-US">
                <a:solidFill>
                  <a:srgbClr val="1C2333"/>
                </a:solidFill>
                <a:latin typeface="Traditional Arabic"/>
              </a:rPr>
              <a:t>منضدة</a:t>
            </a:r>
          </a:p>
        </p:txBody>
      </p:sp>
      <p:pic>
        <p:nvPicPr>
          <p:cNvPr id="24" name="Picture 23" descr="tmpxz26i4ca.jpg"/>
          <p:cNvPicPr>
            <a:picLocks noChangeAspect="1"/>
          </p:cNvPicPr>
          <p:nvPr/>
        </p:nvPicPr>
        <p:blipFill>
          <a:blip r:embed="rId10"/>
          <a:stretch>
            <a:fillRect/>
          </a:stretch>
        </p:blipFill>
        <p:spPr>
          <a:xfrm>
            <a:off x="4277258" y="4059295"/>
            <a:ext cx="1727149" cy="1116849"/>
          </a:xfrm>
          <a:prstGeom prst="rect">
            <a:avLst/>
          </a:prstGeom>
        </p:spPr>
      </p:pic>
      <p:sp>
        <p:nvSpPr>
          <p:cNvPr id="25" name="TextBox 24"/>
          <p:cNvSpPr txBox="1"/>
          <p:nvPr/>
        </p:nvSpPr>
        <p:spPr>
          <a:xfrm>
            <a:off x="4185818" y="548640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camel</a:t>
            </a:r>
          </a:p>
          <a:p>
            <a:pPr algn="ctr" rtl="1"/>
            <a:r>
              <a:rPr sz="1700" b="0" i="0" lang="ar-EG" altLang="en-US">
                <a:solidFill>
                  <a:srgbClr val="1C2333"/>
                </a:solidFill>
                <a:latin typeface="Traditional Arabic"/>
              </a:rPr>
              <a:t>جمل</a:t>
            </a:r>
          </a:p>
        </p:txBody>
      </p:sp>
      <p:pic>
        <p:nvPicPr>
          <p:cNvPr id="26" name="Picture 25" descr="tmpidje3i56.jpg"/>
          <p:cNvPicPr>
            <a:picLocks noChangeAspect="1"/>
          </p:cNvPicPr>
          <p:nvPr/>
        </p:nvPicPr>
        <p:blipFill>
          <a:blip r:embed="rId11"/>
          <a:stretch>
            <a:fillRect/>
          </a:stretch>
        </p:blipFill>
        <p:spPr>
          <a:xfrm>
            <a:off x="6187287" y="4032718"/>
            <a:ext cx="1727149" cy="1170004"/>
          </a:xfrm>
          <a:prstGeom prst="rect">
            <a:avLst/>
          </a:prstGeom>
        </p:spPr>
      </p:pic>
      <p:sp>
        <p:nvSpPr>
          <p:cNvPr id="27" name="TextBox 26"/>
          <p:cNvSpPr txBox="1"/>
          <p:nvPr/>
        </p:nvSpPr>
        <p:spPr>
          <a:xfrm>
            <a:off x="6095847" y="548640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nurse</a:t>
            </a:r>
          </a:p>
          <a:p>
            <a:pPr algn="ctr" rtl="1"/>
            <a:r>
              <a:rPr sz="1700" b="0" i="0" lang="ar-EG" altLang="en-US">
                <a:solidFill>
                  <a:srgbClr val="1C2333"/>
                </a:solidFill>
                <a:latin typeface="Traditional Arabic"/>
              </a:rPr>
              <a:t>ممرضة</a:t>
            </a:r>
          </a:p>
        </p:txBody>
      </p:sp>
      <p:pic>
        <p:nvPicPr>
          <p:cNvPr id="28" name="Picture 27" descr="tmpaqgr9mrc.jpg"/>
          <p:cNvPicPr>
            <a:picLocks noChangeAspect="1"/>
          </p:cNvPicPr>
          <p:nvPr/>
        </p:nvPicPr>
        <p:blipFill>
          <a:blip r:embed="rId12"/>
          <a:stretch>
            <a:fillRect/>
          </a:stretch>
        </p:blipFill>
        <p:spPr>
          <a:xfrm>
            <a:off x="8097316" y="4202255"/>
            <a:ext cx="1727149" cy="830930"/>
          </a:xfrm>
          <a:prstGeom prst="rect">
            <a:avLst/>
          </a:prstGeom>
        </p:spPr>
      </p:pic>
      <p:sp>
        <p:nvSpPr>
          <p:cNvPr id="29" name="TextBox 28"/>
          <p:cNvSpPr txBox="1"/>
          <p:nvPr/>
        </p:nvSpPr>
        <p:spPr>
          <a:xfrm>
            <a:off x="8005876" y="548640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farmer</a:t>
            </a:r>
          </a:p>
          <a:p>
            <a:pPr algn="ctr" rtl="1"/>
            <a:r>
              <a:rPr sz="1700" b="0" i="0" lang="ar-EG" altLang="en-US">
                <a:solidFill>
                  <a:srgbClr val="1C2333"/>
                </a:solidFill>
                <a:latin typeface="Traditional Arabic"/>
              </a:rPr>
              <a:t>فلاح</a:t>
            </a:r>
          </a:p>
        </p:txBody>
      </p:sp>
      <p:pic>
        <p:nvPicPr>
          <p:cNvPr id="30" name="Picture 29" descr="tmp573a66xn.jpg"/>
          <p:cNvPicPr>
            <a:picLocks noChangeAspect="1"/>
          </p:cNvPicPr>
          <p:nvPr/>
        </p:nvPicPr>
        <p:blipFill>
          <a:blip r:embed="rId13"/>
          <a:stretch>
            <a:fillRect/>
          </a:stretch>
        </p:blipFill>
        <p:spPr>
          <a:xfrm>
            <a:off x="10007345" y="4090428"/>
            <a:ext cx="1727149" cy="1054583"/>
          </a:xfrm>
          <a:prstGeom prst="rect">
            <a:avLst/>
          </a:prstGeom>
        </p:spPr>
      </p:pic>
      <p:sp>
        <p:nvSpPr>
          <p:cNvPr id="31" name="TextBox 30"/>
          <p:cNvSpPr txBox="1"/>
          <p:nvPr/>
        </p:nvSpPr>
        <p:spPr>
          <a:xfrm>
            <a:off x="9915905" y="548640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 carpenter</a:t>
            </a:r>
          </a:p>
          <a:p>
            <a:pPr algn="ctr" rtl="1"/>
            <a:r>
              <a:rPr sz="1700" b="0" i="0" lang="ar-EG" altLang="en-US">
                <a:solidFill>
                  <a:srgbClr val="1C2333"/>
                </a:solidFill>
                <a:latin typeface="Traditional Arabic"/>
              </a:rPr>
              <a:t>نجار</a:t>
            </a:r>
          </a:p>
        </p:txBody>
      </p:sp>
    </p:spTree>
  </p:cSld>
  <p:clrMapOvr>
    <a:masterClrMapping/>
  </p:clrMapOvr>
  <p:transition spd="med">
    <p:split orient="vert" dir="out"/>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 an + vowel — بالصور</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ocdekn7y.jpg"/>
          <p:cNvPicPr>
            <a:picLocks noChangeAspect="1"/>
          </p:cNvPicPr>
          <p:nvPr/>
        </p:nvPicPr>
        <p:blipFill>
          <a:blip r:embed="rId2"/>
          <a:stretch>
            <a:fillRect/>
          </a:stretch>
        </p:blipFill>
        <p:spPr>
          <a:xfrm>
            <a:off x="457200" y="1527618"/>
            <a:ext cx="1727149" cy="1059563"/>
          </a:xfrm>
          <a:prstGeom prst="rect">
            <a:avLst/>
          </a:prstGeom>
        </p:spPr>
      </p:pic>
      <p:sp>
        <p:nvSpPr>
          <p:cNvPr id="9" name="TextBox 8"/>
          <p:cNvSpPr txBox="1"/>
          <p:nvPr/>
        </p:nvSpPr>
        <p:spPr>
          <a:xfrm>
            <a:off x="365760"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an orange</a:t>
            </a:r>
          </a:p>
          <a:p>
            <a:pPr algn="ctr" rtl="1"/>
            <a:r>
              <a:rPr sz="1700" b="0" i="0" lang="ar-EG" altLang="en-US">
                <a:solidFill>
                  <a:srgbClr val="1C2333"/>
                </a:solidFill>
                <a:latin typeface="Traditional Arabic"/>
              </a:rPr>
              <a:t>برتقالة</a:t>
            </a:r>
          </a:p>
        </p:txBody>
      </p:sp>
      <p:pic>
        <p:nvPicPr>
          <p:cNvPr id="10" name="Picture 9" descr="tmpsu6vpjo7.jpg"/>
          <p:cNvPicPr>
            <a:picLocks noChangeAspect="1"/>
          </p:cNvPicPr>
          <p:nvPr/>
        </p:nvPicPr>
        <p:blipFill>
          <a:blip r:embed="rId3"/>
          <a:stretch>
            <a:fillRect/>
          </a:stretch>
        </p:blipFill>
        <p:spPr>
          <a:xfrm>
            <a:off x="2367229" y="1487177"/>
            <a:ext cx="1727149" cy="1140445"/>
          </a:xfrm>
          <a:prstGeom prst="rect">
            <a:avLst/>
          </a:prstGeom>
        </p:spPr>
      </p:pic>
      <p:sp>
        <p:nvSpPr>
          <p:cNvPr id="11" name="TextBox 10"/>
          <p:cNvSpPr txBox="1"/>
          <p:nvPr/>
        </p:nvSpPr>
        <p:spPr>
          <a:xfrm>
            <a:off x="2275789"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an ant</a:t>
            </a:r>
          </a:p>
          <a:p>
            <a:pPr algn="ctr" rtl="1"/>
            <a:r>
              <a:rPr sz="1700" b="0" i="0" lang="ar-EG" altLang="en-US">
                <a:solidFill>
                  <a:srgbClr val="1C2333"/>
                </a:solidFill>
                <a:latin typeface="Traditional Arabic"/>
              </a:rPr>
              <a:t>نملة</a:t>
            </a:r>
          </a:p>
        </p:txBody>
      </p:sp>
      <p:pic>
        <p:nvPicPr>
          <p:cNvPr id="12" name="Picture 11" descr="tmp8ikgmqjc.jpg"/>
          <p:cNvPicPr>
            <a:picLocks noChangeAspect="1"/>
          </p:cNvPicPr>
          <p:nvPr/>
        </p:nvPicPr>
        <p:blipFill>
          <a:blip r:embed="rId4"/>
          <a:stretch>
            <a:fillRect/>
          </a:stretch>
        </p:blipFill>
        <p:spPr>
          <a:xfrm>
            <a:off x="4277258" y="1577636"/>
            <a:ext cx="1727149" cy="959527"/>
          </a:xfrm>
          <a:prstGeom prst="rect">
            <a:avLst/>
          </a:prstGeom>
        </p:spPr>
      </p:pic>
      <p:sp>
        <p:nvSpPr>
          <p:cNvPr id="13" name="TextBox 12"/>
          <p:cNvSpPr txBox="1"/>
          <p:nvPr/>
        </p:nvSpPr>
        <p:spPr>
          <a:xfrm>
            <a:off x="4185818"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an elephant</a:t>
            </a:r>
          </a:p>
          <a:p>
            <a:pPr algn="ctr" rtl="1"/>
            <a:r>
              <a:rPr sz="1700" b="0" i="0" lang="ar-EG" altLang="en-US">
                <a:solidFill>
                  <a:srgbClr val="1C2333"/>
                </a:solidFill>
                <a:latin typeface="Traditional Arabic"/>
              </a:rPr>
              <a:t>فيل</a:t>
            </a:r>
          </a:p>
        </p:txBody>
      </p:sp>
      <p:pic>
        <p:nvPicPr>
          <p:cNvPr id="14" name="Picture 13" descr="tmpuakjly_w.jpg"/>
          <p:cNvPicPr>
            <a:picLocks noChangeAspect="1"/>
          </p:cNvPicPr>
          <p:nvPr/>
        </p:nvPicPr>
        <p:blipFill>
          <a:blip r:embed="rId5"/>
          <a:stretch>
            <a:fillRect/>
          </a:stretch>
        </p:blipFill>
        <p:spPr>
          <a:xfrm>
            <a:off x="6187287" y="1668106"/>
            <a:ext cx="1727149" cy="778587"/>
          </a:xfrm>
          <a:prstGeom prst="rect">
            <a:avLst/>
          </a:prstGeom>
        </p:spPr>
      </p:pic>
      <p:sp>
        <p:nvSpPr>
          <p:cNvPr id="15" name="TextBox 14"/>
          <p:cNvSpPr txBox="1"/>
          <p:nvPr/>
        </p:nvSpPr>
        <p:spPr>
          <a:xfrm>
            <a:off x="6095847"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an umbrella</a:t>
            </a:r>
          </a:p>
          <a:p>
            <a:pPr algn="ctr" rtl="1"/>
            <a:r>
              <a:rPr sz="1700" b="0" i="0" lang="ar-EG" altLang="en-US">
                <a:solidFill>
                  <a:srgbClr val="1C2333"/>
                </a:solidFill>
                <a:latin typeface="Traditional Arabic"/>
              </a:rPr>
              <a:t>شمسية</a:t>
            </a:r>
          </a:p>
        </p:txBody>
      </p:sp>
      <p:pic>
        <p:nvPicPr>
          <p:cNvPr id="16" name="Picture 15" descr="tmpp1qvsj0s.jpg"/>
          <p:cNvPicPr>
            <a:picLocks noChangeAspect="1"/>
          </p:cNvPicPr>
          <p:nvPr/>
        </p:nvPicPr>
        <p:blipFill>
          <a:blip r:embed="rId6"/>
          <a:stretch>
            <a:fillRect/>
          </a:stretch>
        </p:blipFill>
        <p:spPr>
          <a:xfrm>
            <a:off x="8190346" y="1188720"/>
            <a:ext cx="1541089" cy="1737360"/>
          </a:xfrm>
          <a:prstGeom prst="rect">
            <a:avLst/>
          </a:prstGeom>
        </p:spPr>
      </p:pic>
      <p:sp>
        <p:nvSpPr>
          <p:cNvPr id="17" name="TextBox 16"/>
          <p:cNvSpPr txBox="1"/>
          <p:nvPr/>
        </p:nvSpPr>
        <p:spPr>
          <a:xfrm>
            <a:off x="8005876"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an apple</a:t>
            </a:r>
          </a:p>
          <a:p>
            <a:pPr algn="ctr" rtl="1"/>
            <a:r>
              <a:rPr sz="1700" b="0" i="0" lang="ar-EG" altLang="en-US">
                <a:solidFill>
                  <a:srgbClr val="1C2333"/>
                </a:solidFill>
                <a:latin typeface="Traditional Arabic"/>
              </a:rPr>
              <a:t>تفاحة</a:t>
            </a:r>
          </a:p>
        </p:txBody>
      </p:sp>
      <p:pic>
        <p:nvPicPr>
          <p:cNvPr id="18" name="Picture 17" descr="tmp0arwl5u1.jpg"/>
          <p:cNvPicPr>
            <a:picLocks noChangeAspect="1"/>
          </p:cNvPicPr>
          <p:nvPr/>
        </p:nvPicPr>
        <p:blipFill>
          <a:blip r:embed="rId7"/>
          <a:stretch>
            <a:fillRect/>
          </a:stretch>
        </p:blipFill>
        <p:spPr>
          <a:xfrm>
            <a:off x="10007345" y="1552963"/>
            <a:ext cx="1727149" cy="1008874"/>
          </a:xfrm>
          <a:prstGeom prst="rect">
            <a:avLst/>
          </a:prstGeom>
        </p:spPr>
      </p:pic>
      <p:sp>
        <p:nvSpPr>
          <p:cNvPr id="19" name="TextBox 18"/>
          <p:cNvSpPr txBox="1"/>
          <p:nvPr/>
        </p:nvSpPr>
        <p:spPr>
          <a:xfrm>
            <a:off x="9915905" y="292608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an egg</a:t>
            </a:r>
          </a:p>
          <a:p>
            <a:pPr algn="ctr" rtl="1"/>
            <a:r>
              <a:rPr sz="1700" b="0" i="0" lang="ar-EG" altLang="en-US">
                <a:solidFill>
                  <a:srgbClr val="1C2333"/>
                </a:solidFill>
                <a:latin typeface="Traditional Arabic"/>
              </a:rPr>
              <a:t>بيضة</a:t>
            </a:r>
          </a:p>
        </p:txBody>
      </p:sp>
      <p:pic>
        <p:nvPicPr>
          <p:cNvPr id="20" name="Picture 19" descr="tmp7c8bty_l.jpg"/>
          <p:cNvPicPr>
            <a:picLocks noChangeAspect="1"/>
          </p:cNvPicPr>
          <p:nvPr/>
        </p:nvPicPr>
        <p:blipFill>
          <a:blip r:embed="rId8"/>
          <a:stretch>
            <a:fillRect/>
          </a:stretch>
        </p:blipFill>
        <p:spPr>
          <a:xfrm>
            <a:off x="457200" y="3979035"/>
            <a:ext cx="1727149" cy="1277370"/>
          </a:xfrm>
          <a:prstGeom prst="rect">
            <a:avLst/>
          </a:prstGeom>
        </p:spPr>
      </p:pic>
      <p:sp>
        <p:nvSpPr>
          <p:cNvPr id="21" name="TextBox 20"/>
          <p:cNvSpPr txBox="1"/>
          <p:nvPr/>
        </p:nvSpPr>
        <p:spPr>
          <a:xfrm>
            <a:off x="365760" y="548640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an insect</a:t>
            </a:r>
          </a:p>
          <a:p>
            <a:pPr algn="ctr" rtl="1"/>
            <a:r>
              <a:rPr sz="1700" b="0" i="0" lang="ar-EG" altLang="en-US">
                <a:solidFill>
                  <a:srgbClr val="1C2333"/>
                </a:solidFill>
                <a:latin typeface="Traditional Arabic"/>
              </a:rPr>
              <a:t>حشرة</a:t>
            </a:r>
          </a:p>
        </p:txBody>
      </p:sp>
      <p:pic>
        <p:nvPicPr>
          <p:cNvPr id="22" name="Picture 21" descr="tmpcexlcwen.jpg"/>
          <p:cNvPicPr>
            <a:picLocks noChangeAspect="1"/>
          </p:cNvPicPr>
          <p:nvPr/>
        </p:nvPicPr>
        <p:blipFill>
          <a:blip r:embed="rId9"/>
          <a:stretch>
            <a:fillRect/>
          </a:stretch>
        </p:blipFill>
        <p:spPr>
          <a:xfrm>
            <a:off x="2367229" y="4233224"/>
            <a:ext cx="1727149" cy="768992"/>
          </a:xfrm>
          <a:prstGeom prst="rect">
            <a:avLst/>
          </a:prstGeom>
        </p:spPr>
      </p:pic>
      <p:sp>
        <p:nvSpPr>
          <p:cNvPr id="23" name="TextBox 22"/>
          <p:cNvSpPr txBox="1"/>
          <p:nvPr/>
        </p:nvSpPr>
        <p:spPr>
          <a:xfrm>
            <a:off x="2275789" y="548640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an engineer</a:t>
            </a:r>
          </a:p>
          <a:p>
            <a:pPr algn="ctr" rtl="1"/>
            <a:r>
              <a:rPr sz="1700" b="0" i="0" lang="ar-EG" altLang="en-US">
                <a:solidFill>
                  <a:srgbClr val="1C2333"/>
                </a:solidFill>
                <a:latin typeface="Traditional Arabic"/>
              </a:rPr>
              <a:t>مهندس</a:t>
            </a:r>
          </a:p>
        </p:txBody>
      </p:sp>
      <p:pic>
        <p:nvPicPr>
          <p:cNvPr id="24" name="Picture 23" descr="tmp87j1fztn.jpg"/>
          <p:cNvPicPr>
            <a:picLocks noChangeAspect="1"/>
          </p:cNvPicPr>
          <p:nvPr/>
        </p:nvPicPr>
        <p:blipFill>
          <a:blip r:embed="rId10"/>
          <a:stretch>
            <a:fillRect/>
          </a:stretch>
        </p:blipFill>
        <p:spPr>
          <a:xfrm>
            <a:off x="4277258" y="4086719"/>
            <a:ext cx="1727149" cy="1062001"/>
          </a:xfrm>
          <a:prstGeom prst="rect">
            <a:avLst/>
          </a:prstGeom>
        </p:spPr>
      </p:pic>
      <p:sp>
        <p:nvSpPr>
          <p:cNvPr id="25" name="TextBox 24"/>
          <p:cNvSpPr txBox="1"/>
          <p:nvPr/>
        </p:nvSpPr>
        <p:spPr>
          <a:xfrm>
            <a:off x="4185818" y="5486400"/>
            <a:ext cx="1910029" cy="777240"/>
          </a:xfrm>
          <a:prstGeom prst="rect">
            <a:avLst/>
          </a:prstGeom>
          <a:noFill/>
        </p:spPr>
        <p:txBody>
          <a:bodyPr wrap="square" lIns="109728" rIns="109728" tIns="54864" bIns="54864" anchor="t">
            <a:spAutoFit/>
          </a:bodyPr>
          <a:lstStyle/>
          <a:p>
            <a:pPr algn="ctr" rtl="0"/>
            <a:r>
              <a:rPr sz="1600" b="1" i="0" lang="en-US">
                <a:solidFill>
                  <a:srgbClr val="225B94"/>
                </a:solidFill>
                <a:latin typeface="Segoe UI"/>
              </a:rPr>
              <a:t>an arm</a:t>
            </a:r>
          </a:p>
          <a:p>
            <a:pPr algn="ctr" rtl="1"/>
            <a:r>
              <a:rPr sz="1700" b="0" i="0" lang="ar-EG" altLang="en-US">
                <a:solidFill>
                  <a:srgbClr val="1C2333"/>
                </a:solidFill>
                <a:latin typeface="Traditional Arabic"/>
              </a:rPr>
              <a:t>ذراع</a:t>
            </a:r>
          </a:p>
        </p:txBody>
      </p:sp>
    </p:spTree>
  </p:cSld>
  <p:clrMapOvr>
    <a:masterClrMapping/>
  </p:clrMapOvr>
  <p:transition spd="med">
    <p:cover dir="d"/>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is …… arm.   (a – an)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 have …… camera.   (a – an)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She has …… cat.   (a – an)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It is …… elephant.   (a – an)</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 egg.   (a – an)</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It is …… tree.   (a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She has …… orange.   (a – an)</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is …… umbrella.   (a – an)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 have …… book.   (a – an)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She bought …… bird.   (a – an)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It is …… ear.   (a – an)</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It is …… phone.   (a – an)</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He is …… doctor.   (a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It is …… ox.   (a – an)</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It is …… box.   (a – an)</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I saw …… animal.   (a – an)</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He is …… engineer.   (a – an)</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It is …… dog.   (a – an)</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(1)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5bmndazo.jpg"/>
          <p:cNvPicPr>
            <a:picLocks noChangeAspect="1"/>
          </p:cNvPicPr>
          <p:nvPr/>
        </p:nvPicPr>
        <p:blipFill>
          <a:blip r:embed="rId2"/>
          <a:stretch>
            <a:fillRect/>
          </a:stretch>
        </p:blipFill>
        <p:spPr>
          <a:xfrm>
            <a:off x="772362" y="1188720"/>
            <a:ext cx="2051839" cy="1874520"/>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He is a doctor.</a:t>
            </a:r>
          </a:p>
        </p:txBody>
      </p:sp>
      <p:pic>
        <p:nvPicPr>
          <p:cNvPr id="11" name="Picture 10" descr="tmpyb4lrvne.jpg"/>
          <p:cNvPicPr>
            <a:picLocks noChangeAspect="1"/>
          </p:cNvPicPr>
          <p:nvPr/>
        </p:nvPicPr>
        <p:blipFill>
          <a:blip r:embed="rId3"/>
          <a:stretch>
            <a:fillRect/>
          </a:stretch>
        </p:blipFill>
        <p:spPr>
          <a:xfrm>
            <a:off x="3485417" y="1188720"/>
            <a:ext cx="2355815" cy="1874520"/>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2</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She is a nurse.</a:t>
            </a:r>
          </a:p>
        </p:txBody>
      </p:sp>
      <p:pic>
        <p:nvPicPr>
          <p:cNvPr id="14" name="Picture 13" descr="tmp6ninfa0p.jpg"/>
          <p:cNvPicPr>
            <a:picLocks noChangeAspect="1"/>
          </p:cNvPicPr>
          <p:nvPr/>
        </p:nvPicPr>
        <p:blipFill>
          <a:blip r:embed="rId4"/>
          <a:stretch>
            <a:fillRect/>
          </a:stretch>
        </p:blipFill>
        <p:spPr>
          <a:xfrm>
            <a:off x="6187287" y="1260514"/>
            <a:ext cx="2682163" cy="1730931"/>
          </a:xfrm>
          <a:prstGeom prst="rect">
            <a:avLst/>
          </a:prstGeom>
        </p:spPr>
      </p:pic>
      <p:sp>
        <p:nvSpPr>
          <p:cNvPr id="15" name="Oval 14"/>
          <p:cNvSpPr/>
          <p:nvPr/>
        </p:nvSpPr>
        <p:spPr>
          <a:xfrm>
            <a:off x="6205575"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3</a:t>
            </a:r>
          </a:p>
        </p:txBody>
      </p:sp>
      <p:sp>
        <p:nvSpPr>
          <p:cNvPr id="16" name="Rounded Rectangle 15"/>
          <p:cNvSpPr/>
          <p:nvPr/>
        </p:nvSpPr>
        <p:spPr>
          <a:xfrm>
            <a:off x="6233007"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She is a teacher.</a:t>
            </a:r>
          </a:p>
        </p:txBody>
      </p:sp>
      <p:pic>
        <p:nvPicPr>
          <p:cNvPr id="17" name="Picture 16" descr="tmpctv69tj0.jpg"/>
          <p:cNvPicPr>
            <a:picLocks noChangeAspect="1"/>
          </p:cNvPicPr>
          <p:nvPr/>
        </p:nvPicPr>
        <p:blipFill>
          <a:blip r:embed="rId5"/>
          <a:stretch>
            <a:fillRect/>
          </a:stretch>
        </p:blipFill>
        <p:spPr>
          <a:xfrm>
            <a:off x="9052331" y="1340439"/>
            <a:ext cx="2682163" cy="1571082"/>
          </a:xfrm>
          <a:prstGeom prst="rect">
            <a:avLst/>
          </a:prstGeom>
        </p:spPr>
      </p:pic>
      <p:sp>
        <p:nvSpPr>
          <p:cNvPr id="18" name="Oval 17"/>
          <p:cNvSpPr/>
          <p:nvPr/>
        </p:nvSpPr>
        <p:spPr>
          <a:xfrm>
            <a:off x="9070619"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4</a:t>
            </a:r>
          </a:p>
        </p:txBody>
      </p:sp>
      <p:sp>
        <p:nvSpPr>
          <p:cNvPr id="19" name="Rounded Rectangle 18"/>
          <p:cNvSpPr/>
          <p:nvPr/>
        </p:nvSpPr>
        <p:spPr>
          <a:xfrm>
            <a:off x="9098051"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He is strong.</a:t>
            </a:r>
          </a:p>
        </p:txBody>
      </p:sp>
      <p:pic>
        <p:nvPicPr>
          <p:cNvPr id="20" name="Picture 19" descr="tmpt4tz4hi1.jpg"/>
          <p:cNvPicPr>
            <a:picLocks noChangeAspect="1"/>
          </p:cNvPicPr>
          <p:nvPr/>
        </p:nvPicPr>
        <p:blipFill>
          <a:blip r:embed="rId6"/>
          <a:stretch>
            <a:fillRect/>
          </a:stretch>
        </p:blipFill>
        <p:spPr>
          <a:xfrm>
            <a:off x="667261" y="3749040"/>
            <a:ext cx="2262040" cy="1874520"/>
          </a:xfrm>
          <a:prstGeom prst="rect">
            <a:avLst/>
          </a:prstGeom>
        </p:spPr>
      </p:pic>
      <p:sp>
        <p:nvSpPr>
          <p:cNvPr id="21" name="Oval 20"/>
          <p:cNvSpPr/>
          <p:nvPr/>
        </p:nvSpPr>
        <p:spPr>
          <a:xfrm>
            <a:off x="475488"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5</a:t>
            </a:r>
          </a:p>
        </p:txBody>
      </p:sp>
      <p:sp>
        <p:nvSpPr>
          <p:cNvPr id="22" name="Rounded Rectangle 21"/>
          <p:cNvSpPr/>
          <p:nvPr/>
        </p:nvSpPr>
        <p:spPr>
          <a:xfrm>
            <a:off x="502920"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He is a boy.</a:t>
            </a:r>
          </a:p>
        </p:txBody>
      </p:sp>
      <p:pic>
        <p:nvPicPr>
          <p:cNvPr id="23" name="Picture 22" descr="tmp8mjsbyoa.jpg"/>
          <p:cNvPicPr>
            <a:picLocks noChangeAspect="1"/>
          </p:cNvPicPr>
          <p:nvPr/>
        </p:nvPicPr>
        <p:blipFill>
          <a:blip r:embed="rId7"/>
          <a:stretch>
            <a:fillRect/>
          </a:stretch>
        </p:blipFill>
        <p:spPr>
          <a:xfrm>
            <a:off x="3352062" y="3749040"/>
            <a:ext cx="2622525" cy="1874520"/>
          </a:xfrm>
          <a:prstGeom prst="rect">
            <a:avLst/>
          </a:prstGeom>
        </p:spPr>
      </p:pic>
      <p:sp>
        <p:nvSpPr>
          <p:cNvPr id="24" name="Oval 23"/>
          <p:cNvSpPr/>
          <p:nvPr/>
        </p:nvSpPr>
        <p:spPr>
          <a:xfrm>
            <a:off x="3340531"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6</a:t>
            </a:r>
          </a:p>
        </p:txBody>
      </p:sp>
      <p:sp>
        <p:nvSpPr>
          <p:cNvPr id="25" name="Rounded Rectangle 24"/>
          <p:cNvSpPr/>
          <p:nvPr/>
        </p:nvSpPr>
        <p:spPr>
          <a:xfrm>
            <a:off x="3367963"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He is a farmer.</a:t>
            </a:r>
          </a:p>
        </p:txBody>
      </p:sp>
      <p:pic>
        <p:nvPicPr>
          <p:cNvPr id="26" name="Picture 25" descr="tmpbx29q46u.jpg"/>
          <p:cNvPicPr>
            <a:picLocks noChangeAspect="1"/>
          </p:cNvPicPr>
          <p:nvPr/>
        </p:nvPicPr>
        <p:blipFill>
          <a:blip r:embed="rId8"/>
          <a:stretch>
            <a:fillRect/>
          </a:stretch>
        </p:blipFill>
        <p:spPr>
          <a:xfrm>
            <a:off x="6187287" y="3860721"/>
            <a:ext cx="2682163" cy="1651158"/>
          </a:xfrm>
          <a:prstGeom prst="rect">
            <a:avLst/>
          </a:prstGeom>
        </p:spPr>
      </p:pic>
      <p:sp>
        <p:nvSpPr>
          <p:cNvPr id="27" name="Oval 26"/>
          <p:cNvSpPr/>
          <p:nvPr/>
        </p:nvSpPr>
        <p:spPr>
          <a:xfrm>
            <a:off x="6205575"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7</a:t>
            </a:r>
          </a:p>
        </p:txBody>
      </p:sp>
      <p:sp>
        <p:nvSpPr>
          <p:cNvPr id="28" name="Rounded Rectangle 27"/>
          <p:cNvSpPr/>
          <p:nvPr/>
        </p:nvSpPr>
        <p:spPr>
          <a:xfrm>
            <a:off x="6233007"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dog.</a:t>
            </a:r>
          </a:p>
        </p:txBody>
      </p:sp>
      <p:pic>
        <p:nvPicPr>
          <p:cNvPr id="29" name="Picture 28" descr="tmppvwmaxgt.jpg"/>
          <p:cNvPicPr>
            <a:picLocks noChangeAspect="1"/>
          </p:cNvPicPr>
          <p:nvPr/>
        </p:nvPicPr>
        <p:blipFill>
          <a:blip r:embed="rId9"/>
          <a:stretch>
            <a:fillRect/>
          </a:stretch>
        </p:blipFill>
        <p:spPr>
          <a:xfrm>
            <a:off x="9052331" y="4171776"/>
            <a:ext cx="2682163" cy="1029047"/>
          </a:xfrm>
          <a:prstGeom prst="rect">
            <a:avLst/>
          </a:prstGeom>
        </p:spPr>
      </p:pic>
      <p:sp>
        <p:nvSpPr>
          <p:cNvPr id="30" name="Oval 29"/>
          <p:cNvSpPr/>
          <p:nvPr/>
        </p:nvSpPr>
        <p:spPr>
          <a:xfrm>
            <a:off x="9070619"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8</a:t>
            </a:r>
          </a:p>
        </p:txBody>
      </p:sp>
      <p:sp>
        <p:nvSpPr>
          <p:cNvPr id="31" name="Rounded Rectangle 30"/>
          <p:cNvSpPr/>
          <p:nvPr/>
        </p:nvSpPr>
        <p:spPr>
          <a:xfrm>
            <a:off x="9098051"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horse.</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box(in)">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ox(in)">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box(in)">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box(in)">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box(in)">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box(in)">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box(in)">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P spid="19" grpId="0"/>
      <p:bldP spid="22" grpId="0"/>
      <p:bldP spid="25" grpId="0"/>
      <p:bldP spid="28" grpId="0"/>
      <p:bldP spid="31" grpId="0"/>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(2)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ll8sdt9h.jpg"/>
          <p:cNvPicPr>
            <a:picLocks noChangeAspect="1"/>
          </p:cNvPicPr>
          <p:nvPr/>
        </p:nvPicPr>
        <p:blipFill>
          <a:blip r:embed="rId2"/>
          <a:stretch>
            <a:fillRect/>
          </a:stretch>
        </p:blipFill>
        <p:spPr>
          <a:xfrm>
            <a:off x="457200" y="1383079"/>
            <a:ext cx="2682163" cy="1485802"/>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tomatoes.</a:t>
            </a:r>
          </a:p>
        </p:txBody>
      </p:sp>
      <p:pic>
        <p:nvPicPr>
          <p:cNvPr id="11" name="Picture 10" descr="tmp3t3a3ghj.jpg"/>
          <p:cNvPicPr>
            <a:picLocks noChangeAspect="1"/>
          </p:cNvPicPr>
          <p:nvPr/>
        </p:nvPicPr>
        <p:blipFill>
          <a:blip r:embed="rId3"/>
          <a:stretch>
            <a:fillRect/>
          </a:stretch>
        </p:blipFill>
        <p:spPr>
          <a:xfrm>
            <a:off x="3322243" y="1377695"/>
            <a:ext cx="2682163" cy="1496569"/>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2</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stars.</a:t>
            </a:r>
          </a:p>
        </p:txBody>
      </p:sp>
      <p:pic>
        <p:nvPicPr>
          <p:cNvPr id="14" name="Picture 13" descr="tmpvi7630jf.jpg"/>
          <p:cNvPicPr>
            <a:picLocks noChangeAspect="1"/>
          </p:cNvPicPr>
          <p:nvPr/>
        </p:nvPicPr>
        <p:blipFill>
          <a:blip r:embed="rId4"/>
          <a:stretch>
            <a:fillRect/>
          </a:stretch>
        </p:blipFill>
        <p:spPr>
          <a:xfrm>
            <a:off x="6187287" y="1347449"/>
            <a:ext cx="2682163" cy="1557061"/>
          </a:xfrm>
          <a:prstGeom prst="rect">
            <a:avLst/>
          </a:prstGeom>
        </p:spPr>
      </p:pic>
      <p:sp>
        <p:nvSpPr>
          <p:cNvPr id="15" name="Oval 14"/>
          <p:cNvSpPr/>
          <p:nvPr/>
        </p:nvSpPr>
        <p:spPr>
          <a:xfrm>
            <a:off x="6205575"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3</a:t>
            </a:r>
          </a:p>
        </p:txBody>
      </p:sp>
      <p:sp>
        <p:nvSpPr>
          <p:cNvPr id="16" name="Rounded Rectangle 15"/>
          <p:cNvSpPr/>
          <p:nvPr/>
        </p:nvSpPr>
        <p:spPr>
          <a:xfrm>
            <a:off x="6233007"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trees.</a:t>
            </a:r>
          </a:p>
        </p:txBody>
      </p:sp>
      <p:pic>
        <p:nvPicPr>
          <p:cNvPr id="17" name="Picture 16" descr="tmpntpdg0jp.jpg"/>
          <p:cNvPicPr>
            <a:picLocks noChangeAspect="1"/>
          </p:cNvPicPr>
          <p:nvPr/>
        </p:nvPicPr>
        <p:blipFill>
          <a:blip r:embed="rId5"/>
          <a:stretch>
            <a:fillRect/>
          </a:stretch>
        </p:blipFill>
        <p:spPr>
          <a:xfrm>
            <a:off x="9052331" y="1338212"/>
            <a:ext cx="2682163" cy="1575536"/>
          </a:xfrm>
          <a:prstGeom prst="rect">
            <a:avLst/>
          </a:prstGeom>
        </p:spPr>
      </p:pic>
      <p:sp>
        <p:nvSpPr>
          <p:cNvPr id="18" name="Oval 17"/>
          <p:cNvSpPr/>
          <p:nvPr/>
        </p:nvSpPr>
        <p:spPr>
          <a:xfrm>
            <a:off x="9070619"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4</a:t>
            </a:r>
          </a:p>
        </p:txBody>
      </p:sp>
      <p:sp>
        <p:nvSpPr>
          <p:cNvPr id="19" name="Rounded Rectangle 18"/>
          <p:cNvSpPr/>
          <p:nvPr/>
        </p:nvSpPr>
        <p:spPr>
          <a:xfrm>
            <a:off x="9098051"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lions.</a:t>
            </a:r>
          </a:p>
        </p:txBody>
      </p:sp>
      <p:pic>
        <p:nvPicPr>
          <p:cNvPr id="20" name="Picture 19" descr="tmpzoz8geo9.jpg"/>
          <p:cNvPicPr>
            <a:picLocks noChangeAspect="1"/>
          </p:cNvPicPr>
          <p:nvPr/>
        </p:nvPicPr>
        <p:blipFill>
          <a:blip r:embed="rId6"/>
          <a:stretch>
            <a:fillRect/>
          </a:stretch>
        </p:blipFill>
        <p:spPr>
          <a:xfrm>
            <a:off x="457200" y="3887678"/>
            <a:ext cx="2682163" cy="1597243"/>
          </a:xfrm>
          <a:prstGeom prst="rect">
            <a:avLst/>
          </a:prstGeom>
        </p:spPr>
      </p:pic>
      <p:sp>
        <p:nvSpPr>
          <p:cNvPr id="21" name="Oval 20"/>
          <p:cNvSpPr/>
          <p:nvPr/>
        </p:nvSpPr>
        <p:spPr>
          <a:xfrm>
            <a:off x="475488"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5</a:t>
            </a:r>
          </a:p>
        </p:txBody>
      </p:sp>
      <p:sp>
        <p:nvSpPr>
          <p:cNvPr id="22" name="Rounded Rectangle 21"/>
          <p:cNvSpPr/>
          <p:nvPr/>
        </p:nvSpPr>
        <p:spPr>
          <a:xfrm>
            <a:off x="502920"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dogs.</a:t>
            </a:r>
          </a:p>
        </p:txBody>
      </p:sp>
      <p:pic>
        <p:nvPicPr>
          <p:cNvPr id="23" name="Picture 22" descr="tmp5g8katl2.jpg"/>
          <p:cNvPicPr>
            <a:picLocks noChangeAspect="1"/>
          </p:cNvPicPr>
          <p:nvPr/>
        </p:nvPicPr>
        <p:blipFill>
          <a:blip r:embed="rId7"/>
          <a:stretch>
            <a:fillRect/>
          </a:stretch>
        </p:blipFill>
        <p:spPr>
          <a:xfrm>
            <a:off x="3322243" y="3805656"/>
            <a:ext cx="2682163" cy="1761287"/>
          </a:xfrm>
          <a:prstGeom prst="rect">
            <a:avLst/>
          </a:prstGeom>
        </p:spPr>
      </p:pic>
      <p:sp>
        <p:nvSpPr>
          <p:cNvPr id="24" name="Oval 23"/>
          <p:cNvSpPr/>
          <p:nvPr/>
        </p:nvSpPr>
        <p:spPr>
          <a:xfrm>
            <a:off x="3340531"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6</a:t>
            </a:r>
          </a:p>
        </p:txBody>
      </p:sp>
      <p:sp>
        <p:nvSpPr>
          <p:cNvPr id="25" name="Rounded Rectangle 24"/>
          <p:cNvSpPr/>
          <p:nvPr/>
        </p:nvSpPr>
        <p:spPr>
          <a:xfrm>
            <a:off x="3367963"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They are boys.</a:t>
            </a:r>
          </a:p>
        </p:txBody>
      </p:sp>
      <p:pic>
        <p:nvPicPr>
          <p:cNvPr id="26" name="Picture 25" descr="tmp71cxbb10.jpg"/>
          <p:cNvPicPr>
            <a:picLocks noChangeAspect="1"/>
          </p:cNvPicPr>
          <p:nvPr/>
        </p:nvPicPr>
        <p:blipFill>
          <a:blip r:embed="rId8"/>
          <a:stretch>
            <a:fillRect/>
          </a:stretch>
        </p:blipFill>
        <p:spPr>
          <a:xfrm>
            <a:off x="6187287" y="3967370"/>
            <a:ext cx="2682163" cy="1437860"/>
          </a:xfrm>
          <a:prstGeom prst="rect">
            <a:avLst/>
          </a:prstGeom>
        </p:spPr>
      </p:pic>
      <p:sp>
        <p:nvSpPr>
          <p:cNvPr id="27" name="Oval 26"/>
          <p:cNvSpPr/>
          <p:nvPr/>
        </p:nvSpPr>
        <p:spPr>
          <a:xfrm>
            <a:off x="6205575"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7</a:t>
            </a:r>
          </a:p>
        </p:txBody>
      </p:sp>
      <p:sp>
        <p:nvSpPr>
          <p:cNvPr id="28" name="Rounded Rectangle 27"/>
          <p:cNvSpPr/>
          <p:nvPr/>
        </p:nvSpPr>
        <p:spPr>
          <a:xfrm>
            <a:off x="6233007"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birds.</a:t>
            </a:r>
          </a:p>
        </p:txBody>
      </p:sp>
      <p:pic>
        <p:nvPicPr>
          <p:cNvPr id="29" name="Picture 28" descr="tmpla4pi10z.jpg"/>
          <p:cNvPicPr>
            <a:picLocks noChangeAspect="1"/>
          </p:cNvPicPr>
          <p:nvPr/>
        </p:nvPicPr>
        <p:blipFill>
          <a:blip r:embed="rId9"/>
          <a:stretch>
            <a:fillRect/>
          </a:stretch>
        </p:blipFill>
        <p:spPr>
          <a:xfrm>
            <a:off x="9052331" y="4047908"/>
            <a:ext cx="2682163" cy="1276783"/>
          </a:xfrm>
          <a:prstGeom prst="rect">
            <a:avLst/>
          </a:prstGeom>
        </p:spPr>
      </p:pic>
      <p:sp>
        <p:nvSpPr>
          <p:cNvPr id="30" name="Oval 29"/>
          <p:cNvSpPr/>
          <p:nvPr/>
        </p:nvSpPr>
        <p:spPr>
          <a:xfrm>
            <a:off x="9070619"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8</a:t>
            </a:r>
          </a:p>
        </p:txBody>
      </p:sp>
      <p:sp>
        <p:nvSpPr>
          <p:cNvPr id="31" name="Rounded Rectangle 30"/>
          <p:cNvSpPr/>
          <p:nvPr/>
        </p:nvSpPr>
        <p:spPr>
          <a:xfrm>
            <a:off x="9098051"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elephants.</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heel(1)">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heel(1)">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heel(1)">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heel(1)">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heel(1)">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heel(1)">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heel(1)">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heel(1)">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P spid="19" grpId="0"/>
      <p:bldP spid="22" grpId="0"/>
      <p:bldP spid="25" grpId="0"/>
      <p:bldP spid="28" grpId="0"/>
      <p:bldP spid="31" grpId="0"/>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(2)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n67qad9e.jpg"/>
          <p:cNvPicPr>
            <a:picLocks noChangeAspect="1"/>
          </p:cNvPicPr>
          <p:nvPr/>
        </p:nvPicPr>
        <p:blipFill>
          <a:blip r:embed="rId2"/>
          <a:stretch>
            <a:fillRect/>
          </a:stretch>
        </p:blipFill>
        <p:spPr>
          <a:xfrm>
            <a:off x="457200" y="1415762"/>
            <a:ext cx="2682163" cy="1420435"/>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9</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bags.</a:t>
            </a:r>
          </a:p>
        </p:txBody>
      </p:sp>
      <p:pic>
        <p:nvPicPr>
          <p:cNvPr id="11" name="Picture 10" descr="tmpmjquawah.jpg"/>
          <p:cNvPicPr>
            <a:picLocks noChangeAspect="1"/>
          </p:cNvPicPr>
          <p:nvPr/>
        </p:nvPicPr>
        <p:blipFill>
          <a:blip r:embed="rId3"/>
          <a:stretch>
            <a:fillRect/>
          </a:stretch>
        </p:blipFill>
        <p:spPr>
          <a:xfrm>
            <a:off x="3322243" y="1594730"/>
            <a:ext cx="2682163" cy="1062499"/>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10</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books.</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(3)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6mcewzbh.jpg"/>
          <p:cNvPicPr>
            <a:picLocks noChangeAspect="1"/>
          </p:cNvPicPr>
          <p:nvPr/>
        </p:nvPicPr>
        <p:blipFill>
          <a:blip r:embed="rId2"/>
          <a:stretch>
            <a:fillRect/>
          </a:stretch>
        </p:blipFill>
        <p:spPr>
          <a:xfrm>
            <a:off x="457200" y="1538564"/>
            <a:ext cx="2682163" cy="1174832"/>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horse.</a:t>
            </a:r>
          </a:p>
        </p:txBody>
      </p:sp>
      <p:pic>
        <p:nvPicPr>
          <p:cNvPr id="11" name="Picture 10" descr="tmp3ig2agiv.jpg"/>
          <p:cNvPicPr>
            <a:picLocks noChangeAspect="1"/>
          </p:cNvPicPr>
          <p:nvPr/>
        </p:nvPicPr>
        <p:blipFill>
          <a:blip r:embed="rId3"/>
          <a:stretch>
            <a:fillRect/>
          </a:stretch>
        </p:blipFill>
        <p:spPr>
          <a:xfrm>
            <a:off x="3322243" y="1362473"/>
            <a:ext cx="2682163" cy="1527013"/>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2</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an orange.</a:t>
            </a:r>
          </a:p>
        </p:txBody>
      </p:sp>
      <p:pic>
        <p:nvPicPr>
          <p:cNvPr id="14" name="Picture 13" descr="tmp0jan1_ge.jpg"/>
          <p:cNvPicPr>
            <a:picLocks noChangeAspect="1"/>
          </p:cNvPicPr>
          <p:nvPr/>
        </p:nvPicPr>
        <p:blipFill>
          <a:blip r:embed="rId4"/>
          <a:stretch>
            <a:fillRect/>
          </a:stretch>
        </p:blipFill>
        <p:spPr>
          <a:xfrm>
            <a:off x="6187287" y="1215480"/>
            <a:ext cx="2682163" cy="1821000"/>
          </a:xfrm>
          <a:prstGeom prst="rect">
            <a:avLst/>
          </a:prstGeom>
        </p:spPr>
      </p:pic>
      <p:sp>
        <p:nvSpPr>
          <p:cNvPr id="15" name="Oval 14"/>
          <p:cNvSpPr/>
          <p:nvPr/>
        </p:nvSpPr>
        <p:spPr>
          <a:xfrm>
            <a:off x="6205575"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3</a:t>
            </a:r>
          </a:p>
        </p:txBody>
      </p:sp>
      <p:sp>
        <p:nvSpPr>
          <p:cNvPr id="16" name="Rounded Rectangle 15"/>
          <p:cNvSpPr/>
          <p:nvPr/>
        </p:nvSpPr>
        <p:spPr>
          <a:xfrm>
            <a:off x="6233007"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They are boys.</a:t>
            </a:r>
          </a:p>
        </p:txBody>
      </p:sp>
      <p:pic>
        <p:nvPicPr>
          <p:cNvPr id="17" name="Picture 16" descr="tmpc_buv1am.jpg"/>
          <p:cNvPicPr>
            <a:picLocks noChangeAspect="1"/>
          </p:cNvPicPr>
          <p:nvPr/>
        </p:nvPicPr>
        <p:blipFill>
          <a:blip r:embed="rId5"/>
          <a:stretch>
            <a:fillRect/>
          </a:stretch>
        </p:blipFill>
        <p:spPr>
          <a:xfrm>
            <a:off x="9052331" y="1501980"/>
            <a:ext cx="2682163" cy="1247999"/>
          </a:xfrm>
          <a:prstGeom prst="rect">
            <a:avLst/>
          </a:prstGeom>
        </p:spPr>
      </p:pic>
      <p:sp>
        <p:nvSpPr>
          <p:cNvPr id="18" name="Oval 17"/>
          <p:cNvSpPr/>
          <p:nvPr/>
        </p:nvSpPr>
        <p:spPr>
          <a:xfrm>
            <a:off x="9070619"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4</a:t>
            </a:r>
          </a:p>
        </p:txBody>
      </p:sp>
      <p:sp>
        <p:nvSpPr>
          <p:cNvPr id="19" name="Rounded Rectangle 18"/>
          <p:cNvSpPr/>
          <p:nvPr/>
        </p:nvSpPr>
        <p:spPr>
          <a:xfrm>
            <a:off x="9098051"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They are ants.</a:t>
            </a:r>
          </a:p>
        </p:txBody>
      </p:sp>
      <p:pic>
        <p:nvPicPr>
          <p:cNvPr id="20" name="Picture 19" descr="tmpd_mp2a57.jpg"/>
          <p:cNvPicPr>
            <a:picLocks noChangeAspect="1"/>
          </p:cNvPicPr>
          <p:nvPr/>
        </p:nvPicPr>
        <p:blipFill>
          <a:blip r:embed="rId6"/>
          <a:stretch>
            <a:fillRect/>
          </a:stretch>
        </p:blipFill>
        <p:spPr>
          <a:xfrm>
            <a:off x="457200" y="3961496"/>
            <a:ext cx="2682163" cy="1449608"/>
          </a:xfrm>
          <a:prstGeom prst="rect">
            <a:avLst/>
          </a:prstGeom>
        </p:spPr>
      </p:pic>
      <p:sp>
        <p:nvSpPr>
          <p:cNvPr id="21" name="Oval 20"/>
          <p:cNvSpPr/>
          <p:nvPr/>
        </p:nvSpPr>
        <p:spPr>
          <a:xfrm>
            <a:off x="475488"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5</a:t>
            </a:r>
          </a:p>
        </p:txBody>
      </p:sp>
      <p:sp>
        <p:nvSpPr>
          <p:cNvPr id="22" name="Rounded Rectangle 21"/>
          <p:cNvSpPr/>
          <p:nvPr/>
        </p:nvSpPr>
        <p:spPr>
          <a:xfrm>
            <a:off x="502920"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pen.</a:t>
            </a:r>
          </a:p>
        </p:txBody>
      </p:sp>
      <p:pic>
        <p:nvPicPr>
          <p:cNvPr id="23" name="Picture 22" descr="tmp5ldbpslb.jpg"/>
          <p:cNvPicPr>
            <a:picLocks noChangeAspect="1"/>
          </p:cNvPicPr>
          <p:nvPr/>
        </p:nvPicPr>
        <p:blipFill>
          <a:blip r:embed="rId7"/>
          <a:stretch>
            <a:fillRect/>
          </a:stretch>
        </p:blipFill>
        <p:spPr>
          <a:xfrm>
            <a:off x="3322243" y="3787988"/>
            <a:ext cx="2682163" cy="1796623"/>
          </a:xfrm>
          <a:prstGeom prst="rect">
            <a:avLst/>
          </a:prstGeom>
        </p:spPr>
      </p:pic>
      <p:sp>
        <p:nvSpPr>
          <p:cNvPr id="24" name="Oval 23"/>
          <p:cNvSpPr/>
          <p:nvPr/>
        </p:nvSpPr>
        <p:spPr>
          <a:xfrm>
            <a:off x="3340531"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6</a:t>
            </a:r>
          </a:p>
        </p:txBody>
      </p:sp>
      <p:sp>
        <p:nvSpPr>
          <p:cNvPr id="25" name="Rounded Rectangle 24"/>
          <p:cNvSpPr/>
          <p:nvPr/>
        </p:nvSpPr>
        <p:spPr>
          <a:xfrm>
            <a:off x="3367963"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monkey.</a:t>
            </a:r>
          </a:p>
        </p:txBody>
      </p:sp>
      <p:pic>
        <p:nvPicPr>
          <p:cNvPr id="26" name="Picture 25" descr="tmpm0yt7pd2.jpg"/>
          <p:cNvPicPr>
            <a:picLocks noChangeAspect="1"/>
          </p:cNvPicPr>
          <p:nvPr/>
        </p:nvPicPr>
        <p:blipFill>
          <a:blip r:embed="rId8"/>
          <a:stretch>
            <a:fillRect/>
          </a:stretch>
        </p:blipFill>
        <p:spPr>
          <a:xfrm>
            <a:off x="6187287" y="4074067"/>
            <a:ext cx="2682163" cy="1224466"/>
          </a:xfrm>
          <a:prstGeom prst="rect">
            <a:avLst/>
          </a:prstGeom>
        </p:spPr>
      </p:pic>
      <p:sp>
        <p:nvSpPr>
          <p:cNvPr id="27" name="Oval 26"/>
          <p:cNvSpPr/>
          <p:nvPr/>
        </p:nvSpPr>
        <p:spPr>
          <a:xfrm>
            <a:off x="6205575"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7</a:t>
            </a:r>
          </a:p>
        </p:txBody>
      </p:sp>
      <p:sp>
        <p:nvSpPr>
          <p:cNvPr id="28" name="Rounded Rectangle 27"/>
          <p:cNvSpPr/>
          <p:nvPr/>
        </p:nvSpPr>
        <p:spPr>
          <a:xfrm>
            <a:off x="6233007"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They are eggs.</a:t>
            </a:r>
          </a:p>
        </p:txBody>
      </p:sp>
      <p:pic>
        <p:nvPicPr>
          <p:cNvPr id="29" name="Picture 28" descr="tmpn4e7csly.jpg"/>
          <p:cNvPicPr>
            <a:picLocks noChangeAspect="1"/>
          </p:cNvPicPr>
          <p:nvPr/>
        </p:nvPicPr>
        <p:blipFill>
          <a:blip r:embed="rId9"/>
          <a:stretch>
            <a:fillRect/>
          </a:stretch>
        </p:blipFill>
        <p:spPr>
          <a:xfrm>
            <a:off x="9052331" y="3985862"/>
            <a:ext cx="2682163" cy="1400875"/>
          </a:xfrm>
          <a:prstGeom prst="rect">
            <a:avLst/>
          </a:prstGeom>
        </p:spPr>
      </p:pic>
      <p:sp>
        <p:nvSpPr>
          <p:cNvPr id="30" name="Oval 29"/>
          <p:cNvSpPr/>
          <p:nvPr/>
        </p:nvSpPr>
        <p:spPr>
          <a:xfrm>
            <a:off x="9070619"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8</a:t>
            </a:r>
          </a:p>
        </p:txBody>
      </p:sp>
      <p:sp>
        <p:nvSpPr>
          <p:cNvPr id="31" name="Rounded Rectangle 30"/>
          <p:cNvSpPr/>
          <p:nvPr/>
        </p:nvSpPr>
        <p:spPr>
          <a:xfrm>
            <a:off x="9098051"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an apple.</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P spid="19" grpId="0"/>
      <p:bldP spid="22" grpId="0"/>
      <p:bldP spid="25" grpId="0"/>
      <p:bldP spid="28" grpId="0"/>
      <p:bldP spid="31" grpId="0"/>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(3)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cg9wsiak.jpg"/>
          <p:cNvPicPr>
            <a:picLocks noChangeAspect="1"/>
          </p:cNvPicPr>
          <p:nvPr/>
        </p:nvPicPr>
        <p:blipFill>
          <a:blip r:embed="rId2"/>
          <a:stretch>
            <a:fillRect/>
          </a:stretch>
        </p:blipFill>
        <p:spPr>
          <a:xfrm>
            <a:off x="457200" y="1528045"/>
            <a:ext cx="2682163" cy="1195869"/>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9</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camel.</a:t>
            </a:r>
          </a:p>
        </p:txBody>
      </p:sp>
      <p:pic>
        <p:nvPicPr>
          <p:cNvPr id="11" name="Picture 10" descr="tmp2o6eg3uo.jpg"/>
          <p:cNvPicPr>
            <a:picLocks noChangeAspect="1"/>
          </p:cNvPicPr>
          <p:nvPr/>
        </p:nvPicPr>
        <p:blipFill>
          <a:blip r:embed="rId3"/>
          <a:stretch>
            <a:fillRect/>
          </a:stretch>
        </p:blipFill>
        <p:spPr>
          <a:xfrm>
            <a:off x="3322243" y="1486773"/>
            <a:ext cx="2682163" cy="1278414"/>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10</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goat.</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left)">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(4)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rpnrybu9.jpg"/>
          <p:cNvPicPr>
            <a:picLocks noChangeAspect="1"/>
          </p:cNvPicPr>
          <p:nvPr/>
        </p:nvPicPr>
        <p:blipFill>
          <a:blip r:embed="rId2"/>
          <a:stretch>
            <a:fillRect/>
          </a:stretch>
        </p:blipFill>
        <p:spPr>
          <a:xfrm>
            <a:off x="457200" y="1467067"/>
            <a:ext cx="2682163" cy="1317826"/>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He is a doctor.</a:t>
            </a:r>
          </a:p>
        </p:txBody>
      </p:sp>
      <p:pic>
        <p:nvPicPr>
          <p:cNvPr id="11" name="Picture 10" descr="tmpwt1b6z5u.jpg"/>
          <p:cNvPicPr>
            <a:picLocks noChangeAspect="1"/>
          </p:cNvPicPr>
          <p:nvPr/>
        </p:nvPicPr>
        <p:blipFill>
          <a:blip r:embed="rId3"/>
          <a:stretch>
            <a:fillRect/>
          </a:stretch>
        </p:blipFill>
        <p:spPr>
          <a:xfrm>
            <a:off x="3322243" y="1550263"/>
            <a:ext cx="2682163" cy="1151433"/>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2</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They are bees.</a:t>
            </a:r>
          </a:p>
        </p:txBody>
      </p:sp>
      <p:pic>
        <p:nvPicPr>
          <p:cNvPr id="14" name="Picture 13" descr="tmpouwy2ccs.jpg"/>
          <p:cNvPicPr>
            <a:picLocks noChangeAspect="1"/>
          </p:cNvPicPr>
          <p:nvPr/>
        </p:nvPicPr>
        <p:blipFill>
          <a:blip r:embed="rId4"/>
          <a:stretch>
            <a:fillRect/>
          </a:stretch>
        </p:blipFill>
        <p:spPr>
          <a:xfrm>
            <a:off x="6187287" y="1399917"/>
            <a:ext cx="2682163" cy="1452126"/>
          </a:xfrm>
          <a:prstGeom prst="rect">
            <a:avLst/>
          </a:prstGeom>
        </p:spPr>
      </p:pic>
      <p:sp>
        <p:nvSpPr>
          <p:cNvPr id="15" name="Oval 14"/>
          <p:cNvSpPr/>
          <p:nvPr/>
        </p:nvSpPr>
        <p:spPr>
          <a:xfrm>
            <a:off x="6205575"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3</a:t>
            </a:r>
          </a:p>
        </p:txBody>
      </p:sp>
      <p:sp>
        <p:nvSpPr>
          <p:cNvPr id="16" name="Rounded Rectangle 15"/>
          <p:cNvSpPr/>
          <p:nvPr/>
        </p:nvSpPr>
        <p:spPr>
          <a:xfrm>
            <a:off x="6233007"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snake.</a:t>
            </a:r>
          </a:p>
        </p:txBody>
      </p:sp>
      <p:pic>
        <p:nvPicPr>
          <p:cNvPr id="17" name="Picture 16" descr="tmpot6ph0i4.jpg"/>
          <p:cNvPicPr>
            <a:picLocks noChangeAspect="1"/>
          </p:cNvPicPr>
          <p:nvPr/>
        </p:nvPicPr>
        <p:blipFill>
          <a:blip r:embed="rId5"/>
          <a:stretch>
            <a:fillRect/>
          </a:stretch>
        </p:blipFill>
        <p:spPr>
          <a:xfrm>
            <a:off x="9052331" y="1399917"/>
            <a:ext cx="2682163" cy="1452126"/>
          </a:xfrm>
          <a:prstGeom prst="rect">
            <a:avLst/>
          </a:prstGeom>
        </p:spPr>
      </p:pic>
      <p:sp>
        <p:nvSpPr>
          <p:cNvPr id="18" name="Oval 17"/>
          <p:cNvSpPr/>
          <p:nvPr/>
        </p:nvSpPr>
        <p:spPr>
          <a:xfrm>
            <a:off x="9070619"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4</a:t>
            </a:r>
          </a:p>
        </p:txBody>
      </p:sp>
      <p:sp>
        <p:nvSpPr>
          <p:cNvPr id="19" name="Rounded Rectangle 18"/>
          <p:cNvSpPr/>
          <p:nvPr/>
        </p:nvSpPr>
        <p:spPr>
          <a:xfrm>
            <a:off x="9098051"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fish.</a:t>
            </a:r>
          </a:p>
        </p:txBody>
      </p:sp>
      <p:pic>
        <p:nvPicPr>
          <p:cNvPr id="20" name="Picture 19" descr="tmp7tjgwh2g.jpg"/>
          <p:cNvPicPr>
            <a:picLocks noChangeAspect="1"/>
          </p:cNvPicPr>
          <p:nvPr/>
        </p:nvPicPr>
        <p:blipFill>
          <a:blip r:embed="rId6"/>
          <a:stretch>
            <a:fillRect/>
          </a:stretch>
        </p:blipFill>
        <p:spPr>
          <a:xfrm>
            <a:off x="457200" y="3880100"/>
            <a:ext cx="2682163" cy="1612399"/>
          </a:xfrm>
          <a:prstGeom prst="rect">
            <a:avLst/>
          </a:prstGeom>
        </p:spPr>
      </p:pic>
      <p:sp>
        <p:nvSpPr>
          <p:cNvPr id="21" name="Oval 20"/>
          <p:cNvSpPr/>
          <p:nvPr/>
        </p:nvSpPr>
        <p:spPr>
          <a:xfrm>
            <a:off x="475488"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5</a:t>
            </a:r>
          </a:p>
        </p:txBody>
      </p:sp>
      <p:sp>
        <p:nvSpPr>
          <p:cNvPr id="22" name="Rounded Rectangle 21"/>
          <p:cNvSpPr/>
          <p:nvPr/>
        </p:nvSpPr>
        <p:spPr>
          <a:xfrm>
            <a:off x="502920"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They are boys.</a:t>
            </a:r>
          </a:p>
        </p:txBody>
      </p:sp>
      <p:pic>
        <p:nvPicPr>
          <p:cNvPr id="23" name="Picture 22" descr="tmp1ofe25q8.jpg"/>
          <p:cNvPicPr>
            <a:picLocks noChangeAspect="1"/>
          </p:cNvPicPr>
          <p:nvPr/>
        </p:nvPicPr>
        <p:blipFill>
          <a:blip r:embed="rId7"/>
          <a:stretch>
            <a:fillRect/>
          </a:stretch>
        </p:blipFill>
        <p:spPr>
          <a:xfrm>
            <a:off x="3322243" y="3992407"/>
            <a:ext cx="2682163" cy="1387786"/>
          </a:xfrm>
          <a:prstGeom prst="rect">
            <a:avLst/>
          </a:prstGeom>
        </p:spPr>
      </p:pic>
      <p:sp>
        <p:nvSpPr>
          <p:cNvPr id="24" name="Oval 23"/>
          <p:cNvSpPr/>
          <p:nvPr/>
        </p:nvSpPr>
        <p:spPr>
          <a:xfrm>
            <a:off x="3340531"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6</a:t>
            </a:r>
          </a:p>
        </p:txBody>
      </p:sp>
      <p:sp>
        <p:nvSpPr>
          <p:cNvPr id="25" name="Rounded Rectangle 24"/>
          <p:cNvSpPr/>
          <p:nvPr/>
        </p:nvSpPr>
        <p:spPr>
          <a:xfrm>
            <a:off x="3367963"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They are apples.</a:t>
            </a:r>
          </a:p>
        </p:txBody>
      </p:sp>
      <p:pic>
        <p:nvPicPr>
          <p:cNvPr id="26" name="Picture 25" descr="tmp7tqu92gz.jpg"/>
          <p:cNvPicPr>
            <a:picLocks noChangeAspect="1"/>
          </p:cNvPicPr>
          <p:nvPr/>
        </p:nvPicPr>
        <p:blipFill>
          <a:blip r:embed="rId8"/>
          <a:stretch>
            <a:fillRect/>
          </a:stretch>
        </p:blipFill>
        <p:spPr>
          <a:xfrm>
            <a:off x="6204728" y="3749040"/>
            <a:ext cx="2647281" cy="1874520"/>
          </a:xfrm>
          <a:prstGeom prst="rect">
            <a:avLst/>
          </a:prstGeom>
        </p:spPr>
      </p:pic>
      <p:sp>
        <p:nvSpPr>
          <p:cNvPr id="27" name="Oval 26"/>
          <p:cNvSpPr/>
          <p:nvPr/>
        </p:nvSpPr>
        <p:spPr>
          <a:xfrm>
            <a:off x="6205575"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7</a:t>
            </a:r>
          </a:p>
        </p:txBody>
      </p:sp>
      <p:sp>
        <p:nvSpPr>
          <p:cNvPr id="28" name="Rounded Rectangle 27"/>
          <p:cNvSpPr/>
          <p:nvPr/>
        </p:nvSpPr>
        <p:spPr>
          <a:xfrm>
            <a:off x="6233007"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They are glasses.</a:t>
            </a:r>
          </a:p>
        </p:txBody>
      </p:sp>
      <p:pic>
        <p:nvPicPr>
          <p:cNvPr id="29" name="Picture 28" descr="tmpmnbm887g.jpg"/>
          <p:cNvPicPr>
            <a:picLocks noChangeAspect="1"/>
          </p:cNvPicPr>
          <p:nvPr/>
        </p:nvPicPr>
        <p:blipFill>
          <a:blip r:embed="rId9"/>
          <a:stretch>
            <a:fillRect/>
          </a:stretch>
        </p:blipFill>
        <p:spPr>
          <a:xfrm>
            <a:off x="9052331" y="3828428"/>
            <a:ext cx="2682163" cy="1715744"/>
          </a:xfrm>
          <a:prstGeom prst="rect">
            <a:avLst/>
          </a:prstGeom>
        </p:spPr>
      </p:pic>
      <p:sp>
        <p:nvSpPr>
          <p:cNvPr id="30" name="Oval 29"/>
          <p:cNvSpPr/>
          <p:nvPr/>
        </p:nvSpPr>
        <p:spPr>
          <a:xfrm>
            <a:off x="9070619"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8</a:t>
            </a:r>
          </a:p>
        </p:txBody>
      </p:sp>
      <p:sp>
        <p:nvSpPr>
          <p:cNvPr id="31" name="Rounded Rectangle 30"/>
          <p:cNvSpPr/>
          <p:nvPr/>
        </p:nvSpPr>
        <p:spPr>
          <a:xfrm>
            <a:off x="9098051"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cow.</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circle(in)">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circle(in)">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circle(in)">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circle(in)">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circle(in)">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circle(in)">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circle(in)">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P spid="19" grpId="0"/>
      <p:bldP spid="22" grpId="0"/>
      <p:bldP spid="25" grpId="0"/>
      <p:bldP spid="28" grpId="0"/>
      <p:bldP spid="31" grpId="0"/>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(4)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s8kde14n.jpg"/>
          <p:cNvPicPr>
            <a:picLocks noChangeAspect="1"/>
          </p:cNvPicPr>
          <p:nvPr/>
        </p:nvPicPr>
        <p:blipFill>
          <a:blip r:embed="rId2"/>
          <a:stretch>
            <a:fillRect/>
          </a:stretch>
        </p:blipFill>
        <p:spPr>
          <a:xfrm>
            <a:off x="457200" y="1442882"/>
            <a:ext cx="2682163" cy="1366195"/>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9</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star.</a:t>
            </a:r>
          </a:p>
        </p:txBody>
      </p:sp>
      <p:pic>
        <p:nvPicPr>
          <p:cNvPr id="11" name="Picture 10" descr="tmp3oz3acx2.jpg"/>
          <p:cNvPicPr>
            <a:picLocks noChangeAspect="1"/>
          </p:cNvPicPr>
          <p:nvPr/>
        </p:nvPicPr>
        <p:blipFill>
          <a:blip r:embed="rId3"/>
          <a:stretch>
            <a:fillRect/>
          </a:stretch>
        </p:blipFill>
        <p:spPr>
          <a:xfrm>
            <a:off x="3322243" y="1245895"/>
            <a:ext cx="2682163" cy="1760169"/>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10</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tree.</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box(in)">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Make a sentence with: horse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have a horse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Make a sentence with: orange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is eating an orange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Make a sentence with: engineer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father is an engineer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Make a sentence with: table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 table in the room.</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Make a sentence with: umbrella</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have an umbrella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Make a sentence with: camel</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a camel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Make a sentence with: apple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This is an apple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Make a sentence with: nurse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mother is a nurse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Make a sentence with: insect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 ant is an insect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Make a sentence with: dog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have a dog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Make a sentence with: egg</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an egg on the table.</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Make a sentence with: farmer</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uncle is a farmer .</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(5)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p0425tr9.jpg"/>
          <p:cNvPicPr>
            <a:picLocks noChangeAspect="1"/>
          </p:cNvPicPr>
          <p:nvPr/>
        </p:nvPicPr>
        <p:blipFill>
          <a:blip r:embed="rId2"/>
          <a:stretch>
            <a:fillRect/>
          </a:stretch>
        </p:blipFill>
        <p:spPr>
          <a:xfrm>
            <a:off x="457200" y="1507662"/>
            <a:ext cx="2682163" cy="1236636"/>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horse.</a:t>
            </a:r>
          </a:p>
        </p:txBody>
      </p:sp>
      <p:pic>
        <p:nvPicPr>
          <p:cNvPr id="11" name="Picture 10" descr="tmpq_74cvpr.jpg"/>
          <p:cNvPicPr>
            <a:picLocks noChangeAspect="1"/>
          </p:cNvPicPr>
          <p:nvPr/>
        </p:nvPicPr>
        <p:blipFill>
          <a:blip r:embed="rId3"/>
          <a:stretch>
            <a:fillRect/>
          </a:stretch>
        </p:blipFill>
        <p:spPr>
          <a:xfrm>
            <a:off x="3322243" y="1305104"/>
            <a:ext cx="2682163" cy="1641751"/>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2</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an umbrella.</a:t>
            </a:r>
          </a:p>
        </p:txBody>
      </p:sp>
      <p:pic>
        <p:nvPicPr>
          <p:cNvPr id="14" name="Picture 13" descr="tmpos09r4d_.jpg"/>
          <p:cNvPicPr>
            <a:picLocks noChangeAspect="1"/>
          </p:cNvPicPr>
          <p:nvPr/>
        </p:nvPicPr>
        <p:blipFill>
          <a:blip r:embed="rId4"/>
          <a:stretch>
            <a:fillRect/>
          </a:stretch>
        </p:blipFill>
        <p:spPr>
          <a:xfrm>
            <a:off x="6187287" y="1393424"/>
            <a:ext cx="2682163" cy="1465112"/>
          </a:xfrm>
          <a:prstGeom prst="rect">
            <a:avLst/>
          </a:prstGeom>
        </p:spPr>
      </p:pic>
      <p:sp>
        <p:nvSpPr>
          <p:cNvPr id="15" name="Oval 14"/>
          <p:cNvSpPr/>
          <p:nvPr/>
        </p:nvSpPr>
        <p:spPr>
          <a:xfrm>
            <a:off x="6205575"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3</a:t>
            </a:r>
          </a:p>
        </p:txBody>
      </p:sp>
      <p:sp>
        <p:nvSpPr>
          <p:cNvPr id="16" name="Rounded Rectangle 15"/>
          <p:cNvSpPr/>
          <p:nvPr/>
        </p:nvSpPr>
        <p:spPr>
          <a:xfrm>
            <a:off x="6233007"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dog.</a:t>
            </a:r>
          </a:p>
        </p:txBody>
      </p:sp>
      <p:pic>
        <p:nvPicPr>
          <p:cNvPr id="17" name="Picture 16" descr="tmpr3dbl0ho.jpg"/>
          <p:cNvPicPr>
            <a:picLocks noChangeAspect="1"/>
          </p:cNvPicPr>
          <p:nvPr/>
        </p:nvPicPr>
        <p:blipFill>
          <a:blip r:embed="rId5"/>
          <a:stretch>
            <a:fillRect/>
          </a:stretch>
        </p:blipFill>
        <p:spPr>
          <a:xfrm>
            <a:off x="9052331" y="1446897"/>
            <a:ext cx="2682163" cy="1358165"/>
          </a:xfrm>
          <a:prstGeom prst="rect">
            <a:avLst/>
          </a:prstGeom>
        </p:spPr>
      </p:pic>
      <p:sp>
        <p:nvSpPr>
          <p:cNvPr id="18" name="Oval 17"/>
          <p:cNvSpPr/>
          <p:nvPr/>
        </p:nvSpPr>
        <p:spPr>
          <a:xfrm>
            <a:off x="9070619"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4</a:t>
            </a:r>
          </a:p>
        </p:txBody>
      </p:sp>
      <p:sp>
        <p:nvSpPr>
          <p:cNvPr id="19" name="Rounded Rectangle 18"/>
          <p:cNvSpPr/>
          <p:nvPr/>
        </p:nvSpPr>
        <p:spPr>
          <a:xfrm>
            <a:off x="9098051"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camel.</a:t>
            </a:r>
          </a:p>
        </p:txBody>
      </p:sp>
      <p:pic>
        <p:nvPicPr>
          <p:cNvPr id="20" name="Picture 19" descr="tmph_bc9lwy.jpg"/>
          <p:cNvPicPr>
            <a:picLocks noChangeAspect="1"/>
          </p:cNvPicPr>
          <p:nvPr/>
        </p:nvPicPr>
        <p:blipFill>
          <a:blip r:embed="rId6"/>
          <a:stretch>
            <a:fillRect/>
          </a:stretch>
        </p:blipFill>
        <p:spPr>
          <a:xfrm>
            <a:off x="457200" y="3951003"/>
            <a:ext cx="2682163" cy="1470594"/>
          </a:xfrm>
          <a:prstGeom prst="rect">
            <a:avLst/>
          </a:prstGeom>
        </p:spPr>
      </p:pic>
      <p:sp>
        <p:nvSpPr>
          <p:cNvPr id="21" name="Oval 20"/>
          <p:cNvSpPr/>
          <p:nvPr/>
        </p:nvSpPr>
        <p:spPr>
          <a:xfrm>
            <a:off x="475488"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5</a:t>
            </a:r>
          </a:p>
        </p:txBody>
      </p:sp>
      <p:sp>
        <p:nvSpPr>
          <p:cNvPr id="22" name="Rounded Rectangle 21"/>
          <p:cNvSpPr/>
          <p:nvPr/>
        </p:nvSpPr>
        <p:spPr>
          <a:xfrm>
            <a:off x="502920"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goat.</a:t>
            </a:r>
          </a:p>
        </p:txBody>
      </p:sp>
      <p:pic>
        <p:nvPicPr>
          <p:cNvPr id="23" name="Picture 22" descr="tmpeqq136cj.jpg"/>
          <p:cNvPicPr>
            <a:picLocks noChangeAspect="1"/>
          </p:cNvPicPr>
          <p:nvPr/>
        </p:nvPicPr>
        <p:blipFill>
          <a:blip r:embed="rId7"/>
          <a:stretch>
            <a:fillRect/>
          </a:stretch>
        </p:blipFill>
        <p:spPr>
          <a:xfrm>
            <a:off x="3322243" y="4005869"/>
            <a:ext cx="2682163" cy="1360861"/>
          </a:xfrm>
          <a:prstGeom prst="rect">
            <a:avLst/>
          </a:prstGeom>
        </p:spPr>
      </p:pic>
      <p:sp>
        <p:nvSpPr>
          <p:cNvPr id="24" name="Oval 23"/>
          <p:cNvSpPr/>
          <p:nvPr/>
        </p:nvSpPr>
        <p:spPr>
          <a:xfrm>
            <a:off x="3340531"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6</a:t>
            </a:r>
          </a:p>
        </p:txBody>
      </p:sp>
      <p:sp>
        <p:nvSpPr>
          <p:cNvPr id="25" name="Rounded Rectangle 24"/>
          <p:cNvSpPr/>
          <p:nvPr/>
        </p:nvSpPr>
        <p:spPr>
          <a:xfrm>
            <a:off x="3367963"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an orange.</a:t>
            </a:r>
          </a:p>
        </p:txBody>
      </p:sp>
      <p:pic>
        <p:nvPicPr>
          <p:cNvPr id="26" name="Picture 25" descr="tmpahiu_44f.jpg"/>
          <p:cNvPicPr>
            <a:picLocks noChangeAspect="1"/>
          </p:cNvPicPr>
          <p:nvPr/>
        </p:nvPicPr>
        <p:blipFill>
          <a:blip r:embed="rId8"/>
          <a:stretch>
            <a:fillRect/>
          </a:stretch>
        </p:blipFill>
        <p:spPr>
          <a:xfrm>
            <a:off x="6187287" y="3986799"/>
            <a:ext cx="2682163" cy="1399002"/>
          </a:xfrm>
          <a:prstGeom prst="rect">
            <a:avLst/>
          </a:prstGeom>
        </p:spPr>
      </p:pic>
      <p:sp>
        <p:nvSpPr>
          <p:cNvPr id="27" name="Oval 26"/>
          <p:cNvSpPr/>
          <p:nvPr/>
        </p:nvSpPr>
        <p:spPr>
          <a:xfrm>
            <a:off x="6205575"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7</a:t>
            </a:r>
          </a:p>
        </p:txBody>
      </p:sp>
      <p:sp>
        <p:nvSpPr>
          <p:cNvPr id="28" name="Rounded Rectangle 27"/>
          <p:cNvSpPr/>
          <p:nvPr/>
        </p:nvSpPr>
        <p:spPr>
          <a:xfrm>
            <a:off x="6233007"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pen.</a:t>
            </a:r>
          </a:p>
        </p:txBody>
      </p:sp>
      <p:pic>
        <p:nvPicPr>
          <p:cNvPr id="29" name="Picture 28" descr="tmp3m1wyfk_.jpg"/>
          <p:cNvPicPr>
            <a:picLocks noChangeAspect="1"/>
          </p:cNvPicPr>
          <p:nvPr/>
        </p:nvPicPr>
        <p:blipFill>
          <a:blip r:embed="rId9"/>
          <a:stretch>
            <a:fillRect/>
          </a:stretch>
        </p:blipFill>
        <p:spPr>
          <a:xfrm>
            <a:off x="9052331" y="3891728"/>
            <a:ext cx="2682163" cy="1589143"/>
          </a:xfrm>
          <a:prstGeom prst="rect">
            <a:avLst/>
          </a:prstGeom>
        </p:spPr>
      </p:pic>
      <p:sp>
        <p:nvSpPr>
          <p:cNvPr id="30" name="Oval 29"/>
          <p:cNvSpPr/>
          <p:nvPr/>
        </p:nvSpPr>
        <p:spPr>
          <a:xfrm>
            <a:off x="9070619"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8</a:t>
            </a:r>
          </a:p>
        </p:txBody>
      </p:sp>
      <p:sp>
        <p:nvSpPr>
          <p:cNvPr id="31" name="Rounded Rectangle 30"/>
          <p:cNvSpPr/>
          <p:nvPr/>
        </p:nvSpPr>
        <p:spPr>
          <a:xfrm>
            <a:off x="9098051"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door.</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left)">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left)">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ipe(left)">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ipe(left)">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left)">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P spid="19" grpId="0"/>
      <p:bldP spid="22" grpId="0"/>
      <p:bldP spid="25" grpId="0"/>
      <p:bldP spid="28" grpId="0"/>
      <p:bldP spid="31" grpId="0"/>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(5)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0owq5x9a.jpg"/>
          <p:cNvPicPr>
            <a:picLocks noChangeAspect="1"/>
          </p:cNvPicPr>
          <p:nvPr/>
        </p:nvPicPr>
        <p:blipFill>
          <a:blip r:embed="rId2"/>
          <a:stretch>
            <a:fillRect/>
          </a:stretch>
        </p:blipFill>
        <p:spPr>
          <a:xfrm>
            <a:off x="457200" y="1339282"/>
            <a:ext cx="2682163" cy="1573395"/>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9</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table.</a:t>
            </a:r>
          </a:p>
        </p:txBody>
      </p:sp>
      <p:pic>
        <p:nvPicPr>
          <p:cNvPr id="11" name="Picture 10" descr="tmpknguphzi.jpg"/>
          <p:cNvPicPr>
            <a:picLocks noChangeAspect="1"/>
          </p:cNvPicPr>
          <p:nvPr/>
        </p:nvPicPr>
        <p:blipFill>
          <a:blip r:embed="rId3"/>
          <a:stretch>
            <a:fillRect/>
          </a:stretch>
        </p:blipFill>
        <p:spPr>
          <a:xfrm>
            <a:off x="3322243" y="1468252"/>
            <a:ext cx="2682163" cy="1315456"/>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10</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an apple.</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circle(in)">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(6)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ocz47fmo.jpg"/>
          <p:cNvPicPr>
            <a:picLocks noChangeAspect="1"/>
          </p:cNvPicPr>
          <p:nvPr/>
        </p:nvPicPr>
        <p:blipFill>
          <a:blip r:embed="rId2"/>
          <a:stretch>
            <a:fillRect/>
          </a:stretch>
        </p:blipFill>
        <p:spPr>
          <a:xfrm>
            <a:off x="457200" y="1444796"/>
            <a:ext cx="2682163" cy="1362368"/>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camel.</a:t>
            </a:r>
          </a:p>
        </p:txBody>
      </p:sp>
      <p:pic>
        <p:nvPicPr>
          <p:cNvPr id="11" name="Picture 10" descr="tmp_ud2ghbm.jpg"/>
          <p:cNvPicPr>
            <a:picLocks noChangeAspect="1"/>
          </p:cNvPicPr>
          <p:nvPr/>
        </p:nvPicPr>
        <p:blipFill>
          <a:blip r:embed="rId3"/>
          <a:stretch>
            <a:fillRect/>
          </a:stretch>
        </p:blipFill>
        <p:spPr>
          <a:xfrm>
            <a:off x="3322243" y="1444796"/>
            <a:ext cx="2682163" cy="1362368"/>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2</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an ant.</a:t>
            </a:r>
          </a:p>
        </p:txBody>
      </p:sp>
      <p:pic>
        <p:nvPicPr>
          <p:cNvPr id="14" name="Picture 13" descr="tmp9y3ffujl.jpg"/>
          <p:cNvPicPr>
            <a:picLocks noChangeAspect="1"/>
          </p:cNvPicPr>
          <p:nvPr/>
        </p:nvPicPr>
        <p:blipFill>
          <a:blip r:embed="rId4"/>
          <a:stretch>
            <a:fillRect/>
          </a:stretch>
        </p:blipFill>
        <p:spPr>
          <a:xfrm>
            <a:off x="6187287" y="1418444"/>
            <a:ext cx="2682163" cy="1415072"/>
          </a:xfrm>
          <a:prstGeom prst="rect">
            <a:avLst/>
          </a:prstGeom>
        </p:spPr>
      </p:pic>
      <p:sp>
        <p:nvSpPr>
          <p:cNvPr id="15" name="Oval 14"/>
          <p:cNvSpPr/>
          <p:nvPr/>
        </p:nvSpPr>
        <p:spPr>
          <a:xfrm>
            <a:off x="6205575"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3</a:t>
            </a:r>
          </a:p>
        </p:txBody>
      </p:sp>
      <p:sp>
        <p:nvSpPr>
          <p:cNvPr id="16" name="Rounded Rectangle 15"/>
          <p:cNvSpPr/>
          <p:nvPr/>
        </p:nvSpPr>
        <p:spPr>
          <a:xfrm>
            <a:off x="6233007"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tree.</a:t>
            </a:r>
          </a:p>
        </p:txBody>
      </p:sp>
      <p:pic>
        <p:nvPicPr>
          <p:cNvPr id="17" name="Picture 16" descr="tmp_bpirmvq.jpg"/>
          <p:cNvPicPr>
            <a:picLocks noChangeAspect="1"/>
          </p:cNvPicPr>
          <p:nvPr/>
        </p:nvPicPr>
        <p:blipFill>
          <a:blip r:embed="rId5"/>
          <a:stretch>
            <a:fillRect/>
          </a:stretch>
        </p:blipFill>
        <p:spPr>
          <a:xfrm>
            <a:off x="9052331" y="1591643"/>
            <a:ext cx="2682163" cy="1068674"/>
          </a:xfrm>
          <a:prstGeom prst="rect">
            <a:avLst/>
          </a:prstGeom>
        </p:spPr>
      </p:pic>
      <p:sp>
        <p:nvSpPr>
          <p:cNvPr id="18" name="Oval 17"/>
          <p:cNvSpPr/>
          <p:nvPr/>
        </p:nvSpPr>
        <p:spPr>
          <a:xfrm>
            <a:off x="9070619"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4</a:t>
            </a:r>
          </a:p>
        </p:txBody>
      </p:sp>
      <p:sp>
        <p:nvSpPr>
          <p:cNvPr id="19" name="Rounded Rectangle 18"/>
          <p:cNvSpPr/>
          <p:nvPr/>
        </p:nvSpPr>
        <p:spPr>
          <a:xfrm>
            <a:off x="9098051"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cow.</a:t>
            </a:r>
          </a:p>
        </p:txBody>
      </p:sp>
      <p:pic>
        <p:nvPicPr>
          <p:cNvPr id="20" name="Picture 19" descr="tmppn0i_ezq.jpg"/>
          <p:cNvPicPr>
            <a:picLocks noChangeAspect="1"/>
          </p:cNvPicPr>
          <p:nvPr/>
        </p:nvPicPr>
        <p:blipFill>
          <a:blip r:embed="rId6"/>
          <a:stretch>
            <a:fillRect/>
          </a:stretch>
        </p:blipFill>
        <p:spPr>
          <a:xfrm>
            <a:off x="457200" y="3986990"/>
            <a:ext cx="2682163" cy="1398620"/>
          </a:xfrm>
          <a:prstGeom prst="rect">
            <a:avLst/>
          </a:prstGeom>
        </p:spPr>
      </p:pic>
      <p:sp>
        <p:nvSpPr>
          <p:cNvPr id="21" name="Oval 20"/>
          <p:cNvSpPr/>
          <p:nvPr/>
        </p:nvSpPr>
        <p:spPr>
          <a:xfrm>
            <a:off x="475488"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5</a:t>
            </a:r>
          </a:p>
        </p:txBody>
      </p:sp>
      <p:sp>
        <p:nvSpPr>
          <p:cNvPr id="22" name="Rounded Rectangle 21"/>
          <p:cNvSpPr/>
          <p:nvPr/>
        </p:nvSpPr>
        <p:spPr>
          <a:xfrm>
            <a:off x="502920"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bird.</a:t>
            </a:r>
          </a:p>
        </p:txBody>
      </p:sp>
      <p:pic>
        <p:nvPicPr>
          <p:cNvPr id="23" name="Picture 22" descr="tmpcrof57xl.jpg"/>
          <p:cNvPicPr>
            <a:picLocks noChangeAspect="1"/>
          </p:cNvPicPr>
          <p:nvPr/>
        </p:nvPicPr>
        <p:blipFill>
          <a:blip r:embed="rId7"/>
          <a:stretch>
            <a:fillRect/>
          </a:stretch>
        </p:blipFill>
        <p:spPr>
          <a:xfrm>
            <a:off x="3322243" y="4013630"/>
            <a:ext cx="2682163" cy="1345339"/>
          </a:xfrm>
          <a:prstGeom prst="rect">
            <a:avLst/>
          </a:prstGeom>
        </p:spPr>
      </p:pic>
      <p:sp>
        <p:nvSpPr>
          <p:cNvPr id="24" name="Oval 23"/>
          <p:cNvSpPr/>
          <p:nvPr/>
        </p:nvSpPr>
        <p:spPr>
          <a:xfrm>
            <a:off x="3340531"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6</a:t>
            </a:r>
          </a:p>
        </p:txBody>
      </p:sp>
      <p:sp>
        <p:nvSpPr>
          <p:cNvPr id="25" name="Rounded Rectangle 24"/>
          <p:cNvSpPr/>
          <p:nvPr/>
        </p:nvSpPr>
        <p:spPr>
          <a:xfrm>
            <a:off x="3367963"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lion.</a:t>
            </a:r>
          </a:p>
        </p:txBody>
      </p:sp>
      <p:pic>
        <p:nvPicPr>
          <p:cNvPr id="26" name="Picture 25" descr="tmpwy_et05_.jpg"/>
          <p:cNvPicPr>
            <a:picLocks noChangeAspect="1"/>
          </p:cNvPicPr>
          <p:nvPr/>
        </p:nvPicPr>
        <p:blipFill>
          <a:blip r:embed="rId8"/>
          <a:stretch>
            <a:fillRect/>
          </a:stretch>
        </p:blipFill>
        <p:spPr>
          <a:xfrm>
            <a:off x="6187287" y="3971056"/>
            <a:ext cx="2682163" cy="1430487"/>
          </a:xfrm>
          <a:prstGeom prst="rect">
            <a:avLst/>
          </a:prstGeom>
        </p:spPr>
      </p:pic>
      <p:sp>
        <p:nvSpPr>
          <p:cNvPr id="27" name="Oval 26"/>
          <p:cNvSpPr/>
          <p:nvPr/>
        </p:nvSpPr>
        <p:spPr>
          <a:xfrm>
            <a:off x="6205575"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7</a:t>
            </a:r>
          </a:p>
        </p:txBody>
      </p:sp>
      <p:sp>
        <p:nvSpPr>
          <p:cNvPr id="28" name="Rounded Rectangle 27"/>
          <p:cNvSpPr/>
          <p:nvPr/>
        </p:nvSpPr>
        <p:spPr>
          <a:xfrm>
            <a:off x="6233007"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bat.</a:t>
            </a:r>
          </a:p>
        </p:txBody>
      </p:sp>
      <p:pic>
        <p:nvPicPr>
          <p:cNvPr id="29" name="Picture 28" descr="tmpquz4o28u.jpg"/>
          <p:cNvPicPr>
            <a:picLocks noChangeAspect="1"/>
          </p:cNvPicPr>
          <p:nvPr/>
        </p:nvPicPr>
        <p:blipFill>
          <a:blip r:embed="rId9"/>
          <a:stretch>
            <a:fillRect/>
          </a:stretch>
        </p:blipFill>
        <p:spPr>
          <a:xfrm>
            <a:off x="9052331" y="3971056"/>
            <a:ext cx="2682163" cy="1430487"/>
          </a:xfrm>
          <a:prstGeom prst="rect">
            <a:avLst/>
          </a:prstGeom>
        </p:spPr>
      </p:pic>
      <p:sp>
        <p:nvSpPr>
          <p:cNvPr id="30" name="Oval 29"/>
          <p:cNvSpPr/>
          <p:nvPr/>
        </p:nvSpPr>
        <p:spPr>
          <a:xfrm>
            <a:off x="9070619"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8</a:t>
            </a:r>
          </a:p>
        </p:txBody>
      </p:sp>
      <p:sp>
        <p:nvSpPr>
          <p:cNvPr id="31" name="Rounded Rectangle 30"/>
          <p:cNvSpPr/>
          <p:nvPr/>
        </p:nvSpPr>
        <p:spPr>
          <a:xfrm>
            <a:off x="9098051"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It is a book.</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box(in)">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ox(in)">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box(in)">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box(in)">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box(in)">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box(in)">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box(in)">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P spid="19" grpId="0"/>
      <p:bldP spid="22" grpId="0"/>
      <p:bldP spid="25" grpId="0"/>
      <p:bldP spid="28" grpId="0"/>
      <p:bldP spid="31" grpId="0"/>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(7)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q462e706.jpg"/>
          <p:cNvPicPr>
            <a:picLocks noChangeAspect="1"/>
          </p:cNvPicPr>
          <p:nvPr/>
        </p:nvPicPr>
        <p:blipFill>
          <a:blip r:embed="rId2"/>
          <a:stretch>
            <a:fillRect/>
          </a:stretch>
        </p:blipFill>
        <p:spPr>
          <a:xfrm>
            <a:off x="457200" y="1229078"/>
            <a:ext cx="2682163" cy="1793803"/>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apples.</a:t>
            </a:r>
          </a:p>
        </p:txBody>
      </p:sp>
      <p:pic>
        <p:nvPicPr>
          <p:cNvPr id="11" name="Picture 10" descr="tmpsc9zqksv.jpg"/>
          <p:cNvPicPr>
            <a:picLocks noChangeAspect="1"/>
          </p:cNvPicPr>
          <p:nvPr/>
        </p:nvPicPr>
        <p:blipFill>
          <a:blip r:embed="rId3"/>
          <a:stretch>
            <a:fillRect/>
          </a:stretch>
        </p:blipFill>
        <p:spPr>
          <a:xfrm>
            <a:off x="3322243" y="1271788"/>
            <a:ext cx="2682163" cy="1708384"/>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2</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lions.</a:t>
            </a:r>
          </a:p>
        </p:txBody>
      </p:sp>
      <p:pic>
        <p:nvPicPr>
          <p:cNvPr id="14" name="Picture 13" descr="tmp_w06_fqs.jpg"/>
          <p:cNvPicPr>
            <a:picLocks noChangeAspect="1"/>
          </p:cNvPicPr>
          <p:nvPr/>
        </p:nvPicPr>
        <p:blipFill>
          <a:blip r:embed="rId4"/>
          <a:stretch>
            <a:fillRect/>
          </a:stretch>
        </p:blipFill>
        <p:spPr>
          <a:xfrm>
            <a:off x="6187287" y="1404217"/>
            <a:ext cx="2682163" cy="1443525"/>
          </a:xfrm>
          <a:prstGeom prst="rect">
            <a:avLst/>
          </a:prstGeom>
        </p:spPr>
      </p:pic>
      <p:sp>
        <p:nvSpPr>
          <p:cNvPr id="15" name="Oval 14"/>
          <p:cNvSpPr/>
          <p:nvPr/>
        </p:nvSpPr>
        <p:spPr>
          <a:xfrm>
            <a:off x="6205575"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3</a:t>
            </a:r>
          </a:p>
        </p:txBody>
      </p:sp>
      <p:sp>
        <p:nvSpPr>
          <p:cNvPr id="16" name="Rounded Rectangle 15"/>
          <p:cNvSpPr/>
          <p:nvPr/>
        </p:nvSpPr>
        <p:spPr>
          <a:xfrm>
            <a:off x="6233007"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trees.</a:t>
            </a:r>
          </a:p>
        </p:txBody>
      </p:sp>
      <p:pic>
        <p:nvPicPr>
          <p:cNvPr id="17" name="Picture 16" descr="tmpe283y6_t.jpg"/>
          <p:cNvPicPr>
            <a:picLocks noChangeAspect="1"/>
          </p:cNvPicPr>
          <p:nvPr/>
        </p:nvPicPr>
        <p:blipFill>
          <a:blip r:embed="rId5"/>
          <a:stretch>
            <a:fillRect/>
          </a:stretch>
        </p:blipFill>
        <p:spPr>
          <a:xfrm>
            <a:off x="9052331" y="1403496"/>
            <a:ext cx="2682163" cy="1444968"/>
          </a:xfrm>
          <a:prstGeom prst="rect">
            <a:avLst/>
          </a:prstGeom>
        </p:spPr>
      </p:pic>
      <p:sp>
        <p:nvSpPr>
          <p:cNvPr id="18" name="Oval 17"/>
          <p:cNvSpPr/>
          <p:nvPr/>
        </p:nvSpPr>
        <p:spPr>
          <a:xfrm>
            <a:off x="9070619"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4</a:t>
            </a:r>
          </a:p>
        </p:txBody>
      </p:sp>
      <p:sp>
        <p:nvSpPr>
          <p:cNvPr id="19" name="Rounded Rectangle 18"/>
          <p:cNvSpPr/>
          <p:nvPr/>
        </p:nvSpPr>
        <p:spPr>
          <a:xfrm>
            <a:off x="9098051"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bananas.</a:t>
            </a:r>
          </a:p>
        </p:txBody>
      </p:sp>
      <p:pic>
        <p:nvPicPr>
          <p:cNvPr id="20" name="Picture 19" descr="tmpllewuinw.jpg"/>
          <p:cNvPicPr>
            <a:picLocks noChangeAspect="1"/>
          </p:cNvPicPr>
          <p:nvPr/>
        </p:nvPicPr>
        <p:blipFill>
          <a:blip r:embed="rId6"/>
          <a:stretch>
            <a:fillRect/>
          </a:stretch>
        </p:blipFill>
        <p:spPr>
          <a:xfrm>
            <a:off x="540158" y="3749040"/>
            <a:ext cx="2516247" cy="1874520"/>
          </a:xfrm>
          <a:prstGeom prst="rect">
            <a:avLst/>
          </a:prstGeom>
        </p:spPr>
      </p:pic>
      <p:sp>
        <p:nvSpPr>
          <p:cNvPr id="21" name="Oval 20"/>
          <p:cNvSpPr/>
          <p:nvPr/>
        </p:nvSpPr>
        <p:spPr>
          <a:xfrm>
            <a:off x="475488"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5</a:t>
            </a:r>
          </a:p>
        </p:txBody>
      </p:sp>
      <p:sp>
        <p:nvSpPr>
          <p:cNvPr id="22" name="Rounded Rectangle 21"/>
          <p:cNvSpPr/>
          <p:nvPr/>
        </p:nvSpPr>
        <p:spPr>
          <a:xfrm>
            <a:off x="502920"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dogs.</a:t>
            </a:r>
          </a:p>
        </p:txBody>
      </p:sp>
      <p:pic>
        <p:nvPicPr>
          <p:cNvPr id="23" name="Picture 22" descr="tmpzwizerls.jpg"/>
          <p:cNvPicPr>
            <a:picLocks noChangeAspect="1"/>
          </p:cNvPicPr>
          <p:nvPr/>
        </p:nvPicPr>
        <p:blipFill>
          <a:blip r:embed="rId7"/>
          <a:stretch>
            <a:fillRect/>
          </a:stretch>
        </p:blipFill>
        <p:spPr>
          <a:xfrm>
            <a:off x="3322243" y="3755230"/>
            <a:ext cx="2682163" cy="1862139"/>
          </a:xfrm>
          <a:prstGeom prst="rect">
            <a:avLst/>
          </a:prstGeom>
        </p:spPr>
      </p:pic>
      <p:sp>
        <p:nvSpPr>
          <p:cNvPr id="24" name="Oval 23"/>
          <p:cNvSpPr/>
          <p:nvPr/>
        </p:nvSpPr>
        <p:spPr>
          <a:xfrm>
            <a:off x="3340531"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6</a:t>
            </a:r>
          </a:p>
        </p:txBody>
      </p:sp>
      <p:sp>
        <p:nvSpPr>
          <p:cNvPr id="25" name="Rounded Rectangle 24"/>
          <p:cNvSpPr/>
          <p:nvPr/>
        </p:nvSpPr>
        <p:spPr>
          <a:xfrm>
            <a:off x="3367963"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birds.</a:t>
            </a:r>
          </a:p>
        </p:txBody>
      </p:sp>
      <p:pic>
        <p:nvPicPr>
          <p:cNvPr id="26" name="Picture 25" descr="tmpu7ixk4lz.jpg"/>
          <p:cNvPicPr>
            <a:picLocks noChangeAspect="1"/>
          </p:cNvPicPr>
          <p:nvPr/>
        </p:nvPicPr>
        <p:blipFill>
          <a:blip r:embed="rId8"/>
          <a:stretch>
            <a:fillRect/>
          </a:stretch>
        </p:blipFill>
        <p:spPr>
          <a:xfrm>
            <a:off x="6187287" y="4139682"/>
            <a:ext cx="2682163" cy="1093236"/>
          </a:xfrm>
          <a:prstGeom prst="rect">
            <a:avLst/>
          </a:prstGeom>
        </p:spPr>
      </p:pic>
      <p:sp>
        <p:nvSpPr>
          <p:cNvPr id="27" name="Oval 26"/>
          <p:cNvSpPr/>
          <p:nvPr/>
        </p:nvSpPr>
        <p:spPr>
          <a:xfrm>
            <a:off x="6205575"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7</a:t>
            </a:r>
          </a:p>
        </p:txBody>
      </p:sp>
      <p:sp>
        <p:nvSpPr>
          <p:cNvPr id="28" name="Rounded Rectangle 27"/>
          <p:cNvSpPr/>
          <p:nvPr/>
        </p:nvSpPr>
        <p:spPr>
          <a:xfrm>
            <a:off x="6233007"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bees.</a:t>
            </a:r>
          </a:p>
        </p:txBody>
      </p:sp>
      <p:pic>
        <p:nvPicPr>
          <p:cNvPr id="29" name="Picture 28" descr="tmphlg6zh1i.jpg"/>
          <p:cNvPicPr>
            <a:picLocks noChangeAspect="1"/>
          </p:cNvPicPr>
          <p:nvPr/>
        </p:nvPicPr>
        <p:blipFill>
          <a:blip r:embed="rId9"/>
          <a:stretch>
            <a:fillRect/>
          </a:stretch>
        </p:blipFill>
        <p:spPr>
          <a:xfrm>
            <a:off x="9052331" y="3823566"/>
            <a:ext cx="2682163" cy="1725468"/>
          </a:xfrm>
          <a:prstGeom prst="rect">
            <a:avLst/>
          </a:prstGeom>
        </p:spPr>
      </p:pic>
      <p:sp>
        <p:nvSpPr>
          <p:cNvPr id="30" name="Oval 29"/>
          <p:cNvSpPr/>
          <p:nvPr/>
        </p:nvSpPr>
        <p:spPr>
          <a:xfrm>
            <a:off x="9070619"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8</a:t>
            </a:r>
          </a:p>
        </p:txBody>
      </p:sp>
      <p:sp>
        <p:nvSpPr>
          <p:cNvPr id="31" name="Rounded Rectangle 30"/>
          <p:cNvSpPr/>
          <p:nvPr/>
        </p:nvSpPr>
        <p:spPr>
          <a:xfrm>
            <a:off x="9098051"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elephants.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heel(1)">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heel(1)">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heel(1)">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heel(1)">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heel(1)">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heel(1)">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heel(1)">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heel(1)">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P spid="19" grpId="0"/>
      <p:bldP spid="22" grpId="0"/>
      <p:bldP spid="25" grpId="0"/>
      <p:bldP spid="28" grpId="0"/>
      <p:bldP spid="31" grpId="0"/>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(8)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pic>
        <p:nvPicPr>
          <p:cNvPr id="8" name="Picture 7" descr="tmp9wnyisf8.jpg"/>
          <p:cNvPicPr>
            <a:picLocks noChangeAspect="1"/>
          </p:cNvPicPr>
          <p:nvPr/>
        </p:nvPicPr>
        <p:blipFill>
          <a:blip r:embed="rId2"/>
          <a:stretch>
            <a:fillRect/>
          </a:stretch>
        </p:blipFill>
        <p:spPr>
          <a:xfrm>
            <a:off x="457200" y="1405098"/>
            <a:ext cx="2682163" cy="1441763"/>
          </a:xfrm>
          <a:prstGeom prst="rect">
            <a:avLst/>
          </a:prstGeom>
        </p:spPr>
      </p:pic>
      <p:sp>
        <p:nvSpPr>
          <p:cNvPr id="9" name="Oval 8"/>
          <p:cNvSpPr/>
          <p:nvPr/>
        </p:nvSpPr>
        <p:spPr>
          <a:xfrm>
            <a:off x="475488"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1</a:t>
            </a:r>
          </a:p>
        </p:txBody>
      </p:sp>
      <p:sp>
        <p:nvSpPr>
          <p:cNvPr id="10" name="Rounded Rectangle 9"/>
          <p:cNvSpPr/>
          <p:nvPr/>
        </p:nvSpPr>
        <p:spPr>
          <a:xfrm>
            <a:off x="502920"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oranges.</a:t>
            </a:r>
          </a:p>
        </p:txBody>
      </p:sp>
      <p:pic>
        <p:nvPicPr>
          <p:cNvPr id="11" name="Picture 10" descr="tmp_16ff2p6.jpg"/>
          <p:cNvPicPr>
            <a:picLocks noChangeAspect="1"/>
          </p:cNvPicPr>
          <p:nvPr/>
        </p:nvPicPr>
        <p:blipFill>
          <a:blip r:embed="rId3"/>
          <a:stretch>
            <a:fillRect/>
          </a:stretch>
        </p:blipFill>
        <p:spPr>
          <a:xfrm>
            <a:off x="3322243" y="1432183"/>
            <a:ext cx="2682163" cy="1387593"/>
          </a:xfrm>
          <a:prstGeom prst="rect">
            <a:avLst/>
          </a:prstGeom>
        </p:spPr>
      </p:pic>
      <p:sp>
        <p:nvSpPr>
          <p:cNvPr id="12" name="Oval 11"/>
          <p:cNvSpPr/>
          <p:nvPr/>
        </p:nvSpPr>
        <p:spPr>
          <a:xfrm>
            <a:off x="3340531"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2</a:t>
            </a:r>
          </a:p>
        </p:txBody>
      </p:sp>
      <p:sp>
        <p:nvSpPr>
          <p:cNvPr id="13" name="Rounded Rectangle 12"/>
          <p:cNvSpPr/>
          <p:nvPr/>
        </p:nvSpPr>
        <p:spPr>
          <a:xfrm>
            <a:off x="3367963"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They are boys.</a:t>
            </a:r>
          </a:p>
        </p:txBody>
      </p:sp>
      <p:pic>
        <p:nvPicPr>
          <p:cNvPr id="14" name="Picture 13" descr="tmpzswp38w1.jpg"/>
          <p:cNvPicPr>
            <a:picLocks noChangeAspect="1"/>
          </p:cNvPicPr>
          <p:nvPr/>
        </p:nvPicPr>
        <p:blipFill>
          <a:blip r:embed="rId4"/>
          <a:stretch>
            <a:fillRect/>
          </a:stretch>
        </p:blipFill>
        <p:spPr>
          <a:xfrm>
            <a:off x="6187287" y="1420555"/>
            <a:ext cx="2682163" cy="1410849"/>
          </a:xfrm>
          <a:prstGeom prst="rect">
            <a:avLst/>
          </a:prstGeom>
        </p:spPr>
      </p:pic>
      <p:sp>
        <p:nvSpPr>
          <p:cNvPr id="15" name="Oval 14"/>
          <p:cNvSpPr/>
          <p:nvPr/>
        </p:nvSpPr>
        <p:spPr>
          <a:xfrm>
            <a:off x="6205575"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3</a:t>
            </a:r>
          </a:p>
        </p:txBody>
      </p:sp>
      <p:sp>
        <p:nvSpPr>
          <p:cNvPr id="16" name="Rounded Rectangle 15"/>
          <p:cNvSpPr/>
          <p:nvPr/>
        </p:nvSpPr>
        <p:spPr>
          <a:xfrm>
            <a:off x="6233007"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eggs.</a:t>
            </a:r>
          </a:p>
        </p:txBody>
      </p:sp>
      <p:pic>
        <p:nvPicPr>
          <p:cNvPr id="17" name="Picture 16" descr="tmpskdpafu_.jpg"/>
          <p:cNvPicPr>
            <a:picLocks noChangeAspect="1"/>
          </p:cNvPicPr>
          <p:nvPr/>
        </p:nvPicPr>
        <p:blipFill>
          <a:blip r:embed="rId5"/>
          <a:stretch>
            <a:fillRect/>
          </a:stretch>
        </p:blipFill>
        <p:spPr>
          <a:xfrm>
            <a:off x="9052331" y="1620495"/>
            <a:ext cx="2682163" cy="1010969"/>
          </a:xfrm>
          <a:prstGeom prst="rect">
            <a:avLst/>
          </a:prstGeom>
        </p:spPr>
      </p:pic>
      <p:sp>
        <p:nvSpPr>
          <p:cNvPr id="18" name="Oval 17"/>
          <p:cNvSpPr/>
          <p:nvPr/>
        </p:nvSpPr>
        <p:spPr>
          <a:xfrm>
            <a:off x="9070619" y="120700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4</a:t>
            </a:r>
          </a:p>
        </p:txBody>
      </p:sp>
      <p:sp>
        <p:nvSpPr>
          <p:cNvPr id="19" name="Rounded Rectangle 18"/>
          <p:cNvSpPr/>
          <p:nvPr/>
        </p:nvSpPr>
        <p:spPr>
          <a:xfrm>
            <a:off x="9098051" y="310896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ants.</a:t>
            </a:r>
          </a:p>
        </p:txBody>
      </p:sp>
      <p:pic>
        <p:nvPicPr>
          <p:cNvPr id="20" name="Picture 19" descr="tmp9fl3ab26.jpg"/>
          <p:cNvPicPr>
            <a:picLocks noChangeAspect="1"/>
          </p:cNvPicPr>
          <p:nvPr/>
        </p:nvPicPr>
        <p:blipFill>
          <a:blip r:embed="rId6"/>
          <a:stretch>
            <a:fillRect/>
          </a:stretch>
        </p:blipFill>
        <p:spPr>
          <a:xfrm>
            <a:off x="457200" y="4116076"/>
            <a:ext cx="2682163" cy="1140447"/>
          </a:xfrm>
          <a:prstGeom prst="rect">
            <a:avLst/>
          </a:prstGeom>
        </p:spPr>
      </p:pic>
      <p:sp>
        <p:nvSpPr>
          <p:cNvPr id="21" name="Oval 20"/>
          <p:cNvSpPr/>
          <p:nvPr/>
        </p:nvSpPr>
        <p:spPr>
          <a:xfrm>
            <a:off x="475488"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5</a:t>
            </a:r>
          </a:p>
        </p:txBody>
      </p:sp>
      <p:sp>
        <p:nvSpPr>
          <p:cNvPr id="22" name="Rounded Rectangle 21"/>
          <p:cNvSpPr/>
          <p:nvPr/>
        </p:nvSpPr>
        <p:spPr>
          <a:xfrm>
            <a:off x="502920"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tigers.</a:t>
            </a:r>
          </a:p>
        </p:txBody>
      </p:sp>
      <p:pic>
        <p:nvPicPr>
          <p:cNvPr id="23" name="Picture 22" descr="tmpjudlmye1.jpg"/>
          <p:cNvPicPr>
            <a:picLocks noChangeAspect="1"/>
          </p:cNvPicPr>
          <p:nvPr/>
        </p:nvPicPr>
        <p:blipFill>
          <a:blip r:embed="rId7"/>
          <a:stretch>
            <a:fillRect/>
          </a:stretch>
        </p:blipFill>
        <p:spPr>
          <a:xfrm>
            <a:off x="3322243" y="3961496"/>
            <a:ext cx="2682163" cy="1449608"/>
          </a:xfrm>
          <a:prstGeom prst="rect">
            <a:avLst/>
          </a:prstGeom>
        </p:spPr>
      </p:pic>
      <p:sp>
        <p:nvSpPr>
          <p:cNvPr id="24" name="Oval 23"/>
          <p:cNvSpPr/>
          <p:nvPr/>
        </p:nvSpPr>
        <p:spPr>
          <a:xfrm>
            <a:off x="3340531"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6</a:t>
            </a:r>
          </a:p>
        </p:txBody>
      </p:sp>
      <p:sp>
        <p:nvSpPr>
          <p:cNvPr id="25" name="Rounded Rectangle 24"/>
          <p:cNvSpPr/>
          <p:nvPr/>
        </p:nvSpPr>
        <p:spPr>
          <a:xfrm>
            <a:off x="3367963"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glasses.</a:t>
            </a:r>
          </a:p>
        </p:txBody>
      </p:sp>
      <p:pic>
        <p:nvPicPr>
          <p:cNvPr id="26" name="Picture 25" descr="tmp2ymp7g37.jpg"/>
          <p:cNvPicPr>
            <a:picLocks noChangeAspect="1"/>
          </p:cNvPicPr>
          <p:nvPr/>
        </p:nvPicPr>
        <p:blipFill>
          <a:blip r:embed="rId8"/>
          <a:stretch>
            <a:fillRect/>
          </a:stretch>
        </p:blipFill>
        <p:spPr>
          <a:xfrm>
            <a:off x="6187287" y="3977320"/>
            <a:ext cx="2682163" cy="1417959"/>
          </a:xfrm>
          <a:prstGeom prst="rect">
            <a:avLst/>
          </a:prstGeom>
        </p:spPr>
      </p:pic>
      <p:sp>
        <p:nvSpPr>
          <p:cNvPr id="27" name="Oval 26"/>
          <p:cNvSpPr/>
          <p:nvPr/>
        </p:nvSpPr>
        <p:spPr>
          <a:xfrm>
            <a:off x="6205575"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7</a:t>
            </a:r>
          </a:p>
        </p:txBody>
      </p:sp>
      <p:sp>
        <p:nvSpPr>
          <p:cNvPr id="28" name="Rounded Rectangle 27"/>
          <p:cNvSpPr/>
          <p:nvPr/>
        </p:nvSpPr>
        <p:spPr>
          <a:xfrm>
            <a:off x="6233007"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pens.</a:t>
            </a:r>
          </a:p>
        </p:txBody>
      </p:sp>
      <p:pic>
        <p:nvPicPr>
          <p:cNvPr id="29" name="Picture 28" descr="tmp8rhqxycc.jpg"/>
          <p:cNvPicPr>
            <a:picLocks noChangeAspect="1"/>
          </p:cNvPicPr>
          <p:nvPr/>
        </p:nvPicPr>
        <p:blipFill>
          <a:blip r:embed="rId9"/>
          <a:stretch>
            <a:fillRect/>
          </a:stretch>
        </p:blipFill>
        <p:spPr>
          <a:xfrm>
            <a:off x="9052331" y="4166753"/>
            <a:ext cx="2682163" cy="1039094"/>
          </a:xfrm>
          <a:prstGeom prst="rect">
            <a:avLst/>
          </a:prstGeom>
        </p:spPr>
      </p:pic>
      <p:sp>
        <p:nvSpPr>
          <p:cNvPr id="30" name="Oval 29"/>
          <p:cNvSpPr/>
          <p:nvPr/>
        </p:nvSpPr>
        <p:spPr>
          <a:xfrm>
            <a:off x="9070619" y="3767328"/>
            <a:ext cx="329184" cy="329184"/>
          </a:xfrm>
          <a:prstGeom prst="ellipse">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1200" b="1" i="0" lang="en-US">
                <a:solidFill>
                  <a:srgbClr val="FFFFFF"/>
                </a:solidFill>
                <a:latin typeface="Segoe UI"/>
              </a:rPr>
              <a:t>8</a:t>
            </a:r>
          </a:p>
        </p:txBody>
      </p:sp>
      <p:sp>
        <p:nvSpPr>
          <p:cNvPr id="31" name="Rounded Rectangle 30"/>
          <p:cNvSpPr/>
          <p:nvPr/>
        </p:nvSpPr>
        <p:spPr>
          <a:xfrm>
            <a:off x="9098051" y="5669280"/>
            <a:ext cx="2590723" cy="502920"/>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rtl="0"/>
            <a:r>
              <a:rPr sz="1500" b="1" i="0" lang="en-US">
                <a:solidFill>
                  <a:srgbClr val="0F7A3D"/>
                </a:solidFill>
                <a:latin typeface="Segoe UI"/>
              </a:rPr>
              <a:t>✔ These are books.</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P spid="19" grpId="0"/>
      <p:bldP spid="22" grpId="0"/>
      <p:bldP spid="25" grpId="0"/>
      <p:bldP spid="28" grpId="0"/>
      <p:bldP spid="31" grpId="0"/>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a:t>
            </a:r>
          </a:p>
          <a:p>
            <a:pPr algn="ctr" rtl="0"/>
            <a:r>
              <a:rPr sz="4600" b="1" i="0" lang="en-US">
                <a:solidFill>
                  <a:srgbClr val="FFFFFF"/>
                </a:solidFill>
                <a:latin typeface="Segoe UI"/>
              </a:rPr>
              <a:t>The Plural</a:t>
            </a:r>
          </a:p>
          <a:p>
            <a:pPr algn="ctr" rtl="1"/>
            <a:r>
              <a:rPr sz="2900" b="0" i="0" lang="ar-EG" altLang="en-US">
                <a:solidFill>
                  <a:srgbClr val="FFFFFF"/>
                </a:solidFill>
                <a:latin typeface="Traditional Arabic"/>
              </a:rPr>
              <a:t>الجمع</a:t>
            </a:r>
          </a:p>
        </p:txBody>
      </p:sp>
    </p:spTree>
  </p:cSld>
  <p:clrMapOvr>
    <a:masterClrMapping/>
  </p:clrMapOvr>
  <p:transition spd="med">
    <p:zoom dir="in"/>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5B"/>
                </a:solidFill>
                <a:latin typeface="Segoe UI"/>
              </a:rPr>
              <a:t>▶ noun + s</a:t>
            </a:r>
          </a:p>
          <a:p>
            <a:pPr rtl="1" algn="r">
              <a:spcAft>
                <a:spcPts val="600"/>
              </a:spcAft>
            </a:pPr>
            <a:r>
              <a:rPr sz="2100" b="0" i="0" lang="ar-EG" altLang="en-US">
                <a:solidFill>
                  <a:srgbClr val="1C2333"/>
                </a:solidFill>
                <a:latin typeface="Traditional Arabic"/>
              </a:rPr>
              <a:t>معظم الأسماء يضاف لها (s) في حالة الجمع.</a:t>
            </a:r>
          </a:p>
          <a:p>
            <a:pPr rtl="0" algn="l">
              <a:spcAft>
                <a:spcPts val="600"/>
              </a:spcAft>
            </a:pPr>
            <a:r>
              <a:rPr sz="2000" b="1" i="0" lang="en-US">
                <a:solidFill>
                  <a:srgbClr val="22945B"/>
                </a:solidFill>
                <a:latin typeface="Segoe UI"/>
              </a:rPr>
              <a:t>▶ noun + es → o - s - sh - ch - x</a:t>
            </a:r>
          </a:p>
          <a:p>
            <a:pPr rtl="1" algn="r">
              <a:spcAft>
                <a:spcPts val="600"/>
              </a:spcAft>
            </a:pPr>
            <a:r>
              <a:rPr sz="2100" b="0" i="0" lang="ar-EG" altLang="en-US">
                <a:solidFill>
                  <a:srgbClr val="1C2333"/>
                </a:solidFill>
                <a:latin typeface="Traditional Arabic"/>
              </a:rPr>
              <a:t>    تضاف (es) إذا كان آخر الاسم: o - s - sh - ch - x</a:t>
            </a:r>
          </a:p>
          <a:p>
            <a:pPr rtl="0" algn="l">
              <a:spcAft>
                <a:spcPts val="600"/>
              </a:spcAft>
            </a:pPr>
            <a:r>
              <a:rPr sz="2000" b="1" i="0" lang="en-US">
                <a:solidFill>
                  <a:srgbClr val="22945B"/>
                </a:solidFill>
                <a:latin typeface="Segoe UI"/>
              </a:rPr>
              <a:t>▶ consonant + y → ies</a:t>
            </a:r>
          </a:p>
          <a:p>
            <a:pPr rtl="1" algn="r">
              <a:spcAft>
                <a:spcPts val="600"/>
              </a:spcAft>
            </a:pPr>
            <a:r>
              <a:rPr sz="2100" b="0" i="0" lang="ar-EG" altLang="en-US">
                <a:solidFill>
                  <a:srgbClr val="1C2333"/>
                </a:solidFill>
                <a:latin typeface="Traditional Arabic"/>
              </a:rPr>
              <a:t>    إذا انتهى الاسم بـ (y) وقبلها حرف ساكن، نحذف الـ (y) ونضيف (ies).</a:t>
            </a:r>
          </a:p>
          <a:p>
            <a:pPr rtl="0" algn="l">
              <a:spcAft>
                <a:spcPts val="600"/>
              </a:spcAft>
            </a:pPr>
            <a:r>
              <a:rPr sz="2000" b="1" i="0" lang="en-US">
                <a:solidFill>
                  <a:srgbClr val="22945B"/>
                </a:solidFill>
                <a:latin typeface="Segoe UI"/>
              </a:rPr>
              <a:t>▶ f / fe → ves</a:t>
            </a:r>
          </a:p>
          <a:p>
            <a:pPr rtl="1" algn="r">
              <a:spcAft>
                <a:spcPts val="600"/>
              </a:spcAft>
            </a:pPr>
            <a:r>
              <a:rPr sz="2100" b="0" i="0" lang="ar-EG" altLang="en-US">
                <a:solidFill>
                  <a:srgbClr val="1C2333"/>
                </a:solidFill>
                <a:latin typeface="Traditional Arabic"/>
              </a:rPr>
              <a:t>    إذا انتهى الاسم بـ (f) أو (fe) تُحذف ونضيف (ves).</a:t>
            </a:r>
          </a:p>
          <a:p>
            <a:pPr rtl="0" algn="l">
              <a:spcAft>
                <a:spcPts val="600"/>
              </a:spcAft>
            </a:pPr>
            <a:r>
              <a:rPr sz="2000" b="1" i="0" lang="en-US">
                <a:solidFill>
                  <a:srgbClr val="22945B"/>
                </a:solidFill>
                <a:latin typeface="Segoe UI"/>
              </a:rPr>
              <a:t>▶ irregular plurals</a:t>
            </a:r>
          </a:p>
        </p:txBody>
      </p:sp>
    </p:spTree>
  </p:cSld>
  <p:clrMapOvr>
    <a:masterClrMapping/>
  </p:clrMapOvr>
  <p:transition spd="med">
    <p:wedg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The Rule — القاعدة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    هناك أسماء شاذة تُحفظ كما هي: man → men, child → children …</a:t>
            </a:r>
          </a:p>
        </p:txBody>
      </p:sp>
    </p:spTree>
  </p:cSld>
  <p:clrMapOvr>
    <a:masterClrMapping/>
  </p:clrMapOvr>
  <p:transition spd="med">
    <p:zoom dir="in"/>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r>
              <a:tr h="347472">
                <a:tc>
                  <a:txBody>
                    <a:bodyPr/>
                    <a:lstStyle/>
                    <a:p>
                      <a:pPr rtl="0" algn="l"/>
                      <a:r>
                        <a:rPr sz="1300" b="0" i="0" lang="en-US">
                          <a:solidFill>
                            <a:srgbClr val="1C2333"/>
                          </a:solidFill>
                          <a:latin typeface="Segoe UI"/>
                        </a:rPr>
                        <a:t>a girl</a:t>
                      </a:r>
                    </a:p>
                  </a:txBody>
                  <a:tcPr>
                    <a:solidFill>
                      <a:srgbClr val="FFFFFF"/>
                    </a:solidFill>
                  </a:tcPr>
                </a:tc>
                <a:tc>
                  <a:txBody>
                    <a:bodyPr/>
                    <a:lstStyle/>
                    <a:p>
                      <a:pPr rtl="0" algn="l"/>
                      <a:r>
                        <a:rPr sz="1300" b="0" i="0" lang="en-US">
                          <a:solidFill>
                            <a:srgbClr val="1C2333"/>
                          </a:solidFill>
                          <a:latin typeface="Segoe UI"/>
                        </a:rPr>
                        <a:t>girls</a:t>
                      </a:r>
                    </a:p>
                  </a:txBody>
                  <a:tcPr>
                    <a:solidFill>
                      <a:srgbClr val="FFFFFF"/>
                    </a:solidFill>
                  </a:tcPr>
                </a:tc>
                <a:tc>
                  <a:txBody>
                    <a:bodyPr/>
                    <a:lstStyle/>
                    <a:p>
                      <a:pPr rtl="0" algn="l"/>
                      <a:r>
                        <a:rPr sz="1300" b="0" i="0" lang="en-US">
                          <a:solidFill>
                            <a:srgbClr val="1C2333"/>
                          </a:solidFill>
                          <a:latin typeface="Segoe UI"/>
                        </a:rPr>
                        <a:t>an apple</a:t>
                      </a:r>
                    </a:p>
                  </a:txBody>
                  <a:tcPr>
                    <a:solidFill>
                      <a:srgbClr val="FFFFFF"/>
                    </a:solidFill>
                  </a:tcPr>
                </a:tc>
                <a:tc>
                  <a:txBody>
                    <a:bodyPr/>
                    <a:lstStyle/>
                    <a:p>
                      <a:pPr rtl="0" algn="l"/>
                      <a:r>
                        <a:rPr sz="1300" b="0" i="0" lang="en-US">
                          <a:solidFill>
                            <a:srgbClr val="1C2333"/>
                          </a:solidFill>
                          <a:latin typeface="Segoe UI"/>
                        </a:rPr>
                        <a:t>apples</a:t>
                      </a:r>
                    </a:p>
                  </a:txBody>
                  <a:tcPr>
                    <a:solidFill>
                      <a:srgbClr val="FFFFFF"/>
                    </a:solidFill>
                  </a:tcPr>
                </a:tc>
              </a:tr>
              <a:tr h="347472">
                <a:tc>
                  <a:txBody>
                    <a:bodyPr/>
                    <a:lstStyle/>
                    <a:p>
                      <a:pPr rtl="0" algn="l"/>
                      <a:r>
                        <a:rPr sz="1300" b="0" i="0" lang="en-US">
                          <a:solidFill>
                            <a:srgbClr val="1C2333"/>
                          </a:solidFill>
                          <a:latin typeface="Segoe UI"/>
                        </a:rPr>
                        <a:t>a boy</a:t>
                      </a:r>
                    </a:p>
                  </a:txBody>
                  <a:tcPr>
                    <a:solidFill>
                      <a:srgbClr val="EEF3FA"/>
                    </a:solidFill>
                  </a:tcPr>
                </a:tc>
                <a:tc>
                  <a:txBody>
                    <a:bodyPr/>
                    <a:lstStyle/>
                    <a:p>
                      <a:pPr rtl="0" algn="l"/>
                      <a:r>
                        <a:rPr sz="1300" b="0" i="0" lang="en-US">
                          <a:solidFill>
                            <a:srgbClr val="1C2333"/>
                          </a:solidFill>
                          <a:latin typeface="Segoe UI"/>
                        </a:rPr>
                        <a:t>boys</a:t>
                      </a:r>
                    </a:p>
                  </a:txBody>
                  <a:tcPr>
                    <a:solidFill>
                      <a:srgbClr val="EEF3FA"/>
                    </a:solidFill>
                  </a:tcPr>
                </a:tc>
                <a:tc>
                  <a:txBody>
                    <a:bodyPr/>
                    <a:lstStyle/>
                    <a:p>
                      <a:pPr rtl="0" algn="l"/>
                      <a:r>
                        <a:rPr sz="1300" b="0" i="0" lang="en-US">
                          <a:solidFill>
                            <a:srgbClr val="1C2333"/>
                          </a:solidFill>
                          <a:latin typeface="Segoe UI"/>
                        </a:rPr>
                        <a:t>an orange</a:t>
                      </a:r>
                    </a:p>
                  </a:txBody>
                  <a:tcPr>
                    <a:solidFill>
                      <a:srgbClr val="EEF3FA"/>
                    </a:solidFill>
                  </a:tcPr>
                </a:tc>
                <a:tc>
                  <a:txBody>
                    <a:bodyPr/>
                    <a:lstStyle/>
                    <a:p>
                      <a:pPr rtl="0" algn="l"/>
                      <a:r>
                        <a:rPr sz="1300" b="0" i="0" lang="en-US">
                          <a:solidFill>
                            <a:srgbClr val="1C2333"/>
                          </a:solidFill>
                          <a:latin typeface="Segoe UI"/>
                        </a:rPr>
                        <a:t>oranges</a:t>
                      </a:r>
                    </a:p>
                  </a:txBody>
                  <a:tcPr>
                    <a:solidFill>
                      <a:srgbClr val="EEF3FA"/>
                    </a:solidFill>
                  </a:tcPr>
                </a:tc>
              </a:tr>
              <a:tr h="347472">
                <a:tc>
                  <a:txBody>
                    <a:bodyPr/>
                    <a:lstStyle/>
                    <a:p>
                      <a:pPr rtl="0" algn="l"/>
                      <a:r>
                        <a:rPr sz="1300" b="0" i="0" lang="en-US">
                          <a:solidFill>
                            <a:srgbClr val="1C2333"/>
                          </a:solidFill>
                          <a:latin typeface="Segoe UI"/>
                        </a:rPr>
                        <a:t>a bird</a:t>
                      </a:r>
                    </a:p>
                  </a:txBody>
                  <a:tcPr>
                    <a:solidFill>
                      <a:srgbClr val="FFFFFF"/>
                    </a:solidFill>
                  </a:tcPr>
                </a:tc>
                <a:tc>
                  <a:txBody>
                    <a:bodyPr/>
                    <a:lstStyle/>
                    <a:p>
                      <a:pPr rtl="0" algn="l"/>
                      <a:r>
                        <a:rPr sz="1300" b="0" i="0" lang="en-US">
                          <a:solidFill>
                            <a:srgbClr val="1C2333"/>
                          </a:solidFill>
                          <a:latin typeface="Segoe UI"/>
                        </a:rPr>
                        <a:t>birds</a:t>
                      </a:r>
                    </a:p>
                  </a:txBody>
                  <a:tcPr>
                    <a:solidFill>
                      <a:srgbClr val="FFFFFF"/>
                    </a:solidFill>
                  </a:tcPr>
                </a:tc>
                <a:tc>
                  <a:txBody>
                    <a:bodyPr/>
                    <a:lstStyle/>
                    <a:p>
                      <a:pPr rtl="0" algn="l"/>
                      <a:r>
                        <a:rPr sz="1300" b="0" i="0" lang="en-US">
                          <a:solidFill>
                            <a:srgbClr val="1C2333"/>
                          </a:solidFill>
                          <a:latin typeface="Segoe UI"/>
                        </a:rPr>
                        <a:t>a book</a:t>
                      </a:r>
                    </a:p>
                  </a:txBody>
                  <a:tcPr>
                    <a:solidFill>
                      <a:srgbClr val="FFFFFF"/>
                    </a:solidFill>
                  </a:tcPr>
                </a:tc>
                <a:tc>
                  <a:txBody>
                    <a:bodyPr/>
                    <a:lstStyle/>
                    <a:p>
                      <a:pPr rtl="0" algn="l"/>
                      <a:r>
                        <a:rPr sz="1300" b="0" i="0" lang="en-US">
                          <a:solidFill>
                            <a:srgbClr val="1C2333"/>
                          </a:solidFill>
                          <a:latin typeface="Segoe UI"/>
                        </a:rPr>
                        <a:t>books</a:t>
                      </a:r>
                    </a:p>
                  </a:txBody>
                  <a:tcPr>
                    <a:solidFill>
                      <a:srgbClr val="FFFFFF"/>
                    </a:solidFill>
                  </a:tcPr>
                </a:tc>
              </a:tr>
              <a:tr h="347472">
                <a:tc>
                  <a:txBody>
                    <a:bodyPr/>
                    <a:lstStyle/>
                    <a:p>
                      <a:pPr rtl="0" algn="l"/>
                      <a:r>
                        <a:rPr sz="1300" b="0" i="0" lang="en-US">
                          <a:solidFill>
                            <a:srgbClr val="1C2333"/>
                          </a:solidFill>
                          <a:latin typeface="Segoe UI"/>
                        </a:rPr>
                        <a:t>a cat</a:t>
                      </a:r>
                    </a:p>
                  </a:txBody>
                  <a:tcPr>
                    <a:solidFill>
                      <a:srgbClr val="EEF3FA"/>
                    </a:solidFill>
                  </a:tcPr>
                </a:tc>
                <a:tc>
                  <a:txBody>
                    <a:bodyPr/>
                    <a:lstStyle/>
                    <a:p>
                      <a:pPr rtl="0" algn="l"/>
                      <a:r>
                        <a:rPr sz="1300" b="0" i="0" lang="en-US">
                          <a:solidFill>
                            <a:srgbClr val="1C2333"/>
                          </a:solidFill>
                          <a:latin typeface="Segoe UI"/>
                        </a:rPr>
                        <a:t>cats</a:t>
                      </a:r>
                    </a:p>
                  </a:txBody>
                  <a:tcPr>
                    <a:solidFill>
                      <a:srgbClr val="EEF3FA"/>
                    </a:solidFill>
                  </a:tcPr>
                </a:tc>
                <a:tc>
                  <a:txBody>
                    <a:bodyPr/>
                    <a:lstStyle/>
                    <a:p>
                      <a:pPr rtl="0" algn="l"/>
                      <a:r>
                        <a:rPr sz="1300" b="0" i="0" lang="en-US">
                          <a:solidFill>
                            <a:srgbClr val="1C2333"/>
                          </a:solidFill>
                          <a:latin typeface="Segoe UI"/>
                        </a:rPr>
                        <a:t>an ant</a:t>
                      </a:r>
                    </a:p>
                  </a:txBody>
                  <a:tcPr>
                    <a:solidFill>
                      <a:srgbClr val="EEF3FA"/>
                    </a:solidFill>
                  </a:tcPr>
                </a:tc>
                <a:tc>
                  <a:txBody>
                    <a:bodyPr/>
                    <a:lstStyle/>
                    <a:p>
                      <a:pPr rtl="0" algn="l"/>
                      <a:r>
                        <a:rPr sz="1300" b="0" i="0" lang="en-US">
                          <a:solidFill>
                            <a:srgbClr val="1C2333"/>
                          </a:solidFill>
                          <a:latin typeface="Segoe UI"/>
                        </a:rPr>
                        <a:t>ants</a:t>
                      </a:r>
                    </a:p>
                  </a:txBody>
                  <a:tcPr>
                    <a:solidFill>
                      <a:srgbClr val="EEF3FA"/>
                    </a:solidFill>
                  </a:tcPr>
                </a:tc>
              </a:tr>
              <a:tr h="347472">
                <a:tc>
                  <a:txBody>
                    <a:bodyPr/>
                    <a:lstStyle/>
                    <a:p>
                      <a:pPr rtl="0" algn="l"/>
                      <a:r>
                        <a:rPr sz="1300" b="0" i="0" lang="en-US">
                          <a:solidFill>
                            <a:srgbClr val="1C2333"/>
                          </a:solidFill>
                          <a:latin typeface="Segoe UI"/>
                        </a:rPr>
                        <a:t>a bee</a:t>
                      </a:r>
                    </a:p>
                  </a:txBody>
                  <a:tcPr>
                    <a:solidFill>
                      <a:srgbClr val="FFFFFF"/>
                    </a:solidFill>
                  </a:tcPr>
                </a:tc>
                <a:tc>
                  <a:txBody>
                    <a:bodyPr/>
                    <a:lstStyle/>
                    <a:p>
                      <a:pPr rtl="0" algn="l"/>
                      <a:r>
                        <a:rPr sz="1300" b="0" i="0" lang="en-US">
                          <a:solidFill>
                            <a:srgbClr val="1C2333"/>
                          </a:solidFill>
                          <a:latin typeface="Segoe UI"/>
                        </a:rPr>
                        <a:t>bees</a:t>
                      </a:r>
                    </a:p>
                  </a:txBody>
                  <a:tcPr>
                    <a:solidFill>
                      <a:srgbClr val="FFFFFF"/>
                    </a:solidFill>
                  </a:tcPr>
                </a:tc>
                <a:tc>
                  <a:txBody>
                    <a:bodyPr/>
                    <a:lstStyle/>
                    <a:p>
                      <a:pPr rtl="0" algn="l"/>
                      <a:r>
                        <a:rPr sz="1300" b="0" i="0" lang="en-US">
                          <a:solidFill>
                            <a:srgbClr val="1C2333"/>
                          </a:solidFill>
                          <a:latin typeface="Segoe UI"/>
                        </a:rPr>
                        <a:t>a pen</a:t>
                      </a:r>
                    </a:p>
                  </a:txBody>
                  <a:tcPr>
                    <a:solidFill>
                      <a:srgbClr val="FFFFFF"/>
                    </a:solidFill>
                  </a:tcPr>
                </a:tc>
                <a:tc>
                  <a:txBody>
                    <a:bodyPr/>
                    <a:lstStyle/>
                    <a:p>
                      <a:pPr rtl="0" algn="l"/>
                      <a:r>
                        <a:rPr sz="1300" b="0" i="0" lang="en-US">
                          <a:solidFill>
                            <a:srgbClr val="1C2333"/>
                          </a:solidFill>
                          <a:latin typeface="Segoe UI"/>
                        </a:rPr>
                        <a:t>pens</a:t>
                      </a:r>
                    </a:p>
                  </a:txBody>
                  <a:tcPr>
                    <a:solidFill>
                      <a:srgbClr val="FFFFFF"/>
                    </a:solidFill>
                  </a:tcPr>
                </a:tc>
              </a:tr>
              <a:tr h="347472">
                <a:tc>
                  <a:txBody>
                    <a:bodyPr/>
                    <a:lstStyle/>
                    <a:p>
                      <a:pPr rtl="0" algn="l"/>
                      <a:r>
                        <a:rPr sz="1300" b="0" i="0" lang="en-US">
                          <a:solidFill>
                            <a:srgbClr val="1C2333"/>
                          </a:solidFill>
                          <a:latin typeface="Segoe UI"/>
                        </a:rPr>
                        <a:t>a fox</a:t>
                      </a:r>
                    </a:p>
                  </a:txBody>
                  <a:tcPr>
                    <a:solidFill>
                      <a:srgbClr val="EEF3FA"/>
                    </a:solidFill>
                  </a:tcPr>
                </a:tc>
                <a:tc>
                  <a:txBody>
                    <a:bodyPr/>
                    <a:lstStyle/>
                    <a:p>
                      <a:pPr rtl="0" algn="l"/>
                      <a:r>
                        <a:rPr sz="1300" b="0" i="0" lang="en-US">
                          <a:solidFill>
                            <a:srgbClr val="1C2333"/>
                          </a:solidFill>
                          <a:latin typeface="Segoe UI"/>
                        </a:rPr>
                        <a:t>fox es</a:t>
                      </a:r>
                    </a:p>
                  </a:txBody>
                  <a:tcPr>
                    <a:solidFill>
                      <a:srgbClr val="EEF3FA"/>
                    </a:solidFill>
                  </a:tcPr>
                </a:tc>
                <a:tc>
                  <a:txBody>
                    <a:bodyPr/>
                    <a:lstStyle/>
                    <a:p>
                      <a:pPr rtl="0" algn="l"/>
                      <a:r>
                        <a:rPr sz="1300" b="0" i="0" lang="en-US">
                          <a:solidFill>
                            <a:srgbClr val="1C2333"/>
                          </a:solidFill>
                          <a:latin typeface="Segoe UI"/>
                        </a:rPr>
                        <a:t>a tomato</a:t>
                      </a:r>
                    </a:p>
                  </a:txBody>
                  <a:tcPr>
                    <a:solidFill>
                      <a:srgbClr val="EEF3FA"/>
                    </a:solidFill>
                  </a:tcPr>
                </a:tc>
                <a:tc>
                  <a:txBody>
                    <a:bodyPr/>
                    <a:lstStyle/>
                    <a:p>
                      <a:pPr rtl="0" algn="l"/>
                      <a:r>
                        <a:rPr sz="1300" b="0" i="0" lang="en-US">
                          <a:solidFill>
                            <a:srgbClr val="1C2333"/>
                          </a:solidFill>
                          <a:latin typeface="Segoe UI"/>
                        </a:rPr>
                        <a:t>tomato es</a:t>
                      </a:r>
                    </a:p>
                  </a:txBody>
                  <a:tcPr>
                    <a:solidFill>
                      <a:srgbClr val="EEF3FA"/>
                    </a:solidFill>
                  </a:tcPr>
                </a:tc>
              </a:tr>
              <a:tr h="347472">
                <a:tc>
                  <a:txBody>
                    <a:bodyPr/>
                    <a:lstStyle/>
                    <a:p>
                      <a:pPr rtl="0" algn="l"/>
                      <a:r>
                        <a:rPr sz="1300" b="0" i="0" lang="en-US">
                          <a:solidFill>
                            <a:srgbClr val="1C2333"/>
                          </a:solidFill>
                          <a:latin typeface="Segoe UI"/>
                        </a:rPr>
                        <a:t>a dish</a:t>
                      </a:r>
                    </a:p>
                  </a:txBody>
                  <a:tcPr>
                    <a:solidFill>
                      <a:srgbClr val="FFFFFF"/>
                    </a:solidFill>
                  </a:tcPr>
                </a:tc>
                <a:tc>
                  <a:txBody>
                    <a:bodyPr/>
                    <a:lstStyle/>
                    <a:p>
                      <a:pPr rtl="0" algn="l"/>
                      <a:r>
                        <a:rPr sz="1300" b="0" i="0" lang="en-US">
                          <a:solidFill>
                            <a:srgbClr val="1C2333"/>
                          </a:solidFill>
                          <a:latin typeface="Segoe UI"/>
                        </a:rPr>
                        <a:t>dish es</a:t>
                      </a:r>
                    </a:p>
                  </a:txBody>
                  <a:tcPr>
                    <a:solidFill>
                      <a:srgbClr val="FFFFFF"/>
                    </a:solidFill>
                  </a:tcPr>
                </a:tc>
                <a:tc>
                  <a:txBody>
                    <a:bodyPr/>
                    <a:lstStyle/>
                    <a:p>
                      <a:pPr rtl="0" algn="l"/>
                      <a:r>
                        <a:rPr sz="1300" b="0" i="0" lang="en-US">
                          <a:solidFill>
                            <a:srgbClr val="1C2333"/>
                          </a:solidFill>
                          <a:latin typeface="Segoe UI"/>
                        </a:rPr>
                        <a:t>a box</a:t>
                      </a:r>
                    </a:p>
                  </a:txBody>
                  <a:tcPr>
                    <a:solidFill>
                      <a:srgbClr val="FFFFFF"/>
                    </a:solidFill>
                  </a:tcPr>
                </a:tc>
                <a:tc>
                  <a:txBody>
                    <a:bodyPr/>
                    <a:lstStyle/>
                    <a:p>
                      <a:pPr rtl="0" algn="l"/>
                      <a:r>
                        <a:rPr sz="1300" b="0" i="0" lang="en-US">
                          <a:solidFill>
                            <a:srgbClr val="1C2333"/>
                          </a:solidFill>
                          <a:latin typeface="Segoe UI"/>
                        </a:rPr>
                        <a:t>box es</a:t>
                      </a:r>
                    </a:p>
                  </a:txBody>
                  <a:tcPr>
                    <a:solidFill>
                      <a:srgbClr val="FFFFFF"/>
                    </a:solidFill>
                  </a:tcPr>
                </a:tc>
              </a:tr>
              <a:tr h="347472">
                <a:tc>
                  <a:txBody>
                    <a:bodyPr/>
                    <a:lstStyle/>
                    <a:p>
                      <a:pPr rtl="0" algn="l"/>
                      <a:r>
                        <a:rPr sz="1300" b="0" i="0" lang="en-US">
                          <a:solidFill>
                            <a:srgbClr val="1C2333"/>
                          </a:solidFill>
                          <a:latin typeface="Segoe UI"/>
                        </a:rPr>
                        <a:t>a watch</a:t>
                      </a:r>
                    </a:p>
                  </a:txBody>
                  <a:tcPr>
                    <a:solidFill>
                      <a:srgbClr val="EEF3FA"/>
                    </a:solidFill>
                  </a:tcPr>
                </a:tc>
                <a:tc>
                  <a:txBody>
                    <a:bodyPr/>
                    <a:lstStyle/>
                    <a:p>
                      <a:pPr rtl="0" algn="l"/>
                      <a:r>
                        <a:rPr sz="1300" b="0" i="0" lang="en-US">
                          <a:solidFill>
                            <a:srgbClr val="1C2333"/>
                          </a:solidFill>
                          <a:latin typeface="Segoe UI"/>
                        </a:rPr>
                        <a:t>watch es</a:t>
                      </a:r>
                    </a:p>
                  </a:txBody>
                  <a:tcPr>
                    <a:solidFill>
                      <a:srgbClr val="EEF3FA"/>
                    </a:solidFill>
                  </a:tcPr>
                </a:tc>
                <a:tc>
                  <a:txBody>
                    <a:bodyPr/>
                    <a:lstStyle/>
                    <a:p>
                      <a:pPr rtl="0" algn="l"/>
                      <a:r>
                        <a:rPr sz="1300" b="0" i="0" lang="en-US">
                          <a:solidFill>
                            <a:srgbClr val="1C2333"/>
                          </a:solidFill>
                          <a:latin typeface="Segoe UI"/>
                        </a:rPr>
                        <a:t>a bus</a:t>
                      </a:r>
                    </a:p>
                  </a:txBody>
                  <a:tcPr>
                    <a:solidFill>
                      <a:srgbClr val="EEF3FA"/>
                    </a:solidFill>
                  </a:tcPr>
                </a:tc>
                <a:tc>
                  <a:txBody>
                    <a:bodyPr/>
                    <a:lstStyle/>
                    <a:p>
                      <a:pPr rtl="0" algn="l"/>
                      <a:r>
                        <a:rPr sz="1300" b="0" i="0" lang="en-US">
                          <a:solidFill>
                            <a:srgbClr val="1C2333"/>
                          </a:solidFill>
                          <a:latin typeface="Segoe UI"/>
                        </a:rPr>
                        <a:t>bus es</a:t>
                      </a:r>
                    </a:p>
                  </a:txBody>
                  <a:tcPr>
                    <a:solidFill>
                      <a:srgbClr val="EEF3FA"/>
                    </a:solidFill>
                  </a:tcPr>
                </a:tc>
              </a:tr>
              <a:tr h="347472">
                <a:tc>
                  <a:txBody>
                    <a:bodyPr/>
                    <a:lstStyle/>
                    <a:p>
                      <a:pPr rtl="0" algn="l"/>
                      <a:r>
                        <a:rPr sz="1300" b="0" i="0" lang="en-US">
                          <a:solidFill>
                            <a:srgbClr val="1C2333"/>
                          </a:solidFill>
                          <a:latin typeface="Segoe UI"/>
                        </a:rPr>
                        <a:t>a baby</a:t>
                      </a:r>
                    </a:p>
                  </a:txBody>
                  <a:tcPr>
                    <a:solidFill>
                      <a:srgbClr val="FFFFFF"/>
                    </a:solidFill>
                  </a:tcPr>
                </a:tc>
                <a:tc>
                  <a:txBody>
                    <a:bodyPr/>
                    <a:lstStyle/>
                    <a:p>
                      <a:pPr rtl="0" algn="l"/>
                      <a:r>
                        <a:rPr sz="1300" b="0" i="0" lang="en-US">
                          <a:solidFill>
                            <a:srgbClr val="1C2333"/>
                          </a:solidFill>
                          <a:latin typeface="Segoe UI"/>
                        </a:rPr>
                        <a:t>bab ies</a:t>
                      </a:r>
                    </a:p>
                  </a:txBody>
                  <a:tcPr>
                    <a:solidFill>
                      <a:srgbClr val="FFFFFF"/>
                    </a:solidFill>
                  </a:tcPr>
                </a:tc>
                <a:tc>
                  <a:txBody>
                    <a:bodyPr/>
                    <a:lstStyle/>
                    <a:p>
                      <a:pPr rtl="0" algn="l"/>
                      <a:r>
                        <a:rPr sz="1300" b="0" i="0" lang="en-US">
                          <a:solidFill>
                            <a:srgbClr val="1C2333"/>
                          </a:solidFill>
                          <a:latin typeface="Segoe UI"/>
                        </a:rPr>
                        <a:t>a city</a:t>
                      </a:r>
                    </a:p>
                  </a:txBody>
                  <a:tcPr>
                    <a:solidFill>
                      <a:srgbClr val="FFFFFF"/>
                    </a:solidFill>
                  </a:tcPr>
                </a:tc>
                <a:tc>
                  <a:txBody>
                    <a:bodyPr/>
                    <a:lstStyle/>
                    <a:p>
                      <a:pPr rtl="0" algn="l"/>
                      <a:r>
                        <a:rPr sz="1300" b="0" i="0" lang="en-US">
                          <a:solidFill>
                            <a:srgbClr val="1C2333"/>
                          </a:solidFill>
                          <a:latin typeface="Segoe UI"/>
                        </a:rPr>
                        <a:t>cit ies</a:t>
                      </a:r>
                    </a:p>
                  </a:txBody>
                  <a:tcPr>
                    <a:solidFill>
                      <a:srgbClr val="FFFFFF"/>
                    </a:solidFill>
                  </a:tcPr>
                </a:tc>
              </a:tr>
              <a:tr h="347472">
                <a:tc>
                  <a:txBody>
                    <a:bodyPr/>
                    <a:lstStyle/>
                    <a:p>
                      <a:pPr rtl="0" algn="l"/>
                      <a:r>
                        <a:rPr sz="1300" b="0" i="0" lang="en-US">
                          <a:solidFill>
                            <a:srgbClr val="1C2333"/>
                          </a:solidFill>
                          <a:latin typeface="Segoe UI"/>
                        </a:rPr>
                        <a:t>a lorry</a:t>
                      </a:r>
                    </a:p>
                  </a:txBody>
                  <a:tcPr>
                    <a:solidFill>
                      <a:srgbClr val="EEF3FA"/>
                    </a:solidFill>
                  </a:tcPr>
                </a:tc>
                <a:tc>
                  <a:txBody>
                    <a:bodyPr/>
                    <a:lstStyle/>
                    <a:p>
                      <a:pPr rtl="0" algn="l"/>
                      <a:r>
                        <a:rPr sz="1300" b="0" i="0" lang="en-US">
                          <a:solidFill>
                            <a:srgbClr val="1C2333"/>
                          </a:solidFill>
                          <a:latin typeface="Segoe UI"/>
                        </a:rPr>
                        <a:t>lorr ies</a:t>
                      </a:r>
                    </a:p>
                  </a:txBody>
                  <a:tcPr>
                    <a:solidFill>
                      <a:srgbClr val="EEF3FA"/>
                    </a:solidFill>
                  </a:tcPr>
                </a:tc>
                <a:tc>
                  <a:txBody>
                    <a:bodyPr/>
                    <a:lstStyle/>
                    <a:p>
                      <a:pPr rtl="0" algn="l"/>
                      <a:r>
                        <a:rPr sz="1300" b="0" i="0" lang="en-US">
                          <a:solidFill>
                            <a:srgbClr val="1C2333"/>
                          </a:solidFill>
                          <a:latin typeface="Segoe UI"/>
                        </a:rPr>
                        <a:t>a family</a:t>
                      </a:r>
                    </a:p>
                  </a:txBody>
                  <a:tcPr>
                    <a:solidFill>
                      <a:srgbClr val="EEF3FA"/>
                    </a:solidFill>
                  </a:tcPr>
                </a:tc>
                <a:tc>
                  <a:txBody>
                    <a:bodyPr/>
                    <a:lstStyle/>
                    <a:p>
                      <a:pPr rtl="0" algn="l"/>
                      <a:r>
                        <a:rPr sz="1300" b="0" i="0" lang="en-US">
                          <a:solidFill>
                            <a:srgbClr val="1C2333"/>
                          </a:solidFill>
                          <a:latin typeface="Segoe UI"/>
                        </a:rPr>
                        <a:t>famil ies</a:t>
                      </a:r>
                    </a:p>
                  </a:txBody>
                  <a:tcPr>
                    <a:solidFill>
                      <a:srgbClr val="EEF3FA"/>
                    </a:solidFill>
                  </a:tcPr>
                </a:tc>
              </a:tr>
              <a:tr h="347472">
                <a:tc>
                  <a:txBody>
                    <a:bodyPr/>
                    <a:lstStyle/>
                    <a:p>
                      <a:pPr rtl="0" algn="l"/>
                      <a:r>
                        <a:rPr sz="1300" b="0" i="0" lang="en-US">
                          <a:solidFill>
                            <a:srgbClr val="1C2333"/>
                          </a:solidFill>
                          <a:latin typeface="Segoe UI"/>
                        </a:rPr>
                        <a:t>a wife</a:t>
                      </a:r>
                    </a:p>
                  </a:txBody>
                  <a:tcPr>
                    <a:solidFill>
                      <a:srgbClr val="FFFFFF"/>
                    </a:solidFill>
                  </a:tcPr>
                </a:tc>
                <a:tc>
                  <a:txBody>
                    <a:bodyPr/>
                    <a:lstStyle/>
                    <a:p>
                      <a:pPr rtl="0" algn="l"/>
                      <a:r>
                        <a:rPr sz="1300" b="0" i="0" lang="en-US">
                          <a:solidFill>
                            <a:srgbClr val="1C2333"/>
                          </a:solidFill>
                          <a:latin typeface="Segoe UI"/>
                        </a:rPr>
                        <a:t>wi ves</a:t>
                      </a:r>
                    </a:p>
                  </a:txBody>
                  <a:tcPr>
                    <a:solidFill>
                      <a:srgbClr val="FFFFFF"/>
                    </a:solidFill>
                  </a:tcPr>
                </a:tc>
                <a:tc>
                  <a:txBody>
                    <a:bodyPr/>
                    <a:lstStyle/>
                    <a:p>
                      <a:pPr rtl="0" algn="l"/>
                      <a:r>
                        <a:rPr sz="1300" b="0" i="0" lang="en-US">
                          <a:solidFill>
                            <a:srgbClr val="1C2333"/>
                          </a:solidFill>
                          <a:latin typeface="Segoe UI"/>
                        </a:rPr>
                        <a:t>a knife</a:t>
                      </a:r>
                    </a:p>
                  </a:txBody>
                  <a:tcPr>
                    <a:solidFill>
                      <a:srgbClr val="FFFFFF"/>
                    </a:solidFill>
                  </a:tcPr>
                </a:tc>
                <a:tc>
                  <a:txBody>
                    <a:bodyPr/>
                    <a:lstStyle/>
                    <a:p>
                      <a:pPr rtl="0" algn="l"/>
                      <a:r>
                        <a:rPr sz="1300" b="0" i="0" lang="en-US">
                          <a:solidFill>
                            <a:srgbClr val="1C2333"/>
                          </a:solidFill>
                          <a:latin typeface="Segoe UI"/>
                        </a:rPr>
                        <a:t>kni ves</a:t>
                      </a:r>
                    </a:p>
                  </a:txBody>
                  <a:tcPr>
                    <a:solidFill>
                      <a:srgbClr val="FFFFFF"/>
                    </a:solidFill>
                  </a:tcPr>
                </a:tc>
              </a:tr>
              <a:tr h="347472">
                <a:tc>
                  <a:txBody>
                    <a:bodyPr/>
                    <a:lstStyle/>
                    <a:p>
                      <a:pPr rtl="0" algn="l"/>
                      <a:r>
                        <a:rPr sz="1300" b="0" i="0" lang="en-US">
                          <a:solidFill>
                            <a:srgbClr val="1C2333"/>
                          </a:solidFill>
                          <a:latin typeface="Segoe UI"/>
                        </a:rPr>
                        <a:t>a self</a:t>
                      </a:r>
                    </a:p>
                  </a:txBody>
                  <a:tcPr>
                    <a:solidFill>
                      <a:srgbClr val="EEF3FA"/>
                    </a:solidFill>
                  </a:tcPr>
                </a:tc>
                <a:tc>
                  <a:txBody>
                    <a:bodyPr/>
                    <a:lstStyle/>
                    <a:p>
                      <a:pPr rtl="0" algn="l"/>
                      <a:r>
                        <a:rPr sz="1300" b="0" i="0" lang="en-US">
                          <a:solidFill>
                            <a:srgbClr val="1C2333"/>
                          </a:solidFill>
                          <a:latin typeface="Segoe UI"/>
                        </a:rPr>
                        <a:t>sel ves</a:t>
                      </a:r>
                    </a:p>
                  </a:txBody>
                  <a:tcPr>
                    <a:solidFill>
                      <a:srgbClr val="EEF3FA"/>
                    </a:solidFill>
                  </a:tcPr>
                </a:tc>
                <a:tc>
                  <a:txBody>
                    <a:bodyPr/>
                    <a:lstStyle/>
                    <a:p>
                      <a:pPr rtl="0" algn="l"/>
                      <a:r>
                        <a:rPr sz="1300" b="0" i="0" lang="en-US">
                          <a:solidFill>
                            <a:srgbClr val="1C2333"/>
                          </a:solidFill>
                          <a:latin typeface="Segoe UI"/>
                        </a:rPr>
                        <a:t>a leaf</a:t>
                      </a:r>
                    </a:p>
                  </a:txBody>
                  <a:tcPr>
                    <a:solidFill>
                      <a:srgbClr val="EEF3FA"/>
                    </a:solidFill>
                  </a:tcPr>
                </a:tc>
                <a:tc>
                  <a:txBody>
                    <a:bodyPr/>
                    <a:lstStyle/>
                    <a:p>
                      <a:pPr rtl="0" algn="l"/>
                      <a:r>
                        <a:rPr sz="1300" b="0" i="0" lang="en-US">
                          <a:solidFill>
                            <a:srgbClr val="1C2333"/>
                          </a:solidFill>
                          <a:latin typeface="Segoe UI"/>
                        </a:rPr>
                        <a:t>lea ves</a:t>
                      </a:r>
                    </a:p>
                  </a:txBody>
                  <a:tcPr>
                    <a:solidFill>
                      <a:srgbClr val="EEF3FA"/>
                    </a:solidFill>
                  </a:tcPr>
                </a:tc>
              </a:tr>
            </a:tbl>
          </a:graphicData>
        </a:graphic>
      </p:graphicFrame>
    </p:spTree>
  </p:cSld>
  <p:clrMapOvr>
    <a:masterClrMapping/>
  </p:clrMapOvr>
  <p:transition spd="med">
    <p:comb dir="horz"/>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Table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389888"/>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r>
              <a:tr h="347472">
                <a:tc>
                  <a:txBody>
                    <a:bodyPr/>
                    <a:lstStyle/>
                    <a:p>
                      <a:pPr rtl="0" algn="l"/>
                      <a:r>
                        <a:rPr sz="1300" b="0" i="0" lang="en-US">
                          <a:solidFill>
                            <a:srgbClr val="1C2333"/>
                          </a:solidFill>
                          <a:latin typeface="Segoe UI"/>
                        </a:rPr>
                        <a:t>an ox</a:t>
                      </a:r>
                    </a:p>
                  </a:txBody>
                  <a:tcPr>
                    <a:solidFill>
                      <a:srgbClr val="FFFFFF"/>
                    </a:solidFill>
                  </a:tcPr>
                </a:tc>
                <a:tc>
                  <a:txBody>
                    <a:bodyPr/>
                    <a:lstStyle/>
                    <a:p>
                      <a:pPr rtl="0" algn="l"/>
                      <a:r>
                        <a:rPr sz="1300" b="0" i="0" lang="en-US">
                          <a:solidFill>
                            <a:srgbClr val="1C2333"/>
                          </a:solidFill>
                          <a:latin typeface="Segoe UI"/>
                        </a:rPr>
                        <a:t>oxen</a:t>
                      </a:r>
                    </a:p>
                  </a:txBody>
                  <a:tcPr>
                    <a:solidFill>
                      <a:srgbClr val="FFFFFF"/>
                    </a:solidFill>
                  </a:tcPr>
                </a:tc>
                <a:tc>
                  <a:txBody>
                    <a:bodyPr/>
                    <a:lstStyle/>
                    <a:p>
                      <a:pPr rtl="0" algn="l"/>
                      <a:r>
                        <a:rPr sz="1300" b="0" i="0" lang="en-US">
                          <a:solidFill>
                            <a:srgbClr val="1C2333"/>
                          </a:solidFill>
                          <a:latin typeface="Segoe UI"/>
                        </a:rPr>
                        <a:t>a child</a:t>
                      </a:r>
                    </a:p>
                  </a:txBody>
                  <a:tcPr>
                    <a:solidFill>
                      <a:srgbClr val="FFFFFF"/>
                    </a:solidFill>
                  </a:tcPr>
                </a:tc>
                <a:tc>
                  <a:txBody>
                    <a:bodyPr/>
                    <a:lstStyle/>
                    <a:p>
                      <a:pPr rtl="0" algn="l"/>
                      <a:r>
                        <a:rPr sz="1300" b="0" i="0" lang="en-US">
                          <a:solidFill>
                            <a:srgbClr val="1C2333"/>
                          </a:solidFill>
                          <a:latin typeface="Segoe UI"/>
                        </a:rPr>
                        <a:t>children</a:t>
                      </a:r>
                    </a:p>
                  </a:txBody>
                  <a:tcPr>
                    <a:solidFill>
                      <a:srgbClr val="FFFFFF"/>
                    </a:solidFill>
                  </a:tcPr>
                </a:tc>
              </a:tr>
              <a:tr h="347472">
                <a:tc>
                  <a:txBody>
                    <a:bodyPr/>
                    <a:lstStyle/>
                    <a:p>
                      <a:pPr rtl="0" algn="l"/>
                      <a:r>
                        <a:rPr sz="1300" b="0" i="0" lang="en-US">
                          <a:solidFill>
                            <a:srgbClr val="1C2333"/>
                          </a:solidFill>
                          <a:latin typeface="Segoe UI"/>
                        </a:rPr>
                        <a:t>a man</a:t>
                      </a:r>
                    </a:p>
                  </a:txBody>
                  <a:tcPr>
                    <a:solidFill>
                      <a:srgbClr val="EEF3FA"/>
                    </a:solidFill>
                  </a:tcPr>
                </a:tc>
                <a:tc>
                  <a:txBody>
                    <a:bodyPr/>
                    <a:lstStyle/>
                    <a:p>
                      <a:pPr rtl="0" algn="l"/>
                      <a:r>
                        <a:rPr sz="1300" b="0" i="0" lang="en-US">
                          <a:solidFill>
                            <a:srgbClr val="1C2333"/>
                          </a:solidFill>
                          <a:latin typeface="Segoe UI"/>
                        </a:rPr>
                        <a:t>men</a:t>
                      </a:r>
                    </a:p>
                  </a:txBody>
                  <a:tcPr>
                    <a:solidFill>
                      <a:srgbClr val="EEF3FA"/>
                    </a:solidFill>
                  </a:tcPr>
                </a:tc>
                <a:tc>
                  <a:txBody>
                    <a:bodyPr/>
                    <a:lstStyle/>
                    <a:p>
                      <a:pPr rtl="0" algn="l"/>
                      <a:r>
                        <a:rPr sz="1300" b="0" i="0" lang="en-US">
                          <a:solidFill>
                            <a:srgbClr val="1C2333"/>
                          </a:solidFill>
                          <a:latin typeface="Segoe UI"/>
                        </a:rPr>
                        <a:t>a woman</a:t>
                      </a:r>
                    </a:p>
                  </a:txBody>
                  <a:tcPr>
                    <a:solidFill>
                      <a:srgbClr val="EEF3FA"/>
                    </a:solidFill>
                  </a:tcPr>
                </a:tc>
                <a:tc>
                  <a:txBody>
                    <a:bodyPr/>
                    <a:lstStyle/>
                    <a:p>
                      <a:pPr rtl="0" algn="l"/>
                      <a:r>
                        <a:rPr sz="1300" b="0" i="0" lang="en-US">
                          <a:solidFill>
                            <a:srgbClr val="1C2333"/>
                          </a:solidFill>
                          <a:latin typeface="Segoe UI"/>
                        </a:rPr>
                        <a:t>women</a:t>
                      </a:r>
                    </a:p>
                  </a:txBody>
                  <a:tcPr>
                    <a:solidFill>
                      <a:srgbClr val="EEF3FA"/>
                    </a:solidFill>
                  </a:tcPr>
                </a:tc>
              </a:tr>
              <a:tr h="347472">
                <a:tc>
                  <a:txBody>
                    <a:bodyPr/>
                    <a:lstStyle/>
                    <a:p>
                      <a:pPr rtl="0" algn="l"/>
                      <a:r>
                        <a:rPr sz="1300" b="0" i="0" lang="en-US">
                          <a:solidFill>
                            <a:srgbClr val="1C2333"/>
                          </a:solidFill>
                          <a:latin typeface="Segoe UI"/>
                        </a:rPr>
                        <a:t>a foot</a:t>
                      </a:r>
                    </a:p>
                  </a:txBody>
                  <a:tcPr>
                    <a:solidFill>
                      <a:srgbClr val="FFFFFF"/>
                    </a:solidFill>
                  </a:tcPr>
                </a:tc>
                <a:tc>
                  <a:txBody>
                    <a:bodyPr/>
                    <a:lstStyle/>
                    <a:p>
                      <a:pPr rtl="0" algn="l"/>
                      <a:r>
                        <a:rPr sz="1300" b="0" i="0" lang="en-US">
                          <a:solidFill>
                            <a:srgbClr val="1C2333"/>
                          </a:solidFill>
                          <a:latin typeface="Segoe UI"/>
                        </a:rPr>
                        <a:t>feet</a:t>
                      </a:r>
                    </a:p>
                  </a:txBody>
                  <a:tcPr>
                    <a:solidFill>
                      <a:srgbClr val="FFFFFF"/>
                    </a:solidFill>
                  </a:tcPr>
                </a:tc>
                <a:tc>
                  <a:txBody>
                    <a:bodyPr/>
                    <a:lstStyle/>
                    <a:p>
                      <a:pPr rtl="0" algn="l"/>
                      <a:r>
                        <a:rPr sz="1300" b="0" i="0" lang="en-US">
                          <a:solidFill>
                            <a:srgbClr val="1C2333"/>
                          </a:solidFill>
                          <a:latin typeface="Segoe UI"/>
                        </a:rPr>
                        <a:t>a tooth</a:t>
                      </a:r>
                    </a:p>
                  </a:txBody>
                  <a:tcPr>
                    <a:solidFill>
                      <a:srgbClr val="FFFFFF"/>
                    </a:solidFill>
                  </a:tcPr>
                </a:tc>
                <a:tc>
                  <a:txBody>
                    <a:bodyPr/>
                    <a:lstStyle/>
                    <a:p>
                      <a:pPr rtl="0" algn="l"/>
                      <a:r>
                        <a:rPr sz="1300" b="0" i="0" lang="en-US">
                          <a:solidFill>
                            <a:srgbClr val="1C2333"/>
                          </a:solidFill>
                          <a:latin typeface="Segoe UI"/>
                        </a:rPr>
                        <a:t>teeth</a:t>
                      </a:r>
                    </a:p>
                  </a:txBody>
                  <a:tcPr>
                    <a:solidFill>
                      <a:srgbClr val="FFFFFF"/>
                    </a:solidFill>
                  </a:tcPr>
                </a:tc>
              </a:tr>
            </a:tbl>
          </a:graphicData>
        </a:graphic>
      </p:graphicFrame>
    </p:spTree>
  </p:cSld>
  <p:clrMapOvr>
    <a:masterClrMapping/>
  </p:clrMapOvr>
  <p:transition spd="med">
    <p:newsflash/>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Give the plural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door →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doors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wall →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walls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tree →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trees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toy → ……</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toys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dog →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dogs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bird →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birds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plant → ……</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plants</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Give the plural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car →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cars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lion → ……</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lions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flower →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flowers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animal →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animals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pencil →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pencils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She is a …… (nurse – nurses).   (nurse – nurses)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nurse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am a …… (man – men).   (man – men)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 are …… (doctor – doctors).   (doctor – doctors)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doctors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You are a …… (boys – boy).   (boys – boy)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boy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is a …… (girl – girls).   (girl – girls)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girl</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It is an …… (elephant – elephants).   (elephant – elephants)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elephant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He is a …… (child – children).   (child – children)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child</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They are …… (ants – ant).   (ants – ant)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ants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He is a …… (doctor – doctors).   (doctor – doctors)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doctor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They are …… (dogs – dog).   (dogs – dog)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dogs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 am an …… (engineer – engineers).   (engineer – engineers)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engineer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It is an …… (apples – apple).   (apples – apple)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apple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We are …… (vets – vet).   (vets – vet)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vets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I am a …… (dentist – dentists).   (dentist – dentists)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dentist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It is an …… (eggs – egg).   (eggs – egg)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egg</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3</a:t>
            </a:r>
          </a:p>
          <a:p>
            <a:pPr algn="ctr" rtl="0"/>
            <a:r>
              <a:rPr sz="4600" b="1" i="0" lang="en-US">
                <a:solidFill>
                  <a:srgbClr val="FFFFFF"/>
                </a:solidFill>
                <a:latin typeface="Segoe UI"/>
              </a:rPr>
              <a:t>Punctuation Marks</a:t>
            </a:r>
          </a:p>
          <a:p>
            <a:pPr algn="ctr" rtl="1"/>
            <a:r>
              <a:rPr sz="2900" b="0" i="0" lang="ar-EG" altLang="en-US">
                <a:solidFill>
                  <a:srgbClr val="FFFFFF"/>
                </a:solidFill>
                <a:latin typeface="Traditional Arabic"/>
              </a:rPr>
              <a:t>علامات الترقيم</a:t>
            </a:r>
          </a:p>
        </p:txBody>
      </p:sp>
    </p:spTree>
  </p:cSld>
  <p:clrMapOvr>
    <a:masterClrMapping/>
  </p:clrMapOvr>
  <p:transition spd="med">
    <p:zoom dir="in"/>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Capital letters — الحروف الكبيرة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 H e is a boy. ← تأتي في بداية الجملة.</a:t>
            </a:r>
          </a:p>
          <a:p>
            <a:pPr rtl="1" algn="r">
              <a:spcAft>
                <a:spcPts val="600"/>
              </a:spcAft>
            </a:pPr>
            <a:r>
              <a:rPr sz="2100" b="0" i="0" lang="ar-EG" altLang="en-US">
                <a:solidFill>
                  <a:srgbClr val="1C2333"/>
                </a:solidFill>
                <a:latin typeface="Traditional Arabic"/>
              </a:rPr>
              <a:t>• A re you ok? ← تأتي في بداية السؤال.</a:t>
            </a:r>
          </a:p>
          <a:p>
            <a:pPr rtl="1" algn="r">
              <a:spcAft>
                <a:spcPts val="600"/>
              </a:spcAft>
            </a:pPr>
            <a:r>
              <a:rPr sz="2100" b="0" i="0" lang="ar-EG" altLang="en-US">
                <a:solidFill>
                  <a:srgbClr val="1C2333"/>
                </a:solidFill>
                <a:latin typeface="Traditional Arabic"/>
              </a:rPr>
              <a:t>• Mona and I are happy. ← كلمة (I) في أي مكان في الجملة أو السؤال.</a:t>
            </a:r>
          </a:p>
          <a:p>
            <a:pPr rtl="0" algn="l">
              <a:spcAft>
                <a:spcPts val="600"/>
              </a:spcAft>
            </a:pPr>
            <a:r>
              <a:rPr sz="1800" b="0" i="0" lang="en-US">
                <a:solidFill>
                  <a:srgbClr val="1C2333"/>
                </a:solidFill>
                <a:latin typeface="Segoe UI"/>
              </a:rPr>
              <a:t>• Today is F riday. ← أيام الأسبوع.</a:t>
            </a:r>
          </a:p>
          <a:p>
            <a:pPr rtl="0" algn="l">
              <a:spcAft>
                <a:spcPts val="600"/>
              </a:spcAft>
            </a:pPr>
            <a:r>
              <a:rPr sz="1800" b="0" i="0" lang="en-US">
                <a:solidFill>
                  <a:srgbClr val="1C2333"/>
                </a:solidFill>
                <a:latin typeface="Segoe UI"/>
              </a:rPr>
              <a:t>• I was born in M ay. ← الشهور.</a:t>
            </a:r>
          </a:p>
          <a:p>
            <a:pPr rtl="0" algn="l">
              <a:spcAft>
                <a:spcPts val="600"/>
              </a:spcAft>
            </a:pPr>
            <a:r>
              <a:rPr sz="1800" b="0" i="0" lang="en-US">
                <a:solidFill>
                  <a:srgbClr val="1C2333"/>
                </a:solidFill>
                <a:latin typeface="Segoe UI"/>
              </a:rPr>
              <a:t>• A hmed and A li are tall. ← أسماء الناس.</a:t>
            </a:r>
          </a:p>
          <a:p>
            <a:pPr rtl="0" algn="l">
              <a:spcAft>
                <a:spcPts val="600"/>
              </a:spcAft>
            </a:pPr>
            <a:r>
              <a:rPr sz="1800" b="0" i="0" lang="en-US">
                <a:solidFill>
                  <a:srgbClr val="1C2333"/>
                </a:solidFill>
                <a:latin typeface="Segoe UI"/>
              </a:rPr>
              <a:t>• I live in E gypt. ← البلاد.</a:t>
            </a:r>
          </a:p>
          <a:p>
            <a:pPr rtl="0" algn="l">
              <a:spcAft>
                <a:spcPts val="600"/>
              </a:spcAft>
            </a:pPr>
            <a:r>
              <a:rPr sz="1800" b="0" i="0" lang="en-US">
                <a:solidFill>
                  <a:srgbClr val="1C2333"/>
                </a:solidFill>
                <a:latin typeface="Segoe UI"/>
              </a:rPr>
              <a:t>• I like E nglish. ← اللغات.</a:t>
            </a:r>
          </a:p>
          <a:p>
            <a:pPr rtl="0" algn="l">
              <a:spcAft>
                <a:spcPts val="600"/>
              </a:spcAft>
            </a:pPr>
            <a:r>
              <a:rPr sz="1800" b="0" i="0" lang="en-US">
                <a:solidFill>
                  <a:srgbClr val="1C2333"/>
                </a:solidFill>
                <a:latin typeface="Segoe UI"/>
              </a:rPr>
              <a:t>• I am E gyptian. ← الجنسيات.</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Capital letters — الحروف الكبيرة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800" b="0" i="0" lang="en-US">
                <a:solidFill>
                  <a:srgbClr val="1C2333"/>
                </a:solidFill>
                <a:latin typeface="Segoe UI"/>
              </a:rPr>
              <a:t>• I visited the C airo T ower. ← الأماكن المشهورة.</a:t>
            </a:r>
          </a:p>
        </p:txBody>
      </p:sp>
    </p:spTree>
  </p:cSld>
  <p:clrMapOvr>
    <a:masterClrMapping/>
  </p:clrMapOvr>
  <p:transition spd="med">
    <p:push dir="l"/>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Period ( . ) — النقطة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I like English. / It is a lion. / We are friends.</a:t>
            </a:r>
          </a:p>
          <a:p>
            <a:pPr rtl="1" algn="r">
              <a:spcAft>
                <a:spcPts val="600"/>
              </a:spcAft>
            </a:pPr>
            <a:r>
              <a:rPr sz="2100" b="0" i="0" lang="ar-EG" altLang="en-US">
                <a:solidFill>
                  <a:srgbClr val="1C2333"/>
                </a:solidFill>
                <a:latin typeface="Traditional Arabic"/>
              </a:rPr>
              <a:t>تأتي في نهاية الجملة الخبرية.</a:t>
            </a:r>
          </a:p>
        </p:txBody>
      </p:sp>
    </p:spTree>
  </p:cSld>
  <p:clrMapOvr>
    <a:masterClrMapping/>
  </p:clrMapOvr>
  <p:transition spd="med">
    <p:wipe dir="r"/>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1" algn="r"/>
            <a:r>
              <a:rPr sz="1700" b="0" i="0" lang="ar-EG" altLang="en-US">
                <a:solidFill>
                  <a:srgbClr val="DDE6F3"/>
                </a:solidFill>
                <a:latin typeface="Traditional Arabic"/>
              </a:rPr>
              <a:t>Question mark ( ? ) — علامة الاستفهام</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Do you have a car? / Where is he from? / How old are you?</a:t>
            </a:r>
          </a:p>
          <a:p>
            <a:pPr rtl="1" algn="r">
              <a:spcAft>
                <a:spcPts val="600"/>
              </a:spcAft>
            </a:pPr>
            <a:r>
              <a:rPr sz="2100" b="0" i="0" lang="ar-EG" altLang="en-US">
                <a:solidFill>
                  <a:srgbClr val="1C2333"/>
                </a:solidFill>
                <a:latin typeface="Traditional Arabic"/>
              </a:rPr>
              <a:t>تأتي في نهاية السؤال.</a:t>
            </a:r>
          </a:p>
          <a:p>
            <a:pPr rtl="0" algn="l">
              <a:spcAft>
                <a:spcPts val="600"/>
              </a:spcAft>
            </a:pPr>
            <a:r>
              <a:rPr sz="1800" b="0" i="0" lang="en-US">
                <a:solidFill>
                  <a:srgbClr val="1C2333"/>
                </a:solidFill>
                <a:latin typeface="Segoe UI"/>
              </a:rPr>
              <a:t>   Am – Is – Are – Was – Were – Do – Does – Did – Has – Have – Had – Can – Will – Should – Must – Who – Where – When – What – How</a:t>
            </a:r>
          </a:p>
          <a:p>
            <a:pPr rtl="1" algn="r">
              <a:spcAft>
                <a:spcPts val="600"/>
              </a:spcAft>
            </a:pPr>
            <a:r>
              <a:rPr sz="2100" b="0" i="0" lang="ar-EG" altLang="en-US">
                <a:solidFill>
                  <a:srgbClr val="1C2333"/>
                </a:solidFill>
                <a:latin typeface="Traditional Arabic"/>
              </a:rPr>
              <a:t>الكلمات التي يبدأ بها السؤال.</a:t>
            </a:r>
          </a:p>
        </p:txBody>
      </p:sp>
    </p:spTree>
  </p:cSld>
  <p:clrMapOvr>
    <a:masterClrMapping/>
  </p:clrMapOvr>
  <p:transition spd="med">
    <p:split orient="vert" dir="out"/>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1" algn="r"/>
            <a:r>
              <a:rPr sz="1700" b="0" i="0" lang="ar-EG" altLang="en-US">
                <a:solidFill>
                  <a:srgbClr val="DDE6F3"/>
                </a:solidFill>
                <a:latin typeface="Traditional Arabic"/>
              </a:rPr>
              <a:t>Apostrophe ( ' ) — الفاصلة العليا</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don't – doesn't – didn't – won't – hasn't – isn't – can't</a:t>
            </a:r>
          </a:p>
          <a:p>
            <a:pPr rtl="1" algn="r">
              <a:spcAft>
                <a:spcPts val="600"/>
              </a:spcAft>
            </a:pPr>
            <a:r>
              <a:rPr sz="2100" b="0" i="0" lang="ar-EG" altLang="en-US">
                <a:solidFill>
                  <a:srgbClr val="1C2333"/>
                </a:solidFill>
                <a:latin typeface="Traditional Arabic"/>
              </a:rPr>
              <a:t>تأتي مع الاختصارات.</a:t>
            </a:r>
          </a:p>
          <a:p>
            <a:pPr rtl="0" algn="l">
              <a:spcAft>
                <a:spcPts val="600"/>
              </a:spcAft>
            </a:pPr>
            <a:r>
              <a:rPr sz="1700" b="0" i="1" lang="en-US">
                <a:solidFill>
                  <a:srgbClr val="5B6478"/>
                </a:solidFill>
                <a:latin typeface="Segoe UI"/>
              </a:rPr>
              <a:t>   e.g. I'm a doctor. / She's a nurse. / I can't help you.</a:t>
            </a:r>
          </a:p>
          <a:p>
            <a:pPr rtl="1" algn="r">
              <a:spcAft>
                <a:spcPts val="600"/>
              </a:spcAft>
            </a:pPr>
            <a:r>
              <a:rPr sz="2100" b="0" i="0" lang="ar-EG" altLang="en-US">
                <a:solidFill>
                  <a:srgbClr val="1C2333"/>
                </a:solidFill>
                <a:latin typeface="Traditional Arabic"/>
              </a:rPr>
              <a:t>    وتأتي أيضاً مع: 'm – 's – 're</a:t>
            </a:r>
          </a:p>
        </p:txBody>
      </p:sp>
    </p:spTree>
  </p:cSld>
  <p:clrMapOvr>
    <a:masterClrMapping/>
  </p:clrMapOvr>
  <p:transition spd="med">
    <p:cover dir="d"/>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1" algn="r"/>
            <a:r>
              <a:rPr sz="1700" b="0" i="0" lang="ar-EG" altLang="en-US">
                <a:solidFill>
                  <a:srgbClr val="DDE6F3"/>
                </a:solidFill>
                <a:latin typeface="Traditional Arabic"/>
              </a:rPr>
              <a:t>Comma ( , ) — الفاصلة السفلية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Yes, he is a boy. / No, she isn't tall.</a:t>
            </a:r>
          </a:p>
          <a:p>
            <a:pPr rtl="1" algn="r">
              <a:spcAft>
                <a:spcPts val="600"/>
              </a:spcAft>
            </a:pPr>
            <a:r>
              <a:rPr sz="2100" b="0" i="0" lang="ar-EG" altLang="en-US">
                <a:solidFill>
                  <a:srgbClr val="1C2333"/>
                </a:solidFill>
                <a:latin typeface="Traditional Arabic"/>
              </a:rPr>
              <a:t>    تأتي بعد Yes و No.</a:t>
            </a:r>
          </a:p>
          <a:p>
            <a:pPr rtl="0" algn="l">
              <a:spcAft>
                <a:spcPts val="600"/>
              </a:spcAft>
            </a:pPr>
            <a:r>
              <a:rPr sz="1700" b="0" i="1" lang="en-US">
                <a:solidFill>
                  <a:srgbClr val="5B6478"/>
                </a:solidFill>
                <a:latin typeface="Segoe UI"/>
              </a:rPr>
              <a:t>   e.g. I like meat, rice and fish.</a:t>
            </a:r>
          </a:p>
          <a:p>
            <a:pPr rtl="1" algn="r">
              <a:spcAft>
                <a:spcPts val="600"/>
              </a:spcAft>
            </a:pPr>
            <a:r>
              <a:rPr sz="2100" b="0" i="0" lang="ar-EG" altLang="en-US">
                <a:solidFill>
                  <a:srgbClr val="1C2333"/>
                </a:solidFill>
                <a:latin typeface="Traditional Arabic"/>
              </a:rPr>
              <a:t>تأتي كأداة عطف للفصل بين الكلمات أو الصفات أو الأسماء المتشابهة.</a:t>
            </a:r>
          </a:p>
        </p:txBody>
      </p:sp>
    </p:spTree>
  </p:cSld>
  <p:clrMapOvr>
    <a:masterClrMapping/>
  </p:clrMapOvr>
  <p:transition spd="med">
    <p:circl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is he a doctor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a doctor?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 am a farmer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a farmer.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are they Egyptian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Egyptian?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She is a nurse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nurse.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was she at home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 she at home?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they are American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American.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do you like reading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like reading?</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he is from Egypt.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from Egypt.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did mona like swimming</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Did Mona like swimming?</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can you run fast</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Can you run fast?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this is my family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my family.</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where do you live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Where do you live?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does ali play football on Fridays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Ali play football on Fridays?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 don t like fish</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don't like fish.</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I can t help you</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can't help you.</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She s a nurse</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She's a nurse.</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I m a doctor</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I'm a doctor.</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B) Punctuate the following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is my father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my father.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is she mona</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Mona?</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isn t any water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any water.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where do you live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Where do you live?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how old are you</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old are you?</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ali and I are friends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Ali and I are friends.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 live in cairo</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live in Cairo.</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B) Punctuate the following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i m egyptian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I'm Egyptian.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ahmed was born in may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Ahmed was born in May.</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i play football on fridays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play football on Fridays.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no they didn t come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they didn't come.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yes mohamed is a doctor</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Mohamed is a doctor.</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how old are you</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old are you?</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he likes english</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likes English.</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4</a:t>
            </a:r>
          </a:p>
          <a:p>
            <a:pPr algn="ctr" rtl="0"/>
            <a:r>
              <a:rPr sz="4600" b="1" i="0" lang="en-US">
                <a:solidFill>
                  <a:srgbClr val="FFFFFF"/>
                </a:solidFill>
                <a:latin typeface="Segoe UI"/>
              </a:rPr>
              <a:t>Subject Pronouns &amp; Verb to be</a:t>
            </a:r>
          </a:p>
          <a:p>
            <a:pPr algn="ctr" rtl="1"/>
            <a:r>
              <a:rPr sz="2900" b="0" i="0" lang="ar-EG" altLang="en-US">
                <a:solidFill>
                  <a:srgbClr val="FFFFFF"/>
                </a:solidFill>
                <a:latin typeface="Traditional Arabic"/>
              </a:rPr>
              <a:t>ضمائر الفاعل وفعل الكون</a:t>
            </a:r>
          </a:p>
        </p:txBody>
      </p:sp>
    </p:spTree>
  </p:cSld>
  <p:clrMapOvr>
    <a:masterClrMapping/>
  </p:clrMapOvr>
  <p:transition spd="med">
    <p:zoom dir="in"/>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Contractions — الاختصارات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48"/>
                </a:solidFill>
                <a:latin typeface="Segoe UI"/>
              </a:rPr>
              <a:t>▶ is = 's | am = 'm | are = 're</a:t>
            </a:r>
          </a:p>
          <a:p>
            <a:pPr rtl="0" algn="l">
              <a:spcAft>
                <a:spcPts val="600"/>
              </a:spcAft>
            </a:pPr>
            <a:r>
              <a:rPr sz="1700" b="0" i="1" lang="en-US">
                <a:solidFill>
                  <a:srgbClr val="5B6478"/>
                </a:solidFill>
                <a:latin typeface="Segoe UI"/>
              </a:rPr>
              <a:t>   e.g. He's a boy. – I'm happy. – They're friends.</a:t>
            </a:r>
          </a:p>
        </p:txBody>
      </p:sp>
    </p:spTree>
  </p:cSld>
  <p:clrMapOvr>
    <a:masterClrMapping/>
  </p:clrMapOvr>
  <p:transition spd="med">
    <p:plus/>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48"/>
                </a:solidFill>
                <a:latin typeface="Segoe UI"/>
              </a:rPr>
              <a:t>▶ Subject + am / is / are + not + باقي الجملة .</a:t>
            </a:r>
          </a:p>
          <a:p>
            <a:pPr rtl="1" algn="r">
              <a:spcAft>
                <a:spcPts val="600"/>
              </a:spcAft>
            </a:pPr>
            <a:r>
              <a:rPr sz="2100" b="0" i="0" lang="ar-EG" altLang="en-US">
                <a:solidFill>
                  <a:srgbClr val="1C2333"/>
                </a:solidFill>
                <a:latin typeface="Traditional Arabic"/>
              </a:rPr>
              <a:t>    ننفي بوضع not بعد فعل الكون.</a:t>
            </a:r>
          </a:p>
          <a:p>
            <a:pPr rtl="0" algn="l">
              <a:spcAft>
                <a:spcPts val="600"/>
              </a:spcAft>
            </a:pPr>
            <a:r>
              <a:rPr sz="1700" b="0" i="1" lang="en-US">
                <a:solidFill>
                  <a:srgbClr val="5B6478"/>
                </a:solidFill>
                <a:latin typeface="Segoe UI"/>
              </a:rPr>
              <a:t>   e.g. He is a carpenter. → He isn't a carpenter. (is not = isn't)</a:t>
            </a:r>
          </a:p>
          <a:p>
            <a:pPr rtl="0" algn="l">
              <a:spcAft>
                <a:spcPts val="600"/>
              </a:spcAft>
            </a:pPr>
            <a:r>
              <a:rPr sz="1700" b="0" i="1" lang="en-US">
                <a:solidFill>
                  <a:srgbClr val="5B6478"/>
                </a:solidFill>
                <a:latin typeface="Segoe UI"/>
              </a:rPr>
              <a:t>   e.g. They are vets. → They aren't vets. (are not = aren't)</a:t>
            </a:r>
          </a:p>
        </p:txBody>
      </p:sp>
    </p:spTree>
  </p:cSld>
  <p:clrMapOvr>
    <a:masterClrMapping/>
  </p:clrMapOvr>
  <p:transition spd="med">
    <p:strips dir="ld"/>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1" algn="r"/>
            <a:r>
              <a:rPr sz="1700" b="0" i="0" lang="ar-EG" altLang="en-US">
                <a:solidFill>
                  <a:srgbClr val="DDE6F3"/>
                </a:solidFill>
                <a:latin typeface="Traditional Arabic"/>
              </a:rPr>
              <a:t>Question — السؤال بـ (هل)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48"/>
                </a:solidFill>
                <a:latin typeface="Traditional Arabic"/>
              </a:rPr>
              <a:t>▶ Am / Is / Are + فاعل + باقي الجملة ?</a:t>
            </a:r>
          </a:p>
          <a:p>
            <a:pPr rtl="1" algn="r">
              <a:spcAft>
                <a:spcPts val="600"/>
              </a:spcAft>
            </a:pPr>
            <a:r>
              <a:rPr sz="2100" b="0" i="0" lang="ar-EG" altLang="en-US">
                <a:solidFill>
                  <a:srgbClr val="1C2333"/>
                </a:solidFill>
                <a:latin typeface="Traditional Arabic"/>
              </a:rPr>
              <a:t>نقدّم فعل الكون على الفاعل لتكوين السؤال.</a:t>
            </a:r>
          </a:p>
          <a:p>
            <a:pPr rtl="0" algn="l">
              <a:spcAft>
                <a:spcPts val="600"/>
              </a:spcAft>
            </a:pPr>
            <a:r>
              <a:rPr sz="1700" b="0" i="1" lang="en-US">
                <a:solidFill>
                  <a:srgbClr val="5B6478"/>
                </a:solidFill>
                <a:latin typeface="Segoe UI"/>
              </a:rPr>
              <a:t>   e.g. I am → Are you …? | We are → Are you …? | My → Your</a:t>
            </a:r>
          </a:p>
          <a:p>
            <a:pPr rtl="1" algn="r">
              <a:spcAft>
                <a:spcPts val="600"/>
              </a:spcAft>
            </a:pPr>
            <a:r>
              <a:rPr sz="2100" b="0" i="0" lang="ar-EG" altLang="en-US">
                <a:solidFill>
                  <a:srgbClr val="1C2333"/>
                </a:solidFill>
                <a:latin typeface="Traditional Arabic"/>
              </a:rPr>
              <a:t>لاحظ تغيّر الضمائر عند تكوين السؤال.</a:t>
            </a:r>
          </a:p>
        </p:txBody>
      </p:sp>
    </p:spTree>
  </p:cSld>
  <p:clrMapOvr>
    <a:masterClrMapping/>
  </p:clrMapOvr>
  <p:transition spd="med">
    <p:wheel spokes="4"/>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474720"/>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0" algn="l"/>
                      <a:r>
                        <a:rPr sz="1400" b="1" i="0" lang="en-US">
                          <a:solidFill>
                            <a:srgbClr val="FFFFFF"/>
                          </a:solidFill>
                          <a:latin typeface="Segoe UI"/>
                        </a:rPr>
                        <a:t>Pronoun</a:t>
                      </a:r>
                    </a:p>
                  </a:txBody>
                  <a:tcPr>
                    <a:solidFill>
                      <a:srgbClr val="942248"/>
                    </a:solidFill>
                  </a:tcPr>
                </a:tc>
                <a:tc>
                  <a:txBody>
                    <a:bodyPr/>
                    <a:lstStyle/>
                    <a:p>
                      <a:pPr rtl="1" algn="r"/>
                      <a:r>
                        <a:rPr sz="1700" b="1" i="0" lang="ar-EG" altLang="en-US">
                          <a:solidFill>
                            <a:srgbClr val="FFFFFF"/>
                          </a:solidFill>
                          <a:latin typeface="Traditional Arabic"/>
                        </a:rPr>
                        <a:t>المعنى</a:t>
                      </a:r>
                    </a:p>
                  </a:txBody>
                  <a:tcPr>
                    <a:solidFill>
                      <a:srgbClr val="942248"/>
                    </a:solidFill>
                  </a:tcPr>
                </a:tc>
                <a:tc>
                  <a:txBody>
                    <a:bodyPr/>
                    <a:lstStyle/>
                    <a:p>
                      <a:pPr rtl="0" algn="l"/>
                      <a:r>
                        <a:rPr sz="1400" b="1" i="0" lang="en-US">
                          <a:solidFill>
                            <a:srgbClr val="FFFFFF"/>
                          </a:solidFill>
                          <a:latin typeface="Segoe UI"/>
                        </a:rPr>
                        <a:t>Verb to be</a:t>
                      </a:r>
                    </a:p>
                  </a:txBody>
                  <a:tcPr>
                    <a:solidFill>
                      <a:srgbClr val="942248"/>
                    </a:solidFill>
                  </a:tcPr>
                </a:tc>
                <a:tc>
                  <a:txBody>
                    <a:bodyPr/>
                    <a:lstStyle/>
                    <a:p>
                      <a:pPr rtl="0" algn="l"/>
                      <a:r>
                        <a:rPr sz="1400" b="1" i="0" lang="en-US">
                          <a:solidFill>
                            <a:srgbClr val="FFFFFF"/>
                          </a:solidFill>
                          <a:latin typeface="Segoe UI"/>
                        </a:rPr>
                        <a:t>Example</a:t>
                      </a:r>
                    </a:p>
                  </a:txBody>
                  <a:tcPr>
                    <a:solidFill>
                      <a:srgbClr val="942248"/>
                    </a:solidFill>
                  </a:tcPr>
                </a:tc>
              </a:tr>
              <a:tr h="347472">
                <a:tc>
                  <a:txBody>
                    <a:bodyPr/>
                    <a:lstStyle/>
                    <a:p>
                      <a:pPr rtl="0" algn="l"/>
                      <a:r>
                        <a:rPr sz="1300" b="0" i="0" lang="en-US">
                          <a:solidFill>
                            <a:srgbClr val="1C2333"/>
                          </a:solidFill>
                          <a:latin typeface="Segoe UI"/>
                        </a:rPr>
                        <a:t>I</a:t>
                      </a:r>
                    </a:p>
                  </a:txBody>
                  <a:tcPr>
                    <a:solidFill>
                      <a:srgbClr val="FFFFFF"/>
                    </a:solidFill>
                  </a:tcPr>
                </a:tc>
                <a:tc>
                  <a:txBody>
                    <a:bodyPr/>
                    <a:lstStyle/>
                    <a:p>
                      <a:pPr rtl="1" algn="r"/>
                      <a:r>
                        <a:rPr sz="1600" b="0" i="0" lang="ar-EG" altLang="en-US">
                          <a:solidFill>
                            <a:srgbClr val="1C2333"/>
                          </a:solidFill>
                          <a:latin typeface="Traditional Arabic"/>
                        </a:rPr>
                        <a:t>أنا</a:t>
                      </a:r>
                    </a:p>
                  </a:txBody>
                  <a:tcPr>
                    <a:solidFill>
                      <a:srgbClr val="FFFFFF"/>
                    </a:solidFill>
                  </a:tcPr>
                </a:tc>
                <a:tc>
                  <a:txBody>
                    <a:bodyPr/>
                    <a:lstStyle/>
                    <a:p>
                      <a:pPr rtl="0" algn="l"/>
                      <a:r>
                        <a:rPr sz="1300" b="0" i="0" lang="en-US">
                          <a:solidFill>
                            <a:srgbClr val="1C2333"/>
                          </a:solidFill>
                          <a:latin typeface="Segoe UI"/>
                        </a:rPr>
                        <a:t>am</a:t>
                      </a:r>
                    </a:p>
                  </a:txBody>
                  <a:tcPr>
                    <a:solidFill>
                      <a:srgbClr val="FFFFFF"/>
                    </a:solidFill>
                  </a:tcPr>
                </a:tc>
                <a:tc>
                  <a:txBody>
                    <a:bodyPr/>
                    <a:lstStyle/>
                    <a:p>
                      <a:pPr rtl="0" algn="l"/>
                      <a:r>
                        <a:rPr sz="1300" b="0" i="0" lang="en-US">
                          <a:solidFill>
                            <a:srgbClr val="1C2333"/>
                          </a:solidFill>
                          <a:latin typeface="Segoe UI"/>
                        </a:rPr>
                        <a:t>I am a doctor.</a:t>
                      </a:r>
                    </a:p>
                  </a:txBody>
                  <a:tcPr>
                    <a:solidFill>
                      <a:srgbClr val="FFFFFF"/>
                    </a:solidFill>
                  </a:tcPr>
                </a:tc>
              </a:tr>
              <a:tr h="347472">
                <a:tc>
                  <a:txBody>
                    <a:bodyPr/>
                    <a:lstStyle/>
                    <a:p>
                      <a:pPr rtl="0" algn="l"/>
                      <a:r>
                        <a:rPr sz="1300" b="0" i="0" lang="en-US">
                          <a:solidFill>
                            <a:srgbClr val="1C2333"/>
                          </a:solidFill>
                          <a:latin typeface="Segoe UI"/>
                        </a:rPr>
                        <a:t>He</a:t>
                      </a:r>
                    </a:p>
                  </a:txBody>
                  <a:tcPr>
                    <a:solidFill>
                      <a:srgbClr val="EEF3FA"/>
                    </a:solidFill>
                  </a:tcPr>
                </a:tc>
                <a:tc>
                  <a:txBody>
                    <a:bodyPr/>
                    <a:lstStyle/>
                    <a:p>
                      <a:pPr rtl="1" algn="r"/>
                      <a:r>
                        <a:rPr sz="1600" b="0" i="0" lang="ar-EG" altLang="en-US">
                          <a:solidFill>
                            <a:srgbClr val="1C2333"/>
                          </a:solidFill>
                          <a:latin typeface="Traditional Arabic"/>
                        </a:rPr>
                        <a:t>هو</a:t>
                      </a:r>
                    </a:p>
                  </a:txBody>
                  <a:tcPr>
                    <a:solidFill>
                      <a:srgbClr val="EEF3FA"/>
                    </a:solidFill>
                  </a:tcPr>
                </a:tc>
                <a:tc>
                  <a:txBody>
                    <a:bodyPr/>
                    <a:lstStyle/>
                    <a:p>
                      <a:pPr rtl="0" algn="l"/>
                      <a:r>
                        <a:rPr sz="1300" b="0" i="0" lang="en-US">
                          <a:solidFill>
                            <a:srgbClr val="1C2333"/>
                          </a:solidFill>
                          <a:latin typeface="Segoe UI"/>
                        </a:rPr>
                        <a:t>is</a:t>
                      </a:r>
                    </a:p>
                  </a:txBody>
                  <a:tcPr>
                    <a:solidFill>
                      <a:srgbClr val="EEF3FA"/>
                    </a:solidFill>
                  </a:tcPr>
                </a:tc>
                <a:tc>
                  <a:txBody>
                    <a:bodyPr/>
                    <a:lstStyle/>
                    <a:p>
                      <a:pPr rtl="0" algn="l"/>
                      <a:r>
                        <a:rPr sz="1300" b="0" i="0" lang="en-US">
                          <a:solidFill>
                            <a:srgbClr val="1C2333"/>
                          </a:solidFill>
                          <a:latin typeface="Segoe UI"/>
                        </a:rPr>
                        <a:t>He is a boy.</a:t>
                      </a:r>
                    </a:p>
                  </a:txBody>
                  <a:tcPr>
                    <a:solidFill>
                      <a:srgbClr val="EEF3FA"/>
                    </a:solidFill>
                  </a:tcPr>
                </a:tc>
              </a:tr>
              <a:tr h="347472">
                <a:tc>
                  <a:txBody>
                    <a:bodyPr/>
                    <a:lstStyle/>
                    <a:p>
                      <a:pPr rtl="0" algn="l"/>
                      <a:r>
                        <a:rPr sz="1300" b="0" i="0" lang="en-US">
                          <a:solidFill>
                            <a:srgbClr val="1C2333"/>
                          </a:solidFill>
                          <a:latin typeface="Segoe UI"/>
                        </a:rPr>
                        <a:t>She</a:t>
                      </a:r>
                    </a:p>
                  </a:txBody>
                  <a:tcPr>
                    <a:solidFill>
                      <a:srgbClr val="FFFFFF"/>
                    </a:solidFill>
                  </a:tcPr>
                </a:tc>
                <a:tc>
                  <a:txBody>
                    <a:bodyPr/>
                    <a:lstStyle/>
                    <a:p>
                      <a:pPr rtl="1" algn="r"/>
                      <a:r>
                        <a:rPr sz="1600" b="0" i="0" lang="ar-EG" altLang="en-US">
                          <a:solidFill>
                            <a:srgbClr val="1C2333"/>
                          </a:solidFill>
                          <a:latin typeface="Traditional Arabic"/>
                        </a:rPr>
                        <a:t>هي</a:t>
                      </a:r>
                    </a:p>
                  </a:txBody>
                  <a:tcPr>
                    <a:solidFill>
                      <a:srgbClr val="FFFFFF"/>
                    </a:solidFill>
                  </a:tcPr>
                </a:tc>
                <a:tc>
                  <a:txBody>
                    <a:bodyPr/>
                    <a:lstStyle/>
                    <a:p>
                      <a:pPr rtl="0" algn="l"/>
                      <a:r>
                        <a:rPr sz="1300" b="0" i="0" lang="en-US">
                          <a:solidFill>
                            <a:srgbClr val="1C2333"/>
                          </a:solidFill>
                          <a:latin typeface="Segoe UI"/>
                        </a:rPr>
                        <a:t>is</a:t>
                      </a:r>
                    </a:p>
                  </a:txBody>
                  <a:tcPr>
                    <a:solidFill>
                      <a:srgbClr val="FFFFFF"/>
                    </a:solidFill>
                  </a:tcPr>
                </a:tc>
                <a:tc>
                  <a:txBody>
                    <a:bodyPr/>
                    <a:lstStyle/>
                    <a:p>
                      <a:pPr rtl="0" algn="l"/>
                      <a:r>
                        <a:rPr sz="1300" b="0" i="0" lang="en-US">
                          <a:solidFill>
                            <a:srgbClr val="1C2333"/>
                          </a:solidFill>
                          <a:latin typeface="Segoe UI"/>
                        </a:rPr>
                        <a:t>She is a nurse.</a:t>
                      </a:r>
                    </a:p>
                  </a:txBody>
                  <a:tcPr>
                    <a:solidFill>
                      <a:srgbClr val="FFFFFF"/>
                    </a:solidFill>
                  </a:tcPr>
                </a:tc>
              </a:tr>
              <a:tr h="347472">
                <a:tc>
                  <a:txBody>
                    <a:bodyPr/>
                    <a:lstStyle/>
                    <a:p>
                      <a:pPr rtl="0" algn="l"/>
                      <a:r>
                        <a:rPr sz="1300" b="0" i="0" lang="en-US">
                          <a:solidFill>
                            <a:srgbClr val="1C2333"/>
                          </a:solidFill>
                          <a:latin typeface="Segoe UI"/>
                        </a:rPr>
                        <a:t>It</a:t>
                      </a:r>
                    </a:p>
                  </a:txBody>
                  <a:tcPr>
                    <a:solidFill>
                      <a:srgbClr val="EEF3FA"/>
                    </a:solidFill>
                  </a:tcPr>
                </a:tc>
                <a:tc>
                  <a:txBody>
                    <a:bodyPr/>
                    <a:lstStyle/>
                    <a:p>
                      <a:pPr rtl="1" algn="r"/>
                      <a:r>
                        <a:rPr sz="1600" b="0" i="0" lang="ar-EG" altLang="en-US">
                          <a:solidFill>
                            <a:srgbClr val="1C2333"/>
                          </a:solidFill>
                          <a:latin typeface="Traditional Arabic"/>
                        </a:rPr>
                        <a:t>هو / هي لغير العاقل</a:t>
                      </a:r>
                    </a:p>
                  </a:txBody>
                  <a:tcPr>
                    <a:solidFill>
                      <a:srgbClr val="EEF3FA"/>
                    </a:solidFill>
                  </a:tcPr>
                </a:tc>
                <a:tc>
                  <a:txBody>
                    <a:bodyPr/>
                    <a:lstStyle/>
                    <a:p>
                      <a:pPr rtl="0" algn="l"/>
                      <a:r>
                        <a:rPr sz="1300" b="0" i="0" lang="en-US">
                          <a:solidFill>
                            <a:srgbClr val="1C2333"/>
                          </a:solidFill>
                          <a:latin typeface="Segoe UI"/>
                        </a:rPr>
                        <a:t>is</a:t>
                      </a:r>
                    </a:p>
                  </a:txBody>
                  <a:tcPr>
                    <a:solidFill>
                      <a:srgbClr val="EEF3FA"/>
                    </a:solidFill>
                  </a:tcPr>
                </a:tc>
                <a:tc>
                  <a:txBody>
                    <a:bodyPr/>
                    <a:lstStyle/>
                    <a:p>
                      <a:pPr rtl="0" algn="l"/>
                      <a:r>
                        <a:rPr sz="1300" b="0" i="0" lang="en-US">
                          <a:solidFill>
                            <a:srgbClr val="1C2333"/>
                          </a:solidFill>
                          <a:latin typeface="Segoe UI"/>
                        </a:rPr>
                        <a:t>It is a cat.</a:t>
                      </a:r>
                    </a:p>
                  </a:txBody>
                  <a:tcPr>
                    <a:solidFill>
                      <a:srgbClr val="EEF3FA"/>
                    </a:solidFill>
                  </a:tcPr>
                </a:tc>
              </a:tr>
              <a:tr h="347472">
                <a:tc>
                  <a:txBody>
                    <a:bodyPr/>
                    <a:lstStyle/>
                    <a:p>
                      <a:pPr rtl="0" algn="l"/>
                      <a:r>
                        <a:rPr sz="1300" b="0" i="0" lang="en-US">
                          <a:solidFill>
                            <a:srgbClr val="1C2333"/>
                          </a:solidFill>
                          <a:latin typeface="Segoe UI"/>
                        </a:rPr>
                        <a:t>They</a:t>
                      </a:r>
                    </a:p>
                  </a:txBody>
                  <a:tcPr>
                    <a:solidFill>
                      <a:srgbClr val="FFFFFF"/>
                    </a:solidFill>
                  </a:tcPr>
                </a:tc>
                <a:tc>
                  <a:txBody>
                    <a:bodyPr/>
                    <a:lstStyle/>
                    <a:p>
                      <a:pPr rtl="1" algn="r"/>
                      <a:r>
                        <a:rPr sz="1600" b="0" i="0" lang="ar-EG" altLang="en-US">
                          <a:solidFill>
                            <a:srgbClr val="1C2333"/>
                          </a:solidFill>
                          <a:latin typeface="Traditional Arabic"/>
                        </a:rPr>
                        <a:t>هم</a:t>
                      </a:r>
                    </a:p>
                  </a:txBody>
                  <a:tcPr>
                    <a:solidFill>
                      <a:srgbClr val="FFFFFF"/>
                    </a:solidFill>
                  </a:tcPr>
                </a:tc>
                <a:tc>
                  <a:txBody>
                    <a:bodyPr/>
                    <a:lstStyle/>
                    <a:p>
                      <a:pPr rtl="0" algn="l"/>
                      <a:r>
                        <a:rPr sz="1300" b="0" i="0" lang="en-US">
                          <a:solidFill>
                            <a:srgbClr val="1C2333"/>
                          </a:solidFill>
                          <a:latin typeface="Segoe UI"/>
                        </a:rPr>
                        <a:t>are</a:t>
                      </a:r>
                    </a:p>
                  </a:txBody>
                  <a:tcPr>
                    <a:solidFill>
                      <a:srgbClr val="FFFFFF"/>
                    </a:solidFill>
                  </a:tcPr>
                </a:tc>
                <a:tc>
                  <a:txBody>
                    <a:bodyPr/>
                    <a:lstStyle/>
                    <a:p>
                      <a:pPr rtl="0" algn="l"/>
                      <a:r>
                        <a:rPr sz="1300" b="0" i="0" lang="en-US">
                          <a:solidFill>
                            <a:srgbClr val="1C2333"/>
                          </a:solidFill>
                          <a:latin typeface="Segoe UI"/>
                        </a:rPr>
                        <a:t>They are lions.</a:t>
                      </a:r>
                    </a:p>
                  </a:txBody>
                  <a:tcPr>
                    <a:solidFill>
                      <a:srgbClr val="FFFFFF"/>
                    </a:solidFill>
                  </a:tcPr>
                </a:tc>
              </a:tr>
              <a:tr h="347472">
                <a:tc>
                  <a:txBody>
                    <a:bodyPr/>
                    <a:lstStyle/>
                    <a:p>
                      <a:pPr rtl="0" algn="l"/>
                      <a:r>
                        <a:rPr sz="1300" b="0" i="0" lang="en-US">
                          <a:solidFill>
                            <a:srgbClr val="1C2333"/>
                          </a:solidFill>
                          <a:latin typeface="Segoe UI"/>
                        </a:rPr>
                        <a:t>You</a:t>
                      </a:r>
                    </a:p>
                  </a:txBody>
                  <a:tcPr>
                    <a:solidFill>
                      <a:srgbClr val="EEF3FA"/>
                    </a:solidFill>
                  </a:tcPr>
                </a:tc>
                <a:tc>
                  <a:txBody>
                    <a:bodyPr/>
                    <a:lstStyle/>
                    <a:p>
                      <a:pPr rtl="1" algn="r"/>
                      <a:r>
                        <a:rPr sz="1600" b="0" i="0" lang="ar-EG" altLang="en-US">
                          <a:solidFill>
                            <a:srgbClr val="1C2333"/>
                          </a:solidFill>
                          <a:latin typeface="Traditional Arabic"/>
                        </a:rPr>
                        <a:t>أنتَ / أنتم</a:t>
                      </a:r>
                    </a:p>
                  </a:txBody>
                  <a:tcPr>
                    <a:solidFill>
                      <a:srgbClr val="EEF3FA"/>
                    </a:solidFill>
                  </a:tcPr>
                </a:tc>
                <a:tc>
                  <a:txBody>
                    <a:bodyPr/>
                    <a:lstStyle/>
                    <a:p>
                      <a:pPr rtl="0" algn="l"/>
                      <a:r>
                        <a:rPr sz="1300" b="0" i="0" lang="en-US">
                          <a:solidFill>
                            <a:srgbClr val="1C2333"/>
                          </a:solidFill>
                          <a:latin typeface="Segoe UI"/>
                        </a:rPr>
                        <a:t>are</a:t>
                      </a:r>
                    </a:p>
                  </a:txBody>
                  <a:tcPr>
                    <a:solidFill>
                      <a:srgbClr val="EEF3FA"/>
                    </a:solidFill>
                  </a:tcPr>
                </a:tc>
                <a:tc>
                  <a:txBody>
                    <a:bodyPr/>
                    <a:lstStyle/>
                    <a:p>
                      <a:pPr rtl="0" algn="l"/>
                      <a:r>
                        <a:rPr sz="1300" b="0" i="0" lang="en-US">
                          <a:solidFill>
                            <a:srgbClr val="1C2333"/>
                          </a:solidFill>
                          <a:latin typeface="Segoe UI"/>
                        </a:rPr>
                        <a:t>You are tall.</a:t>
                      </a:r>
                    </a:p>
                  </a:txBody>
                  <a:tcPr>
                    <a:solidFill>
                      <a:srgbClr val="EEF3FA"/>
                    </a:solidFill>
                  </a:tcPr>
                </a:tc>
              </a:tr>
              <a:tr h="347472">
                <a:tc>
                  <a:txBody>
                    <a:bodyPr/>
                    <a:lstStyle/>
                    <a:p>
                      <a:pPr rtl="0" algn="l"/>
                      <a:r>
                        <a:rPr sz="1300" b="0" i="0" lang="en-US">
                          <a:solidFill>
                            <a:srgbClr val="1C2333"/>
                          </a:solidFill>
                          <a:latin typeface="Segoe UI"/>
                        </a:rPr>
                        <a:t>We</a:t>
                      </a:r>
                    </a:p>
                  </a:txBody>
                  <a:tcPr>
                    <a:solidFill>
                      <a:srgbClr val="FFFFFF"/>
                    </a:solidFill>
                  </a:tcPr>
                </a:tc>
                <a:tc>
                  <a:txBody>
                    <a:bodyPr/>
                    <a:lstStyle/>
                    <a:p>
                      <a:pPr rtl="1" algn="r"/>
                      <a:r>
                        <a:rPr sz="1600" b="0" i="0" lang="ar-EG" altLang="en-US">
                          <a:solidFill>
                            <a:srgbClr val="1C2333"/>
                          </a:solidFill>
                          <a:latin typeface="Traditional Arabic"/>
                        </a:rPr>
                        <a:t>نحن</a:t>
                      </a:r>
                    </a:p>
                  </a:txBody>
                  <a:tcPr>
                    <a:solidFill>
                      <a:srgbClr val="FFFFFF"/>
                    </a:solidFill>
                  </a:tcPr>
                </a:tc>
                <a:tc>
                  <a:txBody>
                    <a:bodyPr/>
                    <a:lstStyle/>
                    <a:p>
                      <a:pPr rtl="0" algn="l"/>
                      <a:r>
                        <a:rPr sz="1300" b="0" i="0" lang="en-US">
                          <a:solidFill>
                            <a:srgbClr val="1C2333"/>
                          </a:solidFill>
                          <a:latin typeface="Segoe UI"/>
                        </a:rPr>
                        <a:t>are</a:t>
                      </a:r>
                    </a:p>
                  </a:txBody>
                  <a:tcPr>
                    <a:solidFill>
                      <a:srgbClr val="FFFFFF"/>
                    </a:solidFill>
                  </a:tcPr>
                </a:tc>
                <a:tc>
                  <a:txBody>
                    <a:bodyPr/>
                    <a:lstStyle/>
                    <a:p>
                      <a:pPr rtl="0" algn="l"/>
                      <a:r>
                        <a:rPr sz="1300" b="0" i="0" lang="en-US">
                          <a:solidFill>
                            <a:srgbClr val="1C2333"/>
                          </a:solidFill>
                          <a:latin typeface="Segoe UI"/>
                        </a:rPr>
                        <a:t>We are friends.</a:t>
                      </a:r>
                    </a:p>
                  </a:txBody>
                  <a:tcPr>
                    <a:solidFill>
                      <a:srgbClr val="FFFFFF"/>
                    </a:solidFill>
                  </a:tcPr>
                </a:tc>
              </a:tr>
              <a:tr h="347472">
                <a:tc>
                  <a:txBody>
                    <a:bodyPr/>
                    <a:lstStyle/>
                    <a:p>
                      <a:pPr rtl="0" algn="l"/>
                      <a:r>
                        <a:rPr sz="1300" b="0" i="0" lang="en-US">
                          <a:solidFill>
                            <a:srgbClr val="1C2333"/>
                          </a:solidFill>
                          <a:latin typeface="Segoe UI"/>
                        </a:rPr>
                        <a:t>The cat / Ahmed</a:t>
                      </a:r>
                    </a:p>
                  </a:txBody>
                  <a:tcPr>
                    <a:solidFill>
                      <a:srgbClr val="EEF3FA"/>
                    </a:solidFill>
                  </a:tcPr>
                </a:tc>
                <a:tc>
                  <a:txBody>
                    <a:bodyPr/>
                    <a:lstStyle/>
                    <a:p>
                      <a:pPr rtl="1" algn="r"/>
                      <a:r>
                        <a:rPr sz="1600" b="0" i="0" lang="ar-EG" altLang="en-US">
                          <a:solidFill>
                            <a:srgbClr val="1C2333"/>
                          </a:solidFill>
                          <a:latin typeface="Traditional Arabic"/>
                        </a:rPr>
                        <a:t>الاسم المفرد</a:t>
                      </a:r>
                    </a:p>
                  </a:txBody>
                  <a:tcPr>
                    <a:solidFill>
                      <a:srgbClr val="EEF3FA"/>
                    </a:solidFill>
                  </a:tcPr>
                </a:tc>
                <a:tc>
                  <a:txBody>
                    <a:bodyPr/>
                    <a:lstStyle/>
                    <a:p>
                      <a:pPr rtl="0" algn="l"/>
                      <a:r>
                        <a:rPr sz="1300" b="0" i="0" lang="en-US">
                          <a:solidFill>
                            <a:srgbClr val="1C2333"/>
                          </a:solidFill>
                          <a:latin typeface="Segoe UI"/>
                        </a:rPr>
                        <a:t>is</a:t>
                      </a:r>
                    </a:p>
                  </a:txBody>
                  <a:tcPr>
                    <a:solidFill>
                      <a:srgbClr val="EEF3FA"/>
                    </a:solidFill>
                  </a:tcPr>
                </a:tc>
                <a:tc>
                  <a:txBody>
                    <a:bodyPr/>
                    <a:lstStyle/>
                    <a:p>
                      <a:pPr rtl="0" algn="l"/>
                      <a:r>
                        <a:rPr sz="1300" b="0" i="0" lang="en-US">
                          <a:solidFill>
                            <a:srgbClr val="1C2333"/>
                          </a:solidFill>
                          <a:latin typeface="Segoe UI"/>
                        </a:rPr>
                        <a:t>The cat is fast.</a:t>
                      </a:r>
                    </a:p>
                  </a:txBody>
                  <a:tcPr>
                    <a:solidFill>
                      <a:srgbClr val="EEF3FA"/>
                    </a:solidFill>
                  </a:tcPr>
                </a:tc>
              </a:tr>
              <a:tr h="347472">
                <a:tc>
                  <a:txBody>
                    <a:bodyPr/>
                    <a:lstStyle/>
                    <a:p>
                      <a:pPr rtl="0" algn="l"/>
                      <a:r>
                        <a:rPr sz="1300" b="0" i="0" lang="en-US">
                          <a:solidFill>
                            <a:srgbClr val="1C2333"/>
                          </a:solidFill>
                          <a:latin typeface="Segoe UI"/>
                        </a:rPr>
                        <a:t>Lions / My parents</a:t>
                      </a:r>
                    </a:p>
                  </a:txBody>
                  <a:tcPr>
                    <a:solidFill>
                      <a:srgbClr val="FFFFFF"/>
                    </a:solidFill>
                  </a:tcPr>
                </a:tc>
                <a:tc>
                  <a:txBody>
                    <a:bodyPr/>
                    <a:lstStyle/>
                    <a:p>
                      <a:pPr rtl="1" algn="r"/>
                      <a:r>
                        <a:rPr sz="1600" b="0" i="0" lang="ar-EG" altLang="en-US">
                          <a:solidFill>
                            <a:srgbClr val="1C2333"/>
                          </a:solidFill>
                          <a:latin typeface="Traditional Arabic"/>
                        </a:rPr>
                        <a:t>الاسم الجمع</a:t>
                      </a:r>
                    </a:p>
                  </a:txBody>
                  <a:tcPr>
                    <a:solidFill>
                      <a:srgbClr val="FFFFFF"/>
                    </a:solidFill>
                  </a:tcPr>
                </a:tc>
                <a:tc>
                  <a:txBody>
                    <a:bodyPr/>
                    <a:lstStyle/>
                    <a:p>
                      <a:pPr rtl="0" algn="l"/>
                      <a:r>
                        <a:rPr sz="1300" b="0" i="0" lang="en-US">
                          <a:solidFill>
                            <a:srgbClr val="1C2333"/>
                          </a:solidFill>
                          <a:latin typeface="Segoe UI"/>
                        </a:rPr>
                        <a:t>are</a:t>
                      </a:r>
                    </a:p>
                  </a:txBody>
                  <a:tcPr>
                    <a:solidFill>
                      <a:srgbClr val="FFFFFF"/>
                    </a:solidFill>
                  </a:tcPr>
                </a:tc>
                <a:tc>
                  <a:txBody>
                    <a:bodyPr/>
                    <a:lstStyle/>
                    <a:p>
                      <a:pPr rtl="0" algn="l"/>
                      <a:r>
                        <a:rPr sz="1300" b="0" i="0" lang="en-US">
                          <a:solidFill>
                            <a:srgbClr val="1C2333"/>
                          </a:solidFill>
                          <a:latin typeface="Segoe UI"/>
                        </a:rPr>
                        <a:t>Lions are strong.</a:t>
                      </a:r>
                    </a:p>
                  </a:txBody>
                  <a:tcPr>
                    <a:solidFill>
                      <a:srgbClr val="FFFFFF"/>
                    </a:solidFill>
                  </a:tcPr>
                </a:tc>
              </a:tr>
            </a:tbl>
          </a:graphicData>
        </a:graphic>
      </p:graphicFrame>
    </p:spTree>
  </p:cSld>
  <p:clrMapOvr>
    <a:masterClrMapping/>
  </p:clrMapOvr>
  <p:transition spd="med">
    <p:pull dir="r"/>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 a boy.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They …… girls.   (am – is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Mona …… a nurse.   (am – is –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We …… doctors.   (am – is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It …… a cat.   (am – is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She …… a dentist.   (am – is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 …… a teacher.   (am – is –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am</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You …… a vet.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Lions …… strong.   (am – is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My mum …… thin.   (am – is –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They …… men.   (am – is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My friend …… tall.   (am – is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It …… hot today.   (am – is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We …… teachers.   (am – is –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Rody …… a doctor.   (am – is – are)</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He …… a man.   (am – is – are)</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I …… happy.   (am – is – are)</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am</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is a boy.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isn't a boy.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 am a dentist.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not a dentist.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We are teachers.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aren't teachers.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She is a girl.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isn't a girl.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They are dogs.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aren't dogs.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It is a lion.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isn't a lion.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Dogs are fast.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Dogs aren't fast.</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They are farmers.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aren't farmers.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He is a teacher.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isn't a teacher.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I am a farmer.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not a farmer.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It is a cow.</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isn't a cow.</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She is a nurse.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isn't a nurse.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Lions are strong.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Lions aren't strong.</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We are boys.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aren't boys.</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is a teacher.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a teacher?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It is a lion.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a lion?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I am a farmer.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a farmer?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My mother is a nurse.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your mother a nurse?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She is a girl.</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a girl?</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They are lions.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lions?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We are strong.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strong?</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Lions are strong.</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lions strong?</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You are a vet.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Am I a vet? / Are you a vet?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Rody is a nice girl.</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Rody a nice girl?</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Rawan is a doctor.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Rawan a doctor?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They are fast cats.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fast cats?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My parents are doctors.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your parents doctors?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She is a girl.</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a girl?</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We are friends.</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friends?</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I am a dentist.</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a dentist?</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He is a good boy.</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a good boy?</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It is a cow.</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a cow?</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Rody and Sara are sisters.</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Rody and Sara sisters?</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My brother is a doctor.</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your brother a doctor?</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Is he a boy?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he is. / No, he isn't.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Are they girls?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they are. / No, they aren't.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Is she a girl?</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she is. / No, she isn't.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Are you a doctor?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 am. / No, I'm not.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Is it a cat?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Are they lions?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they are. / No, they aren't.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Is he a teacher?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he is. / No, he isn't.</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Are you a farmer?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 am. / No, I'm not.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Is she a vet?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she is. / No, she isn't.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Is she a nurse?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she is. / No, she isn't.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Are you a boy?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 am. / No, I'm not.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Is Rody a good girl?</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she is. / No, she isn't.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Is your mother a vet?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she is. / No, she isn't.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Are your parents at home?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they are. / No, they aren't.</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Are they playing now?</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Is it hot today?</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is. / No, it isn't.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Are you a dentist?</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am. / No, I'm not.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Is he your brother?</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is. / No, he isn't.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Yes, she is tall.</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tall?</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 they aren't lions.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lions?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No, it isn't cold today.</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cold today?</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Yes, I am a farmer.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a farmer?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No, he isn't tall.</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tall?</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Yes, my parents are vets.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your parents vets?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No, lions aren't hungry.</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lions hungry?</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Yes, we are at home.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at home?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No, she isn't sad.</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sad?</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Yes, it is a cat.</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a cat?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No, they aren't at school.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at school?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Yes, I am happy.</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happy?</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No, he isn't reading.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reading?</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Yes, they are studying.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studying?</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No, we aren't playing.</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playing?</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Yes, she is running.</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she running?</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No, Rawan isn't sleeping.</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Rawan sleeping?</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Yes, my mum is cooking.</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your mum cooking?</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No, it isn't raining.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raining?</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Yes, I am eating.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eating?</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No, they aren't eating.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they eating?</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Yes, we are doctors.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doctors?</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am – a – I – doctor.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a doctor.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not – is – orange – an – It.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not an orange.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nurse – is – She – a.</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nurse.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vets – aren't – They.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aren't vets.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lions – Are – strong?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lions strong?</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is – My – a – mum – dentist.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mum is a dentist.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an – It – apple – is.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apple.</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boy – a – He – is.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boy.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ant – Is – it – an?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an ant?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is – dentist – She – a.</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dentist.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helpful – Doctors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Doctors are helpful.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not – We – farmers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 not farmers.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it – umbrella – Is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it an umbrella?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a – He – man – is.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man.</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nurse – she – Is – a?</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she a nurse?</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doctor – is – Rody – a.</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Rody is a doctor.</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fast – Are – cats?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cats fast?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brother – My – a – vet – is.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is a vet.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is a doctor. (They)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doctors.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isn't a girl. (They)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aren't girls.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We are nurses. (She)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nurse.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He is a vet. (Is)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a vet?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 am a teacher. (He)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teacher.</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My mum is a nurse. (She)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nurse.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They are lions. (It)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lion.</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Rody is a doctor. (I)</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a doctor.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Rody and Sara are girls. (They)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girls.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Mido is a boy. (He)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boy.</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She is a teacher. (We)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 teachers.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He is fast. (You)</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 are fast.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He is a farmer. (I)</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am a farmer.</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Are they boys? (Is)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a boy?</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It is hot today. (not)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isn't hot today.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My parents are vets. (My mum)</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mum is a vet.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She is fast. (We)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 fast.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Lions are strong. (They)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strong.</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They are cows. (It)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cow.</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I am a dentist. (He)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dentist.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Rowan is happy. (We)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 happy.</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You are tall. (He)</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tall.</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are a teacher.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teacher.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is a boy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is a girl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We is teachers.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 teachers.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It are a cat.</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cat.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He is a farmer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is a farmer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They are a doctor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doctors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My mum are a nurse.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mum is a nurse.</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No , they are my parents.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 they are my parents.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You is my friend.</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 are my friend.</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We isn't at home.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aren't at home.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Is he playing?</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he playing? ✓ (correct — or: Is he playing now?)</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My parents isn't running.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parents aren't running.</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You are sleeping?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you sleeping?</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It aren't hot today.</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isn't hot today.</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Rawan are a dentist.</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Rawan is a dentist.</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He is a girl .</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a boy .</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Yes, they aren't cows.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cows.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 happy.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am</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 a girl.   (am – is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They …… sad.   (am – is –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It …… a cat.   (am – is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We …… doctors.   (am – is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He …… a boy.   (am – is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You …… tall.   (am – is –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Ahmed …… my brother.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Cats …… fast animals.   (am – is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A fox …… an animal.   (am – is –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You …… a boy.   (am – is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This car …… red.   (am – is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 …… a doctor.   (am – is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am</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 girls …… tall.   (am – is –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We …… happy.   (am – is – are)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My brother …… fast.   (am – is – are)</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They …… friends.   (am – is – are)</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It …… a bike.   (am – is – are)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 are boys.   (He – She – They)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It is …… elephant.   (a – an)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Sara …… a girl.   (am – is –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He is a …… .   (boy – girl)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boy</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We are …… .   (girls – boy)</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girls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Dogs …… fast.   (am – are – is)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 is an orange.   (She – They – It)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 you a boy?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He …… a man.   (isn't – aren't)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Rody is …… girl.   (an – a)</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 they happy?   (Is –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No, he …… .   (aren't – isn't)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 she is.   (Yes, – No,)</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Yes, he …… .   (is – isn't)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It is …… apple.   (a – an)</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an</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Yes, we …… .   (are – aren't)</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 you short?   (Are – Is)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K)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My mother is in the garden. The garden is big and beautiful. There is a bench in the garden. There is a rainbow in the sky. There isn't a river in the garden. There is a flower in the garden.</a:t>
            </a:r>
          </a:p>
          <a:p>
            <a:pPr rtl="0" algn="r">
              <a:spcBef>
                <a:spcPts val="800"/>
              </a:spcBef>
            </a:pPr>
            <a:r>
              <a:rPr sz="1400" b="0" i="0" lang="en-US">
                <a:solidFill>
                  <a:srgbClr val="5B6478"/>
                </a:solidFill>
                <a:latin typeface="Segoe UI"/>
              </a:rPr>
              <a:t>bench: مقعد   rainbow: قوس قزح   river: نهر</a:t>
            </a:r>
          </a:p>
        </p:txBody>
      </p:sp>
    </p:spTree>
  </p:cSld>
  <p:clrMapOvr>
    <a:masterClrMapping/>
  </p:clrMapOvr>
  <p:transition spd="med">
    <p:pull dir="r"/>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K) Read the text and answer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My mother is in the …… .   (hospital – garden – park)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garden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There is a …… in the garden.   (tree – plant – flower)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flower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 garden isn't big. (The garden is big.)   (True ✓ – False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False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There is a river. (There isn't a river.)   (True ✓ – False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False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There is a rainbow in the sky.   (True ✓ – False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True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Read and complete the text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 – Is – an – are): He …… a doctor. It is …… egg. They …… girls. She is …… girl.</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a doctor. It is an egg. They are girls. She is a girl.</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 They – She – It): …… is a girl. …… are birds. …… is a cat. …… is a boy.</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is a girl. They are birds. It is a cat. He is a boy.</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(dogs – lion – doctor – an): It is …… ant. It is a …… . They are …… . He is a ……</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an ant. It is a lion . They are dogs . He is a doctor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Read and complete the text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(am – an – they – are): We …… girls. I …… a nurse. …… are cats. It is …… umbrella.</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are girls. I am a nurse. They are cats. It is an umbrella.</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5</a:t>
            </a:r>
          </a:p>
          <a:p>
            <a:pPr algn="ctr" rtl="0"/>
            <a:r>
              <a:rPr sz="4600" b="1" i="0" lang="en-US">
                <a:solidFill>
                  <a:srgbClr val="FFFFFF"/>
                </a:solidFill>
                <a:latin typeface="Segoe UI"/>
              </a:rPr>
              <a:t>Greetings &amp; Personal Information</a:t>
            </a:r>
          </a:p>
          <a:p>
            <a:pPr algn="ctr" rtl="1"/>
            <a:r>
              <a:rPr sz="2900" b="0" i="0" lang="ar-EG" altLang="en-US">
                <a:solidFill>
                  <a:srgbClr val="FFFFFF"/>
                </a:solidFill>
                <a:latin typeface="Traditional Arabic"/>
              </a:rPr>
              <a:t>التحيات والمعلومات الشخصية</a:t>
            </a:r>
          </a:p>
        </p:txBody>
      </p:sp>
    </p:spTree>
  </p:cSld>
  <p:clrMapOvr>
    <a:masterClrMapping/>
  </p:clrMapOvr>
  <p:transition spd="med">
    <p:zoom dir="in"/>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737360"/>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rtl="0" algn="l"/>
                      <a:r>
                        <a:rPr sz="1400" b="1" i="0" lang="en-US">
                          <a:solidFill>
                            <a:srgbClr val="FFFFFF"/>
                          </a:solidFill>
                          <a:latin typeface="Segoe UI"/>
                        </a:rPr>
                        <a:t>Question</a:t>
                      </a:r>
                    </a:p>
                  </a:txBody>
                  <a:tcPr>
                    <a:solidFill>
                      <a:srgbClr val="945B22"/>
                    </a:solidFill>
                  </a:tcPr>
                </a:tc>
                <a:tc>
                  <a:txBody>
                    <a:bodyPr/>
                    <a:lstStyle/>
                    <a:p>
                      <a:pPr rtl="0" algn="l"/>
                      <a:r>
                        <a:rPr sz="1400" b="1" i="0" lang="en-US">
                          <a:solidFill>
                            <a:srgbClr val="FFFFFF"/>
                          </a:solidFill>
                          <a:latin typeface="Segoe UI"/>
                        </a:rPr>
                        <a:t>Answer</a:t>
                      </a:r>
                    </a:p>
                  </a:txBody>
                  <a:tcPr>
                    <a:solidFill>
                      <a:srgbClr val="945B22"/>
                    </a:solidFill>
                  </a:tcPr>
                </a:tc>
                <a:tc>
                  <a:txBody>
                    <a:bodyPr/>
                    <a:lstStyle/>
                    <a:p>
                      <a:pPr rtl="1" algn="r"/>
                      <a:r>
                        <a:rPr sz="1700" b="1" i="0" lang="ar-EG" altLang="en-US">
                          <a:solidFill>
                            <a:srgbClr val="FFFFFF"/>
                          </a:solidFill>
                          <a:latin typeface="Traditional Arabic"/>
                        </a:rPr>
                        <a:t>المعنى</a:t>
                      </a:r>
                    </a:p>
                  </a:txBody>
                  <a:tcPr>
                    <a:solidFill>
                      <a:srgbClr val="945B22"/>
                    </a:solidFill>
                  </a:tcPr>
                </a:tc>
              </a:tr>
              <a:tr h="347472">
                <a:tc>
                  <a:txBody>
                    <a:bodyPr/>
                    <a:lstStyle/>
                    <a:p>
                      <a:pPr rtl="0" algn="l"/>
                      <a:r>
                        <a:rPr sz="1300" b="0" i="0" lang="en-US">
                          <a:solidFill>
                            <a:srgbClr val="1C2333"/>
                          </a:solidFill>
                          <a:latin typeface="Segoe UI"/>
                        </a:rPr>
                        <a:t>What's your name?</a:t>
                      </a:r>
                    </a:p>
                  </a:txBody>
                  <a:tcPr>
                    <a:solidFill>
                      <a:srgbClr val="FFFFFF"/>
                    </a:solidFill>
                  </a:tcPr>
                </a:tc>
                <a:tc>
                  <a:txBody>
                    <a:bodyPr/>
                    <a:lstStyle/>
                    <a:p>
                      <a:pPr rtl="0" algn="l"/>
                      <a:r>
                        <a:rPr sz="1300" b="0" i="0" lang="en-US">
                          <a:solidFill>
                            <a:srgbClr val="1C2333"/>
                          </a:solidFill>
                          <a:latin typeface="Segoe UI"/>
                        </a:rPr>
                        <a:t>I'm Rody. / My name is Rody.</a:t>
                      </a:r>
                    </a:p>
                  </a:txBody>
                  <a:tcPr>
                    <a:solidFill>
                      <a:srgbClr val="FFFFFF"/>
                    </a:solidFill>
                  </a:tcPr>
                </a:tc>
                <a:tc>
                  <a:txBody>
                    <a:bodyPr/>
                    <a:lstStyle/>
                    <a:p>
                      <a:pPr rtl="1" algn="r"/>
                      <a:r>
                        <a:rPr sz="1600" b="0" i="0" lang="ar-EG" altLang="en-US">
                          <a:solidFill>
                            <a:srgbClr val="1C2333"/>
                          </a:solidFill>
                          <a:latin typeface="Traditional Arabic"/>
                        </a:rPr>
                        <a:t>ما اسمك؟</a:t>
                      </a:r>
                    </a:p>
                  </a:txBody>
                  <a:tcPr>
                    <a:solidFill>
                      <a:srgbClr val="FFFFFF"/>
                    </a:solidFill>
                  </a:tcPr>
                </a:tc>
              </a:tr>
              <a:tr h="347472">
                <a:tc>
                  <a:txBody>
                    <a:bodyPr/>
                    <a:lstStyle/>
                    <a:p>
                      <a:pPr rtl="0" algn="l"/>
                      <a:r>
                        <a:rPr sz="1300" b="0" i="0" lang="en-US">
                          <a:solidFill>
                            <a:srgbClr val="1C2333"/>
                          </a:solidFill>
                          <a:latin typeface="Segoe UI"/>
                        </a:rPr>
                        <a:t>How are you?</a:t>
                      </a:r>
                    </a:p>
                  </a:txBody>
                  <a:tcPr>
                    <a:solidFill>
                      <a:srgbClr val="EEF3FA"/>
                    </a:solidFill>
                  </a:tcPr>
                </a:tc>
                <a:tc>
                  <a:txBody>
                    <a:bodyPr/>
                    <a:lstStyle/>
                    <a:p>
                      <a:pPr rtl="0" algn="l"/>
                      <a:r>
                        <a:rPr sz="1300" b="0" i="0" lang="en-US">
                          <a:solidFill>
                            <a:srgbClr val="1C2333"/>
                          </a:solidFill>
                          <a:latin typeface="Segoe UI"/>
                        </a:rPr>
                        <a:t>I'm fine, thank you.</a:t>
                      </a:r>
                    </a:p>
                  </a:txBody>
                  <a:tcPr>
                    <a:solidFill>
                      <a:srgbClr val="EEF3FA"/>
                    </a:solidFill>
                  </a:tcPr>
                </a:tc>
                <a:tc>
                  <a:txBody>
                    <a:bodyPr/>
                    <a:lstStyle/>
                    <a:p>
                      <a:pPr rtl="1" algn="r"/>
                      <a:r>
                        <a:rPr sz="1600" b="0" i="0" lang="ar-EG" altLang="en-US">
                          <a:solidFill>
                            <a:srgbClr val="1C2333"/>
                          </a:solidFill>
                          <a:latin typeface="Traditional Arabic"/>
                        </a:rPr>
                        <a:t>كيف حالك؟</a:t>
                      </a:r>
                    </a:p>
                  </a:txBody>
                  <a:tcPr>
                    <a:solidFill>
                      <a:srgbClr val="EEF3FA"/>
                    </a:solidFill>
                  </a:tcPr>
                </a:tc>
              </a:tr>
              <a:tr h="347472">
                <a:tc>
                  <a:txBody>
                    <a:bodyPr/>
                    <a:lstStyle/>
                    <a:p>
                      <a:pPr rtl="0" algn="l"/>
                      <a:r>
                        <a:rPr sz="1300" b="0" i="0" lang="en-US">
                          <a:solidFill>
                            <a:srgbClr val="1C2333"/>
                          </a:solidFill>
                          <a:latin typeface="Segoe UI"/>
                        </a:rPr>
                        <a:t>How old are you?</a:t>
                      </a:r>
                    </a:p>
                  </a:txBody>
                  <a:tcPr>
                    <a:solidFill>
                      <a:srgbClr val="FFFFFF"/>
                    </a:solidFill>
                  </a:tcPr>
                </a:tc>
                <a:tc>
                  <a:txBody>
                    <a:bodyPr/>
                    <a:lstStyle/>
                    <a:p>
                      <a:pPr rtl="0" algn="l"/>
                      <a:r>
                        <a:rPr sz="1300" b="0" i="0" lang="en-US">
                          <a:solidFill>
                            <a:srgbClr val="1C2333"/>
                          </a:solidFill>
                          <a:latin typeface="Segoe UI"/>
                        </a:rPr>
                        <a:t>I'm 10 years old.</a:t>
                      </a:r>
                    </a:p>
                  </a:txBody>
                  <a:tcPr>
                    <a:solidFill>
                      <a:srgbClr val="FFFFFF"/>
                    </a:solidFill>
                  </a:tcPr>
                </a:tc>
                <a:tc>
                  <a:txBody>
                    <a:bodyPr/>
                    <a:lstStyle/>
                    <a:p>
                      <a:pPr rtl="1" algn="r"/>
                      <a:r>
                        <a:rPr sz="1600" b="0" i="0" lang="ar-EG" altLang="en-US">
                          <a:solidFill>
                            <a:srgbClr val="1C2333"/>
                          </a:solidFill>
                          <a:latin typeface="Traditional Arabic"/>
                        </a:rPr>
                        <a:t>كم عمرك؟</a:t>
                      </a:r>
                    </a:p>
                  </a:txBody>
                  <a:tcPr>
                    <a:solidFill>
                      <a:srgbClr val="FFFFFF"/>
                    </a:solidFill>
                  </a:tcPr>
                </a:tc>
              </a:tr>
              <a:tr h="347472">
                <a:tc>
                  <a:txBody>
                    <a:bodyPr/>
                    <a:lstStyle/>
                    <a:p>
                      <a:pPr rtl="0" algn="l"/>
                      <a:r>
                        <a:rPr sz="1300" b="0" i="0" lang="en-US">
                          <a:solidFill>
                            <a:srgbClr val="1C2333"/>
                          </a:solidFill>
                          <a:latin typeface="Segoe UI"/>
                        </a:rPr>
                        <a:t>Where are you from?</a:t>
                      </a:r>
                    </a:p>
                  </a:txBody>
                  <a:tcPr>
                    <a:solidFill>
                      <a:srgbClr val="EEF3FA"/>
                    </a:solidFill>
                  </a:tcPr>
                </a:tc>
                <a:tc>
                  <a:txBody>
                    <a:bodyPr/>
                    <a:lstStyle/>
                    <a:p>
                      <a:pPr rtl="0" algn="l"/>
                      <a:r>
                        <a:rPr sz="1300" b="0" i="0" lang="en-US">
                          <a:solidFill>
                            <a:srgbClr val="1C2333"/>
                          </a:solidFill>
                          <a:latin typeface="Segoe UI"/>
                        </a:rPr>
                        <a:t>I'm from Egypt.</a:t>
                      </a:r>
                    </a:p>
                  </a:txBody>
                  <a:tcPr>
                    <a:solidFill>
                      <a:srgbClr val="EEF3FA"/>
                    </a:solidFill>
                  </a:tcPr>
                </a:tc>
                <a:tc>
                  <a:txBody>
                    <a:bodyPr/>
                    <a:lstStyle/>
                    <a:p>
                      <a:pPr rtl="1" algn="r"/>
                      <a:r>
                        <a:rPr sz="1600" b="0" i="0" lang="ar-EG" altLang="en-US">
                          <a:solidFill>
                            <a:srgbClr val="1C2333"/>
                          </a:solidFill>
                          <a:latin typeface="Traditional Arabic"/>
                        </a:rPr>
                        <a:t>من أين أنت؟</a:t>
                      </a:r>
                    </a:p>
                  </a:txBody>
                  <a:tcPr>
                    <a:solidFill>
                      <a:srgbClr val="EEF3FA"/>
                    </a:solidFill>
                  </a:tcPr>
                </a:tc>
              </a:tr>
            </a:tbl>
          </a:graphicData>
        </a:graphic>
      </p:graphicFrame>
    </p:spTree>
  </p:cSld>
  <p:clrMapOvr>
    <a:masterClrMapping/>
  </p:clrMapOvr>
  <p:transition spd="med">
    <p:wipe dir="r"/>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5B22"/>
                          </a:solidFill>
                          <a:latin typeface="Segoe UI"/>
                        </a:rPr>
                        <a:t>Good morning.</a:t>
                      </a:r>
                    </a:p>
                  </a:txBody>
                  <a:tcPr>
                    <a:solidFill>
                      <a:srgbClr val="FFFFFF"/>
                    </a:solidFill>
                  </a:tcPr>
                </a:tc>
                <a:tc>
                  <a:txBody>
                    <a:bodyPr/>
                    <a:lstStyle/>
                    <a:p>
                      <a:pPr rtl="1" algn="r"/>
                      <a:r>
                        <a:rPr sz="1700" b="0" i="0" lang="ar-EG" altLang="en-US">
                          <a:solidFill>
                            <a:srgbClr val="1C2333"/>
                          </a:solidFill>
                          <a:latin typeface="Traditional Arabic"/>
                        </a:rPr>
                        <a:t>صباح الخير</a:t>
                      </a:r>
                    </a:p>
                  </a:txBody>
                  <a:tcPr>
                    <a:solidFill>
                      <a:srgbClr val="FFFFFF"/>
                    </a:solidFill>
                  </a:tcPr>
                </a:tc>
                <a:tc>
                  <a:txBody>
                    <a:bodyPr/>
                    <a:lstStyle/>
                    <a:p>
                      <a:pPr rtl="0" algn="l"/>
                      <a:r>
                        <a:rPr sz="1500" b="1" i="0" lang="en-US">
                          <a:solidFill>
                            <a:srgbClr val="945B22"/>
                          </a:solidFill>
                          <a:latin typeface="Segoe UI"/>
                        </a:rPr>
                        <a:t>Hello / Hi.</a:t>
                      </a:r>
                    </a:p>
                  </a:txBody>
                  <a:tcPr>
                    <a:solidFill>
                      <a:srgbClr val="FFFFFF"/>
                    </a:solidFill>
                  </a:tcPr>
                </a:tc>
                <a:tc>
                  <a:txBody>
                    <a:bodyPr/>
                    <a:lstStyle/>
                    <a:p>
                      <a:pPr rtl="1" algn="r"/>
                      <a:r>
                        <a:rPr sz="1700" b="0" i="0" lang="ar-EG" altLang="en-US">
                          <a:solidFill>
                            <a:srgbClr val="1C2333"/>
                          </a:solidFill>
                          <a:latin typeface="Traditional Arabic"/>
                        </a:rPr>
                        <a:t>أهلاً / مرحباً</a:t>
                      </a:r>
                    </a:p>
                  </a:txBody>
                  <a:tcPr>
                    <a:solidFill>
                      <a:srgbClr val="FFFFFF"/>
                    </a:solidFill>
                  </a:tcPr>
                </a:tc>
                <a:tc>
                  <a:txBody>
                    <a:bodyPr/>
                    <a:lstStyle/>
                    <a:p>
                      <a:pPr rtl="0" algn="l"/>
                      <a:r>
                        <a:rPr sz="1500" b="1" i="0" lang="en-US">
                          <a:solidFill>
                            <a:srgbClr val="945B22"/>
                          </a:solidFill>
                          <a:latin typeface="Segoe UI"/>
                        </a:rPr>
                        <a:t>Nice to meet you.</a:t>
                      </a:r>
                    </a:p>
                  </a:txBody>
                  <a:tcPr>
                    <a:solidFill>
                      <a:srgbClr val="FFFFFF"/>
                    </a:solidFill>
                  </a:tcPr>
                </a:tc>
                <a:tc>
                  <a:txBody>
                    <a:bodyPr/>
                    <a:lstStyle/>
                    <a:p>
                      <a:pPr rtl="1" algn="r"/>
                      <a:r>
                        <a:rPr sz="1700" b="0" i="0" lang="ar-EG" altLang="en-US">
                          <a:solidFill>
                            <a:srgbClr val="1C2333"/>
                          </a:solidFill>
                          <a:latin typeface="Traditional Arabic"/>
                        </a:rPr>
                        <a:t>سعدت بلقائك</a:t>
                      </a:r>
                    </a:p>
                  </a:txBody>
                  <a:tcPr>
                    <a:solidFill>
                      <a:srgbClr val="FFFFFF"/>
                    </a:solidFill>
                  </a:tcPr>
                </a:tc>
              </a:tr>
              <a:tr h="384048">
                <a:tc>
                  <a:txBody>
                    <a:bodyPr/>
                    <a:lstStyle/>
                    <a:p>
                      <a:pPr rtl="0" algn="l"/>
                      <a:r>
                        <a:rPr sz="1500" b="1" i="0" lang="en-US">
                          <a:solidFill>
                            <a:srgbClr val="945B22"/>
                          </a:solidFill>
                          <a:latin typeface="Segoe UI"/>
                        </a:rPr>
                        <a:t>Good afternoon.</a:t>
                      </a:r>
                    </a:p>
                  </a:txBody>
                  <a:tcPr>
                    <a:solidFill>
                      <a:srgbClr val="EEF3FA"/>
                    </a:solidFill>
                  </a:tcPr>
                </a:tc>
                <a:tc>
                  <a:txBody>
                    <a:bodyPr/>
                    <a:lstStyle/>
                    <a:p>
                      <a:pPr rtl="1" algn="r"/>
                      <a:r>
                        <a:rPr sz="1700" b="0" i="0" lang="ar-EG" altLang="en-US">
                          <a:solidFill>
                            <a:srgbClr val="1C2333"/>
                          </a:solidFill>
                          <a:latin typeface="Traditional Arabic"/>
                        </a:rPr>
                        <a:t>مساء الخير (بعد الظهر)</a:t>
                      </a:r>
                    </a:p>
                  </a:txBody>
                  <a:tcPr>
                    <a:solidFill>
                      <a:srgbClr val="EEF3FA"/>
                    </a:solidFill>
                  </a:tcPr>
                </a:tc>
                <a:tc>
                  <a:txBody>
                    <a:bodyPr/>
                    <a:lstStyle/>
                    <a:p>
                      <a:pPr rtl="0" algn="l"/>
                      <a:r>
                        <a:rPr sz="1500" b="1" i="0" lang="en-US">
                          <a:solidFill>
                            <a:srgbClr val="945B22"/>
                          </a:solidFill>
                          <a:latin typeface="Segoe UI"/>
                        </a:rPr>
                        <a:t>Have a nice day.</a:t>
                      </a:r>
                    </a:p>
                  </a:txBody>
                  <a:tcPr>
                    <a:solidFill>
                      <a:srgbClr val="EEF3FA"/>
                    </a:solidFill>
                  </a:tcPr>
                </a:tc>
                <a:tc>
                  <a:txBody>
                    <a:bodyPr/>
                    <a:lstStyle/>
                    <a:p>
                      <a:pPr rtl="1" algn="r"/>
                      <a:r>
                        <a:rPr sz="1700" b="0" i="0" lang="ar-EG" altLang="en-US">
                          <a:solidFill>
                            <a:srgbClr val="1C2333"/>
                          </a:solidFill>
                          <a:latin typeface="Traditional Arabic"/>
                        </a:rPr>
                        <a:t>أتمنى لك يوماً سعيداً</a:t>
                      </a:r>
                    </a:p>
                  </a:txBody>
                  <a:tcPr>
                    <a:solidFill>
                      <a:srgbClr val="EEF3FA"/>
                    </a:solidFill>
                  </a:tcPr>
                </a:tc>
                <a:tc>
                  <a:txBody>
                    <a:bodyPr/>
                    <a:lstStyle/>
                    <a:p>
                      <a:pPr rtl="0" algn="l"/>
                      <a:r>
                        <a:rPr sz="1500" b="1" i="0" lang="en-US">
                          <a:solidFill>
                            <a:srgbClr val="945B22"/>
                          </a:solidFill>
                          <a:latin typeface="Segoe UI"/>
                        </a:rPr>
                        <a:t>Have a nice time.</a:t>
                      </a:r>
                    </a:p>
                  </a:txBody>
                  <a:tcPr>
                    <a:solidFill>
                      <a:srgbClr val="EEF3FA"/>
                    </a:solidFill>
                  </a:tcPr>
                </a:tc>
                <a:tc>
                  <a:txBody>
                    <a:bodyPr/>
                    <a:lstStyle/>
                    <a:p>
                      <a:pPr rtl="1" algn="r"/>
                      <a:r>
                        <a:rPr sz="1700" b="0" i="0" lang="ar-EG" altLang="en-US">
                          <a:solidFill>
                            <a:srgbClr val="1C2333"/>
                          </a:solidFill>
                          <a:latin typeface="Traditional Arabic"/>
                        </a:rPr>
                        <a:t>أتمنى لك وقتاً ممتعاً</a:t>
                      </a:r>
                    </a:p>
                  </a:txBody>
                  <a:tcPr>
                    <a:solidFill>
                      <a:srgbClr val="EEF3FA"/>
                    </a:solidFill>
                  </a:tcPr>
                </a:tc>
              </a:tr>
              <a:tr h="384048">
                <a:tc>
                  <a:txBody>
                    <a:bodyPr/>
                    <a:lstStyle/>
                    <a:p>
                      <a:pPr rtl="0" algn="l"/>
                      <a:r>
                        <a:rPr sz="1500" b="1" i="0" lang="en-US">
                          <a:solidFill>
                            <a:srgbClr val="945B22"/>
                          </a:solidFill>
                          <a:latin typeface="Segoe UI"/>
                        </a:rPr>
                        <a:t>Good evening.</a:t>
                      </a:r>
                    </a:p>
                  </a:txBody>
                  <a:tcPr>
                    <a:solidFill>
                      <a:srgbClr val="FFFFFF"/>
                    </a:solidFill>
                  </a:tcPr>
                </a:tc>
                <a:tc>
                  <a:txBody>
                    <a:bodyPr/>
                    <a:lstStyle/>
                    <a:p>
                      <a:pPr rtl="1" algn="r"/>
                      <a:r>
                        <a:rPr sz="1700" b="0" i="0" lang="ar-EG" altLang="en-US">
                          <a:solidFill>
                            <a:srgbClr val="1C2333"/>
                          </a:solidFill>
                          <a:latin typeface="Traditional Arabic"/>
                        </a:rPr>
                        <a:t>مساء الخير</a:t>
                      </a:r>
                    </a:p>
                  </a:txBody>
                  <a:tcPr>
                    <a:solidFill>
                      <a:srgbClr val="FFFFFF"/>
                    </a:solidFill>
                  </a:tcPr>
                </a:tc>
                <a:tc>
                  <a:txBody>
                    <a:bodyPr/>
                    <a:lstStyle/>
                    <a:p>
                      <a:pPr rtl="0" algn="l"/>
                      <a:r>
                        <a:rPr sz="1500" b="1" i="0" lang="en-US">
                          <a:solidFill>
                            <a:srgbClr val="945B22"/>
                          </a:solidFill>
                          <a:latin typeface="Segoe UI"/>
                        </a:rPr>
                        <a:t>Thank you.</a:t>
                      </a:r>
                    </a:p>
                  </a:txBody>
                  <a:tcPr>
                    <a:solidFill>
                      <a:srgbClr val="FFFFFF"/>
                    </a:solidFill>
                  </a:tcPr>
                </a:tc>
                <a:tc>
                  <a:txBody>
                    <a:bodyPr/>
                    <a:lstStyle/>
                    <a:p>
                      <a:pPr rtl="1" algn="r"/>
                      <a:r>
                        <a:rPr sz="1700" b="0" i="0" lang="ar-EG" altLang="en-US">
                          <a:solidFill>
                            <a:srgbClr val="1C2333"/>
                          </a:solidFill>
                          <a:latin typeface="Traditional Arabic"/>
                        </a:rPr>
                        <a:t>شكراً لك</a:t>
                      </a:r>
                    </a:p>
                  </a:txBody>
                  <a:tcPr>
                    <a:solidFill>
                      <a:srgbClr val="FFFFFF"/>
                    </a:solidFill>
                  </a:tcPr>
                </a:tc>
                <a:tc>
                  <a:txBody>
                    <a:bodyPr/>
                    <a:lstStyle/>
                    <a:p>
                      <a:pPr rtl="0" algn="l"/>
                    </a:p>
                  </a:txBody>
                  <a:tcPr>
                    <a:solidFill>
                      <a:srgbClr val="FFFFFF"/>
                    </a:solidFill>
                  </a:tcPr>
                </a:tc>
                <a:tc>
                  <a:txBody>
                    <a:bodyPr/>
                    <a:lstStyle/>
                    <a:p>
                      <a:pPr rtl="0" algn="l"/>
                    </a:p>
                  </a:txBody>
                  <a:tcPr>
                    <a:solidFill>
                      <a:srgbClr val="FFFFFF"/>
                    </a:solidFill>
                  </a:tcPr>
                </a:tc>
              </a:tr>
              <a:tr h="384048">
                <a:tc>
                  <a:txBody>
                    <a:bodyPr/>
                    <a:lstStyle/>
                    <a:p>
                      <a:pPr rtl="0" algn="l"/>
                      <a:r>
                        <a:rPr sz="1500" b="1" i="0" lang="en-US">
                          <a:solidFill>
                            <a:srgbClr val="945B22"/>
                          </a:solidFill>
                          <a:latin typeface="Segoe UI"/>
                        </a:rPr>
                        <a:t>Good night.</a:t>
                      </a:r>
                    </a:p>
                  </a:txBody>
                  <a:tcPr>
                    <a:solidFill>
                      <a:srgbClr val="EEF3FA"/>
                    </a:solidFill>
                  </a:tcPr>
                </a:tc>
                <a:tc>
                  <a:txBody>
                    <a:bodyPr/>
                    <a:lstStyle/>
                    <a:p>
                      <a:pPr rtl="1" algn="r"/>
                      <a:r>
                        <a:rPr sz="1700" b="0" i="0" lang="ar-EG" altLang="en-US">
                          <a:solidFill>
                            <a:srgbClr val="1C2333"/>
                          </a:solidFill>
                          <a:latin typeface="Traditional Arabic"/>
                        </a:rPr>
                        <a:t>تصبح على خير</a:t>
                      </a:r>
                    </a:p>
                  </a:txBody>
                  <a:tcPr>
                    <a:solidFill>
                      <a:srgbClr val="EEF3FA"/>
                    </a:solidFill>
                  </a:tcPr>
                </a:tc>
                <a:tc>
                  <a:txBody>
                    <a:bodyPr/>
                    <a:lstStyle/>
                    <a:p>
                      <a:pPr rtl="0" algn="l"/>
                      <a:r>
                        <a:rPr sz="1500" b="1" i="0" lang="en-US">
                          <a:solidFill>
                            <a:srgbClr val="945B22"/>
                          </a:solidFill>
                          <a:latin typeface="Segoe UI"/>
                        </a:rPr>
                        <a:t>You are welcome.</a:t>
                      </a:r>
                    </a:p>
                  </a:txBody>
                  <a:tcPr>
                    <a:solidFill>
                      <a:srgbClr val="EEF3FA"/>
                    </a:solidFill>
                  </a:tcPr>
                </a:tc>
                <a:tc>
                  <a:txBody>
                    <a:bodyPr/>
                    <a:lstStyle/>
                    <a:p>
                      <a:pPr rtl="1" algn="r"/>
                      <a:r>
                        <a:rPr sz="1700" b="0" i="0" lang="ar-EG" altLang="en-US">
                          <a:solidFill>
                            <a:srgbClr val="1C2333"/>
                          </a:solidFill>
                          <a:latin typeface="Traditional Arabic"/>
                        </a:rPr>
                        <a:t>على الرحب والسعة</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transition spd="med">
    <p:split orient="vert" dir="out"/>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5B22"/>
                          </a:solidFill>
                          <a:latin typeface="Segoe UI"/>
                        </a:rPr>
                        <a:t>What</a:t>
                      </a:r>
                    </a:p>
                  </a:txBody>
                  <a:tcPr>
                    <a:solidFill>
                      <a:srgbClr val="FFFFFF"/>
                    </a:solidFill>
                  </a:tcPr>
                </a:tc>
                <a:tc>
                  <a:txBody>
                    <a:bodyPr/>
                    <a:lstStyle/>
                    <a:p>
                      <a:pPr rtl="1" algn="r"/>
                      <a:r>
                        <a:rPr sz="1700" b="0" i="0" lang="ar-EG" altLang="en-US">
                          <a:solidFill>
                            <a:srgbClr val="1C2333"/>
                          </a:solidFill>
                          <a:latin typeface="Traditional Arabic"/>
                        </a:rPr>
                        <a:t>ماذا / ما</a:t>
                      </a:r>
                    </a:p>
                  </a:txBody>
                  <a:tcPr>
                    <a:solidFill>
                      <a:srgbClr val="FFFFFF"/>
                    </a:solidFill>
                  </a:tcPr>
                </a:tc>
                <a:tc>
                  <a:txBody>
                    <a:bodyPr/>
                    <a:lstStyle/>
                    <a:p>
                      <a:pPr rtl="0" algn="l"/>
                      <a:r>
                        <a:rPr sz="1500" b="1" i="0" lang="en-US">
                          <a:solidFill>
                            <a:srgbClr val="945B22"/>
                          </a:solidFill>
                          <a:latin typeface="Segoe UI"/>
                        </a:rPr>
                        <a:t>thank</a:t>
                      </a:r>
                    </a:p>
                  </a:txBody>
                  <a:tcPr>
                    <a:solidFill>
                      <a:srgbClr val="FFFFFF"/>
                    </a:solidFill>
                  </a:tcPr>
                </a:tc>
                <a:tc>
                  <a:txBody>
                    <a:bodyPr/>
                    <a:lstStyle/>
                    <a:p>
                      <a:pPr rtl="1" algn="r"/>
                      <a:r>
                        <a:rPr sz="1700" b="0" i="0" lang="ar-EG" altLang="en-US">
                          <a:solidFill>
                            <a:srgbClr val="1C2333"/>
                          </a:solidFill>
                          <a:latin typeface="Traditional Arabic"/>
                        </a:rPr>
                        <a:t>يشكر</a:t>
                      </a:r>
                    </a:p>
                  </a:txBody>
                  <a:tcPr>
                    <a:solidFill>
                      <a:srgbClr val="FFFFFF"/>
                    </a:solidFill>
                  </a:tcPr>
                </a:tc>
                <a:tc>
                  <a:txBody>
                    <a:bodyPr/>
                    <a:lstStyle/>
                    <a:p>
                      <a:pPr rtl="0" algn="l"/>
                      <a:r>
                        <a:rPr sz="1500" b="1" i="0" lang="en-US">
                          <a:solidFill>
                            <a:srgbClr val="945B22"/>
                          </a:solidFill>
                          <a:latin typeface="Segoe UI"/>
                        </a:rPr>
                        <a:t>from</a:t>
                      </a:r>
                    </a:p>
                  </a:txBody>
                  <a:tcPr>
                    <a:solidFill>
                      <a:srgbClr val="FFFFFF"/>
                    </a:solidFill>
                  </a:tcPr>
                </a:tc>
                <a:tc>
                  <a:txBody>
                    <a:bodyPr/>
                    <a:lstStyle/>
                    <a:p>
                      <a:pPr rtl="1" algn="r"/>
                      <a:r>
                        <a:rPr sz="1700" b="0" i="0" lang="ar-EG" altLang="en-US">
                          <a:solidFill>
                            <a:srgbClr val="1C2333"/>
                          </a:solidFill>
                          <a:latin typeface="Traditional Arabic"/>
                        </a:rPr>
                        <a:t>من</a:t>
                      </a:r>
                    </a:p>
                  </a:txBody>
                  <a:tcPr>
                    <a:solidFill>
                      <a:srgbClr val="FFFFFF"/>
                    </a:solidFill>
                  </a:tcPr>
                </a:tc>
              </a:tr>
              <a:tr h="384048">
                <a:tc>
                  <a:txBody>
                    <a:bodyPr/>
                    <a:lstStyle/>
                    <a:p>
                      <a:pPr rtl="0" algn="l"/>
                      <a:r>
                        <a:rPr sz="1500" b="1" i="0" lang="en-US">
                          <a:solidFill>
                            <a:srgbClr val="945B22"/>
                          </a:solidFill>
                          <a:latin typeface="Segoe UI"/>
                        </a:rPr>
                        <a:t>name</a:t>
                      </a:r>
                    </a:p>
                  </a:txBody>
                  <a:tcPr>
                    <a:solidFill>
                      <a:srgbClr val="EEF3FA"/>
                    </a:solidFill>
                  </a:tcPr>
                </a:tc>
                <a:tc>
                  <a:txBody>
                    <a:bodyPr/>
                    <a:lstStyle/>
                    <a:p>
                      <a:pPr rtl="1" algn="r"/>
                      <a:r>
                        <a:rPr sz="1700" b="0" i="0" lang="ar-EG" altLang="en-US">
                          <a:solidFill>
                            <a:srgbClr val="1C2333"/>
                          </a:solidFill>
                          <a:latin typeface="Traditional Arabic"/>
                        </a:rPr>
                        <a:t>اسم</a:t>
                      </a:r>
                    </a:p>
                  </a:txBody>
                  <a:tcPr>
                    <a:solidFill>
                      <a:srgbClr val="EEF3FA"/>
                    </a:solidFill>
                  </a:tcPr>
                </a:tc>
                <a:tc>
                  <a:txBody>
                    <a:bodyPr/>
                    <a:lstStyle/>
                    <a:p>
                      <a:pPr rtl="0" algn="l"/>
                      <a:r>
                        <a:rPr sz="1500" b="1" i="0" lang="en-US">
                          <a:solidFill>
                            <a:srgbClr val="945B22"/>
                          </a:solidFill>
                          <a:latin typeface="Segoe UI"/>
                        </a:rPr>
                        <a:t>old</a:t>
                      </a:r>
                    </a:p>
                  </a:txBody>
                  <a:tcPr>
                    <a:solidFill>
                      <a:srgbClr val="EEF3FA"/>
                    </a:solidFill>
                  </a:tcPr>
                </a:tc>
                <a:tc>
                  <a:txBody>
                    <a:bodyPr/>
                    <a:lstStyle/>
                    <a:p>
                      <a:pPr rtl="1" algn="r"/>
                      <a:r>
                        <a:rPr sz="1700" b="0" i="0" lang="ar-EG" altLang="en-US">
                          <a:solidFill>
                            <a:srgbClr val="1C2333"/>
                          </a:solidFill>
                          <a:latin typeface="Traditional Arabic"/>
                        </a:rPr>
                        <a:t>عمر / سن</a:t>
                      </a:r>
                    </a:p>
                  </a:txBody>
                  <a:tcPr>
                    <a:solidFill>
                      <a:srgbClr val="EEF3FA"/>
                    </a:solidFill>
                  </a:tcPr>
                </a:tc>
                <a:tc>
                  <a:txBody>
                    <a:bodyPr/>
                    <a:lstStyle/>
                    <a:p>
                      <a:pPr rtl="0" algn="l"/>
                      <a:r>
                        <a:rPr sz="1500" b="1" i="0" lang="en-US">
                          <a:solidFill>
                            <a:srgbClr val="945B22"/>
                          </a:solidFill>
                          <a:latin typeface="Segoe UI"/>
                        </a:rPr>
                        <a:t>Egypt</a:t>
                      </a:r>
                    </a:p>
                  </a:txBody>
                  <a:tcPr>
                    <a:solidFill>
                      <a:srgbClr val="EEF3FA"/>
                    </a:solidFill>
                  </a:tcPr>
                </a:tc>
                <a:tc>
                  <a:txBody>
                    <a:bodyPr/>
                    <a:lstStyle/>
                    <a:p>
                      <a:pPr rtl="1" algn="r"/>
                      <a:r>
                        <a:rPr sz="1700" b="0" i="0" lang="ar-EG" altLang="en-US">
                          <a:solidFill>
                            <a:srgbClr val="1C2333"/>
                          </a:solidFill>
                          <a:latin typeface="Traditional Arabic"/>
                        </a:rPr>
                        <a:t>مصر</a:t>
                      </a:r>
                    </a:p>
                  </a:txBody>
                  <a:tcPr>
                    <a:solidFill>
                      <a:srgbClr val="EEF3FA"/>
                    </a:solidFill>
                  </a:tcPr>
                </a:tc>
              </a:tr>
              <a:tr h="384048">
                <a:tc>
                  <a:txBody>
                    <a:bodyPr/>
                    <a:lstStyle/>
                    <a:p>
                      <a:pPr rtl="0" algn="l"/>
                      <a:r>
                        <a:rPr sz="1500" b="1" i="0" lang="en-US">
                          <a:solidFill>
                            <a:srgbClr val="945B22"/>
                          </a:solidFill>
                          <a:latin typeface="Segoe UI"/>
                        </a:rPr>
                        <a:t>How</a:t>
                      </a:r>
                    </a:p>
                  </a:txBody>
                  <a:tcPr>
                    <a:solidFill>
                      <a:srgbClr val="FFFFFF"/>
                    </a:solidFill>
                  </a:tcPr>
                </a:tc>
                <a:tc>
                  <a:txBody>
                    <a:bodyPr/>
                    <a:lstStyle/>
                    <a:p>
                      <a:pPr rtl="1" algn="r"/>
                      <a:r>
                        <a:rPr sz="1700" b="0" i="0" lang="ar-EG" altLang="en-US">
                          <a:solidFill>
                            <a:srgbClr val="1C2333"/>
                          </a:solidFill>
                          <a:latin typeface="Traditional Arabic"/>
                        </a:rPr>
                        <a:t>كيف</a:t>
                      </a:r>
                    </a:p>
                  </a:txBody>
                  <a:tcPr>
                    <a:solidFill>
                      <a:srgbClr val="FFFFFF"/>
                    </a:solidFill>
                  </a:tcPr>
                </a:tc>
                <a:tc>
                  <a:txBody>
                    <a:bodyPr/>
                    <a:lstStyle/>
                    <a:p>
                      <a:pPr rtl="0" algn="l"/>
                      <a:r>
                        <a:rPr sz="1500" b="1" i="0" lang="en-US">
                          <a:solidFill>
                            <a:srgbClr val="945B22"/>
                          </a:solidFill>
                          <a:latin typeface="Segoe UI"/>
                        </a:rPr>
                        <a:t>year</a:t>
                      </a:r>
                    </a:p>
                  </a:txBody>
                  <a:tcPr>
                    <a:solidFill>
                      <a:srgbClr val="FFFFFF"/>
                    </a:solidFill>
                  </a:tcPr>
                </a:tc>
                <a:tc>
                  <a:txBody>
                    <a:bodyPr/>
                    <a:lstStyle/>
                    <a:p>
                      <a:pPr rtl="1" algn="r"/>
                      <a:r>
                        <a:rPr sz="1700" b="0" i="0" lang="ar-EG" altLang="en-US">
                          <a:solidFill>
                            <a:srgbClr val="1C2333"/>
                          </a:solidFill>
                          <a:latin typeface="Traditional Arabic"/>
                        </a:rPr>
                        <a:t>سنة / عام</a:t>
                      </a:r>
                    </a:p>
                  </a:txBody>
                  <a:tcPr>
                    <a:solidFill>
                      <a:srgbClr val="FFFFFF"/>
                    </a:solidFill>
                  </a:tcPr>
                </a:tc>
                <a:tc>
                  <a:txBody>
                    <a:bodyPr/>
                    <a:lstStyle/>
                    <a:p>
                      <a:pPr rtl="0" algn="l"/>
                      <a:r>
                        <a:rPr sz="1500" b="1" i="0" lang="en-US">
                          <a:solidFill>
                            <a:srgbClr val="945B22"/>
                          </a:solidFill>
                          <a:latin typeface="Segoe UI"/>
                        </a:rPr>
                        <a:t>morning</a:t>
                      </a:r>
                    </a:p>
                  </a:txBody>
                  <a:tcPr>
                    <a:solidFill>
                      <a:srgbClr val="FFFFFF"/>
                    </a:solidFill>
                  </a:tcPr>
                </a:tc>
                <a:tc>
                  <a:txBody>
                    <a:bodyPr/>
                    <a:lstStyle/>
                    <a:p>
                      <a:pPr rtl="1" algn="r"/>
                      <a:r>
                        <a:rPr sz="1700" b="0" i="0" lang="ar-EG" altLang="en-US">
                          <a:solidFill>
                            <a:srgbClr val="1C2333"/>
                          </a:solidFill>
                          <a:latin typeface="Traditional Arabic"/>
                        </a:rPr>
                        <a:t>صباح</a:t>
                      </a:r>
                    </a:p>
                  </a:txBody>
                  <a:tcPr>
                    <a:solidFill>
                      <a:srgbClr val="FFFFFF"/>
                    </a:solidFill>
                  </a:tcPr>
                </a:tc>
              </a:tr>
              <a:tr h="384048">
                <a:tc>
                  <a:txBody>
                    <a:bodyPr/>
                    <a:lstStyle/>
                    <a:p>
                      <a:pPr rtl="0" algn="l"/>
                      <a:r>
                        <a:rPr sz="1500" b="1" i="0" lang="en-US">
                          <a:solidFill>
                            <a:srgbClr val="945B22"/>
                          </a:solidFill>
                          <a:latin typeface="Segoe UI"/>
                        </a:rPr>
                        <a:t>fine</a:t>
                      </a:r>
                    </a:p>
                  </a:txBody>
                  <a:tcPr>
                    <a:solidFill>
                      <a:srgbClr val="EEF3FA"/>
                    </a:solidFill>
                  </a:tcPr>
                </a:tc>
                <a:tc>
                  <a:txBody>
                    <a:bodyPr/>
                    <a:lstStyle/>
                    <a:p>
                      <a:pPr rtl="1" algn="r"/>
                      <a:r>
                        <a:rPr sz="1700" b="0" i="0" lang="ar-EG" altLang="en-US">
                          <a:solidFill>
                            <a:srgbClr val="1C2333"/>
                          </a:solidFill>
                          <a:latin typeface="Traditional Arabic"/>
                        </a:rPr>
                        <a:t>بخير</a:t>
                      </a:r>
                    </a:p>
                  </a:txBody>
                  <a:tcPr>
                    <a:solidFill>
                      <a:srgbClr val="EEF3FA"/>
                    </a:solidFill>
                  </a:tcPr>
                </a:tc>
                <a:tc>
                  <a:txBody>
                    <a:bodyPr/>
                    <a:lstStyle/>
                    <a:p>
                      <a:pPr rtl="0" algn="l"/>
                      <a:r>
                        <a:rPr sz="1500" b="1" i="0" lang="en-US">
                          <a:solidFill>
                            <a:srgbClr val="945B22"/>
                          </a:solidFill>
                          <a:latin typeface="Segoe UI"/>
                        </a:rPr>
                        <a:t>Where</a:t>
                      </a:r>
                    </a:p>
                  </a:txBody>
                  <a:tcPr>
                    <a:solidFill>
                      <a:srgbClr val="EEF3FA"/>
                    </a:solidFill>
                  </a:tcPr>
                </a:tc>
                <a:tc>
                  <a:txBody>
                    <a:bodyPr/>
                    <a:lstStyle/>
                    <a:p>
                      <a:pPr rtl="1" algn="r"/>
                      <a:r>
                        <a:rPr sz="1700" b="0" i="0" lang="ar-EG" altLang="en-US">
                          <a:solidFill>
                            <a:srgbClr val="1C2333"/>
                          </a:solidFill>
                          <a:latin typeface="Traditional Arabic"/>
                        </a:rPr>
                        <a:t>أين</a:t>
                      </a:r>
                    </a:p>
                  </a:txBody>
                  <a:tcPr>
                    <a:solidFill>
                      <a:srgbClr val="EEF3FA"/>
                    </a:solidFill>
                  </a:tcPr>
                </a:tc>
                <a:tc>
                  <a:txBody>
                    <a:bodyPr/>
                    <a:lstStyle/>
                    <a:p>
                      <a:pPr rtl="0" algn="l"/>
                      <a:r>
                        <a:rPr sz="1500" b="1" i="0" lang="en-US">
                          <a:solidFill>
                            <a:srgbClr val="945B22"/>
                          </a:solidFill>
                          <a:latin typeface="Segoe UI"/>
                        </a:rPr>
                        <a:t>night</a:t>
                      </a:r>
                    </a:p>
                  </a:txBody>
                  <a:tcPr>
                    <a:solidFill>
                      <a:srgbClr val="EEF3FA"/>
                    </a:solidFill>
                  </a:tcPr>
                </a:tc>
                <a:tc>
                  <a:txBody>
                    <a:bodyPr/>
                    <a:lstStyle/>
                    <a:p>
                      <a:pPr rtl="1" algn="r"/>
                      <a:r>
                        <a:rPr sz="1700" b="0" i="0" lang="ar-EG" altLang="en-US">
                          <a:solidFill>
                            <a:srgbClr val="1C2333"/>
                          </a:solidFill>
                          <a:latin typeface="Traditional Arabic"/>
                        </a:rPr>
                        <a:t>ليل</a:t>
                      </a:r>
                    </a:p>
                  </a:txBody>
                  <a:tcPr>
                    <a:solidFill>
                      <a:srgbClr val="EEF3FA"/>
                    </a:solidFill>
                  </a:tcPr>
                </a:tc>
              </a:tr>
            </a:tbl>
          </a:graphicData>
        </a:graphic>
      </p:graphicFrame>
    </p:spTree>
  </p:cSld>
  <p:clrMapOvr>
    <a:masterClrMapping/>
  </p:clrMapOvr>
  <p:transition spd="med">
    <p:cover dir="d"/>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Finish the following dialogues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Hello.</a:t>
            </a:r>
          </a:p>
        </p:txBody>
      </p:sp>
      <p:sp>
        <p:nvSpPr>
          <p:cNvPr id="11" name="TextBox 10"/>
          <p:cNvSpPr txBox="1"/>
          <p:nvPr/>
        </p:nvSpPr>
        <p:spPr>
          <a:xfrm>
            <a:off x="6217920" y="146304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Hello.</a:t>
            </a:r>
          </a:p>
        </p:txBody>
      </p:sp>
      <p:sp>
        <p:nvSpPr>
          <p:cNvPr id="12" name="TextBox 11"/>
          <p:cNvSpPr txBox="1"/>
          <p:nvPr/>
        </p:nvSpPr>
        <p:spPr>
          <a:xfrm>
            <a:off x="411480" y="196596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a:t>
            </a:r>
          </a:p>
        </p:txBody>
      </p:sp>
      <p:sp>
        <p:nvSpPr>
          <p:cNvPr id="13" name="TextBox 12"/>
          <p:cNvSpPr txBox="1"/>
          <p:nvPr/>
        </p:nvSpPr>
        <p:spPr>
          <a:xfrm>
            <a:off x="6217920" y="196596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Hello. / Hi.</a:t>
            </a:r>
          </a:p>
        </p:txBody>
      </p:sp>
      <p:sp>
        <p:nvSpPr>
          <p:cNvPr id="14" name="TextBox 13"/>
          <p:cNvSpPr txBox="1"/>
          <p:nvPr/>
        </p:nvSpPr>
        <p:spPr>
          <a:xfrm>
            <a:off x="411480" y="246888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 ?</a:t>
            </a:r>
          </a:p>
        </p:txBody>
      </p:sp>
      <p:sp>
        <p:nvSpPr>
          <p:cNvPr id="15" name="TextBox 14"/>
          <p:cNvSpPr txBox="1"/>
          <p:nvPr/>
        </p:nvSpPr>
        <p:spPr>
          <a:xfrm>
            <a:off x="6217920" y="246888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What's your name ?</a:t>
            </a:r>
          </a:p>
        </p:txBody>
      </p:sp>
      <p:sp>
        <p:nvSpPr>
          <p:cNvPr id="16" name="TextBox 15"/>
          <p:cNvSpPr txBox="1"/>
          <p:nvPr/>
        </p:nvSpPr>
        <p:spPr>
          <a:xfrm>
            <a:off x="411480" y="297180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I'm Rody.</a:t>
            </a:r>
          </a:p>
        </p:txBody>
      </p:sp>
      <p:sp>
        <p:nvSpPr>
          <p:cNvPr id="17" name="TextBox 16"/>
          <p:cNvSpPr txBox="1"/>
          <p:nvPr/>
        </p:nvSpPr>
        <p:spPr>
          <a:xfrm>
            <a:off x="6217920" y="297180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I'm Rody.</a:t>
            </a:r>
          </a:p>
        </p:txBody>
      </p:sp>
      <p:sp>
        <p:nvSpPr>
          <p:cNvPr id="18" name="TextBox 17"/>
          <p:cNvSpPr txBox="1"/>
          <p:nvPr/>
        </p:nvSpPr>
        <p:spPr>
          <a:xfrm>
            <a:off x="411480" y="347472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How old are you?</a:t>
            </a:r>
          </a:p>
        </p:txBody>
      </p:sp>
      <p:sp>
        <p:nvSpPr>
          <p:cNvPr id="19" name="TextBox 18"/>
          <p:cNvSpPr txBox="1"/>
          <p:nvPr/>
        </p:nvSpPr>
        <p:spPr>
          <a:xfrm>
            <a:off x="6217920" y="347472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How old are you?</a:t>
            </a:r>
          </a:p>
        </p:txBody>
      </p:sp>
      <p:sp>
        <p:nvSpPr>
          <p:cNvPr id="20" name="TextBox 19"/>
          <p:cNvSpPr txBox="1"/>
          <p:nvPr/>
        </p:nvSpPr>
        <p:spPr>
          <a:xfrm>
            <a:off x="411480" y="397764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a:t>
            </a:r>
          </a:p>
        </p:txBody>
      </p:sp>
      <p:sp>
        <p:nvSpPr>
          <p:cNvPr id="21" name="TextBox 20"/>
          <p:cNvSpPr txBox="1"/>
          <p:nvPr/>
        </p:nvSpPr>
        <p:spPr>
          <a:xfrm>
            <a:off x="6217920" y="397764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I'm 10 years old.</a:t>
            </a:r>
          </a:p>
        </p:txBody>
      </p:sp>
      <p:sp>
        <p:nvSpPr>
          <p:cNvPr id="22" name="TextBox 21"/>
          <p:cNvSpPr txBox="1"/>
          <p:nvPr/>
        </p:nvSpPr>
        <p:spPr>
          <a:xfrm>
            <a:off x="411480" y="448056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 ?</a:t>
            </a:r>
          </a:p>
        </p:txBody>
      </p:sp>
      <p:sp>
        <p:nvSpPr>
          <p:cNvPr id="23" name="TextBox 22"/>
          <p:cNvSpPr txBox="1"/>
          <p:nvPr/>
        </p:nvSpPr>
        <p:spPr>
          <a:xfrm>
            <a:off x="6217920" y="448056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Where are you from ?</a:t>
            </a:r>
          </a:p>
        </p:txBody>
      </p:sp>
      <p:sp>
        <p:nvSpPr>
          <p:cNvPr id="24" name="TextBox 23"/>
          <p:cNvSpPr txBox="1"/>
          <p:nvPr/>
        </p:nvSpPr>
        <p:spPr>
          <a:xfrm>
            <a:off x="411480" y="498348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I'm from Egypt.</a:t>
            </a:r>
          </a:p>
        </p:txBody>
      </p:sp>
      <p:sp>
        <p:nvSpPr>
          <p:cNvPr id="25" name="TextBox 24"/>
          <p:cNvSpPr txBox="1"/>
          <p:nvPr/>
        </p:nvSpPr>
        <p:spPr>
          <a:xfrm>
            <a:off x="6217920" y="498348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I'm from Egypt.</a:t>
            </a:r>
          </a:p>
        </p:txBody>
      </p:sp>
      <p:sp>
        <p:nvSpPr>
          <p:cNvPr id="26" name="TextBox 25"/>
          <p:cNvSpPr txBox="1"/>
          <p:nvPr/>
        </p:nvSpPr>
        <p:spPr>
          <a:xfrm>
            <a:off x="411480" y="548640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Have a nice day.</a:t>
            </a:r>
          </a:p>
        </p:txBody>
      </p:sp>
      <p:sp>
        <p:nvSpPr>
          <p:cNvPr id="27" name="TextBox 26"/>
          <p:cNvSpPr txBox="1"/>
          <p:nvPr/>
        </p:nvSpPr>
        <p:spPr>
          <a:xfrm>
            <a:off x="6217920" y="548640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Have a nice day.</a:t>
            </a:r>
          </a:p>
        </p:txBody>
      </p:sp>
      <p:sp>
        <p:nvSpPr>
          <p:cNvPr id="28" name="TextBox 27"/>
          <p:cNvSpPr txBox="1"/>
          <p:nvPr/>
        </p:nvSpPr>
        <p:spPr>
          <a:xfrm>
            <a:off x="411480" y="598932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Thank you.</a:t>
            </a:r>
          </a:p>
        </p:txBody>
      </p:sp>
      <p:sp>
        <p:nvSpPr>
          <p:cNvPr id="29" name="TextBox 28"/>
          <p:cNvSpPr txBox="1"/>
          <p:nvPr/>
        </p:nvSpPr>
        <p:spPr>
          <a:xfrm>
            <a:off x="6217920" y="598932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Thank you.</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circle(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circle(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ircle(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circle(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circle(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circle(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circle(in)">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circle(in)">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circle(in)">
                                      <p:cBhvr>
                                        <p:cTn id="5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P spid="27" grpId="0"/>
      <p:bldP spid="29" grpId="0"/>
    </p:bld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Finish the following dialogues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Hi Rawan.</a:t>
            </a:r>
          </a:p>
        </p:txBody>
      </p:sp>
      <p:sp>
        <p:nvSpPr>
          <p:cNvPr id="11" name="TextBox 10"/>
          <p:cNvSpPr txBox="1"/>
          <p:nvPr/>
        </p:nvSpPr>
        <p:spPr>
          <a:xfrm>
            <a:off x="6217920" y="146304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Hi Rawan.</a:t>
            </a:r>
          </a:p>
        </p:txBody>
      </p:sp>
      <p:sp>
        <p:nvSpPr>
          <p:cNvPr id="12" name="TextBox 11"/>
          <p:cNvSpPr txBox="1"/>
          <p:nvPr/>
        </p:nvSpPr>
        <p:spPr>
          <a:xfrm>
            <a:off x="411480" y="196596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a:t>
            </a:r>
          </a:p>
        </p:txBody>
      </p:sp>
      <p:sp>
        <p:nvSpPr>
          <p:cNvPr id="13" name="TextBox 12"/>
          <p:cNvSpPr txBox="1"/>
          <p:nvPr/>
        </p:nvSpPr>
        <p:spPr>
          <a:xfrm>
            <a:off x="6217920" y="196596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Hi Leen.</a:t>
            </a:r>
          </a:p>
        </p:txBody>
      </p:sp>
      <p:sp>
        <p:nvSpPr>
          <p:cNvPr id="14" name="TextBox 13"/>
          <p:cNvSpPr txBox="1"/>
          <p:nvPr/>
        </p:nvSpPr>
        <p:spPr>
          <a:xfrm>
            <a:off x="411480" y="246888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Are you busy today?</a:t>
            </a:r>
          </a:p>
        </p:txBody>
      </p:sp>
      <p:sp>
        <p:nvSpPr>
          <p:cNvPr id="15" name="TextBox 14"/>
          <p:cNvSpPr txBox="1"/>
          <p:nvPr/>
        </p:nvSpPr>
        <p:spPr>
          <a:xfrm>
            <a:off x="6217920" y="246888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Are you busy today?</a:t>
            </a:r>
          </a:p>
        </p:txBody>
      </p:sp>
      <p:sp>
        <p:nvSpPr>
          <p:cNvPr id="16" name="TextBox 15"/>
          <p:cNvSpPr txBox="1"/>
          <p:nvPr/>
        </p:nvSpPr>
        <p:spPr>
          <a:xfrm>
            <a:off x="411480" y="297180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Yes, …… .</a:t>
            </a:r>
          </a:p>
        </p:txBody>
      </p:sp>
      <p:sp>
        <p:nvSpPr>
          <p:cNvPr id="17" name="TextBox 16"/>
          <p:cNvSpPr txBox="1"/>
          <p:nvPr/>
        </p:nvSpPr>
        <p:spPr>
          <a:xfrm>
            <a:off x="6217920" y="297180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Yes, I am busy .</a:t>
            </a:r>
          </a:p>
        </p:txBody>
      </p:sp>
      <p:sp>
        <p:nvSpPr>
          <p:cNvPr id="18" name="TextBox 17"/>
          <p:cNvSpPr txBox="1"/>
          <p:nvPr/>
        </p:nvSpPr>
        <p:spPr>
          <a:xfrm>
            <a:off x="411480" y="347472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What …… you doing?</a:t>
            </a:r>
          </a:p>
        </p:txBody>
      </p:sp>
      <p:sp>
        <p:nvSpPr>
          <p:cNvPr id="19" name="TextBox 18"/>
          <p:cNvSpPr txBox="1"/>
          <p:nvPr/>
        </p:nvSpPr>
        <p:spPr>
          <a:xfrm>
            <a:off x="6217920" y="347472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What are you doing?</a:t>
            </a:r>
          </a:p>
        </p:txBody>
      </p:sp>
      <p:sp>
        <p:nvSpPr>
          <p:cNvPr id="20" name="TextBox 19"/>
          <p:cNvSpPr txBox="1"/>
          <p:nvPr/>
        </p:nvSpPr>
        <p:spPr>
          <a:xfrm>
            <a:off x="411480" y="397764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I'm studying English.</a:t>
            </a:r>
          </a:p>
        </p:txBody>
      </p:sp>
      <p:sp>
        <p:nvSpPr>
          <p:cNvPr id="21" name="TextBox 20"/>
          <p:cNvSpPr txBox="1"/>
          <p:nvPr/>
        </p:nvSpPr>
        <p:spPr>
          <a:xfrm>
            <a:off x="6217920" y="397764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I'm studying English.</a:t>
            </a:r>
          </a:p>
        </p:txBody>
      </p:sp>
      <p:sp>
        <p:nvSpPr>
          <p:cNvPr id="22" name="TextBox 21"/>
          <p:cNvSpPr txBox="1"/>
          <p:nvPr/>
        </p:nvSpPr>
        <p:spPr>
          <a:xfrm>
            <a:off x="411480" y="448056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 ?</a:t>
            </a:r>
          </a:p>
        </p:txBody>
      </p:sp>
      <p:sp>
        <p:nvSpPr>
          <p:cNvPr id="23" name="TextBox 22"/>
          <p:cNvSpPr txBox="1"/>
          <p:nvPr/>
        </p:nvSpPr>
        <p:spPr>
          <a:xfrm>
            <a:off x="6217920" y="448056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Is it easy ?</a:t>
            </a:r>
          </a:p>
        </p:txBody>
      </p:sp>
      <p:sp>
        <p:nvSpPr>
          <p:cNvPr id="24" name="TextBox 23"/>
          <p:cNvSpPr txBox="1"/>
          <p:nvPr/>
        </p:nvSpPr>
        <p:spPr>
          <a:xfrm>
            <a:off x="411480" y="498348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Yes, it is easy.</a:t>
            </a:r>
          </a:p>
        </p:txBody>
      </p:sp>
      <p:sp>
        <p:nvSpPr>
          <p:cNvPr id="25" name="TextBox 24"/>
          <p:cNvSpPr txBox="1"/>
          <p:nvPr/>
        </p:nvSpPr>
        <p:spPr>
          <a:xfrm>
            <a:off x="6217920" y="498348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Yes, it is easy.</a:t>
            </a:r>
          </a:p>
        </p:txBody>
      </p:sp>
      <p:sp>
        <p:nvSpPr>
          <p:cNvPr id="26" name="TextBox 25"/>
          <p:cNvSpPr txBox="1"/>
          <p:nvPr/>
        </p:nvSpPr>
        <p:spPr>
          <a:xfrm>
            <a:off x="411480" y="548640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Have a nice time.</a:t>
            </a:r>
          </a:p>
        </p:txBody>
      </p:sp>
      <p:sp>
        <p:nvSpPr>
          <p:cNvPr id="27" name="TextBox 26"/>
          <p:cNvSpPr txBox="1"/>
          <p:nvPr/>
        </p:nvSpPr>
        <p:spPr>
          <a:xfrm>
            <a:off x="6217920" y="548640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Have a nice time.</a:t>
            </a:r>
          </a:p>
        </p:txBody>
      </p:sp>
      <p:sp>
        <p:nvSpPr>
          <p:cNvPr id="28" name="TextBox 27"/>
          <p:cNvSpPr txBox="1"/>
          <p:nvPr/>
        </p:nvSpPr>
        <p:spPr>
          <a:xfrm>
            <a:off x="411480" y="5989320"/>
            <a:ext cx="5577840" cy="50292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a:t>
            </a:r>
          </a:p>
        </p:txBody>
      </p:sp>
      <p:sp>
        <p:nvSpPr>
          <p:cNvPr id="29" name="TextBox 28"/>
          <p:cNvSpPr txBox="1"/>
          <p:nvPr/>
        </p:nvSpPr>
        <p:spPr>
          <a:xfrm>
            <a:off x="6217920" y="5989320"/>
            <a:ext cx="5577840" cy="502920"/>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Thank you.</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box(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ox(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ox(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ox(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ox(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box(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ox(in)">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box(in)">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box(in)">
                                      <p:cBhvr>
                                        <p:cTn id="5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P spid="27" grpId="0"/>
      <p:bldP spid="29" grpId="0"/>
    </p:bld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Finish the following dialogue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Hello, Nada.</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Hello, Nada.</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Hello, Haneen.</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What …… you doing now?</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What are you doing now?</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I'm playing now.</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I'm playing now.</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What …… you playing now?</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What are you playing now?</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I …… playing tennis.</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I am playing tennis.</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Have a nice time.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Thank you.</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heel(1)">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heel(1)">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heel(1)">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heel(1)">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heel(1)">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heel(1)">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6</a:t>
            </a:r>
          </a:p>
          <a:p>
            <a:pPr algn="ctr" rtl="0"/>
            <a:r>
              <a:rPr sz="4600" b="1" i="0" lang="en-US">
                <a:solidFill>
                  <a:srgbClr val="FFFFFF"/>
                </a:solidFill>
                <a:latin typeface="Segoe UI"/>
              </a:rPr>
              <a:t>There is / There are</a:t>
            </a:r>
          </a:p>
          <a:p>
            <a:pPr algn="ctr" rtl="1"/>
            <a:r>
              <a:rPr sz="2900" b="0" i="0" lang="ar-EG" altLang="en-US">
                <a:solidFill>
                  <a:srgbClr val="FFFFFF"/>
                </a:solidFill>
                <a:latin typeface="Traditional Arabic"/>
              </a:rPr>
              <a:t>يوجد</a:t>
            </a:r>
          </a:p>
        </p:txBody>
      </p:sp>
    </p:spTree>
  </p:cSld>
  <p:clrMapOvr>
    <a:masterClrMapping/>
  </p:clrMapOvr>
  <p:transition spd="med">
    <p:zoom dir="in"/>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22"/>
                </a:solidFill>
                <a:latin typeface="Segoe UI"/>
              </a:rPr>
              <a:t>▶ There is + a / an + اسم مفرد</a:t>
            </a:r>
          </a:p>
          <a:p>
            <a:pPr rtl="1" algn="r">
              <a:spcAft>
                <a:spcPts val="600"/>
              </a:spcAft>
            </a:pPr>
            <a:r>
              <a:rPr sz="2100" b="0" i="0" lang="ar-EG" altLang="en-US">
                <a:solidFill>
                  <a:srgbClr val="1C2333"/>
                </a:solidFill>
                <a:latin typeface="Traditional Arabic"/>
              </a:rPr>
              <a:t>يوجد … للمفرد.</a:t>
            </a:r>
          </a:p>
          <a:p>
            <a:pPr rtl="0" algn="l">
              <a:spcAft>
                <a:spcPts val="600"/>
              </a:spcAft>
            </a:pPr>
            <a:r>
              <a:rPr sz="2000" b="1" i="0" lang="en-US">
                <a:solidFill>
                  <a:srgbClr val="229422"/>
                </a:solidFill>
                <a:latin typeface="Segoe UI"/>
              </a:rPr>
              <a:t>▶ There are + اسم جمع</a:t>
            </a:r>
          </a:p>
          <a:p>
            <a:pPr rtl="1" algn="r">
              <a:spcAft>
                <a:spcPts val="600"/>
              </a:spcAft>
            </a:pPr>
            <a:r>
              <a:rPr sz="2100" b="0" i="0" lang="ar-EG" altLang="en-US">
                <a:solidFill>
                  <a:srgbClr val="1C2333"/>
                </a:solidFill>
                <a:latin typeface="Traditional Arabic"/>
              </a:rPr>
              <a:t>يوجد … للجمع.</a:t>
            </a:r>
          </a:p>
          <a:p>
            <a:pPr rtl="0" algn="l">
              <a:spcAft>
                <a:spcPts val="600"/>
              </a:spcAft>
            </a:pPr>
            <a:r>
              <a:rPr sz="1700" b="0" i="1" lang="en-US">
                <a:solidFill>
                  <a:srgbClr val="5B6478"/>
                </a:solidFill>
                <a:latin typeface="Segoe UI"/>
              </a:rPr>
              <a:t>   e.g. There is a park. – There are flowers.</a:t>
            </a:r>
          </a:p>
        </p:txBody>
      </p:sp>
    </p:spTree>
  </p:cSld>
  <p:clrMapOvr>
    <a:masterClrMapping/>
  </p:clrMapOvr>
  <p:transition spd="med">
    <p:zoom dir="in"/>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22"/>
                </a:solidFill>
                <a:latin typeface="Segoe UI"/>
              </a:rPr>
              <a:t>▶ There is not (isn't) + a / an + اسم مفرد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229422"/>
                </a:solidFill>
                <a:latin typeface="Segoe UI"/>
              </a:rPr>
              <a:t>▶ There are not (aren't) + اسم جمع .</a:t>
            </a:r>
          </a:p>
          <a:p>
            <a:pPr rtl="1" algn="r">
              <a:spcAft>
                <a:spcPts val="600"/>
              </a:spcAft>
            </a:pPr>
            <a:r>
              <a:rPr sz="2100" b="0" i="0" lang="ar-EG" altLang="en-US">
                <a:solidFill>
                  <a:srgbClr val="1C2333"/>
                </a:solidFill>
                <a:latin typeface="Traditional Arabic"/>
              </a:rPr>
              <a:t>نفي الجمع.</a:t>
            </a:r>
          </a:p>
        </p:txBody>
      </p:sp>
    </p:spTree>
  </p:cSld>
  <p:clrMapOvr>
    <a:masterClrMapping/>
  </p:clrMapOvr>
  <p:transition spd="med">
    <p:comb dir="horz"/>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22"/>
                </a:solidFill>
                <a:latin typeface="Segoe UI"/>
              </a:rPr>
              <a:t>▶ Is there + a / an + اسم مفرد ?</a:t>
            </a:r>
          </a:p>
          <a:p>
            <a:pPr rtl="1" algn="r">
              <a:spcAft>
                <a:spcPts val="600"/>
              </a:spcAft>
            </a:pPr>
            <a:r>
              <a:rPr sz="2100" b="0" i="0" lang="ar-EG" altLang="en-US">
                <a:solidFill>
                  <a:srgbClr val="1C2333"/>
                </a:solidFill>
                <a:latin typeface="Traditional Arabic"/>
              </a:rPr>
              <a:t>السؤال للمفرد.</a:t>
            </a:r>
          </a:p>
          <a:p>
            <a:pPr rtl="0" algn="l">
              <a:spcAft>
                <a:spcPts val="600"/>
              </a:spcAft>
            </a:pPr>
            <a:r>
              <a:rPr sz="2000" b="1" i="0" lang="en-US">
                <a:solidFill>
                  <a:srgbClr val="229422"/>
                </a:solidFill>
                <a:latin typeface="Segoe UI"/>
              </a:rPr>
              <a:t>▶ Are there + اسم جمع ?</a:t>
            </a:r>
          </a:p>
          <a:p>
            <a:pPr rtl="1" algn="r">
              <a:spcAft>
                <a:spcPts val="600"/>
              </a:spcAft>
            </a:pPr>
            <a:r>
              <a:rPr sz="2100" b="0" i="0" lang="ar-EG" altLang="en-US">
                <a:solidFill>
                  <a:srgbClr val="1C2333"/>
                </a:solidFill>
                <a:latin typeface="Traditional Arabic"/>
              </a:rPr>
              <a:t>السؤال للجمع.</a:t>
            </a:r>
          </a:p>
          <a:p>
            <a:pPr rtl="0" algn="l">
              <a:spcAft>
                <a:spcPts val="600"/>
              </a:spcAft>
            </a:pPr>
            <a:r>
              <a:rPr sz="1700" b="0" i="1" lang="en-US">
                <a:solidFill>
                  <a:srgbClr val="5B6478"/>
                </a:solidFill>
                <a:latin typeface="Segoe UI"/>
              </a:rPr>
              <a:t>   e.g. Yes, there is. / No, there isn't. Yes, there are. / No, there aren't.</a:t>
            </a:r>
          </a:p>
        </p:txBody>
      </p:sp>
    </p:spTree>
  </p:cSld>
  <p:clrMapOvr>
    <a:masterClrMapping/>
  </p:clrMapOvr>
  <p:transition spd="med">
    <p:newsflash/>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9422"/>
                          </a:solidFill>
                          <a:latin typeface="Segoe UI"/>
                        </a:rPr>
                        <a:t>camera</a:t>
                      </a:r>
                    </a:p>
                  </a:txBody>
                  <a:tcPr>
                    <a:solidFill>
                      <a:srgbClr val="FFFFFF"/>
                    </a:solidFill>
                  </a:tcPr>
                </a:tc>
                <a:tc>
                  <a:txBody>
                    <a:bodyPr/>
                    <a:lstStyle/>
                    <a:p>
                      <a:pPr rtl="1" algn="r"/>
                      <a:r>
                        <a:rPr sz="1700" b="0" i="0" lang="ar-EG" altLang="en-US">
                          <a:solidFill>
                            <a:srgbClr val="1C2333"/>
                          </a:solidFill>
                          <a:latin typeface="Traditional Arabic"/>
                        </a:rPr>
                        <a:t>كاميرا</a:t>
                      </a:r>
                    </a:p>
                  </a:txBody>
                  <a:tcPr>
                    <a:solidFill>
                      <a:srgbClr val="FFFFFF"/>
                    </a:solidFill>
                  </a:tcPr>
                </a:tc>
                <a:tc>
                  <a:txBody>
                    <a:bodyPr/>
                    <a:lstStyle/>
                    <a:p>
                      <a:pPr rtl="0" algn="l"/>
                      <a:r>
                        <a:rPr sz="1500" b="1" i="0" lang="en-US">
                          <a:solidFill>
                            <a:srgbClr val="229422"/>
                          </a:solidFill>
                          <a:latin typeface="Segoe UI"/>
                        </a:rPr>
                        <a:t>window</a:t>
                      </a:r>
                    </a:p>
                  </a:txBody>
                  <a:tcPr>
                    <a:solidFill>
                      <a:srgbClr val="FFFFFF"/>
                    </a:solidFill>
                  </a:tcPr>
                </a:tc>
                <a:tc>
                  <a:txBody>
                    <a:bodyPr/>
                    <a:lstStyle/>
                    <a:p>
                      <a:pPr rtl="1" algn="r"/>
                      <a:r>
                        <a:rPr sz="1700" b="0" i="0" lang="ar-EG" altLang="en-US">
                          <a:solidFill>
                            <a:srgbClr val="1C2333"/>
                          </a:solidFill>
                          <a:latin typeface="Traditional Arabic"/>
                        </a:rPr>
                        <a:t>شباك</a:t>
                      </a:r>
                    </a:p>
                  </a:txBody>
                  <a:tcPr>
                    <a:solidFill>
                      <a:srgbClr val="FFFFFF"/>
                    </a:solidFill>
                  </a:tcPr>
                </a:tc>
                <a:tc>
                  <a:txBody>
                    <a:bodyPr/>
                    <a:lstStyle/>
                    <a:p>
                      <a:pPr rtl="0" algn="l"/>
                      <a:r>
                        <a:rPr sz="1500" b="1" i="0" lang="en-US">
                          <a:solidFill>
                            <a:srgbClr val="229422"/>
                          </a:solidFill>
                          <a:latin typeface="Segoe UI"/>
                        </a:rPr>
                        <a:t>dish</a:t>
                      </a:r>
                    </a:p>
                  </a:txBody>
                  <a:tcPr>
                    <a:solidFill>
                      <a:srgbClr val="FFFFFF"/>
                    </a:solidFill>
                  </a:tcPr>
                </a:tc>
                <a:tc>
                  <a:txBody>
                    <a:bodyPr/>
                    <a:lstStyle/>
                    <a:p>
                      <a:pPr rtl="1" algn="r"/>
                      <a:r>
                        <a:rPr sz="1700" b="0" i="0" lang="ar-EG" altLang="en-US">
                          <a:solidFill>
                            <a:srgbClr val="1C2333"/>
                          </a:solidFill>
                          <a:latin typeface="Traditional Arabic"/>
                        </a:rPr>
                        <a:t>طبق</a:t>
                      </a:r>
                    </a:p>
                  </a:txBody>
                  <a:tcPr>
                    <a:solidFill>
                      <a:srgbClr val="FFFFFF"/>
                    </a:solidFill>
                  </a:tcPr>
                </a:tc>
              </a:tr>
              <a:tr h="384048">
                <a:tc>
                  <a:txBody>
                    <a:bodyPr/>
                    <a:lstStyle/>
                    <a:p>
                      <a:pPr rtl="0" algn="l"/>
                      <a:r>
                        <a:rPr sz="1500" b="1" i="0" lang="en-US">
                          <a:solidFill>
                            <a:srgbClr val="229422"/>
                          </a:solidFill>
                          <a:latin typeface="Segoe UI"/>
                        </a:rPr>
                        <a:t>door</a:t>
                      </a:r>
                    </a:p>
                  </a:txBody>
                  <a:tcPr>
                    <a:solidFill>
                      <a:srgbClr val="EEF3FA"/>
                    </a:solidFill>
                  </a:tcPr>
                </a:tc>
                <a:tc>
                  <a:txBody>
                    <a:bodyPr/>
                    <a:lstStyle/>
                    <a:p>
                      <a:pPr rtl="1" algn="r"/>
                      <a:r>
                        <a:rPr sz="1700" b="0" i="0" lang="ar-EG" altLang="en-US">
                          <a:solidFill>
                            <a:srgbClr val="1C2333"/>
                          </a:solidFill>
                          <a:latin typeface="Traditional Arabic"/>
                        </a:rPr>
                        <a:t>باب</a:t>
                      </a:r>
                    </a:p>
                  </a:txBody>
                  <a:tcPr>
                    <a:solidFill>
                      <a:srgbClr val="EEF3FA"/>
                    </a:solidFill>
                  </a:tcPr>
                </a:tc>
                <a:tc>
                  <a:txBody>
                    <a:bodyPr/>
                    <a:lstStyle/>
                    <a:p>
                      <a:pPr rtl="0" algn="l"/>
                      <a:r>
                        <a:rPr sz="1500" b="1" i="0" lang="en-US">
                          <a:solidFill>
                            <a:srgbClr val="229422"/>
                          </a:solidFill>
                          <a:latin typeface="Segoe UI"/>
                        </a:rPr>
                        <a:t>queen</a:t>
                      </a:r>
                    </a:p>
                  </a:txBody>
                  <a:tcPr>
                    <a:solidFill>
                      <a:srgbClr val="EEF3FA"/>
                    </a:solidFill>
                  </a:tcPr>
                </a:tc>
                <a:tc>
                  <a:txBody>
                    <a:bodyPr/>
                    <a:lstStyle/>
                    <a:p>
                      <a:pPr rtl="1" algn="r"/>
                      <a:r>
                        <a:rPr sz="1700" b="0" i="0" lang="ar-EG" altLang="en-US">
                          <a:solidFill>
                            <a:srgbClr val="1C2333"/>
                          </a:solidFill>
                          <a:latin typeface="Traditional Arabic"/>
                        </a:rPr>
                        <a:t>ملكة</a:t>
                      </a:r>
                    </a:p>
                  </a:txBody>
                  <a:tcPr>
                    <a:solidFill>
                      <a:srgbClr val="EEF3FA"/>
                    </a:solidFill>
                  </a:tcPr>
                </a:tc>
                <a:tc>
                  <a:txBody>
                    <a:bodyPr/>
                    <a:lstStyle/>
                    <a:p>
                      <a:pPr rtl="0" algn="l"/>
                      <a:r>
                        <a:rPr sz="1500" b="1" i="0" lang="en-US">
                          <a:solidFill>
                            <a:srgbClr val="229422"/>
                          </a:solidFill>
                          <a:latin typeface="Segoe UI"/>
                        </a:rPr>
                        <a:t>mango</a:t>
                      </a:r>
                    </a:p>
                  </a:txBody>
                  <a:tcPr>
                    <a:solidFill>
                      <a:srgbClr val="EEF3FA"/>
                    </a:solidFill>
                  </a:tcPr>
                </a:tc>
                <a:tc>
                  <a:txBody>
                    <a:bodyPr/>
                    <a:lstStyle/>
                    <a:p>
                      <a:pPr rtl="1" algn="r"/>
                      <a:r>
                        <a:rPr sz="1700" b="0" i="0" lang="ar-EG" altLang="en-US">
                          <a:solidFill>
                            <a:srgbClr val="1C2333"/>
                          </a:solidFill>
                          <a:latin typeface="Traditional Arabic"/>
                        </a:rPr>
                        <a:t>مانجة</a:t>
                      </a:r>
                    </a:p>
                  </a:txBody>
                  <a:tcPr>
                    <a:solidFill>
                      <a:srgbClr val="EEF3FA"/>
                    </a:solidFill>
                  </a:tcPr>
                </a:tc>
              </a:tr>
              <a:tr h="384048">
                <a:tc>
                  <a:txBody>
                    <a:bodyPr/>
                    <a:lstStyle/>
                    <a:p>
                      <a:pPr rtl="0" algn="l"/>
                      <a:r>
                        <a:rPr sz="1500" b="1" i="0" lang="en-US">
                          <a:solidFill>
                            <a:srgbClr val="229422"/>
                          </a:solidFill>
                          <a:latin typeface="Segoe UI"/>
                        </a:rPr>
                        <a:t>flower</a:t>
                      </a:r>
                    </a:p>
                  </a:txBody>
                  <a:tcPr>
                    <a:solidFill>
                      <a:srgbClr val="FFFFFF"/>
                    </a:solidFill>
                  </a:tcPr>
                </a:tc>
                <a:tc>
                  <a:txBody>
                    <a:bodyPr/>
                    <a:lstStyle/>
                    <a:p>
                      <a:pPr rtl="1" algn="r"/>
                      <a:r>
                        <a:rPr sz="1700" b="0" i="0" lang="ar-EG" altLang="en-US">
                          <a:solidFill>
                            <a:srgbClr val="1C2333"/>
                          </a:solidFill>
                          <a:latin typeface="Traditional Arabic"/>
                        </a:rPr>
                        <a:t>زهرة</a:t>
                      </a:r>
                    </a:p>
                  </a:txBody>
                  <a:tcPr>
                    <a:solidFill>
                      <a:srgbClr val="FFFFFF"/>
                    </a:solidFill>
                  </a:tcPr>
                </a:tc>
                <a:tc>
                  <a:txBody>
                    <a:bodyPr/>
                    <a:lstStyle/>
                    <a:p>
                      <a:pPr rtl="0" algn="l"/>
                      <a:r>
                        <a:rPr sz="1500" b="1" i="0" lang="en-US">
                          <a:solidFill>
                            <a:srgbClr val="229422"/>
                          </a:solidFill>
                          <a:latin typeface="Segoe UI"/>
                        </a:rPr>
                        <a:t>king</a:t>
                      </a:r>
                    </a:p>
                  </a:txBody>
                  <a:tcPr>
                    <a:solidFill>
                      <a:srgbClr val="FFFFFF"/>
                    </a:solidFill>
                  </a:tcPr>
                </a:tc>
                <a:tc>
                  <a:txBody>
                    <a:bodyPr/>
                    <a:lstStyle/>
                    <a:p>
                      <a:pPr rtl="1" algn="r"/>
                      <a:r>
                        <a:rPr sz="1700" b="0" i="0" lang="ar-EG" altLang="en-US">
                          <a:solidFill>
                            <a:srgbClr val="1C2333"/>
                          </a:solidFill>
                          <a:latin typeface="Traditional Arabic"/>
                        </a:rPr>
                        <a:t>ملك</a:t>
                      </a:r>
                    </a:p>
                  </a:txBody>
                  <a:tcPr>
                    <a:solidFill>
                      <a:srgbClr val="FFFFFF"/>
                    </a:solidFill>
                  </a:tcPr>
                </a:tc>
                <a:tc>
                  <a:txBody>
                    <a:bodyPr/>
                    <a:lstStyle/>
                    <a:p>
                      <a:pPr rtl="0" algn="l"/>
                      <a:r>
                        <a:rPr sz="1500" b="1" i="0" lang="en-US">
                          <a:solidFill>
                            <a:srgbClr val="229422"/>
                          </a:solidFill>
                          <a:latin typeface="Segoe UI"/>
                        </a:rPr>
                        <a:t>bee</a:t>
                      </a:r>
                    </a:p>
                  </a:txBody>
                  <a:tcPr>
                    <a:solidFill>
                      <a:srgbClr val="FFFFFF"/>
                    </a:solidFill>
                  </a:tcPr>
                </a:tc>
                <a:tc>
                  <a:txBody>
                    <a:bodyPr/>
                    <a:lstStyle/>
                    <a:p>
                      <a:pPr rtl="1" algn="r"/>
                      <a:r>
                        <a:rPr sz="1700" b="0" i="0" lang="ar-EG" altLang="en-US">
                          <a:solidFill>
                            <a:srgbClr val="1C2333"/>
                          </a:solidFill>
                          <a:latin typeface="Traditional Arabic"/>
                        </a:rPr>
                        <a:t>نحلة</a:t>
                      </a:r>
                    </a:p>
                  </a:txBody>
                  <a:tcPr>
                    <a:solidFill>
                      <a:srgbClr val="FFFFFF"/>
                    </a:solidFill>
                  </a:tcPr>
                </a:tc>
              </a:tr>
              <a:tr h="384048">
                <a:tc>
                  <a:txBody>
                    <a:bodyPr/>
                    <a:lstStyle/>
                    <a:p>
                      <a:pPr rtl="0" algn="l"/>
                      <a:r>
                        <a:rPr sz="1500" b="1" i="0" lang="en-US">
                          <a:solidFill>
                            <a:srgbClr val="229422"/>
                          </a:solidFill>
                          <a:latin typeface="Segoe UI"/>
                        </a:rPr>
                        <a:t>river</a:t>
                      </a:r>
                    </a:p>
                  </a:txBody>
                  <a:tcPr>
                    <a:solidFill>
                      <a:srgbClr val="EEF3FA"/>
                    </a:solidFill>
                  </a:tcPr>
                </a:tc>
                <a:tc>
                  <a:txBody>
                    <a:bodyPr/>
                    <a:lstStyle/>
                    <a:p>
                      <a:pPr rtl="1" algn="r"/>
                      <a:r>
                        <a:rPr sz="1700" b="0" i="0" lang="ar-EG" altLang="en-US">
                          <a:solidFill>
                            <a:srgbClr val="1C2333"/>
                          </a:solidFill>
                          <a:latin typeface="Traditional Arabic"/>
                        </a:rPr>
                        <a:t>نهر</a:t>
                      </a:r>
                    </a:p>
                  </a:txBody>
                  <a:tcPr>
                    <a:solidFill>
                      <a:srgbClr val="EEF3FA"/>
                    </a:solidFill>
                  </a:tcPr>
                </a:tc>
                <a:tc>
                  <a:txBody>
                    <a:bodyPr/>
                    <a:lstStyle/>
                    <a:p>
                      <a:pPr rtl="0" algn="l"/>
                      <a:r>
                        <a:rPr sz="1500" b="1" i="0" lang="en-US">
                          <a:solidFill>
                            <a:srgbClr val="229422"/>
                          </a:solidFill>
                          <a:latin typeface="Segoe UI"/>
                        </a:rPr>
                        <a:t>tree</a:t>
                      </a:r>
                    </a:p>
                  </a:txBody>
                  <a:tcPr>
                    <a:solidFill>
                      <a:srgbClr val="EEF3FA"/>
                    </a:solidFill>
                  </a:tcPr>
                </a:tc>
                <a:tc>
                  <a:txBody>
                    <a:bodyPr/>
                    <a:lstStyle/>
                    <a:p>
                      <a:pPr rtl="1" algn="r"/>
                      <a:r>
                        <a:rPr sz="1700" b="0" i="0" lang="ar-EG" altLang="en-US">
                          <a:solidFill>
                            <a:srgbClr val="1C2333"/>
                          </a:solidFill>
                          <a:latin typeface="Traditional Arabic"/>
                        </a:rPr>
                        <a:t>شجرة</a:t>
                      </a:r>
                    </a:p>
                  </a:txBody>
                  <a:tcPr>
                    <a:solidFill>
                      <a:srgbClr val="EEF3FA"/>
                    </a:solidFill>
                  </a:tcPr>
                </a:tc>
                <a:tc>
                  <a:txBody>
                    <a:bodyPr/>
                    <a:lstStyle/>
                    <a:p>
                      <a:pPr rtl="0" algn="l"/>
                      <a:r>
                        <a:rPr sz="1500" b="1" i="0" lang="en-US">
                          <a:solidFill>
                            <a:srgbClr val="229422"/>
                          </a:solidFill>
                          <a:latin typeface="Segoe UI"/>
                        </a:rPr>
                        <a:t>chair</a:t>
                      </a:r>
                    </a:p>
                  </a:txBody>
                  <a:tcPr>
                    <a:solidFill>
                      <a:srgbClr val="EEF3FA"/>
                    </a:solidFill>
                  </a:tcPr>
                </a:tc>
                <a:tc>
                  <a:txBody>
                    <a:bodyPr/>
                    <a:lstStyle/>
                    <a:p>
                      <a:pPr rtl="1" algn="r"/>
                      <a:r>
                        <a:rPr sz="1700" b="0" i="0" lang="ar-EG" altLang="en-US">
                          <a:solidFill>
                            <a:srgbClr val="1C2333"/>
                          </a:solidFill>
                          <a:latin typeface="Traditional Arabic"/>
                        </a:rPr>
                        <a:t>كرسي</a:t>
                      </a:r>
                    </a:p>
                  </a:txBody>
                  <a:tcPr>
                    <a:solidFill>
                      <a:srgbClr val="EEF3FA"/>
                    </a:solidFill>
                  </a:tcPr>
                </a:tc>
              </a:tr>
              <a:tr h="384048">
                <a:tc>
                  <a:txBody>
                    <a:bodyPr/>
                    <a:lstStyle/>
                    <a:p>
                      <a:pPr rtl="0" algn="l"/>
                      <a:r>
                        <a:rPr sz="1500" b="1" i="0" lang="en-US">
                          <a:solidFill>
                            <a:srgbClr val="229422"/>
                          </a:solidFill>
                          <a:latin typeface="Segoe UI"/>
                        </a:rPr>
                        <a:t>banana</a:t>
                      </a:r>
                    </a:p>
                  </a:txBody>
                  <a:tcPr>
                    <a:solidFill>
                      <a:srgbClr val="FFFFFF"/>
                    </a:solidFill>
                  </a:tcPr>
                </a:tc>
                <a:tc>
                  <a:txBody>
                    <a:bodyPr/>
                    <a:lstStyle/>
                    <a:p>
                      <a:pPr rtl="1" algn="r"/>
                      <a:r>
                        <a:rPr sz="1700" b="0" i="0" lang="ar-EG" altLang="en-US">
                          <a:solidFill>
                            <a:srgbClr val="1C2333"/>
                          </a:solidFill>
                          <a:latin typeface="Traditional Arabic"/>
                        </a:rPr>
                        <a:t>موزة</a:t>
                      </a:r>
                    </a:p>
                  </a:txBody>
                  <a:tcPr>
                    <a:solidFill>
                      <a:srgbClr val="FFFFFF"/>
                    </a:solidFill>
                  </a:tcPr>
                </a:tc>
                <a:tc>
                  <a:txBody>
                    <a:bodyPr/>
                    <a:lstStyle/>
                    <a:p>
                      <a:pPr rtl="0" algn="l"/>
                      <a:r>
                        <a:rPr sz="1500" b="1" i="0" lang="en-US">
                          <a:solidFill>
                            <a:srgbClr val="229422"/>
                          </a:solidFill>
                          <a:latin typeface="Segoe UI"/>
                        </a:rPr>
                        <a:t>monkey</a:t>
                      </a:r>
                    </a:p>
                  </a:txBody>
                  <a:tcPr>
                    <a:solidFill>
                      <a:srgbClr val="FFFFFF"/>
                    </a:solidFill>
                  </a:tcPr>
                </a:tc>
                <a:tc>
                  <a:txBody>
                    <a:bodyPr/>
                    <a:lstStyle/>
                    <a:p>
                      <a:pPr rtl="1" algn="r"/>
                      <a:r>
                        <a:rPr sz="1700" b="0" i="0" lang="ar-EG" altLang="en-US">
                          <a:solidFill>
                            <a:srgbClr val="1C2333"/>
                          </a:solidFill>
                          <a:latin typeface="Traditional Arabic"/>
                        </a:rPr>
                        <a:t>قرد</a:t>
                      </a:r>
                    </a:p>
                  </a:txBody>
                  <a:tcPr>
                    <a:solidFill>
                      <a:srgbClr val="FFFFFF"/>
                    </a:solidFill>
                  </a:tcPr>
                </a:tc>
                <a:tc>
                  <a:txBody>
                    <a:bodyPr/>
                    <a:lstStyle/>
                    <a:p>
                      <a:pPr rtl="0" algn="l"/>
                      <a:r>
                        <a:rPr sz="1500" b="1" i="0" lang="en-US">
                          <a:solidFill>
                            <a:srgbClr val="229422"/>
                          </a:solidFill>
                          <a:latin typeface="Segoe UI"/>
                        </a:rPr>
                        <a:t>ring</a:t>
                      </a:r>
                    </a:p>
                  </a:txBody>
                  <a:tcPr>
                    <a:solidFill>
                      <a:srgbClr val="FFFFFF"/>
                    </a:solidFill>
                  </a:tcPr>
                </a:tc>
                <a:tc>
                  <a:txBody>
                    <a:bodyPr/>
                    <a:lstStyle/>
                    <a:p>
                      <a:pPr rtl="1" algn="r"/>
                      <a:r>
                        <a:rPr sz="1700" b="0" i="0" lang="ar-EG" altLang="en-US">
                          <a:solidFill>
                            <a:srgbClr val="1C2333"/>
                          </a:solidFill>
                          <a:latin typeface="Traditional Arabic"/>
                        </a:rPr>
                        <a:t>خاتم</a:t>
                      </a:r>
                    </a:p>
                  </a:txBody>
                  <a:tcPr>
                    <a:solidFill>
                      <a:srgbClr val="FFFFFF"/>
                    </a:solidFill>
                  </a:tcPr>
                </a:tc>
              </a:tr>
              <a:tr h="384048">
                <a:tc>
                  <a:txBody>
                    <a:bodyPr/>
                    <a:lstStyle/>
                    <a:p>
                      <a:pPr rtl="0" algn="l"/>
                      <a:r>
                        <a:rPr sz="1500" b="1" i="0" lang="en-US">
                          <a:solidFill>
                            <a:srgbClr val="229422"/>
                          </a:solidFill>
                          <a:latin typeface="Segoe UI"/>
                        </a:rPr>
                        <a:t>key</a:t>
                      </a:r>
                    </a:p>
                  </a:txBody>
                  <a:tcPr>
                    <a:solidFill>
                      <a:srgbClr val="EEF3FA"/>
                    </a:solidFill>
                  </a:tcPr>
                </a:tc>
                <a:tc>
                  <a:txBody>
                    <a:bodyPr/>
                    <a:lstStyle/>
                    <a:p>
                      <a:pPr rtl="1" algn="r"/>
                      <a:r>
                        <a:rPr sz="1700" b="0" i="0" lang="ar-EG" altLang="en-US">
                          <a:solidFill>
                            <a:srgbClr val="1C2333"/>
                          </a:solidFill>
                          <a:latin typeface="Traditional Arabic"/>
                        </a:rPr>
                        <a:t>مفتاح</a:t>
                      </a:r>
                    </a:p>
                  </a:txBody>
                  <a:tcPr>
                    <a:solidFill>
                      <a:srgbClr val="EEF3FA"/>
                    </a:solidFill>
                  </a:tcPr>
                </a:tc>
                <a:tc>
                  <a:txBody>
                    <a:bodyPr/>
                    <a:lstStyle/>
                    <a:p>
                      <a:pPr rtl="0" algn="l"/>
                      <a:r>
                        <a:rPr sz="1500" b="1" i="0" lang="en-US">
                          <a:solidFill>
                            <a:srgbClr val="229422"/>
                          </a:solidFill>
                          <a:latin typeface="Segoe UI"/>
                        </a:rPr>
                        <a:t>couch</a:t>
                      </a:r>
                    </a:p>
                  </a:txBody>
                  <a:tcPr>
                    <a:solidFill>
                      <a:srgbClr val="EEF3FA"/>
                    </a:solidFill>
                  </a:tcPr>
                </a:tc>
                <a:tc>
                  <a:txBody>
                    <a:bodyPr/>
                    <a:lstStyle/>
                    <a:p>
                      <a:pPr rtl="1" algn="r"/>
                      <a:r>
                        <a:rPr sz="1700" b="0" i="0" lang="ar-EG" altLang="en-US">
                          <a:solidFill>
                            <a:srgbClr val="1C2333"/>
                          </a:solidFill>
                          <a:latin typeface="Traditional Arabic"/>
                        </a:rPr>
                        <a:t>كنبة</a:t>
                      </a:r>
                    </a:p>
                  </a:txBody>
                  <a:tcPr>
                    <a:solidFill>
                      <a:srgbClr val="EEF3FA"/>
                    </a:solidFill>
                  </a:tcPr>
                </a:tc>
                <a:tc>
                  <a:txBody>
                    <a:bodyPr/>
                    <a:lstStyle/>
                    <a:p>
                      <a:pPr rtl="0" algn="l"/>
                      <a:r>
                        <a:rPr sz="1500" b="1" i="0" lang="en-US">
                          <a:solidFill>
                            <a:srgbClr val="229422"/>
                          </a:solidFill>
                          <a:latin typeface="Segoe UI"/>
                        </a:rPr>
                        <a:t>fish</a:t>
                      </a:r>
                    </a:p>
                  </a:txBody>
                  <a:tcPr>
                    <a:solidFill>
                      <a:srgbClr val="EEF3FA"/>
                    </a:solidFill>
                  </a:tcPr>
                </a:tc>
                <a:tc>
                  <a:txBody>
                    <a:bodyPr/>
                    <a:lstStyle/>
                    <a:p>
                      <a:pPr rtl="1" algn="r"/>
                      <a:r>
                        <a:rPr sz="1700" b="0" i="0" lang="ar-EG" altLang="en-US">
                          <a:solidFill>
                            <a:srgbClr val="1C2333"/>
                          </a:solidFill>
                          <a:latin typeface="Traditional Arabic"/>
                        </a:rPr>
                        <a:t>سمكة</a:t>
                      </a:r>
                    </a:p>
                  </a:txBody>
                  <a:tcPr>
                    <a:solidFill>
                      <a:srgbClr val="EEF3FA"/>
                    </a:solidFill>
                  </a:tcPr>
                </a:tc>
              </a:tr>
              <a:tr h="384048">
                <a:tc>
                  <a:txBody>
                    <a:bodyPr/>
                    <a:lstStyle/>
                    <a:p>
                      <a:pPr rtl="0" algn="l"/>
                      <a:r>
                        <a:rPr sz="1500" b="1" i="0" lang="en-US">
                          <a:solidFill>
                            <a:srgbClr val="229422"/>
                          </a:solidFill>
                          <a:latin typeface="Segoe UI"/>
                        </a:rPr>
                        <a:t>piano</a:t>
                      </a:r>
                    </a:p>
                  </a:txBody>
                  <a:tcPr>
                    <a:solidFill>
                      <a:srgbClr val="FFFFFF"/>
                    </a:solidFill>
                  </a:tcPr>
                </a:tc>
                <a:tc>
                  <a:txBody>
                    <a:bodyPr/>
                    <a:lstStyle/>
                    <a:p>
                      <a:pPr rtl="1" algn="r"/>
                      <a:r>
                        <a:rPr sz="1700" b="0" i="0" lang="ar-EG" altLang="en-US">
                          <a:solidFill>
                            <a:srgbClr val="1C2333"/>
                          </a:solidFill>
                          <a:latin typeface="Traditional Arabic"/>
                        </a:rPr>
                        <a:t>بيانو</a:t>
                      </a:r>
                    </a:p>
                  </a:txBody>
                  <a:tcPr>
                    <a:solidFill>
                      <a:srgbClr val="FFFFFF"/>
                    </a:solidFill>
                  </a:tcPr>
                </a:tc>
                <a:tc>
                  <a:txBody>
                    <a:bodyPr/>
                    <a:lstStyle/>
                    <a:p>
                      <a:pPr rtl="0" algn="l"/>
                      <a:r>
                        <a:rPr sz="1500" b="1" i="0" lang="en-US">
                          <a:solidFill>
                            <a:srgbClr val="229422"/>
                          </a:solidFill>
                          <a:latin typeface="Segoe UI"/>
                        </a:rPr>
                        <a:t>bench</a:t>
                      </a:r>
                    </a:p>
                  </a:txBody>
                  <a:tcPr>
                    <a:solidFill>
                      <a:srgbClr val="FFFFFF"/>
                    </a:solidFill>
                  </a:tcPr>
                </a:tc>
                <a:tc>
                  <a:txBody>
                    <a:bodyPr/>
                    <a:lstStyle/>
                    <a:p>
                      <a:pPr rtl="1" algn="r"/>
                      <a:r>
                        <a:rPr sz="1700" b="0" i="0" lang="ar-EG" altLang="en-US">
                          <a:solidFill>
                            <a:srgbClr val="1C2333"/>
                          </a:solidFill>
                          <a:latin typeface="Traditional Arabic"/>
                        </a:rPr>
                        <a:t>مقعد</a:t>
                      </a:r>
                    </a:p>
                  </a:txBody>
                  <a:tcPr>
                    <a:solidFill>
                      <a:srgbClr val="FFFFFF"/>
                    </a:solidFill>
                  </a:tcPr>
                </a:tc>
                <a:tc>
                  <a:txBody>
                    <a:bodyPr/>
                    <a:lstStyle/>
                    <a:p>
                      <a:pPr rtl="0" algn="l"/>
                      <a:r>
                        <a:rPr sz="1500" b="1" i="0" lang="en-US">
                          <a:solidFill>
                            <a:srgbClr val="229422"/>
                          </a:solidFill>
                          <a:latin typeface="Segoe UI"/>
                        </a:rPr>
                        <a:t>plant</a:t>
                      </a:r>
                    </a:p>
                  </a:txBody>
                  <a:tcPr>
                    <a:solidFill>
                      <a:srgbClr val="FFFFFF"/>
                    </a:solidFill>
                  </a:tcPr>
                </a:tc>
                <a:tc>
                  <a:txBody>
                    <a:bodyPr/>
                    <a:lstStyle/>
                    <a:p>
                      <a:pPr rtl="1" algn="r"/>
                      <a:r>
                        <a:rPr sz="1700" b="0" i="0" lang="ar-EG" altLang="en-US">
                          <a:solidFill>
                            <a:srgbClr val="1C2333"/>
                          </a:solidFill>
                          <a:latin typeface="Traditional Arabic"/>
                        </a:rPr>
                        <a:t>نبات</a:t>
                      </a:r>
                    </a:p>
                  </a:txBody>
                  <a:tcPr>
                    <a:solidFill>
                      <a:srgbClr val="FFFFFF"/>
                    </a:solidFill>
                  </a:tcPr>
                </a:tc>
              </a:tr>
              <a:tr h="384048">
                <a:tc>
                  <a:txBody>
                    <a:bodyPr/>
                    <a:lstStyle/>
                    <a:p>
                      <a:pPr rtl="0" algn="l"/>
                      <a:r>
                        <a:rPr sz="1500" b="1" i="0" lang="en-US">
                          <a:solidFill>
                            <a:srgbClr val="229422"/>
                          </a:solidFill>
                          <a:latin typeface="Segoe UI"/>
                        </a:rPr>
                        <a:t>animal</a:t>
                      </a:r>
                    </a:p>
                  </a:txBody>
                  <a:tcPr>
                    <a:solidFill>
                      <a:srgbClr val="EEF3FA"/>
                    </a:solidFill>
                  </a:tcPr>
                </a:tc>
                <a:tc>
                  <a:txBody>
                    <a:bodyPr/>
                    <a:lstStyle/>
                    <a:p>
                      <a:pPr rtl="1" algn="r"/>
                      <a:r>
                        <a:rPr sz="1700" b="0" i="0" lang="ar-EG" altLang="en-US">
                          <a:solidFill>
                            <a:srgbClr val="1C2333"/>
                          </a:solidFill>
                          <a:latin typeface="Traditional Arabic"/>
                        </a:rPr>
                        <a:t>حيوان</a:t>
                      </a:r>
                    </a:p>
                  </a:txBody>
                  <a:tcPr>
                    <a:solidFill>
                      <a:srgbClr val="EEF3FA"/>
                    </a:solidFill>
                  </a:tcPr>
                </a:tc>
                <a:tc>
                  <a:txBody>
                    <a:bodyPr/>
                    <a:lstStyle/>
                    <a:p>
                      <a:pPr rtl="0" algn="l"/>
                      <a:r>
                        <a:rPr sz="1500" b="1" i="0" lang="en-US">
                          <a:solidFill>
                            <a:srgbClr val="229422"/>
                          </a:solidFill>
                          <a:latin typeface="Segoe UI"/>
                        </a:rPr>
                        <a:t>glasses</a:t>
                      </a:r>
                    </a:p>
                  </a:txBody>
                  <a:tcPr>
                    <a:solidFill>
                      <a:srgbClr val="EEF3FA"/>
                    </a:solidFill>
                  </a:tcPr>
                </a:tc>
                <a:tc>
                  <a:txBody>
                    <a:bodyPr/>
                    <a:lstStyle/>
                    <a:p>
                      <a:pPr rtl="1" algn="r"/>
                      <a:r>
                        <a:rPr sz="1700" b="0" i="0" lang="ar-EG" altLang="en-US">
                          <a:solidFill>
                            <a:srgbClr val="1C2333"/>
                          </a:solidFill>
                          <a:latin typeface="Traditional Arabic"/>
                        </a:rPr>
                        <a:t>نظارة</a:t>
                      </a:r>
                    </a:p>
                  </a:txBody>
                  <a:tcPr>
                    <a:solidFill>
                      <a:srgbClr val="EEF3FA"/>
                    </a:solidFill>
                  </a:tcPr>
                </a:tc>
                <a:tc>
                  <a:txBody>
                    <a:bodyPr/>
                    <a:lstStyle/>
                    <a:p>
                      <a:pPr rtl="0" algn="l"/>
                      <a:r>
                        <a:rPr sz="1500" b="1" i="0" lang="en-US">
                          <a:solidFill>
                            <a:srgbClr val="229422"/>
                          </a:solidFill>
                          <a:latin typeface="Segoe UI"/>
                        </a:rPr>
                        <a:t>ball</a:t>
                      </a:r>
                    </a:p>
                  </a:txBody>
                  <a:tcPr>
                    <a:solidFill>
                      <a:srgbClr val="EEF3FA"/>
                    </a:solidFill>
                  </a:tcPr>
                </a:tc>
                <a:tc>
                  <a:txBody>
                    <a:bodyPr/>
                    <a:lstStyle/>
                    <a:p>
                      <a:pPr rtl="1" algn="r"/>
                      <a:r>
                        <a:rPr sz="1700" b="0" i="0" lang="ar-EG" altLang="en-US">
                          <a:solidFill>
                            <a:srgbClr val="1C2333"/>
                          </a:solidFill>
                          <a:latin typeface="Traditional Arabic"/>
                        </a:rPr>
                        <a:t>كرة</a:t>
                      </a:r>
                    </a:p>
                  </a:txBody>
                  <a:tcPr>
                    <a:solidFill>
                      <a:srgbClr val="EEF3FA"/>
                    </a:solidFill>
                  </a:tcPr>
                </a:tc>
              </a:tr>
            </a:tbl>
          </a:graphicData>
        </a:graphic>
      </p:graphicFrame>
    </p:spTree>
  </p:cSld>
  <p:clrMapOvr>
    <a:masterClrMapping/>
  </p:clrMapOvr>
  <p:transition spd="med">
    <p:plus/>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152144"/>
        </p:xfrm>
        <a:graphic>
          <a:graphicData uri="http://schemas.openxmlformats.org/drawingml/2006/table">
            <a:tbl>
              <a:tblPr firstRow="1" bandRow="1">
                <a:tableStyleId>{5C22544A-7EE6-4342-B048-85BDC9FD1C3A}</a:tableStyleId>
              </a:tblPr>
              <a:tblGrid>
                <a:gridCol w="2819323"/>
                <a:gridCol w="2819323"/>
                <a:gridCol w="2819323"/>
                <a:gridCol w="2819326"/>
              </a:tblGrid>
              <a:tr h="384048">
                <a:tc>
                  <a:txBody>
                    <a:bodyPr/>
                    <a:lstStyle/>
                    <a:p>
                      <a:pPr rtl="0" algn="l"/>
                      <a:r>
                        <a:rPr sz="1500" b="1" i="0" lang="en-US">
                          <a:solidFill>
                            <a:srgbClr val="229422"/>
                          </a:solidFill>
                          <a:latin typeface="Segoe UI"/>
                        </a:rPr>
                        <a:t>zoo</a:t>
                      </a:r>
                    </a:p>
                  </a:txBody>
                  <a:tcPr>
                    <a:solidFill>
                      <a:srgbClr val="FFFFFF"/>
                    </a:solidFill>
                  </a:tcPr>
                </a:tc>
                <a:tc>
                  <a:txBody>
                    <a:bodyPr/>
                    <a:lstStyle/>
                    <a:p>
                      <a:pPr rtl="1" algn="r"/>
                      <a:r>
                        <a:rPr sz="1700" b="0" i="0" lang="ar-EG" altLang="en-US">
                          <a:solidFill>
                            <a:srgbClr val="1C2333"/>
                          </a:solidFill>
                          <a:latin typeface="Traditional Arabic"/>
                        </a:rPr>
                        <a:t>حديقة حيوان</a:t>
                      </a:r>
                    </a:p>
                  </a:txBody>
                  <a:tcPr>
                    <a:solidFill>
                      <a:srgbClr val="FFFFFF"/>
                    </a:solidFill>
                  </a:tcPr>
                </a:tc>
                <a:tc>
                  <a:txBody>
                    <a:bodyPr/>
                    <a:lstStyle/>
                    <a:p>
                      <a:pPr rtl="0" algn="l"/>
                      <a:r>
                        <a:rPr sz="1500" b="1" i="0" lang="en-US">
                          <a:solidFill>
                            <a:srgbClr val="229422"/>
                          </a:solidFill>
                          <a:latin typeface="Segoe UI"/>
                        </a:rPr>
                        <a:t>van</a:t>
                      </a:r>
                    </a:p>
                  </a:txBody>
                  <a:tcPr>
                    <a:solidFill>
                      <a:srgbClr val="FFFFFF"/>
                    </a:solidFill>
                  </a:tcPr>
                </a:tc>
                <a:tc>
                  <a:txBody>
                    <a:bodyPr/>
                    <a:lstStyle/>
                    <a:p>
                      <a:pPr rtl="1" algn="r"/>
                      <a:r>
                        <a:rPr sz="1700" b="0" i="0" lang="ar-EG" altLang="en-US">
                          <a:solidFill>
                            <a:srgbClr val="1C2333"/>
                          </a:solidFill>
                          <a:latin typeface="Traditional Arabic"/>
                        </a:rPr>
                        <a:t>عربة نقل</a:t>
                      </a:r>
                    </a:p>
                  </a:txBody>
                  <a:tcPr>
                    <a:solidFill>
                      <a:srgbClr val="FFFFFF"/>
                    </a:solidFill>
                  </a:tcPr>
                </a:tc>
              </a:tr>
              <a:tr h="384048">
                <a:tc>
                  <a:txBody>
                    <a:bodyPr/>
                    <a:lstStyle/>
                    <a:p>
                      <a:pPr rtl="0" algn="l"/>
                      <a:r>
                        <a:rPr sz="1500" b="1" i="0" lang="en-US">
                          <a:solidFill>
                            <a:srgbClr val="229422"/>
                          </a:solidFill>
                          <a:latin typeface="Segoe UI"/>
                        </a:rPr>
                        <a:t>table</a:t>
                      </a:r>
                    </a:p>
                  </a:txBody>
                  <a:tcPr>
                    <a:solidFill>
                      <a:srgbClr val="EEF3FA"/>
                    </a:solidFill>
                  </a:tcPr>
                </a:tc>
                <a:tc>
                  <a:txBody>
                    <a:bodyPr/>
                    <a:lstStyle/>
                    <a:p>
                      <a:pPr rtl="1" algn="r"/>
                      <a:r>
                        <a:rPr sz="1700" b="0" i="0" lang="ar-EG" altLang="en-US">
                          <a:solidFill>
                            <a:srgbClr val="1C2333"/>
                          </a:solidFill>
                          <a:latin typeface="Traditional Arabic"/>
                        </a:rPr>
                        <a:t>منضدة</a:t>
                      </a:r>
                    </a:p>
                  </a:txBody>
                  <a:tcPr>
                    <a:solidFill>
                      <a:srgbClr val="EEF3FA"/>
                    </a:solidFill>
                  </a:tcPr>
                </a:tc>
                <a:tc>
                  <a:txBody>
                    <a:bodyPr/>
                    <a:lstStyle/>
                    <a:p>
                      <a:pPr rtl="0" algn="l"/>
                      <a:r>
                        <a:rPr sz="1500" b="1" i="0" lang="en-US">
                          <a:solidFill>
                            <a:srgbClr val="229422"/>
                          </a:solidFill>
                          <a:latin typeface="Segoe UI"/>
                        </a:rPr>
                        <a:t>park</a:t>
                      </a:r>
                    </a:p>
                  </a:txBody>
                  <a:tcPr>
                    <a:solidFill>
                      <a:srgbClr val="EEF3FA"/>
                    </a:solidFill>
                  </a:tcPr>
                </a:tc>
                <a:tc>
                  <a:txBody>
                    <a:bodyPr/>
                    <a:lstStyle/>
                    <a:p>
                      <a:pPr rtl="1" algn="r"/>
                      <a:r>
                        <a:rPr sz="1700" b="0" i="0" lang="ar-EG" altLang="en-US">
                          <a:solidFill>
                            <a:srgbClr val="1C2333"/>
                          </a:solidFill>
                          <a:latin typeface="Traditional Arabic"/>
                        </a:rPr>
                        <a:t>حديقة</a:t>
                      </a:r>
                    </a:p>
                  </a:txBody>
                  <a:tcPr>
                    <a:solidFill>
                      <a:srgbClr val="EEF3FA"/>
                    </a:solidFill>
                  </a:tcPr>
                </a:tc>
              </a:tr>
              <a:tr h="384048">
                <a:tc>
                  <a:txBody>
                    <a:bodyPr/>
                    <a:lstStyle/>
                    <a:p>
                      <a:pPr rtl="0" algn="l"/>
                      <a:r>
                        <a:rPr sz="1500" b="1" i="0" lang="en-US">
                          <a:solidFill>
                            <a:srgbClr val="229422"/>
                          </a:solidFill>
                          <a:latin typeface="Segoe UI"/>
                        </a:rPr>
                        <a:t>bat</a:t>
                      </a:r>
                    </a:p>
                  </a:txBody>
                  <a:tcPr>
                    <a:solidFill>
                      <a:srgbClr val="FFFFFF"/>
                    </a:solidFill>
                  </a:tcPr>
                </a:tc>
                <a:tc>
                  <a:txBody>
                    <a:bodyPr/>
                    <a:lstStyle/>
                    <a:p>
                      <a:pPr rtl="1" algn="r"/>
                      <a:r>
                        <a:rPr sz="1700" b="0" i="0" lang="ar-EG" altLang="en-US">
                          <a:solidFill>
                            <a:srgbClr val="1C2333"/>
                          </a:solidFill>
                          <a:latin typeface="Traditional Arabic"/>
                        </a:rPr>
                        <a:t>خفاش</a:t>
                      </a:r>
                    </a:p>
                  </a:txBody>
                  <a:tcPr>
                    <a:solidFill>
                      <a:srgbClr val="FFFFFF"/>
                    </a:solidFill>
                  </a:tcPr>
                </a:tc>
                <a:tc>
                  <a:txBody>
                    <a:bodyPr/>
                    <a:lstStyle/>
                    <a:p>
                      <a:pPr rtl="0" algn="l"/>
                      <a:r>
                        <a:rPr sz="1500" b="1" i="0" lang="en-US">
                          <a:solidFill>
                            <a:srgbClr val="229422"/>
                          </a:solidFill>
                          <a:latin typeface="Segoe UI"/>
                        </a:rPr>
                        <a:t>toy</a:t>
                      </a:r>
                    </a:p>
                  </a:txBody>
                  <a:tcPr>
                    <a:solidFill>
                      <a:srgbClr val="FFFFFF"/>
                    </a:solidFill>
                  </a:tcPr>
                </a:tc>
                <a:tc>
                  <a:txBody>
                    <a:bodyPr/>
                    <a:lstStyle/>
                    <a:p>
                      <a:pPr rtl="1" algn="r"/>
                      <a:r>
                        <a:rPr sz="1700" b="0" i="0" lang="ar-EG" altLang="en-US">
                          <a:solidFill>
                            <a:srgbClr val="1C2333"/>
                          </a:solidFill>
                          <a:latin typeface="Traditional Arabic"/>
                        </a:rPr>
                        <a:t>لعبة</a:t>
                      </a:r>
                    </a:p>
                  </a:txBody>
                  <a:tcPr>
                    <a:solidFill>
                      <a:srgbClr val="FFFFFF"/>
                    </a:solidFill>
                  </a:tcPr>
                </a:tc>
              </a:tr>
            </a:tbl>
          </a:graphicData>
        </a:graphic>
      </p:graphicFrame>
    </p:spTree>
  </p:cSld>
  <p:clrMapOvr>
    <a:masterClrMapping/>
  </p:clrMapOvr>
  <p:transition spd="med">
    <p:strips dir="ld"/>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 a park.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 flowers.   (is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 is a key.   (They – There)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 a window.   (are – 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a …… .   (trees – tree)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tree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is …… bench.   (a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 are books.   (This – There)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 a van.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is …… orange.   (a – an)</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There …… apples.   (are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There is …… mango.   (a – an)</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 a ring.   (are – is)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There …… balls.   (is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There …… a bat.   (is –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is a fish.</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 fish.</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is a dog.</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 dog.</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is an apple.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 apple.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is a boy.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 boy.</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an ant.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 ant.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is an orange.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 orange.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is a banana.</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 banana.</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is an arm.</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 arm.</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are girls.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girls.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There are birds.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birds.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There are toys.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toys.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are dogs.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dogs.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There are hats.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hats.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There are cats.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cats.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There are feet.</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aren't feet.</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There are doors.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aren't doors.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There are balls.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aren't balls.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is an apple.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apple?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is a cat.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cat?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is a fish.</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fish?</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is a flower.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flower?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an ant.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ant?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is a star.</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star?</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is an animal.</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animal?</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are birds.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birds?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are oranges.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oranges?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There are apples.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apples?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There are cows.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cows?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are toys.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toys?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There are girls.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girls?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There are stars.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stars?</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Is there a car?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Is there an orange?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Is there a bird?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Is there a camel?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Is there an apple?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Is there an elephant?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Is there a bench?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Is there an ant?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Is there a girl?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Is there a camera?</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is. / No, there isn't.</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Are there girls?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Are there cats?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Are there apples?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Are there boys?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Are there trees?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Are there doors?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Are there pens?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Are there rulers?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Are there lions?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Are there animals?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there are. / No, there aren't.</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Yes, there is a cat.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cat?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 there isn't a tree.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tree?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Yes, there is a ball.</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ball?</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No, there isn't an orange.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orange?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Yes, there is a fish.</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fish?</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No, there isn't a camel.</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camel?</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Yes, there is an animal.</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animal?</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No, there isn't a bird.</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bird?</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Yes, there is a boy.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boy?</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No, there aren't cars.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cars?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Yes, there are dolls.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dolls?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No, there aren't pens.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pens?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Yes, there are girls.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girls?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No, there aren't ducks.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ducks?</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Yes, there are lions.</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lions?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No, there aren't ants.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ants?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Yes, there are oranges.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oranges?</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is a key.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key?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are kings.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kings?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are chairs.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chairs?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is a dish.</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dish?</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a plant.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plant?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are parks.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parks?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are monkeys.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monkeys?</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is an orange.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orange?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is an elephant.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elephant?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There are horses.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horses?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There is a ring.</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ring?</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are bananas.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bananas?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There is a couch.</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couch?</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There are keys.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keys?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There is a table.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there a table?</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There are kings.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kings?</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There are boys.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boys?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There is a zoo.</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there a zoo?</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is – an – There – apple.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apple.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not – is – There – a boy.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not a boy.</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 orange – an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orange?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girls – are – There.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girls.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 Are – birds?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birds?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not – There – a – is – star.</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not a star.</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an – there – Is – egg?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an egg?</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arm – There – an – is.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arm.</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lion – There – not – is – a.</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not a lion.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banana – there – a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banana?</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umbrella – a – There – 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umbrella.</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not – pens – There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not pens.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teeth – Are – there?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teeth?</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park – there – Is – a?</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park?</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camera – a – is – There.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 camera.</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not – There – a – bee – is.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not a bee.</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ants – are – There – not.</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are not ants.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child – a – Is – there?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there a child?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is birds.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birds.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are a tree.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tree.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are a car.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car.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Is there cows?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cows?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Are there a book?</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book?</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isn't parks.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parks.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are a man.</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man.</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are child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children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is boys.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boys.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There are a cat.</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cat.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There is books.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books.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is a girls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girl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There are an egg.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egg.</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There is cars.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cars.</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There is a stars .</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 star .</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Is there lions?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there lions?</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There are a boy.</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 boy.</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Are there a doctor?</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there a doctor?</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are cows. (a cow)</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cow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isn't a hen. (hens)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hens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is a farmer.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farmer?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are stars. (a star)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star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is a dog. (dogs)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dogs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are boys.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boys?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isn't a cow. (aren't)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aren't cows .</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are animals. (is)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animal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aren't farmers. (isn't)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 farmer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Yes, there is a horse. (No)</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there isn't a horse.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Is there a map? (Are)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maps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There are toys. (is)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toy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Are there ducks? (Is)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there a duck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Is there an orange?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oranges ?</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There are ants. (an ant)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an ant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Yes, there are cows. (No)</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there aren't cows.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There are dogs.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there dogs?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There is a ruler. (rulers)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rulers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There is an ant. (not)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isn't an ant.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No, there aren't cats. (Yes)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there are cats.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There is an orange.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oranges .</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There are lions. (is)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is a lion .</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J)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There are many animals on the farm. There are cows, ducks and hens. There is a donkey and a horse. Animals need food, water, shelter and space. Cows and goats give us milk and meat. Hens give us eggs.</a:t>
            </a:r>
          </a:p>
          <a:p>
            <a:pPr rtl="0" algn="r">
              <a:spcBef>
                <a:spcPts val="800"/>
              </a:spcBef>
            </a:pPr>
            <a:r>
              <a:rPr sz="1400" b="0" i="0" lang="en-US">
                <a:solidFill>
                  <a:srgbClr val="5B6478"/>
                </a:solidFill>
                <a:latin typeface="Segoe UI"/>
              </a:rPr>
              <a:t>farm: مزرعة   donkey: حمار   shelter: مأوى   space: مساحة</a:t>
            </a:r>
          </a:p>
        </p:txBody>
      </p:sp>
    </p:spTree>
  </p:cSld>
  <p:clrMapOvr>
    <a:masterClrMapping/>
  </p:clrMapOvr>
  <p:transition spd="med">
    <p:zoom dir="in"/>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J) Read the text and answer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There are many animals …… the farm.   (in – on – 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There are …… animals.   (many – much – a lot)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many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There aren't any animals on the farm. (There are many animals.)   (True ✓ – False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False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Hens give us eggs.   (True ✓ – False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True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Animals need food.   (True ✓ – False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True ✓</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K) Finish the dialogue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Good morning, Reda.</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Good morning, Reda.</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Reda: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Reda: Good morning, Ahmed.</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Where …… you going?</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Where are you going?</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Reda: I …… going to the zoo.</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Reda: I am going to the zoo.</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 ?</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Are there many animals ?</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Reda: Yes, there are many animals.</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Reda: Yes, there are many animals.</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Have a nice day.</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Have a nice day.</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Reda: ……</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Reda: Thank you.</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box(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ox(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ox(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ox(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ox(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box(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ox(in)">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Translate into English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 يوجد كاميرا.</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camera.</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2) يوجد أشجار.</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trees.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3) يوجد نهر.</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river.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4) يوجد زهرة.</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flower.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5) يوجد نجوم.</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stars.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6) يوجد بقرة.</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cow.</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7) يوجد كتب.</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books.</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Translate into English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8) يوجد أقلام جاف.</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pens.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9) يوجد ملكة.</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queen.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10) يوجد بنات.</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girls.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11) يوجد بيانو.</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piano.</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12) يوجد نمل.</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ants.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13) يوجد سيارات.</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cars.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14) يوجد كراسي.</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chairs.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Translate into English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15) يوجد أطباء.</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doctors.</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16) يوجد طبيب أسنان.</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dentist.</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17) يوجد طبيب بيطري.</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vet.</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18) يوجد أسد.</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lion.</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19) يوجد طيور.</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are birds.</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20) يوجد سمكة.</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There is a fish.</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7</a:t>
            </a:r>
          </a:p>
          <a:p>
            <a:pPr algn="ctr" rtl="0"/>
            <a:r>
              <a:rPr sz="4600" b="1" i="0" lang="en-US">
                <a:solidFill>
                  <a:srgbClr val="FFFFFF"/>
                </a:solidFill>
                <a:latin typeface="Segoe UI"/>
              </a:rPr>
              <a:t>This / That</a:t>
            </a:r>
          </a:p>
          <a:p>
            <a:pPr algn="ctr" rtl="1"/>
            <a:r>
              <a:rPr sz="2900" b="0" i="0" lang="ar-EG" altLang="en-US">
                <a:solidFill>
                  <a:srgbClr val="FFFFFF"/>
                </a:solidFill>
                <a:latin typeface="Traditional Arabic"/>
              </a:rPr>
              <a:t>أسماء الإشارة للمفرد</a:t>
            </a:r>
          </a:p>
        </p:txBody>
      </p:sp>
    </p:spTree>
  </p:cSld>
  <p:clrMapOvr>
    <a:masterClrMapping/>
  </p:clrMapOvr>
  <p:transition spd="med">
    <p:zoom dir="in"/>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3F22"/>
                </a:solidFill>
                <a:latin typeface="Segoe UI"/>
              </a:rPr>
              <a:t>▶ This is + a / an + اسم مفرد .</a:t>
            </a:r>
          </a:p>
          <a:p>
            <a:pPr rtl="1" algn="r">
              <a:spcAft>
                <a:spcPts val="600"/>
              </a:spcAft>
            </a:pPr>
            <a:r>
              <a:rPr sz="2100" b="0" i="0" lang="ar-EG" altLang="en-US">
                <a:solidFill>
                  <a:srgbClr val="1C2333"/>
                </a:solidFill>
                <a:latin typeface="Traditional Arabic"/>
              </a:rPr>
              <a:t>هذا / هذه — للمفرد القريب.</a:t>
            </a:r>
          </a:p>
          <a:p>
            <a:pPr rtl="0" algn="l">
              <a:spcAft>
                <a:spcPts val="600"/>
              </a:spcAft>
            </a:pPr>
            <a:r>
              <a:rPr sz="2000" b="1" i="0" lang="en-US">
                <a:solidFill>
                  <a:srgbClr val="943F22"/>
                </a:solidFill>
                <a:latin typeface="Segoe UI"/>
              </a:rPr>
              <a:t>▶ That is + a / an + اسم مفرد .</a:t>
            </a:r>
          </a:p>
          <a:p>
            <a:pPr rtl="1" algn="r">
              <a:spcAft>
                <a:spcPts val="600"/>
              </a:spcAft>
            </a:pPr>
            <a:r>
              <a:rPr sz="2100" b="0" i="0" lang="ar-EG" altLang="en-US">
                <a:solidFill>
                  <a:srgbClr val="1C2333"/>
                </a:solidFill>
                <a:latin typeface="Traditional Arabic"/>
              </a:rPr>
              <a:t>ذلك / تلك — للمفرد البعيد.</a:t>
            </a:r>
          </a:p>
        </p:txBody>
      </p:sp>
    </p:spTree>
  </p:cSld>
  <p:clrMapOvr>
    <a:masterClrMapping/>
  </p:clrMapOvr>
  <p:transition spd="med">
    <p:pull dir="r"/>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3F22"/>
                </a:solidFill>
                <a:latin typeface="Segoe UI"/>
              </a:rPr>
              <a:t>▶ This is not (isn't) + a / an + اسم مفرد .</a:t>
            </a:r>
          </a:p>
          <a:p>
            <a:pPr rtl="1" algn="r">
              <a:spcAft>
                <a:spcPts val="600"/>
              </a:spcAft>
            </a:pPr>
            <a:r>
              <a:rPr sz="2100" b="0" i="0" lang="ar-EG" altLang="en-US">
                <a:solidFill>
                  <a:srgbClr val="1C2333"/>
                </a:solidFill>
                <a:latin typeface="Traditional Arabic"/>
              </a:rPr>
              <a:t>نفي (هذا).</a:t>
            </a:r>
          </a:p>
          <a:p>
            <a:pPr rtl="0" algn="l">
              <a:spcAft>
                <a:spcPts val="600"/>
              </a:spcAft>
            </a:pPr>
            <a:r>
              <a:rPr sz="2000" b="1" i="0" lang="en-US">
                <a:solidFill>
                  <a:srgbClr val="943F22"/>
                </a:solidFill>
                <a:latin typeface="Segoe UI"/>
              </a:rPr>
              <a:t>▶ That is not (isn't) + a / an + اسم مفرد .</a:t>
            </a:r>
          </a:p>
          <a:p>
            <a:pPr rtl="1" algn="r">
              <a:spcAft>
                <a:spcPts val="600"/>
              </a:spcAft>
            </a:pPr>
            <a:r>
              <a:rPr sz="2100" b="0" i="0" lang="ar-EG" altLang="en-US">
                <a:solidFill>
                  <a:srgbClr val="1C2333"/>
                </a:solidFill>
                <a:latin typeface="Traditional Arabic"/>
              </a:rPr>
              <a:t>نفي (ذلك).</a:t>
            </a:r>
          </a:p>
        </p:txBody>
      </p:sp>
    </p:spTree>
  </p:cSld>
  <p:clrMapOvr>
    <a:masterClrMapping/>
  </p:clrMapOvr>
  <p:transition spd="med">
    <p:random/>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3F22"/>
                </a:solidFill>
                <a:latin typeface="Segoe UI"/>
              </a:rPr>
              <a:t>▶ Is this + a / an + اسم مفرد ?</a:t>
            </a:r>
          </a:p>
          <a:p>
            <a:pPr rtl="1" algn="r">
              <a:spcAft>
                <a:spcPts val="600"/>
              </a:spcAft>
            </a:pPr>
            <a:r>
              <a:rPr sz="2100" b="0" i="0" lang="ar-EG" altLang="en-US">
                <a:solidFill>
                  <a:srgbClr val="1C2333"/>
                </a:solidFill>
                <a:latin typeface="Traditional Arabic"/>
              </a:rPr>
              <a:t>السؤال عن القريب.</a:t>
            </a:r>
          </a:p>
          <a:p>
            <a:pPr rtl="0" algn="l">
              <a:spcAft>
                <a:spcPts val="600"/>
              </a:spcAft>
            </a:pPr>
            <a:r>
              <a:rPr sz="2000" b="1" i="0" lang="en-US">
                <a:solidFill>
                  <a:srgbClr val="943F22"/>
                </a:solidFill>
                <a:latin typeface="Segoe UI"/>
              </a:rPr>
              <a:t>▶ Is that + a / an + اسم مفرد ?</a:t>
            </a:r>
          </a:p>
          <a:p>
            <a:pPr rtl="1" algn="r">
              <a:spcAft>
                <a:spcPts val="600"/>
              </a:spcAft>
            </a:pPr>
            <a:r>
              <a:rPr sz="2100" b="0" i="0" lang="ar-EG" altLang="en-US">
                <a:solidFill>
                  <a:srgbClr val="1C2333"/>
                </a:solidFill>
                <a:latin typeface="Traditional Arabic"/>
              </a:rPr>
              <a:t>السؤال عن البعيد.</a:t>
            </a:r>
          </a:p>
          <a:p>
            <a:pPr rtl="0" algn="l">
              <a:spcAft>
                <a:spcPts val="600"/>
              </a:spcAft>
            </a:pPr>
            <a:r>
              <a:rPr sz="2000" b="1" i="0" lang="en-US">
                <a:solidFill>
                  <a:srgbClr val="943F22"/>
                </a:solidFill>
                <a:latin typeface="Segoe UI"/>
              </a:rPr>
              <a:t>▶ What is this? / What is that?</a:t>
            </a:r>
          </a:p>
          <a:p>
            <a:pPr rtl="1" algn="r">
              <a:spcAft>
                <a:spcPts val="600"/>
              </a:spcAft>
            </a:pPr>
            <a:r>
              <a:rPr sz="2100" b="0" i="0" lang="ar-EG" altLang="en-US">
                <a:solidFill>
                  <a:srgbClr val="1C2333"/>
                </a:solidFill>
                <a:latin typeface="Traditional Arabic"/>
              </a:rPr>
              <a:t>ما هذا؟ / ما ذلك؟ — السؤال بأداة استفهام.</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3F22"/>
                          </a:solidFill>
                          <a:latin typeface="Segoe UI"/>
                        </a:rPr>
                        <a:t>body</a:t>
                      </a:r>
                    </a:p>
                  </a:txBody>
                  <a:tcPr>
                    <a:solidFill>
                      <a:srgbClr val="FFFFFF"/>
                    </a:solidFill>
                  </a:tcPr>
                </a:tc>
                <a:tc>
                  <a:txBody>
                    <a:bodyPr/>
                    <a:lstStyle/>
                    <a:p>
                      <a:pPr rtl="1" algn="r"/>
                      <a:r>
                        <a:rPr sz="1700" b="0" i="0" lang="ar-EG" altLang="en-US">
                          <a:solidFill>
                            <a:srgbClr val="1C2333"/>
                          </a:solidFill>
                          <a:latin typeface="Traditional Arabic"/>
                        </a:rPr>
                        <a:t>جسم</a:t>
                      </a:r>
                    </a:p>
                  </a:txBody>
                  <a:tcPr>
                    <a:solidFill>
                      <a:srgbClr val="FFFFFF"/>
                    </a:solidFill>
                  </a:tcPr>
                </a:tc>
                <a:tc>
                  <a:txBody>
                    <a:bodyPr/>
                    <a:lstStyle/>
                    <a:p>
                      <a:pPr rtl="0" algn="l"/>
                      <a:r>
                        <a:rPr sz="1500" b="1" i="0" lang="en-US">
                          <a:solidFill>
                            <a:srgbClr val="943F22"/>
                          </a:solidFill>
                          <a:latin typeface="Segoe UI"/>
                        </a:rPr>
                        <a:t>ruler</a:t>
                      </a:r>
                    </a:p>
                  </a:txBody>
                  <a:tcPr>
                    <a:solidFill>
                      <a:srgbClr val="FFFFFF"/>
                    </a:solidFill>
                  </a:tcPr>
                </a:tc>
                <a:tc>
                  <a:txBody>
                    <a:bodyPr/>
                    <a:lstStyle/>
                    <a:p>
                      <a:pPr rtl="1" algn="r"/>
                      <a:r>
                        <a:rPr sz="1700" b="0" i="0" lang="ar-EG" altLang="en-US">
                          <a:solidFill>
                            <a:srgbClr val="1C2333"/>
                          </a:solidFill>
                          <a:latin typeface="Traditional Arabic"/>
                        </a:rPr>
                        <a:t>مسطرة</a:t>
                      </a:r>
                    </a:p>
                  </a:txBody>
                  <a:tcPr>
                    <a:solidFill>
                      <a:srgbClr val="FFFFFF"/>
                    </a:solidFill>
                  </a:tcPr>
                </a:tc>
                <a:tc>
                  <a:txBody>
                    <a:bodyPr/>
                    <a:lstStyle/>
                    <a:p>
                      <a:pPr rtl="0" algn="l"/>
                      <a:r>
                        <a:rPr sz="1500" b="1" i="0" lang="en-US">
                          <a:solidFill>
                            <a:srgbClr val="943F22"/>
                          </a:solidFill>
                          <a:latin typeface="Segoe UI"/>
                        </a:rPr>
                        <a:t>grandfather</a:t>
                      </a:r>
                    </a:p>
                  </a:txBody>
                  <a:tcPr>
                    <a:solidFill>
                      <a:srgbClr val="FFFFFF"/>
                    </a:solidFill>
                  </a:tcPr>
                </a:tc>
                <a:tc>
                  <a:txBody>
                    <a:bodyPr/>
                    <a:lstStyle/>
                    <a:p>
                      <a:pPr rtl="1" algn="r"/>
                      <a:r>
                        <a:rPr sz="1700" b="0" i="0" lang="ar-EG" altLang="en-US">
                          <a:solidFill>
                            <a:srgbClr val="1C2333"/>
                          </a:solidFill>
                          <a:latin typeface="Traditional Arabic"/>
                        </a:rPr>
                        <a:t>الجد</a:t>
                      </a:r>
                    </a:p>
                  </a:txBody>
                  <a:tcPr>
                    <a:solidFill>
                      <a:srgbClr val="FFFFFF"/>
                    </a:solidFill>
                  </a:tcPr>
                </a:tc>
              </a:tr>
              <a:tr h="384048">
                <a:tc>
                  <a:txBody>
                    <a:bodyPr/>
                    <a:lstStyle/>
                    <a:p>
                      <a:pPr rtl="0" algn="l"/>
                      <a:r>
                        <a:rPr sz="1500" b="1" i="0" lang="en-US">
                          <a:solidFill>
                            <a:srgbClr val="943F22"/>
                          </a:solidFill>
                          <a:latin typeface="Segoe UI"/>
                        </a:rPr>
                        <a:t>father</a:t>
                      </a:r>
                    </a:p>
                  </a:txBody>
                  <a:tcPr>
                    <a:solidFill>
                      <a:srgbClr val="EEF3FA"/>
                    </a:solidFill>
                  </a:tcPr>
                </a:tc>
                <a:tc>
                  <a:txBody>
                    <a:bodyPr/>
                    <a:lstStyle/>
                    <a:p>
                      <a:pPr rtl="1" algn="r"/>
                      <a:r>
                        <a:rPr sz="1700" b="0" i="0" lang="ar-EG" altLang="en-US">
                          <a:solidFill>
                            <a:srgbClr val="1C2333"/>
                          </a:solidFill>
                          <a:latin typeface="Traditional Arabic"/>
                        </a:rPr>
                        <a:t>أب</a:t>
                      </a:r>
                    </a:p>
                  </a:txBody>
                  <a:tcPr>
                    <a:solidFill>
                      <a:srgbClr val="EEF3FA"/>
                    </a:solidFill>
                  </a:tcPr>
                </a:tc>
                <a:tc>
                  <a:txBody>
                    <a:bodyPr/>
                    <a:lstStyle/>
                    <a:p>
                      <a:pPr rtl="0" algn="l"/>
                      <a:r>
                        <a:rPr sz="1500" b="1" i="0" lang="en-US">
                          <a:solidFill>
                            <a:srgbClr val="943F22"/>
                          </a:solidFill>
                          <a:latin typeface="Segoe UI"/>
                        </a:rPr>
                        <a:t>mouth</a:t>
                      </a:r>
                    </a:p>
                  </a:txBody>
                  <a:tcPr>
                    <a:solidFill>
                      <a:srgbClr val="EEF3FA"/>
                    </a:solidFill>
                  </a:tcPr>
                </a:tc>
                <a:tc>
                  <a:txBody>
                    <a:bodyPr/>
                    <a:lstStyle/>
                    <a:p>
                      <a:pPr rtl="1" algn="r"/>
                      <a:r>
                        <a:rPr sz="1700" b="0" i="0" lang="ar-EG" altLang="en-US">
                          <a:solidFill>
                            <a:srgbClr val="1C2333"/>
                          </a:solidFill>
                          <a:latin typeface="Traditional Arabic"/>
                        </a:rPr>
                        <a:t>فم</a:t>
                      </a:r>
                    </a:p>
                  </a:txBody>
                  <a:tcPr>
                    <a:solidFill>
                      <a:srgbClr val="EEF3FA"/>
                    </a:solidFill>
                  </a:tcPr>
                </a:tc>
                <a:tc>
                  <a:txBody>
                    <a:bodyPr/>
                    <a:lstStyle/>
                    <a:p>
                      <a:pPr rtl="0" algn="l"/>
                      <a:r>
                        <a:rPr sz="1500" b="1" i="0" lang="en-US">
                          <a:solidFill>
                            <a:srgbClr val="943F22"/>
                          </a:solidFill>
                          <a:latin typeface="Segoe UI"/>
                        </a:rPr>
                        <a:t>eraser</a:t>
                      </a:r>
                    </a:p>
                  </a:txBody>
                  <a:tcPr>
                    <a:solidFill>
                      <a:srgbClr val="EEF3FA"/>
                    </a:solidFill>
                  </a:tcPr>
                </a:tc>
                <a:tc>
                  <a:txBody>
                    <a:bodyPr/>
                    <a:lstStyle/>
                    <a:p>
                      <a:pPr rtl="1" algn="r"/>
                      <a:r>
                        <a:rPr sz="1700" b="0" i="0" lang="ar-EG" altLang="en-US">
                          <a:solidFill>
                            <a:srgbClr val="1C2333"/>
                          </a:solidFill>
                          <a:latin typeface="Traditional Arabic"/>
                        </a:rPr>
                        <a:t>ممحاة</a:t>
                      </a:r>
                    </a:p>
                  </a:txBody>
                  <a:tcPr>
                    <a:solidFill>
                      <a:srgbClr val="EEF3FA"/>
                    </a:solidFill>
                  </a:tcPr>
                </a:tc>
              </a:tr>
              <a:tr h="384048">
                <a:tc>
                  <a:txBody>
                    <a:bodyPr/>
                    <a:lstStyle/>
                    <a:p>
                      <a:pPr rtl="0" algn="l"/>
                      <a:r>
                        <a:rPr sz="1500" b="1" i="0" lang="en-US">
                          <a:solidFill>
                            <a:srgbClr val="943F22"/>
                          </a:solidFill>
                          <a:latin typeface="Segoe UI"/>
                        </a:rPr>
                        <a:t>pen</a:t>
                      </a:r>
                    </a:p>
                  </a:txBody>
                  <a:tcPr>
                    <a:solidFill>
                      <a:srgbClr val="FFFFFF"/>
                    </a:solidFill>
                  </a:tcPr>
                </a:tc>
                <a:tc>
                  <a:txBody>
                    <a:bodyPr/>
                    <a:lstStyle/>
                    <a:p>
                      <a:pPr rtl="1" algn="r"/>
                      <a:r>
                        <a:rPr sz="1700" b="0" i="0" lang="ar-EG" altLang="en-US">
                          <a:solidFill>
                            <a:srgbClr val="1C2333"/>
                          </a:solidFill>
                          <a:latin typeface="Traditional Arabic"/>
                        </a:rPr>
                        <a:t>قلم جاف</a:t>
                      </a:r>
                    </a:p>
                  </a:txBody>
                  <a:tcPr>
                    <a:solidFill>
                      <a:srgbClr val="FFFFFF"/>
                    </a:solidFill>
                  </a:tcPr>
                </a:tc>
                <a:tc>
                  <a:txBody>
                    <a:bodyPr/>
                    <a:lstStyle/>
                    <a:p>
                      <a:pPr rtl="0" algn="l"/>
                      <a:r>
                        <a:rPr sz="1500" b="1" i="0" lang="en-US">
                          <a:solidFill>
                            <a:srgbClr val="943F22"/>
                          </a:solidFill>
                          <a:latin typeface="Segoe UI"/>
                        </a:rPr>
                        <a:t>sister</a:t>
                      </a:r>
                    </a:p>
                  </a:txBody>
                  <a:tcPr>
                    <a:solidFill>
                      <a:srgbClr val="FFFFFF"/>
                    </a:solidFill>
                  </a:tcPr>
                </a:tc>
                <a:tc>
                  <a:txBody>
                    <a:bodyPr/>
                    <a:lstStyle/>
                    <a:p>
                      <a:pPr rtl="1" algn="r"/>
                      <a:r>
                        <a:rPr sz="1700" b="0" i="0" lang="ar-EG" altLang="en-US">
                          <a:solidFill>
                            <a:srgbClr val="1C2333"/>
                          </a:solidFill>
                          <a:latin typeface="Traditional Arabic"/>
                        </a:rPr>
                        <a:t>أخت</a:t>
                      </a:r>
                    </a:p>
                  </a:txBody>
                  <a:tcPr>
                    <a:solidFill>
                      <a:srgbClr val="FFFFFF"/>
                    </a:solidFill>
                  </a:tcPr>
                </a:tc>
                <a:tc>
                  <a:txBody>
                    <a:bodyPr/>
                    <a:lstStyle/>
                    <a:p>
                      <a:pPr rtl="0" algn="l"/>
                      <a:r>
                        <a:rPr sz="1500" b="1" i="0" lang="en-US">
                          <a:solidFill>
                            <a:srgbClr val="943F22"/>
                          </a:solidFill>
                          <a:latin typeface="Segoe UI"/>
                        </a:rPr>
                        <a:t>head</a:t>
                      </a:r>
                    </a:p>
                  </a:txBody>
                  <a:tcPr>
                    <a:solidFill>
                      <a:srgbClr val="FFFFFF"/>
                    </a:solidFill>
                  </a:tcPr>
                </a:tc>
                <a:tc>
                  <a:txBody>
                    <a:bodyPr/>
                    <a:lstStyle/>
                    <a:p>
                      <a:pPr rtl="1" algn="r"/>
                      <a:r>
                        <a:rPr sz="1700" b="0" i="0" lang="ar-EG" altLang="en-US">
                          <a:solidFill>
                            <a:srgbClr val="1C2333"/>
                          </a:solidFill>
                          <a:latin typeface="Traditional Arabic"/>
                        </a:rPr>
                        <a:t>رأس</a:t>
                      </a:r>
                    </a:p>
                  </a:txBody>
                  <a:tcPr>
                    <a:solidFill>
                      <a:srgbClr val="FFFFFF"/>
                    </a:solidFill>
                  </a:tcPr>
                </a:tc>
              </a:tr>
              <a:tr h="384048">
                <a:tc>
                  <a:txBody>
                    <a:bodyPr/>
                    <a:lstStyle/>
                    <a:p>
                      <a:pPr rtl="0" algn="l"/>
                      <a:r>
                        <a:rPr sz="1500" b="1" i="0" lang="en-US">
                          <a:solidFill>
                            <a:srgbClr val="943F22"/>
                          </a:solidFill>
                          <a:latin typeface="Segoe UI"/>
                        </a:rPr>
                        <a:t>face</a:t>
                      </a:r>
                    </a:p>
                  </a:txBody>
                  <a:tcPr>
                    <a:solidFill>
                      <a:srgbClr val="EEF3FA"/>
                    </a:solidFill>
                  </a:tcPr>
                </a:tc>
                <a:tc>
                  <a:txBody>
                    <a:bodyPr/>
                    <a:lstStyle/>
                    <a:p>
                      <a:pPr rtl="1" algn="r"/>
                      <a:r>
                        <a:rPr sz="1700" b="0" i="0" lang="ar-EG" altLang="en-US">
                          <a:solidFill>
                            <a:srgbClr val="1C2333"/>
                          </a:solidFill>
                          <a:latin typeface="Traditional Arabic"/>
                        </a:rPr>
                        <a:t>وجه</a:t>
                      </a:r>
                    </a:p>
                  </a:txBody>
                  <a:tcPr>
                    <a:solidFill>
                      <a:srgbClr val="EEF3FA"/>
                    </a:solidFill>
                  </a:tcPr>
                </a:tc>
                <a:tc>
                  <a:txBody>
                    <a:bodyPr/>
                    <a:lstStyle/>
                    <a:p>
                      <a:pPr rtl="0" algn="l"/>
                      <a:r>
                        <a:rPr sz="1500" b="1" i="0" lang="en-US">
                          <a:solidFill>
                            <a:srgbClr val="943F22"/>
                          </a:solidFill>
                          <a:latin typeface="Segoe UI"/>
                        </a:rPr>
                        <a:t>book</a:t>
                      </a:r>
                    </a:p>
                  </a:txBody>
                  <a:tcPr>
                    <a:solidFill>
                      <a:srgbClr val="EEF3FA"/>
                    </a:solidFill>
                  </a:tcPr>
                </a:tc>
                <a:tc>
                  <a:txBody>
                    <a:bodyPr/>
                    <a:lstStyle/>
                    <a:p>
                      <a:pPr rtl="1" algn="r"/>
                      <a:r>
                        <a:rPr sz="1700" b="0" i="0" lang="ar-EG" altLang="en-US">
                          <a:solidFill>
                            <a:srgbClr val="1C2333"/>
                          </a:solidFill>
                          <a:latin typeface="Traditional Arabic"/>
                        </a:rPr>
                        <a:t>كتاب</a:t>
                      </a:r>
                    </a:p>
                  </a:txBody>
                  <a:tcPr>
                    <a:solidFill>
                      <a:srgbClr val="EEF3FA"/>
                    </a:solidFill>
                  </a:tcPr>
                </a:tc>
                <a:tc>
                  <a:txBody>
                    <a:bodyPr/>
                    <a:lstStyle/>
                    <a:p>
                      <a:pPr rtl="0" algn="l"/>
                      <a:r>
                        <a:rPr sz="1500" b="1" i="0" lang="en-US">
                          <a:solidFill>
                            <a:srgbClr val="943F22"/>
                          </a:solidFill>
                          <a:latin typeface="Segoe UI"/>
                        </a:rPr>
                        <a:t>grandmother</a:t>
                      </a:r>
                    </a:p>
                  </a:txBody>
                  <a:tcPr>
                    <a:solidFill>
                      <a:srgbClr val="EEF3FA"/>
                    </a:solidFill>
                  </a:tcPr>
                </a:tc>
                <a:tc>
                  <a:txBody>
                    <a:bodyPr/>
                    <a:lstStyle/>
                    <a:p>
                      <a:pPr rtl="1" algn="r"/>
                      <a:r>
                        <a:rPr sz="1700" b="0" i="0" lang="ar-EG" altLang="en-US">
                          <a:solidFill>
                            <a:srgbClr val="1C2333"/>
                          </a:solidFill>
                          <a:latin typeface="Traditional Arabic"/>
                        </a:rPr>
                        <a:t>الجدة</a:t>
                      </a:r>
                    </a:p>
                  </a:txBody>
                  <a:tcPr>
                    <a:solidFill>
                      <a:srgbClr val="EEF3FA"/>
                    </a:solidFill>
                  </a:tcPr>
                </a:tc>
              </a:tr>
              <a:tr h="384048">
                <a:tc>
                  <a:txBody>
                    <a:bodyPr/>
                    <a:lstStyle/>
                    <a:p>
                      <a:pPr rtl="0" algn="l"/>
                      <a:r>
                        <a:rPr sz="1500" b="1" i="0" lang="en-US">
                          <a:solidFill>
                            <a:srgbClr val="943F22"/>
                          </a:solidFill>
                          <a:latin typeface="Segoe UI"/>
                        </a:rPr>
                        <a:t>mother</a:t>
                      </a:r>
                    </a:p>
                  </a:txBody>
                  <a:tcPr>
                    <a:solidFill>
                      <a:srgbClr val="FFFFFF"/>
                    </a:solidFill>
                  </a:tcPr>
                </a:tc>
                <a:tc>
                  <a:txBody>
                    <a:bodyPr/>
                    <a:lstStyle/>
                    <a:p>
                      <a:pPr rtl="1" algn="r"/>
                      <a:r>
                        <a:rPr sz="1700" b="0" i="0" lang="ar-EG" altLang="en-US">
                          <a:solidFill>
                            <a:srgbClr val="1C2333"/>
                          </a:solidFill>
                          <a:latin typeface="Traditional Arabic"/>
                        </a:rPr>
                        <a:t>أم</a:t>
                      </a:r>
                    </a:p>
                  </a:txBody>
                  <a:tcPr>
                    <a:solidFill>
                      <a:srgbClr val="FFFFFF"/>
                    </a:solidFill>
                  </a:tcPr>
                </a:tc>
                <a:tc>
                  <a:txBody>
                    <a:bodyPr/>
                    <a:lstStyle/>
                    <a:p>
                      <a:pPr rtl="0" algn="l"/>
                      <a:r>
                        <a:rPr sz="1500" b="1" i="0" lang="en-US">
                          <a:solidFill>
                            <a:srgbClr val="943F22"/>
                          </a:solidFill>
                          <a:latin typeface="Segoe UI"/>
                        </a:rPr>
                        <a:t>ear</a:t>
                      </a:r>
                    </a:p>
                  </a:txBody>
                  <a:tcPr>
                    <a:solidFill>
                      <a:srgbClr val="FFFFFF"/>
                    </a:solidFill>
                  </a:tcPr>
                </a:tc>
                <a:tc>
                  <a:txBody>
                    <a:bodyPr/>
                    <a:lstStyle/>
                    <a:p>
                      <a:pPr rtl="1" algn="r"/>
                      <a:r>
                        <a:rPr sz="1700" b="0" i="0" lang="ar-EG" altLang="en-US">
                          <a:solidFill>
                            <a:srgbClr val="1C2333"/>
                          </a:solidFill>
                          <a:latin typeface="Traditional Arabic"/>
                        </a:rPr>
                        <a:t>أذن</a:t>
                      </a:r>
                    </a:p>
                  </a:txBody>
                  <a:tcPr>
                    <a:solidFill>
                      <a:srgbClr val="FFFFFF"/>
                    </a:solidFill>
                  </a:tcPr>
                </a:tc>
                <a:tc>
                  <a:txBody>
                    <a:bodyPr/>
                    <a:lstStyle/>
                    <a:p>
                      <a:pPr rtl="0" algn="l"/>
                      <a:r>
                        <a:rPr sz="1500" b="1" i="0" lang="en-US">
                          <a:solidFill>
                            <a:srgbClr val="943F22"/>
                          </a:solidFill>
                          <a:latin typeface="Segoe UI"/>
                        </a:rPr>
                        <a:t>notebook</a:t>
                      </a:r>
                    </a:p>
                  </a:txBody>
                  <a:tcPr>
                    <a:solidFill>
                      <a:srgbClr val="FFFFFF"/>
                    </a:solidFill>
                  </a:tcPr>
                </a:tc>
                <a:tc>
                  <a:txBody>
                    <a:bodyPr/>
                    <a:lstStyle/>
                    <a:p>
                      <a:pPr rtl="1" algn="r"/>
                      <a:r>
                        <a:rPr sz="1700" b="0" i="0" lang="ar-EG" altLang="en-US">
                          <a:solidFill>
                            <a:srgbClr val="1C2333"/>
                          </a:solidFill>
                          <a:latin typeface="Traditional Arabic"/>
                        </a:rPr>
                        <a:t>كراسة</a:t>
                      </a:r>
                    </a:p>
                  </a:txBody>
                  <a:tcPr>
                    <a:solidFill>
                      <a:srgbClr val="FFFFFF"/>
                    </a:solidFill>
                  </a:tcPr>
                </a:tc>
              </a:tr>
              <a:tr h="384048">
                <a:tc>
                  <a:txBody>
                    <a:bodyPr/>
                    <a:lstStyle/>
                    <a:p>
                      <a:pPr rtl="0" algn="l"/>
                      <a:r>
                        <a:rPr sz="1500" b="1" i="0" lang="en-US">
                          <a:solidFill>
                            <a:srgbClr val="943F22"/>
                          </a:solidFill>
                          <a:latin typeface="Segoe UI"/>
                        </a:rPr>
                        <a:t>pencil</a:t>
                      </a:r>
                    </a:p>
                  </a:txBody>
                  <a:tcPr>
                    <a:solidFill>
                      <a:srgbClr val="EEF3FA"/>
                    </a:solidFill>
                  </a:tcPr>
                </a:tc>
                <a:tc>
                  <a:txBody>
                    <a:bodyPr/>
                    <a:lstStyle/>
                    <a:p>
                      <a:pPr rtl="1" algn="r"/>
                      <a:r>
                        <a:rPr sz="1700" b="0" i="0" lang="ar-EG" altLang="en-US">
                          <a:solidFill>
                            <a:srgbClr val="1C2333"/>
                          </a:solidFill>
                          <a:latin typeface="Traditional Arabic"/>
                        </a:rPr>
                        <a:t>قلم رصاص</a:t>
                      </a:r>
                    </a:p>
                  </a:txBody>
                  <a:tcPr>
                    <a:solidFill>
                      <a:srgbClr val="EEF3FA"/>
                    </a:solidFill>
                  </a:tcPr>
                </a:tc>
                <a:tc>
                  <a:txBody>
                    <a:bodyPr/>
                    <a:lstStyle/>
                    <a:p>
                      <a:pPr rtl="0" algn="l"/>
                      <a:r>
                        <a:rPr sz="1500" b="1" i="0" lang="en-US">
                          <a:solidFill>
                            <a:srgbClr val="943F22"/>
                          </a:solidFill>
                          <a:latin typeface="Segoe UI"/>
                        </a:rPr>
                        <a:t>cousin</a:t>
                      </a:r>
                    </a:p>
                  </a:txBody>
                  <a:tcPr>
                    <a:solidFill>
                      <a:srgbClr val="EEF3FA"/>
                    </a:solidFill>
                  </a:tcPr>
                </a:tc>
                <a:tc>
                  <a:txBody>
                    <a:bodyPr/>
                    <a:lstStyle/>
                    <a:p>
                      <a:pPr rtl="1" algn="r"/>
                      <a:r>
                        <a:rPr sz="1700" b="0" i="0" lang="ar-EG" altLang="en-US">
                          <a:solidFill>
                            <a:srgbClr val="1C2333"/>
                          </a:solidFill>
                          <a:latin typeface="Traditional Arabic"/>
                        </a:rPr>
                        <a:t>ابن العم / الخال</a:t>
                      </a:r>
                    </a:p>
                  </a:txBody>
                  <a:tcPr>
                    <a:solidFill>
                      <a:srgbClr val="EEF3FA"/>
                    </a:solidFill>
                  </a:tcPr>
                </a:tc>
                <a:tc>
                  <a:txBody>
                    <a:bodyPr/>
                    <a:lstStyle/>
                    <a:p>
                      <a:pPr rtl="0" algn="l"/>
                      <a:r>
                        <a:rPr sz="1500" b="1" i="0" lang="en-US">
                          <a:solidFill>
                            <a:srgbClr val="943F22"/>
                          </a:solidFill>
                          <a:latin typeface="Segoe UI"/>
                        </a:rPr>
                        <a:t>hand</a:t>
                      </a:r>
                    </a:p>
                  </a:txBody>
                  <a:tcPr>
                    <a:solidFill>
                      <a:srgbClr val="EEF3FA"/>
                    </a:solidFill>
                  </a:tcPr>
                </a:tc>
                <a:tc>
                  <a:txBody>
                    <a:bodyPr/>
                    <a:lstStyle/>
                    <a:p>
                      <a:pPr rtl="1" algn="r"/>
                      <a:r>
                        <a:rPr sz="1700" b="0" i="0" lang="ar-EG" altLang="en-US">
                          <a:solidFill>
                            <a:srgbClr val="1C2333"/>
                          </a:solidFill>
                          <a:latin typeface="Traditional Arabic"/>
                        </a:rPr>
                        <a:t>يد</a:t>
                      </a:r>
                    </a:p>
                  </a:txBody>
                  <a:tcPr>
                    <a:solidFill>
                      <a:srgbClr val="EEF3FA"/>
                    </a:solidFill>
                  </a:tcPr>
                </a:tc>
              </a:tr>
              <a:tr h="384048">
                <a:tc>
                  <a:txBody>
                    <a:bodyPr/>
                    <a:lstStyle/>
                    <a:p>
                      <a:pPr rtl="0" algn="l"/>
                      <a:r>
                        <a:rPr sz="1500" b="1" i="0" lang="en-US">
                          <a:solidFill>
                            <a:srgbClr val="943F22"/>
                          </a:solidFill>
                          <a:latin typeface="Segoe UI"/>
                        </a:rPr>
                        <a:t>nose</a:t>
                      </a:r>
                    </a:p>
                  </a:txBody>
                  <a:tcPr>
                    <a:solidFill>
                      <a:srgbClr val="FFFFFF"/>
                    </a:solidFill>
                  </a:tcPr>
                </a:tc>
                <a:tc>
                  <a:txBody>
                    <a:bodyPr/>
                    <a:lstStyle/>
                    <a:p>
                      <a:pPr rtl="1" algn="r"/>
                      <a:r>
                        <a:rPr sz="1700" b="0" i="0" lang="ar-EG" altLang="en-US">
                          <a:solidFill>
                            <a:srgbClr val="1C2333"/>
                          </a:solidFill>
                          <a:latin typeface="Traditional Arabic"/>
                        </a:rPr>
                        <a:t>أنف</a:t>
                      </a:r>
                    </a:p>
                  </a:txBody>
                  <a:tcPr>
                    <a:solidFill>
                      <a:srgbClr val="FFFFFF"/>
                    </a:solidFill>
                  </a:tcPr>
                </a:tc>
                <a:tc>
                  <a:txBody>
                    <a:bodyPr/>
                    <a:lstStyle/>
                    <a:p>
                      <a:pPr rtl="0" algn="l"/>
                      <a:r>
                        <a:rPr sz="1500" b="1" i="0" lang="en-US">
                          <a:solidFill>
                            <a:srgbClr val="943F22"/>
                          </a:solidFill>
                          <a:latin typeface="Segoe UI"/>
                        </a:rPr>
                        <a:t>sharpener</a:t>
                      </a:r>
                    </a:p>
                  </a:txBody>
                  <a:tcPr>
                    <a:solidFill>
                      <a:srgbClr val="FFFFFF"/>
                    </a:solidFill>
                  </a:tcPr>
                </a:tc>
                <a:tc>
                  <a:txBody>
                    <a:bodyPr/>
                    <a:lstStyle/>
                    <a:p>
                      <a:pPr rtl="1" algn="r"/>
                      <a:r>
                        <a:rPr sz="1700" b="0" i="0" lang="ar-EG" altLang="en-US">
                          <a:solidFill>
                            <a:srgbClr val="1C2333"/>
                          </a:solidFill>
                          <a:latin typeface="Traditional Arabic"/>
                        </a:rPr>
                        <a:t>براية</a:t>
                      </a:r>
                    </a:p>
                  </a:txBody>
                  <a:tcPr>
                    <a:solidFill>
                      <a:srgbClr val="FFFFFF"/>
                    </a:solidFill>
                  </a:tcPr>
                </a:tc>
                <a:tc>
                  <a:txBody>
                    <a:bodyPr/>
                    <a:lstStyle/>
                    <a:p>
                      <a:pPr rtl="0" algn="l"/>
                      <a:r>
                        <a:rPr sz="1500" b="1" i="0" lang="en-US">
                          <a:solidFill>
                            <a:srgbClr val="943F22"/>
                          </a:solidFill>
                          <a:latin typeface="Segoe UI"/>
                        </a:rPr>
                        <a:t>child</a:t>
                      </a:r>
                    </a:p>
                  </a:txBody>
                  <a:tcPr>
                    <a:solidFill>
                      <a:srgbClr val="FFFFFF"/>
                    </a:solidFill>
                  </a:tcPr>
                </a:tc>
                <a:tc>
                  <a:txBody>
                    <a:bodyPr/>
                    <a:lstStyle/>
                    <a:p>
                      <a:pPr rtl="1" algn="r"/>
                      <a:r>
                        <a:rPr sz="1700" b="0" i="0" lang="ar-EG" altLang="en-US">
                          <a:solidFill>
                            <a:srgbClr val="1C2333"/>
                          </a:solidFill>
                          <a:latin typeface="Traditional Arabic"/>
                        </a:rPr>
                        <a:t>طفل</a:t>
                      </a:r>
                    </a:p>
                  </a:txBody>
                  <a:tcPr>
                    <a:solidFill>
                      <a:srgbClr val="FFFFFF"/>
                    </a:solidFill>
                  </a:tcPr>
                </a:tc>
              </a:tr>
              <a:tr h="384048">
                <a:tc>
                  <a:txBody>
                    <a:bodyPr/>
                    <a:lstStyle/>
                    <a:p>
                      <a:pPr rtl="0" algn="l"/>
                      <a:r>
                        <a:rPr sz="1500" b="1" i="0" lang="en-US">
                          <a:solidFill>
                            <a:srgbClr val="943F22"/>
                          </a:solidFill>
                          <a:latin typeface="Segoe UI"/>
                        </a:rPr>
                        <a:t>brother</a:t>
                      </a:r>
                    </a:p>
                  </a:txBody>
                  <a:tcPr>
                    <a:solidFill>
                      <a:srgbClr val="EEF3FA"/>
                    </a:solidFill>
                  </a:tcPr>
                </a:tc>
                <a:tc>
                  <a:txBody>
                    <a:bodyPr/>
                    <a:lstStyle/>
                    <a:p>
                      <a:pPr rtl="1" algn="r"/>
                      <a:r>
                        <a:rPr sz="1700" b="0" i="0" lang="ar-EG" altLang="en-US">
                          <a:solidFill>
                            <a:srgbClr val="1C2333"/>
                          </a:solidFill>
                          <a:latin typeface="Traditional Arabic"/>
                        </a:rPr>
                        <a:t>أخ</a:t>
                      </a:r>
                    </a:p>
                  </a:txBody>
                  <a:tcPr>
                    <a:solidFill>
                      <a:srgbClr val="EEF3FA"/>
                    </a:solidFill>
                  </a:tcPr>
                </a:tc>
                <a:tc>
                  <a:txBody>
                    <a:bodyPr/>
                    <a:lstStyle/>
                    <a:p>
                      <a:pPr rtl="0" algn="l"/>
                      <a:r>
                        <a:rPr sz="1500" b="1" i="0" lang="en-US">
                          <a:solidFill>
                            <a:srgbClr val="943F22"/>
                          </a:solidFill>
                          <a:latin typeface="Segoe UI"/>
                        </a:rPr>
                        <a:t>hair</a:t>
                      </a:r>
                    </a:p>
                  </a:txBody>
                  <a:tcPr>
                    <a:solidFill>
                      <a:srgbClr val="EEF3FA"/>
                    </a:solidFill>
                  </a:tcPr>
                </a:tc>
                <a:tc>
                  <a:txBody>
                    <a:bodyPr/>
                    <a:lstStyle/>
                    <a:p>
                      <a:pPr rtl="1" algn="r"/>
                      <a:r>
                        <a:rPr sz="1700" b="0" i="0" lang="ar-EG" altLang="en-US">
                          <a:solidFill>
                            <a:srgbClr val="1C2333"/>
                          </a:solidFill>
                          <a:latin typeface="Traditional Arabic"/>
                        </a:rPr>
                        <a:t>شعر</a:t>
                      </a:r>
                    </a:p>
                  </a:txBody>
                  <a:tcPr>
                    <a:solidFill>
                      <a:srgbClr val="EEF3FA"/>
                    </a:solidFill>
                  </a:tcPr>
                </a:tc>
                <a:tc>
                  <a:txBody>
                    <a:bodyPr/>
                    <a:lstStyle/>
                    <a:p>
                      <a:pPr rtl="0" algn="l"/>
                      <a:r>
                        <a:rPr sz="1500" b="1" i="0" lang="en-US">
                          <a:solidFill>
                            <a:srgbClr val="943F22"/>
                          </a:solidFill>
                          <a:latin typeface="Segoe UI"/>
                        </a:rPr>
                        <a:t>bag</a:t>
                      </a:r>
                    </a:p>
                  </a:txBody>
                  <a:tcPr>
                    <a:solidFill>
                      <a:srgbClr val="EEF3FA"/>
                    </a:solidFill>
                  </a:tcPr>
                </a:tc>
                <a:tc>
                  <a:txBody>
                    <a:bodyPr/>
                    <a:lstStyle/>
                    <a:p>
                      <a:pPr rtl="1" algn="r"/>
                      <a:r>
                        <a:rPr sz="1700" b="0" i="0" lang="ar-EG" altLang="en-US">
                          <a:solidFill>
                            <a:srgbClr val="1C2333"/>
                          </a:solidFill>
                          <a:latin typeface="Traditional Arabic"/>
                        </a:rPr>
                        <a:t>حقيبة</a:t>
                      </a:r>
                    </a:p>
                  </a:txBody>
                  <a:tcPr>
                    <a:solidFill>
                      <a:srgbClr val="EEF3FA"/>
                    </a:solidFill>
                  </a:tcPr>
                </a:tc>
              </a:tr>
            </a:tbl>
          </a:graphicData>
        </a:graphic>
      </p:graphicFrame>
    </p:spTree>
  </p:cSld>
  <p:clrMapOvr>
    <a:masterClrMapping/>
  </p:clrMapOvr>
  <p:transition spd="med">
    <p:push dir="l"/>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3F22"/>
                          </a:solidFill>
                          <a:latin typeface="Segoe UI"/>
                        </a:rPr>
                        <a:t>finger</a:t>
                      </a:r>
                    </a:p>
                  </a:txBody>
                  <a:tcPr>
                    <a:solidFill>
                      <a:srgbClr val="FFFFFF"/>
                    </a:solidFill>
                  </a:tcPr>
                </a:tc>
                <a:tc>
                  <a:txBody>
                    <a:bodyPr/>
                    <a:lstStyle/>
                    <a:p>
                      <a:pPr rtl="1" algn="r"/>
                      <a:r>
                        <a:rPr sz="1700" b="0" i="0" lang="ar-EG" altLang="en-US">
                          <a:solidFill>
                            <a:srgbClr val="1C2333"/>
                          </a:solidFill>
                          <a:latin typeface="Traditional Arabic"/>
                        </a:rPr>
                        <a:t>إصبع اليد</a:t>
                      </a:r>
                    </a:p>
                  </a:txBody>
                  <a:tcPr>
                    <a:solidFill>
                      <a:srgbClr val="FFFFFF"/>
                    </a:solidFill>
                  </a:tcPr>
                </a:tc>
                <a:tc>
                  <a:txBody>
                    <a:bodyPr/>
                    <a:lstStyle/>
                    <a:p>
                      <a:pPr rtl="0" algn="l"/>
                      <a:r>
                        <a:rPr sz="1500" b="1" i="0" lang="en-US">
                          <a:solidFill>
                            <a:srgbClr val="943F22"/>
                          </a:solidFill>
                          <a:latin typeface="Segoe UI"/>
                        </a:rPr>
                        <a:t>heart</a:t>
                      </a:r>
                    </a:p>
                  </a:txBody>
                  <a:tcPr>
                    <a:solidFill>
                      <a:srgbClr val="FFFFFF"/>
                    </a:solidFill>
                  </a:tcPr>
                </a:tc>
                <a:tc>
                  <a:txBody>
                    <a:bodyPr/>
                    <a:lstStyle/>
                    <a:p>
                      <a:pPr rtl="1" algn="r"/>
                      <a:r>
                        <a:rPr sz="1700" b="0" i="0" lang="ar-EG" altLang="en-US">
                          <a:solidFill>
                            <a:srgbClr val="1C2333"/>
                          </a:solidFill>
                          <a:latin typeface="Traditional Arabic"/>
                        </a:rPr>
                        <a:t>قلب</a:t>
                      </a:r>
                    </a:p>
                  </a:txBody>
                  <a:tcPr>
                    <a:solidFill>
                      <a:srgbClr val="FFFFFF"/>
                    </a:solidFill>
                  </a:tcPr>
                </a:tc>
                <a:tc>
                  <a:txBody>
                    <a:bodyPr/>
                    <a:lstStyle/>
                    <a:p>
                      <a:pPr rtl="0" algn="l"/>
                      <a:r>
                        <a:rPr sz="1500" b="1" i="0" lang="en-US">
                          <a:solidFill>
                            <a:srgbClr val="943F22"/>
                          </a:solidFill>
                          <a:latin typeface="Segoe UI"/>
                        </a:rPr>
                        <a:t>sky</a:t>
                      </a:r>
                    </a:p>
                  </a:txBody>
                  <a:tcPr>
                    <a:solidFill>
                      <a:srgbClr val="FFFFFF"/>
                    </a:solidFill>
                  </a:tcPr>
                </a:tc>
                <a:tc>
                  <a:txBody>
                    <a:bodyPr/>
                    <a:lstStyle/>
                    <a:p>
                      <a:pPr rtl="1" algn="r"/>
                      <a:r>
                        <a:rPr sz="1700" b="0" i="0" lang="ar-EG" altLang="en-US">
                          <a:solidFill>
                            <a:srgbClr val="1C2333"/>
                          </a:solidFill>
                          <a:latin typeface="Traditional Arabic"/>
                        </a:rPr>
                        <a:t>سماء</a:t>
                      </a:r>
                    </a:p>
                  </a:txBody>
                  <a:tcPr>
                    <a:solidFill>
                      <a:srgbClr val="FFFFFF"/>
                    </a:solidFill>
                  </a:tcPr>
                </a:tc>
              </a:tr>
              <a:tr h="384048">
                <a:tc>
                  <a:txBody>
                    <a:bodyPr/>
                    <a:lstStyle/>
                    <a:p>
                      <a:pPr rtl="0" algn="l"/>
                      <a:r>
                        <a:rPr sz="1500" b="1" i="0" lang="en-US">
                          <a:solidFill>
                            <a:srgbClr val="943F22"/>
                          </a:solidFill>
                          <a:latin typeface="Segoe UI"/>
                        </a:rPr>
                        <a:t>children</a:t>
                      </a:r>
                    </a:p>
                  </a:txBody>
                  <a:tcPr>
                    <a:solidFill>
                      <a:srgbClr val="EEF3FA"/>
                    </a:solidFill>
                  </a:tcPr>
                </a:tc>
                <a:tc>
                  <a:txBody>
                    <a:bodyPr/>
                    <a:lstStyle/>
                    <a:p>
                      <a:pPr rtl="1" algn="r"/>
                      <a:r>
                        <a:rPr sz="1700" b="0" i="0" lang="ar-EG" altLang="en-US">
                          <a:solidFill>
                            <a:srgbClr val="1C2333"/>
                          </a:solidFill>
                          <a:latin typeface="Traditional Arabic"/>
                        </a:rPr>
                        <a:t>أطفال</a:t>
                      </a:r>
                    </a:p>
                  </a:txBody>
                  <a:tcPr>
                    <a:solidFill>
                      <a:srgbClr val="EEF3FA"/>
                    </a:solidFill>
                  </a:tcPr>
                </a:tc>
                <a:tc>
                  <a:txBody>
                    <a:bodyPr/>
                    <a:lstStyle/>
                    <a:p>
                      <a:pPr rtl="0" algn="l"/>
                      <a:r>
                        <a:rPr sz="1500" b="1" i="0" lang="en-US">
                          <a:solidFill>
                            <a:srgbClr val="943F22"/>
                          </a:solidFill>
                          <a:latin typeface="Segoe UI"/>
                        </a:rPr>
                        <a:t>cloud</a:t>
                      </a:r>
                    </a:p>
                  </a:txBody>
                  <a:tcPr>
                    <a:solidFill>
                      <a:srgbClr val="EEF3FA"/>
                    </a:solidFill>
                  </a:tcPr>
                </a:tc>
                <a:tc>
                  <a:txBody>
                    <a:bodyPr/>
                    <a:lstStyle/>
                    <a:p>
                      <a:pPr rtl="1" algn="r"/>
                      <a:r>
                        <a:rPr sz="1700" b="0" i="0" lang="ar-EG" altLang="en-US">
                          <a:solidFill>
                            <a:srgbClr val="1C2333"/>
                          </a:solidFill>
                          <a:latin typeface="Traditional Arabic"/>
                        </a:rPr>
                        <a:t>سحابة</a:t>
                      </a:r>
                    </a:p>
                  </a:txBody>
                  <a:tcPr>
                    <a:solidFill>
                      <a:srgbClr val="EEF3FA"/>
                    </a:solidFill>
                  </a:tcPr>
                </a:tc>
                <a:tc>
                  <a:txBody>
                    <a:bodyPr/>
                    <a:lstStyle/>
                    <a:p>
                      <a:pPr rtl="0" algn="l"/>
                      <a:r>
                        <a:rPr sz="1500" b="1" i="0" lang="en-US">
                          <a:solidFill>
                            <a:srgbClr val="943F22"/>
                          </a:solidFill>
                          <a:latin typeface="Segoe UI"/>
                        </a:rPr>
                        <a:t>foot / feet</a:t>
                      </a:r>
                    </a:p>
                  </a:txBody>
                  <a:tcPr>
                    <a:solidFill>
                      <a:srgbClr val="EEF3FA"/>
                    </a:solidFill>
                  </a:tcPr>
                </a:tc>
                <a:tc>
                  <a:txBody>
                    <a:bodyPr/>
                    <a:lstStyle/>
                    <a:p>
                      <a:pPr rtl="1" algn="r"/>
                      <a:r>
                        <a:rPr sz="1700" b="0" i="0" lang="ar-EG" altLang="en-US">
                          <a:solidFill>
                            <a:srgbClr val="1C2333"/>
                          </a:solidFill>
                          <a:latin typeface="Traditional Arabic"/>
                        </a:rPr>
                        <a:t>قدم / أقدام</a:t>
                      </a:r>
                    </a:p>
                  </a:txBody>
                  <a:tcPr>
                    <a:solidFill>
                      <a:srgbClr val="EEF3FA"/>
                    </a:solidFill>
                  </a:tcPr>
                </a:tc>
              </a:tr>
              <a:tr h="384048">
                <a:tc>
                  <a:txBody>
                    <a:bodyPr/>
                    <a:lstStyle/>
                    <a:p>
                      <a:pPr rtl="0" algn="l"/>
                      <a:r>
                        <a:rPr sz="1500" b="1" i="0" lang="en-US">
                          <a:solidFill>
                            <a:srgbClr val="943F22"/>
                          </a:solidFill>
                          <a:latin typeface="Segoe UI"/>
                        </a:rPr>
                        <a:t>moon</a:t>
                      </a:r>
                    </a:p>
                  </a:txBody>
                  <a:tcPr>
                    <a:solidFill>
                      <a:srgbClr val="FFFFFF"/>
                    </a:solidFill>
                  </a:tcPr>
                </a:tc>
                <a:tc>
                  <a:txBody>
                    <a:bodyPr/>
                    <a:lstStyle/>
                    <a:p>
                      <a:pPr rtl="1" algn="r"/>
                      <a:r>
                        <a:rPr sz="1700" b="0" i="0" lang="ar-EG" altLang="en-US">
                          <a:solidFill>
                            <a:srgbClr val="1C2333"/>
                          </a:solidFill>
                          <a:latin typeface="Traditional Arabic"/>
                        </a:rPr>
                        <a:t>قمر</a:t>
                      </a:r>
                    </a:p>
                  </a:txBody>
                  <a:tcPr>
                    <a:solidFill>
                      <a:srgbClr val="FFFFFF"/>
                    </a:solidFill>
                  </a:tcPr>
                </a:tc>
                <a:tc>
                  <a:txBody>
                    <a:bodyPr/>
                    <a:lstStyle/>
                    <a:p>
                      <a:pPr rtl="0" algn="l"/>
                      <a:r>
                        <a:rPr sz="1500" b="1" i="0" lang="en-US">
                          <a:solidFill>
                            <a:srgbClr val="943F22"/>
                          </a:solidFill>
                          <a:latin typeface="Segoe UI"/>
                        </a:rPr>
                        <a:t>leg</a:t>
                      </a:r>
                    </a:p>
                  </a:txBody>
                  <a:tcPr>
                    <a:solidFill>
                      <a:srgbClr val="FFFFFF"/>
                    </a:solidFill>
                  </a:tcPr>
                </a:tc>
                <a:tc>
                  <a:txBody>
                    <a:bodyPr/>
                    <a:lstStyle/>
                    <a:p>
                      <a:pPr rtl="1" algn="r"/>
                      <a:r>
                        <a:rPr sz="1700" b="0" i="0" lang="ar-EG" altLang="en-US">
                          <a:solidFill>
                            <a:srgbClr val="1C2333"/>
                          </a:solidFill>
                          <a:latin typeface="Traditional Arabic"/>
                        </a:rPr>
                        <a:t>رجل</a:t>
                      </a:r>
                    </a:p>
                  </a:txBody>
                  <a:tcPr>
                    <a:solidFill>
                      <a:srgbClr val="FFFFFF"/>
                    </a:solidFill>
                  </a:tcPr>
                </a:tc>
                <a:tc>
                  <a:txBody>
                    <a:bodyPr/>
                    <a:lstStyle/>
                    <a:p>
                      <a:pPr rtl="0" algn="l"/>
                      <a:r>
                        <a:rPr sz="1500" b="1" i="0" lang="en-US">
                          <a:solidFill>
                            <a:srgbClr val="943F22"/>
                          </a:solidFill>
                          <a:latin typeface="Segoe UI"/>
                        </a:rPr>
                        <a:t>aunt</a:t>
                      </a:r>
                    </a:p>
                  </a:txBody>
                  <a:tcPr>
                    <a:solidFill>
                      <a:srgbClr val="FFFFFF"/>
                    </a:solidFill>
                  </a:tcPr>
                </a:tc>
                <a:tc>
                  <a:txBody>
                    <a:bodyPr/>
                    <a:lstStyle/>
                    <a:p>
                      <a:pPr rtl="1" algn="r"/>
                      <a:r>
                        <a:rPr sz="1700" b="0" i="0" lang="ar-EG" altLang="en-US">
                          <a:solidFill>
                            <a:srgbClr val="1C2333"/>
                          </a:solidFill>
                          <a:latin typeface="Traditional Arabic"/>
                        </a:rPr>
                        <a:t>عمة / خالة</a:t>
                      </a:r>
                    </a:p>
                  </a:txBody>
                  <a:tcPr>
                    <a:solidFill>
                      <a:srgbClr val="FFFFFF"/>
                    </a:solidFill>
                  </a:tcPr>
                </a:tc>
              </a:tr>
              <a:tr h="384048">
                <a:tc>
                  <a:txBody>
                    <a:bodyPr/>
                    <a:lstStyle/>
                    <a:p>
                      <a:pPr rtl="0" algn="l"/>
                      <a:r>
                        <a:rPr sz="1500" b="1" i="0" lang="en-US">
                          <a:solidFill>
                            <a:srgbClr val="943F22"/>
                          </a:solidFill>
                          <a:latin typeface="Segoe UI"/>
                        </a:rPr>
                        <a:t>shoulder</a:t>
                      </a:r>
                    </a:p>
                  </a:txBody>
                  <a:tcPr>
                    <a:solidFill>
                      <a:srgbClr val="EEF3FA"/>
                    </a:solidFill>
                  </a:tcPr>
                </a:tc>
                <a:tc>
                  <a:txBody>
                    <a:bodyPr/>
                    <a:lstStyle/>
                    <a:p>
                      <a:pPr rtl="1" algn="r"/>
                      <a:r>
                        <a:rPr sz="1700" b="0" i="0" lang="ar-EG" altLang="en-US">
                          <a:solidFill>
                            <a:srgbClr val="1C2333"/>
                          </a:solidFill>
                          <a:latin typeface="Traditional Arabic"/>
                        </a:rPr>
                        <a:t>الكتف</a:t>
                      </a:r>
                    </a:p>
                  </a:txBody>
                  <a:tcPr>
                    <a:solidFill>
                      <a:srgbClr val="EEF3FA"/>
                    </a:solidFill>
                  </a:tcPr>
                </a:tc>
                <a:tc>
                  <a:txBody>
                    <a:bodyPr/>
                    <a:lstStyle/>
                    <a:p>
                      <a:pPr rtl="0" algn="l"/>
                      <a:r>
                        <a:rPr sz="1500" b="1" i="0" lang="en-US">
                          <a:solidFill>
                            <a:srgbClr val="943F22"/>
                          </a:solidFill>
                          <a:latin typeface="Segoe UI"/>
                        </a:rPr>
                        <a:t>uncle</a:t>
                      </a:r>
                    </a:p>
                  </a:txBody>
                  <a:tcPr>
                    <a:solidFill>
                      <a:srgbClr val="EEF3FA"/>
                    </a:solidFill>
                  </a:tcPr>
                </a:tc>
                <a:tc>
                  <a:txBody>
                    <a:bodyPr/>
                    <a:lstStyle/>
                    <a:p>
                      <a:pPr rtl="1" algn="r"/>
                      <a:r>
                        <a:rPr sz="1700" b="0" i="0" lang="ar-EG" altLang="en-US">
                          <a:solidFill>
                            <a:srgbClr val="1C2333"/>
                          </a:solidFill>
                          <a:latin typeface="Traditional Arabic"/>
                        </a:rPr>
                        <a:t>عم / خال</a:t>
                      </a:r>
                    </a:p>
                  </a:txBody>
                  <a:tcPr>
                    <a:solidFill>
                      <a:srgbClr val="EEF3FA"/>
                    </a:solidFill>
                  </a:tcPr>
                </a:tc>
                <a:tc>
                  <a:txBody>
                    <a:bodyPr/>
                    <a:lstStyle/>
                    <a:p>
                      <a:pPr rtl="0" algn="l"/>
                      <a:r>
                        <a:rPr sz="1500" b="1" i="0" lang="en-US">
                          <a:solidFill>
                            <a:srgbClr val="943F22"/>
                          </a:solidFill>
                          <a:latin typeface="Segoe UI"/>
                        </a:rPr>
                        <a:t>rainbow</a:t>
                      </a:r>
                    </a:p>
                  </a:txBody>
                  <a:tcPr>
                    <a:solidFill>
                      <a:srgbClr val="EEF3FA"/>
                    </a:solidFill>
                  </a:tcPr>
                </a:tc>
                <a:tc>
                  <a:txBody>
                    <a:bodyPr/>
                    <a:lstStyle/>
                    <a:p>
                      <a:pPr rtl="1" algn="r"/>
                      <a:r>
                        <a:rPr sz="1700" b="0" i="0" lang="ar-EG" altLang="en-US">
                          <a:solidFill>
                            <a:srgbClr val="1C2333"/>
                          </a:solidFill>
                          <a:latin typeface="Traditional Arabic"/>
                        </a:rPr>
                        <a:t>قوس قزح</a:t>
                      </a:r>
                    </a:p>
                  </a:txBody>
                  <a:tcPr>
                    <a:solidFill>
                      <a:srgbClr val="EEF3FA"/>
                    </a:solidFill>
                  </a:tcPr>
                </a:tc>
              </a:tr>
            </a:tbl>
          </a:graphicData>
        </a:graphic>
      </p:graphicFrame>
    </p:spTree>
  </p:cSld>
  <p:clrMapOvr>
    <a:masterClrMapping/>
  </p:clrMapOvr>
  <p:transition spd="med">
    <p:wipe dir="r"/>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3F22"/>
                          </a:solidFill>
                          <a:latin typeface="Segoe UI"/>
                        </a:rPr>
                        <a:t>bus</a:t>
                      </a:r>
                    </a:p>
                  </a:txBody>
                  <a:tcPr>
                    <a:solidFill>
                      <a:srgbClr val="FFFFFF"/>
                    </a:solidFill>
                  </a:tcPr>
                </a:tc>
                <a:tc>
                  <a:txBody>
                    <a:bodyPr/>
                    <a:lstStyle/>
                    <a:p>
                      <a:pPr rtl="1" algn="r"/>
                      <a:r>
                        <a:rPr sz="1700" b="0" i="0" lang="ar-EG" altLang="en-US">
                          <a:solidFill>
                            <a:srgbClr val="1C2333"/>
                          </a:solidFill>
                          <a:latin typeface="Traditional Arabic"/>
                        </a:rPr>
                        <a:t>أتوبيس</a:t>
                      </a:r>
                    </a:p>
                  </a:txBody>
                  <a:tcPr>
                    <a:solidFill>
                      <a:srgbClr val="FFFFFF"/>
                    </a:solidFill>
                  </a:tcPr>
                </a:tc>
                <a:tc>
                  <a:txBody>
                    <a:bodyPr/>
                    <a:lstStyle/>
                    <a:p>
                      <a:pPr rtl="0" algn="l"/>
                      <a:r>
                        <a:rPr sz="1500" b="1" i="0" lang="en-US">
                          <a:solidFill>
                            <a:srgbClr val="943F22"/>
                          </a:solidFill>
                          <a:latin typeface="Segoe UI"/>
                        </a:rPr>
                        <a:t>metro</a:t>
                      </a:r>
                    </a:p>
                  </a:txBody>
                  <a:tcPr>
                    <a:solidFill>
                      <a:srgbClr val="FFFFFF"/>
                    </a:solidFill>
                  </a:tcPr>
                </a:tc>
                <a:tc>
                  <a:txBody>
                    <a:bodyPr/>
                    <a:lstStyle/>
                    <a:p>
                      <a:pPr rtl="1" algn="r"/>
                      <a:r>
                        <a:rPr sz="1700" b="0" i="0" lang="ar-EG" altLang="en-US">
                          <a:solidFill>
                            <a:srgbClr val="1C2333"/>
                          </a:solidFill>
                          <a:latin typeface="Traditional Arabic"/>
                        </a:rPr>
                        <a:t>مترو</a:t>
                      </a:r>
                    </a:p>
                  </a:txBody>
                  <a:tcPr>
                    <a:solidFill>
                      <a:srgbClr val="FFFFFF"/>
                    </a:solidFill>
                  </a:tcPr>
                </a:tc>
                <a:tc>
                  <a:txBody>
                    <a:bodyPr/>
                    <a:lstStyle/>
                    <a:p>
                      <a:pPr rtl="0" algn="l"/>
                      <a:r>
                        <a:rPr sz="1500" b="1" i="0" lang="en-US">
                          <a:solidFill>
                            <a:srgbClr val="943F22"/>
                          </a:solidFill>
                          <a:latin typeface="Segoe UI"/>
                        </a:rPr>
                        <a:t>truck</a:t>
                      </a:r>
                    </a:p>
                  </a:txBody>
                  <a:tcPr>
                    <a:solidFill>
                      <a:srgbClr val="FFFFFF"/>
                    </a:solidFill>
                  </a:tcPr>
                </a:tc>
                <a:tc>
                  <a:txBody>
                    <a:bodyPr/>
                    <a:lstStyle/>
                    <a:p>
                      <a:pPr rtl="1" algn="r"/>
                      <a:r>
                        <a:rPr sz="1700" b="0" i="0" lang="ar-EG" altLang="en-US">
                          <a:solidFill>
                            <a:srgbClr val="1C2333"/>
                          </a:solidFill>
                          <a:latin typeface="Traditional Arabic"/>
                        </a:rPr>
                        <a:t>شاحنة</a:t>
                      </a:r>
                    </a:p>
                  </a:txBody>
                  <a:tcPr>
                    <a:solidFill>
                      <a:srgbClr val="FFFFFF"/>
                    </a:solidFill>
                  </a:tcPr>
                </a:tc>
              </a:tr>
              <a:tr h="384048">
                <a:tc>
                  <a:txBody>
                    <a:bodyPr/>
                    <a:lstStyle/>
                    <a:p>
                      <a:pPr rtl="0" algn="l"/>
                      <a:r>
                        <a:rPr sz="1500" b="1" i="0" lang="en-US">
                          <a:solidFill>
                            <a:srgbClr val="943F22"/>
                          </a:solidFill>
                          <a:latin typeface="Segoe UI"/>
                        </a:rPr>
                        <a:t>train</a:t>
                      </a:r>
                    </a:p>
                  </a:txBody>
                  <a:tcPr>
                    <a:solidFill>
                      <a:srgbClr val="EEF3FA"/>
                    </a:solidFill>
                  </a:tcPr>
                </a:tc>
                <a:tc>
                  <a:txBody>
                    <a:bodyPr/>
                    <a:lstStyle/>
                    <a:p>
                      <a:pPr rtl="1" algn="r"/>
                      <a:r>
                        <a:rPr sz="1700" b="0" i="0" lang="ar-EG" altLang="en-US">
                          <a:solidFill>
                            <a:srgbClr val="1C2333"/>
                          </a:solidFill>
                          <a:latin typeface="Traditional Arabic"/>
                        </a:rPr>
                        <a:t>قطار</a:t>
                      </a:r>
                    </a:p>
                  </a:txBody>
                  <a:tcPr>
                    <a:solidFill>
                      <a:srgbClr val="EEF3FA"/>
                    </a:solidFill>
                  </a:tcPr>
                </a:tc>
                <a:tc>
                  <a:txBody>
                    <a:bodyPr/>
                    <a:lstStyle/>
                    <a:p>
                      <a:pPr rtl="0" algn="l"/>
                      <a:r>
                        <a:rPr sz="1500" b="1" i="0" lang="en-US">
                          <a:solidFill>
                            <a:srgbClr val="943F22"/>
                          </a:solidFill>
                          <a:latin typeface="Segoe UI"/>
                        </a:rPr>
                        <a:t>plane</a:t>
                      </a:r>
                    </a:p>
                  </a:txBody>
                  <a:tcPr>
                    <a:solidFill>
                      <a:srgbClr val="EEF3FA"/>
                    </a:solidFill>
                  </a:tcPr>
                </a:tc>
                <a:tc>
                  <a:txBody>
                    <a:bodyPr/>
                    <a:lstStyle/>
                    <a:p>
                      <a:pPr rtl="1" algn="r"/>
                      <a:r>
                        <a:rPr sz="1700" b="0" i="0" lang="ar-EG" altLang="en-US">
                          <a:solidFill>
                            <a:srgbClr val="1C2333"/>
                          </a:solidFill>
                          <a:latin typeface="Traditional Arabic"/>
                        </a:rPr>
                        <a:t>طائرة</a:t>
                      </a:r>
                    </a:p>
                  </a:txBody>
                  <a:tcPr>
                    <a:solidFill>
                      <a:srgbClr val="EEF3FA"/>
                    </a:solidFill>
                  </a:tcPr>
                </a:tc>
                <a:tc>
                  <a:txBody>
                    <a:bodyPr/>
                    <a:lstStyle/>
                    <a:p>
                      <a:pPr rtl="0" algn="l"/>
                      <a:r>
                        <a:rPr sz="1500" b="1" i="0" lang="en-US">
                          <a:solidFill>
                            <a:srgbClr val="943F22"/>
                          </a:solidFill>
                          <a:latin typeface="Segoe UI"/>
                        </a:rPr>
                        <a:t>street</a:t>
                      </a:r>
                    </a:p>
                  </a:txBody>
                  <a:tcPr>
                    <a:solidFill>
                      <a:srgbClr val="EEF3FA"/>
                    </a:solidFill>
                  </a:tcPr>
                </a:tc>
                <a:tc>
                  <a:txBody>
                    <a:bodyPr/>
                    <a:lstStyle/>
                    <a:p>
                      <a:pPr rtl="1" algn="r"/>
                      <a:r>
                        <a:rPr sz="1700" b="0" i="0" lang="ar-EG" altLang="en-US">
                          <a:solidFill>
                            <a:srgbClr val="1C2333"/>
                          </a:solidFill>
                          <a:latin typeface="Traditional Arabic"/>
                        </a:rPr>
                        <a:t>شارع</a:t>
                      </a:r>
                    </a:p>
                  </a:txBody>
                  <a:tcPr>
                    <a:solidFill>
                      <a:srgbClr val="EEF3FA"/>
                    </a:solidFill>
                  </a:tcPr>
                </a:tc>
              </a:tr>
              <a:tr h="384048">
                <a:tc>
                  <a:txBody>
                    <a:bodyPr/>
                    <a:lstStyle/>
                    <a:p>
                      <a:pPr rtl="0" algn="l"/>
                      <a:r>
                        <a:rPr sz="1500" b="1" i="0" lang="en-US">
                          <a:solidFill>
                            <a:srgbClr val="943F22"/>
                          </a:solidFill>
                          <a:latin typeface="Segoe UI"/>
                        </a:rPr>
                        <a:t>boat</a:t>
                      </a:r>
                    </a:p>
                  </a:txBody>
                  <a:tcPr>
                    <a:solidFill>
                      <a:srgbClr val="FFFFFF"/>
                    </a:solidFill>
                  </a:tcPr>
                </a:tc>
                <a:tc>
                  <a:txBody>
                    <a:bodyPr/>
                    <a:lstStyle/>
                    <a:p>
                      <a:pPr rtl="1" algn="r"/>
                      <a:r>
                        <a:rPr sz="1700" b="0" i="0" lang="ar-EG" altLang="en-US">
                          <a:solidFill>
                            <a:srgbClr val="1C2333"/>
                          </a:solidFill>
                          <a:latin typeface="Traditional Arabic"/>
                        </a:rPr>
                        <a:t>قارب</a:t>
                      </a:r>
                    </a:p>
                  </a:txBody>
                  <a:tcPr>
                    <a:solidFill>
                      <a:srgbClr val="FFFFFF"/>
                    </a:solidFill>
                  </a:tcPr>
                </a:tc>
                <a:tc>
                  <a:txBody>
                    <a:bodyPr/>
                    <a:lstStyle/>
                    <a:p>
                      <a:pPr rtl="0" algn="l"/>
                      <a:r>
                        <a:rPr sz="1500" b="1" i="0" lang="en-US">
                          <a:solidFill>
                            <a:srgbClr val="943F22"/>
                          </a:solidFill>
                          <a:latin typeface="Segoe UI"/>
                        </a:rPr>
                        <a:t>yacht</a:t>
                      </a:r>
                    </a:p>
                  </a:txBody>
                  <a:tcPr>
                    <a:solidFill>
                      <a:srgbClr val="FFFFFF"/>
                    </a:solidFill>
                  </a:tcPr>
                </a:tc>
                <a:tc>
                  <a:txBody>
                    <a:bodyPr/>
                    <a:lstStyle/>
                    <a:p>
                      <a:pPr rtl="1" algn="r"/>
                      <a:r>
                        <a:rPr sz="1700" b="0" i="0" lang="ar-EG" altLang="en-US">
                          <a:solidFill>
                            <a:srgbClr val="1C2333"/>
                          </a:solidFill>
                          <a:latin typeface="Traditional Arabic"/>
                        </a:rPr>
                        <a:t>يخت</a:t>
                      </a:r>
                    </a:p>
                  </a:txBody>
                  <a:tcPr>
                    <a:solidFill>
                      <a:srgbClr val="FFFFFF"/>
                    </a:solidFill>
                  </a:tcPr>
                </a:tc>
                <a:tc>
                  <a:txBody>
                    <a:bodyPr/>
                    <a:lstStyle/>
                    <a:p>
                      <a:pPr rtl="0" algn="l"/>
                      <a:r>
                        <a:rPr sz="1500" b="1" i="0" lang="en-US">
                          <a:solidFill>
                            <a:srgbClr val="943F22"/>
                          </a:solidFill>
                          <a:latin typeface="Segoe UI"/>
                        </a:rPr>
                        <a:t>road</a:t>
                      </a:r>
                    </a:p>
                  </a:txBody>
                  <a:tcPr>
                    <a:solidFill>
                      <a:srgbClr val="FFFFFF"/>
                    </a:solidFill>
                  </a:tcPr>
                </a:tc>
                <a:tc>
                  <a:txBody>
                    <a:bodyPr/>
                    <a:lstStyle/>
                    <a:p>
                      <a:pPr rtl="1" algn="r"/>
                      <a:r>
                        <a:rPr sz="1700" b="0" i="0" lang="ar-EG" altLang="en-US">
                          <a:solidFill>
                            <a:srgbClr val="1C2333"/>
                          </a:solidFill>
                          <a:latin typeface="Traditional Arabic"/>
                        </a:rPr>
                        <a:t>طريق</a:t>
                      </a:r>
                    </a:p>
                  </a:txBody>
                  <a:tcPr>
                    <a:solidFill>
                      <a:srgbClr val="FFFFFF"/>
                    </a:solidFill>
                  </a:tcPr>
                </a:tc>
              </a:tr>
              <a:tr h="384048">
                <a:tc>
                  <a:txBody>
                    <a:bodyPr/>
                    <a:lstStyle/>
                    <a:p>
                      <a:pPr rtl="0" algn="l"/>
                      <a:r>
                        <a:rPr sz="1500" b="1" i="0" lang="en-US">
                          <a:solidFill>
                            <a:srgbClr val="943F22"/>
                          </a:solidFill>
                          <a:latin typeface="Segoe UI"/>
                        </a:rPr>
                        <a:t>ship</a:t>
                      </a:r>
                    </a:p>
                  </a:txBody>
                  <a:tcPr>
                    <a:solidFill>
                      <a:srgbClr val="EEF3FA"/>
                    </a:solidFill>
                  </a:tcPr>
                </a:tc>
                <a:tc>
                  <a:txBody>
                    <a:bodyPr/>
                    <a:lstStyle/>
                    <a:p>
                      <a:pPr rtl="1" algn="r"/>
                      <a:r>
                        <a:rPr sz="1700" b="0" i="0" lang="ar-EG" altLang="en-US">
                          <a:solidFill>
                            <a:srgbClr val="1C2333"/>
                          </a:solidFill>
                          <a:latin typeface="Traditional Arabic"/>
                        </a:rPr>
                        <a:t>سفينة</a:t>
                      </a:r>
                    </a:p>
                  </a:txBody>
                  <a:tcPr>
                    <a:solidFill>
                      <a:srgbClr val="EEF3FA"/>
                    </a:solidFill>
                  </a:tcPr>
                </a:tc>
                <a:tc>
                  <a:txBody>
                    <a:bodyPr/>
                    <a:lstStyle/>
                    <a:p>
                      <a:pPr rtl="0" algn="l"/>
                      <a:r>
                        <a:rPr sz="1500" b="1" i="0" lang="en-US">
                          <a:solidFill>
                            <a:srgbClr val="943F22"/>
                          </a:solidFill>
                          <a:latin typeface="Segoe UI"/>
                        </a:rPr>
                        <a:t>bicycle / bike</a:t>
                      </a:r>
                    </a:p>
                  </a:txBody>
                  <a:tcPr>
                    <a:solidFill>
                      <a:srgbClr val="EEF3FA"/>
                    </a:solidFill>
                  </a:tcPr>
                </a:tc>
                <a:tc>
                  <a:txBody>
                    <a:bodyPr/>
                    <a:lstStyle/>
                    <a:p>
                      <a:pPr rtl="1" algn="r"/>
                      <a:r>
                        <a:rPr sz="1700" b="0" i="0" lang="ar-EG" altLang="en-US">
                          <a:solidFill>
                            <a:srgbClr val="1C2333"/>
                          </a:solidFill>
                          <a:latin typeface="Traditional Arabic"/>
                        </a:rPr>
                        <a:t>دراجة</a:t>
                      </a:r>
                    </a:p>
                  </a:txBody>
                  <a:tcPr>
                    <a:solidFill>
                      <a:srgbClr val="EEF3FA"/>
                    </a:solidFill>
                  </a:tcPr>
                </a:tc>
                <a:tc>
                  <a:txBody>
                    <a:bodyPr/>
                    <a:lstStyle/>
                    <a:p>
                      <a:pPr rtl="0" algn="l"/>
                      <a:r>
                        <a:rPr sz="1500" b="1" i="0" lang="en-US">
                          <a:solidFill>
                            <a:srgbClr val="943F22"/>
                          </a:solidFill>
                          <a:latin typeface="Segoe UI"/>
                        </a:rPr>
                        <a:t>car</a:t>
                      </a:r>
                    </a:p>
                  </a:txBody>
                  <a:tcPr>
                    <a:solidFill>
                      <a:srgbClr val="EEF3FA"/>
                    </a:solidFill>
                  </a:tcPr>
                </a:tc>
                <a:tc>
                  <a:txBody>
                    <a:bodyPr/>
                    <a:lstStyle/>
                    <a:p>
                      <a:pPr rtl="1" algn="r"/>
                      <a:r>
                        <a:rPr sz="1700" b="0" i="0" lang="ar-EG" altLang="en-US">
                          <a:solidFill>
                            <a:srgbClr val="1C2333"/>
                          </a:solidFill>
                          <a:latin typeface="Traditional Arabic"/>
                        </a:rPr>
                        <a:t>سيارة</a:t>
                      </a:r>
                    </a:p>
                  </a:txBody>
                  <a:tcPr>
                    <a:solidFill>
                      <a:srgbClr val="EEF3FA"/>
                    </a:solidFill>
                  </a:tcPr>
                </a:tc>
              </a:tr>
            </a:tbl>
          </a:graphicData>
        </a:graphic>
      </p:graphicFrame>
    </p:spTree>
  </p:cSld>
  <p:clrMapOvr>
    <a:masterClrMapping/>
  </p:clrMapOvr>
  <p:transition spd="med">
    <p:split orient="vert" dir="out"/>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 a book.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 is a star.   (These – That)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That is a …… .   (cat – cats)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 is a dog.   (Those – This)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This is …… .   (an orange – orange)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 orange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This …… an apple.   (are – is)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That is a …… .   (birds – bird)</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bird</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This is …… .   (a child – children)</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 child</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is a book.</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 book.</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That is a star.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 star.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This is a pen.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 pen.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That is a car.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 car.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This is an orange.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an orange.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That is a moon.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 moon.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This is a fish.</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 fish.</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That is an egg.</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an egg.</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is an apple.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an apple.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is a cat.</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 cat.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This is a flower.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 flower.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That is an ox.</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an ox.</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This is an ant.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isn't an ant.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That is an animal.</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isn't an animal.</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is a tree.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tree?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That is a star.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star?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This is a hat.</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hat?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That is an animal.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animal?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This is an elephant.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elephant?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That is a moon.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moon?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This is a toy.</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toy?</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That is an elephant.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elephant?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is a flower.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flower?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is a rainbow.</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rainbow?</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This is an orange.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orange?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That is a camera.</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camera?</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This is a bird.</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bird?</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That is an egg.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egg?</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This is an apple.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apple?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That is a bench.</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bench?</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This is a door.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door?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That is an umbrella.</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umbrella?</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This is a pen.</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pen?</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That is a fan.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fan?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This is an arm.</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arm?</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That is a cloud.</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that a cloud?</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This is a banana.</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this a banana?</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That is an ant.</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that an ant?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D)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Is this a pencil?</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Is this an apple?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Is this a banana?</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Is this an orange?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Is this a camera?</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Is this a pen?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Is this a door?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D)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Is that a star?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Is that an ant?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Is that a camel?</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Is that a rainbow?</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Is that an apple?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Is that a bird?</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Is that an elephant?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it is. / No, it isn't.</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E) Make a question for these answers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Yes, this is a toy.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toy?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 that isn't a star.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star?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No, this isn't a car.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car?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Yes, that is a bird.</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bird?</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Yes, this is a book.</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book?</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No, that isn't an orange.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orange?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No, this isn't an orange.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orange?</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E) Make a question for these answers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Yes, that is a cloud.</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cloud?</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Yes, this is a tree.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tree?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No, that isn't a camera.</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camera?</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No, this isn't an apple.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apple?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Yes, that is an umbrella.</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an umbrella?</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Yes, this is a fish.</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fish?</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No, that isn't a candle.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candle?</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What is this? (tiger)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tiger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What is this? (apple)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apple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What is this? (pen)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pen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What is this? (book)</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book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What is this? (ruler)</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ruler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What is this? (bag)</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bag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What is this? (cat)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cat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What is this? (dog)</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dog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What is this? (orange)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orange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What is this? (egg)</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egg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What is this? (flower)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flower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What is this? (car)</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car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What is that? (moon)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moon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What is that? (cloud)</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cloud .</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What is that? (star)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star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What is that? (rainbow)</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rainbow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What is that? (tree)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tree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What is that? (bird)</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 bird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What is that? (umbrella)</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umbrella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What is that? (elephant)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elephant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What is that? (ant)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is an ant .</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What is that? (bus)</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a bus .</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What is that? (plane)</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a plane .</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What is that? (ship)</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a ship .</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is an orange.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برتقالة.</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This is a bird.</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طائر.</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That is a star.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نجمة.</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This is an umbrella.</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شمسية.</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That is a tree.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شجرة.</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This is a fish.</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سمكة.</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That is an animal.</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ذلك حيوان.</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This is a dog.</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كلب.</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is an apple.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تفاحة.</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is a moon.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ذلك قمر.</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This is an animal.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حيوان.</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That is a cloud.</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سحابة.</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This is a tiger.</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نمر.</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That is an ant.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نملة.</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This is a toy.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لعبة.</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That is a cat.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قطة.</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This is a lion.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أسد.</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That is a banana.</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موزة.</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This is a fig.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تينة.</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This is a pencil.</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هذا قلم رصاص.</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That is a ruler.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مسطرة.</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This is a king.</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هذا ملك.</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This is a horse.</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هذا حصان.</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That is a fan.</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تلك مروحة.</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is – This – book – a.</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book.</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is – a – tree – That.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 tree.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a – this – bird – No, – not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this is not a bird.</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is – That – window – a.</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 window.</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book – a – this – Is?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 book?</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pen – is – a – not – This.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not a pen.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ring – this – a – is – Yes,.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this is a ring.</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car – Is – that – a?</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car?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That – cloud – a – is.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 cloud.</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 what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is that?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orange – Is – an – this?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this an orange?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is – No, – apple – an – this – not.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this is not an apple.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ant – is – That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an ant.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this – is – What?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is this?</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animal – That – an – is.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an animal.</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flower – This – a – is.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flower.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an – That – egg – 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an egg.</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is – Yes, – a – this – pencil.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this is a pencil.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that – a – Is – camera?</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Is that a camera?</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umbrella – is – That – an.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an umbrella.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star – That – a – is.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 star.</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not – is – No, – a – that – bird.</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No, that is not a bird.</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Is – banana – this – a?</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this a banana?</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an – That – elephant – is.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That is an elephant.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I)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Ahmed is a boy. He is 10 years old. He gets up at 7 every morning. He prays and has breakfast with his family. He loves his school. He goes to school with his friends. They go to school on foot. They have 7 lessons a day.</a:t>
            </a:r>
          </a:p>
          <a:p>
            <a:pPr rtl="1" algn="r">
              <a:spcBef>
                <a:spcPts val="800"/>
              </a:spcBef>
            </a:pPr>
            <a:r>
              <a:rPr sz="1700" b="0" i="0" lang="ar-EG" altLang="en-US">
                <a:solidFill>
                  <a:srgbClr val="5B6478"/>
                </a:solidFill>
                <a:latin typeface="Traditional Arabic"/>
              </a:rPr>
              <a:t>gets up: يستيقظ   prays: يصلي   on foot: سيراً على الأقدام   lessons: حصص</a:t>
            </a:r>
          </a:p>
        </p:txBody>
      </p:sp>
    </p:spTree>
  </p:cSld>
  <p:clrMapOvr>
    <a:masterClrMapping/>
  </p:clrMapOvr>
  <p:transition spd="med">
    <p:strips dir="ld"/>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I) Read the text and answer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Ahmed is …… years old.   (seven – ten – nine)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ten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has breakfast with his …… .   (friend – mum – family)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family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Ahmed has 6 lessons a day. (He has 7 lessons a day.)   (True ✓ – False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False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Ahmed goes to school with his friends.   (True ✓ – False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True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Ahmed loves his school.   (True ✓ – False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True ✓</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J) Finish the dialogue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Ramy: Hi Mazen.</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Ramy: Hi Mazen.</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Hi Ramy.</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Ramy: What is this?</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Ramy: What is this?</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It …… a toy.</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It is a toy.</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Ramy: And what are …… ?</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Ramy: And what are these ?</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These …… glasses.</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These are glasses.</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Ramy: Are they expensive?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Ramy: Are they expensive?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No, …… .</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No, they aren't .</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circle(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circle(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ircle(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circle(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circle(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circle(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circle(in)">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Translate into English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 هذه شاحنة.</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truck.</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2) هذه دراجة.</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bike.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3) هذا جاكيت.</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jacket.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4) هذه سفينة.</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ship.</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5) هذا قارب.</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boat.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6) هذا يخت.</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yacht.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7) هذا تي شيرت.</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T-shirt.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Translate into English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8) هذه جيبة.</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skirt.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9) هذه سوستة.</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zipper.</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10) هذا طريق.</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road.</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11) هذا ولد.</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boy.</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12) هذه بنت.</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girl.</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13) هذا طبيب.</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doctor.</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14) هذا طبيب.</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That is a doctor.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Translate into English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15) هذه ممرضة.</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nurse.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16) هذا طبيب أسنان.</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dentist.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17) هذا أسد.</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lion.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18) هذا خفاش.</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bat.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19) هذه كاميرا.</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camera.</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20) هذه عنزة.</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goat.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21) هذا باب.</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This is a door.</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Translate into English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22) هذه منضدة.</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This is a table.</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23) هذا قوس قزح.</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This is a rainbow.</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24) هذه بيضة.</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This is an egg.</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8</a:t>
            </a:r>
          </a:p>
          <a:p>
            <a:pPr algn="ctr" rtl="0"/>
            <a:r>
              <a:rPr sz="4600" b="1" i="0" lang="en-US">
                <a:solidFill>
                  <a:srgbClr val="FFFFFF"/>
                </a:solidFill>
                <a:latin typeface="Segoe UI"/>
              </a:rPr>
              <a:t>These / Those</a:t>
            </a:r>
          </a:p>
          <a:p>
            <a:pPr algn="ctr" rtl="1"/>
            <a:r>
              <a:rPr sz="2900" b="0" i="0" lang="ar-EG" altLang="en-US">
                <a:solidFill>
                  <a:srgbClr val="FFFFFF"/>
                </a:solidFill>
                <a:latin typeface="Traditional Arabic"/>
              </a:rPr>
              <a:t>أسماء الإشارة للجمع</a:t>
            </a:r>
          </a:p>
        </p:txBody>
      </p:sp>
    </p:spTree>
  </p:cSld>
  <p:clrMapOvr>
    <a:masterClrMapping/>
  </p:clrMapOvr>
  <p:transition spd="med">
    <p:zoom dir="in"/>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7894"/>
                </a:solidFill>
                <a:latin typeface="Segoe UI"/>
              </a:rPr>
              <a:t>▶ These are + اسم جمع .</a:t>
            </a:r>
          </a:p>
          <a:p>
            <a:pPr rtl="1" algn="r">
              <a:spcAft>
                <a:spcPts val="600"/>
              </a:spcAft>
            </a:pPr>
            <a:r>
              <a:rPr sz="2100" b="0" i="0" lang="ar-EG" altLang="en-US">
                <a:solidFill>
                  <a:srgbClr val="1C2333"/>
                </a:solidFill>
                <a:latin typeface="Traditional Arabic"/>
              </a:rPr>
              <a:t>هؤلاء — للجمع القريب.</a:t>
            </a:r>
          </a:p>
          <a:p>
            <a:pPr rtl="0" algn="l">
              <a:spcAft>
                <a:spcPts val="600"/>
              </a:spcAft>
            </a:pPr>
            <a:r>
              <a:rPr sz="2000" b="1" i="0" lang="en-US">
                <a:solidFill>
                  <a:srgbClr val="227894"/>
                </a:solidFill>
                <a:latin typeface="Segoe UI"/>
              </a:rPr>
              <a:t>▶ Those are + اسم جمع .</a:t>
            </a:r>
          </a:p>
          <a:p>
            <a:pPr rtl="1" algn="r">
              <a:spcAft>
                <a:spcPts val="600"/>
              </a:spcAft>
            </a:pPr>
            <a:r>
              <a:rPr sz="2100" b="0" i="0" lang="ar-EG" altLang="en-US">
                <a:solidFill>
                  <a:srgbClr val="1C2333"/>
                </a:solidFill>
                <a:latin typeface="Traditional Arabic"/>
              </a:rPr>
              <a:t>هؤلاء / أولئك — للجمع البعيد.</a:t>
            </a:r>
          </a:p>
        </p:txBody>
      </p:sp>
    </p:spTree>
  </p:cSld>
  <p:clrMapOvr>
    <a:masterClrMapping/>
  </p:clrMapOvr>
  <p:transition spd="med">
    <p:split orient="vert" dir="out"/>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7894"/>
                </a:solidFill>
                <a:latin typeface="Segoe UI"/>
              </a:rPr>
              <a:t>▶ These are not (aren't) + اسم جمع .</a:t>
            </a:r>
          </a:p>
          <a:p>
            <a:pPr rtl="1" algn="r">
              <a:spcAft>
                <a:spcPts val="600"/>
              </a:spcAft>
            </a:pPr>
            <a:r>
              <a:rPr sz="2100" b="0" i="0" lang="ar-EG" altLang="en-US">
                <a:solidFill>
                  <a:srgbClr val="1C2333"/>
                </a:solidFill>
                <a:latin typeface="Traditional Arabic"/>
              </a:rPr>
              <a:t>نفي (هؤلاء) القريب.</a:t>
            </a:r>
          </a:p>
          <a:p>
            <a:pPr rtl="0" algn="l">
              <a:spcAft>
                <a:spcPts val="600"/>
              </a:spcAft>
            </a:pPr>
            <a:r>
              <a:rPr sz="2000" b="1" i="0" lang="en-US">
                <a:solidFill>
                  <a:srgbClr val="227894"/>
                </a:solidFill>
                <a:latin typeface="Segoe UI"/>
              </a:rPr>
              <a:t>▶ Those are not (aren't) + اسم جمع .</a:t>
            </a:r>
          </a:p>
          <a:p>
            <a:pPr rtl="1" algn="r">
              <a:spcAft>
                <a:spcPts val="600"/>
              </a:spcAft>
            </a:pPr>
            <a:r>
              <a:rPr sz="2100" b="0" i="0" lang="ar-EG" altLang="en-US">
                <a:solidFill>
                  <a:srgbClr val="1C2333"/>
                </a:solidFill>
                <a:latin typeface="Traditional Arabic"/>
              </a:rPr>
              <a:t>نفي (أولئك) البعيد.</a:t>
            </a:r>
          </a:p>
        </p:txBody>
      </p:sp>
    </p:spTree>
  </p:cSld>
  <p:clrMapOvr>
    <a:masterClrMapping/>
  </p:clrMapOvr>
  <p:transition spd="med">
    <p:cover dir="d"/>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7894"/>
                </a:solidFill>
                <a:latin typeface="Segoe UI"/>
              </a:rPr>
              <a:t>▶ Are these + اسم جمع ? | Are those + اسم جمع ?</a:t>
            </a:r>
          </a:p>
          <a:p>
            <a:pPr rtl="1" algn="r">
              <a:spcAft>
                <a:spcPts val="600"/>
              </a:spcAft>
            </a:pPr>
            <a:r>
              <a:rPr sz="2100" b="0" i="0" lang="ar-EG" altLang="en-US">
                <a:solidFill>
                  <a:srgbClr val="1C2333"/>
                </a:solidFill>
                <a:latin typeface="Traditional Arabic"/>
              </a:rPr>
              <a:t>    نقدّم are على اسم الإشارة لتكوين السؤال.</a:t>
            </a:r>
          </a:p>
          <a:p>
            <a:pPr rtl="0" algn="l">
              <a:spcAft>
                <a:spcPts val="600"/>
              </a:spcAft>
            </a:pPr>
            <a:r>
              <a:rPr sz="2000" b="1" i="0" lang="en-US">
                <a:solidFill>
                  <a:srgbClr val="227894"/>
                </a:solidFill>
                <a:latin typeface="Segoe UI"/>
              </a:rPr>
              <a:t>▶ What are these? / What are those?</a:t>
            </a:r>
          </a:p>
          <a:p>
            <a:pPr rtl="1" algn="r">
              <a:spcAft>
                <a:spcPts val="600"/>
              </a:spcAft>
            </a:pPr>
            <a:r>
              <a:rPr sz="2100" b="0" i="0" lang="ar-EG" altLang="en-US">
                <a:solidFill>
                  <a:srgbClr val="1C2333"/>
                </a:solidFill>
                <a:latin typeface="Traditional Arabic"/>
              </a:rPr>
              <a:t>ما هؤلاء؟ — السؤال بأداة استفهام.</a:t>
            </a:r>
          </a:p>
        </p:txBody>
      </p:sp>
    </p:spTree>
  </p:cSld>
  <p:clrMapOvr>
    <a:masterClrMapping/>
  </p:clrMapOvr>
  <p:transition spd="med">
    <p:circl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These …… cars.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 are horses.   (These – That – This)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These are …… .   (car – a car – cars)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cars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Those …… oranges.   (are – is – am)</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 are nurses.   (That – These – This)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Those are …… .   (lion – a lion – lions)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lions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These are …… .   (a book – books – book)</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books</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Those …… clouds.   (am – is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These are …… .   (toys – toy – a toy)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toys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 are stars.   (That – Those – This)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 .   (pen – a pen – pens)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pens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Those are …… .   (hen – hens – a hen)</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hens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These …… flowers.   (are – is – am)</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Those are …… .   (a tree – tree – trees)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trees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These are pens.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pens.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These are oranges.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oranges.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These are flowers.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flowers.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These are books.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books.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These are girls.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girls.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These are cats.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cats.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These are lions.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lions.</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These are cars.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cars.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These are boys.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boys.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These are dogs.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dogs.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trees.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trees.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Those are stars.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stars.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Those are apples.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apples.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Those are clouds.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clouds.</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Those are tigers.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tigers.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Those are cows.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cows.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Those are birds.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birds.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Those are animals.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animals.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Those are bees.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bees.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Those are ants.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ants.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Those are nurses.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nurses.</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Those are men.</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Those aren't men.</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These are books.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books?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These are birds.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birds?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These are rulers.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rulers?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These are oranges.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oranges?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These are toys.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toys?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These are animals.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animals?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These are girls.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girls?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These are nurses.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nurses?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These are pencils.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pencils?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These are flowers.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flowers?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bees.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bees?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These are boys.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boys?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Those are clouds.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clouds?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Those are apples.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apples?</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Those are ants.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ants?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Those are stars.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stars?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Those are lions.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lions?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Those are hens.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hens?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Those are doctors.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doctors?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Those are friends.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friends?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Those are bananas.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bananas?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Those are tigers.</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those tigers?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Those are goats.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those goats?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Those are dogs.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those dogs?</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(1/5)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Are these flowers?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Are these cats?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Are these pens?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Are these hens?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Are these rulers?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(2/5)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Are these balls?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Are these toys?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Are these nurses?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Are these apples?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Are these figs?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(3/5)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Are these tomatoes?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Are these pants?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Are those potatoes?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Are those shirts?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Are those stars?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(4/5)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Are those birds?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Are those stars?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Are those tigers?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Are those goats?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Are those clouds?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(5/5)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21) Are those tomatoes?</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Are those farmers?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Are those doctors?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Are those bees?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are. / No, they aren't.</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These are animals.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Those are trees.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These are birds.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Those are stars.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These are cars.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Those are bananas.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These are oranges.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Those are clouds.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These are pens.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Those are goats.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books.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Those are cows.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These are apples.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Those are houses.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These are rulers.</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Those are trees.</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These are toys.</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Those are figs.</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These are animals.</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Those are eggs.</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What are these? (books)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books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What are those? (trees)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trees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What are those? (stars)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stars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What are these? (pens)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pens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What are these? (apples)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apples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What are those? (clouds)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clouds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What are those? (cars)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cars .</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What are these? (flowers)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flowers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What are these? (birds)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birds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What are those? (goats)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goats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What are those? (cows)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cows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What are these? (rulers)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rulers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What are those? (houses)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houses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What are those? (bananas)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bananas .</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What are these? (toys)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toys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What are those? (eggs)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eggs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What are those? (lions)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lions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What are these? (oranges)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oranges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What are these? (cats)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cats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What are these? (dogs)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dogs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What are those? (buses)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are buses .</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What are those? (planes)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 planes .</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are – These – bananas.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bananas.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stars – Those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stars.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not – toys – are – These.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not toys.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these – are – What?</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are – Those – not – cars.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not cars.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trees – these – Are?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trees?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are – What – those?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those?</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are – These – dogs – not.</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not dogs.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horses – these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horses?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girls – are – Those.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girls.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not – are – These – friends.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not friends.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these – Are – birds?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birds?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not – are – clouds – Those.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not clouds.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are – what – these?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lions – these – Are?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lions?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aren't – No, – these – goats.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these aren't goats.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are – these – Yes, – boys.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these are boys.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aren't – those – No, – stars.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No, those aren't stars.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these – Are – shoes?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shoes?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are – Those – men.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men.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are – pants – these – Yes,.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Yes, these are pants.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aren't – No, – those – cows.</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No, those aren't cows.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are – Those – books.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Those are books.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are – What – those?</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those?</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What are these?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ما هذه؟ / ما هؤلاء؟</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These are cows.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أبقار.</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Those are boys.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أولئك أولاد.</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Are these oranges?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هذه برتقالات؟</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These are friends.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هؤلاء أصدقاء.</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Are those stars?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تلك نجوم؟</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These are apples.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تفاحات.</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Those are girls.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أولئك بنات.</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No, these aren't flowers.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لا، هذه ليست زهوراً.</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Those are trees.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أشجار.</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toys.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لُعَب.</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Are these pens?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هذه أقلام؟</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These are rulers.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مساطر.</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Those are houses.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تلك منازل.</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Are these ants?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هذه نمل؟</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These are rivers.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أنهار.</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Are those tigers?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تلك نمور؟</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Yes, these are figs.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نعم، هذا تين.</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Those are figs.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ذلك تين.</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These are skirts.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تنّورات.</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Are these socks?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هذه جوارب؟</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No, these aren't cars.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لا، هذه ليست سيارات.</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are oranges.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oranges.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These are a car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cars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That are flowers.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flowers.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Those books are mine.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 Those books are mine. (صحيحة) / These books are mine.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That houses are hers.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houses are hers.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Is those stars?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stars?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Those isn't birds.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birds.</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Is those pens?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pens?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aren't birds.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birds.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These are a boy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boys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Is those balls?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balls?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Are these a doll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dolls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Those isn't teeth.</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aren't teeth.</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Are this chair?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chairs? / Is this a chair?</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Are these pencil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these pencils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These are an ant .</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These are ants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Is these feet?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these feet?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Are those a bus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those buses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Those are a star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Those are stars .</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is a bird. (These)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birds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That is a tree. (Those)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trees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Is this a toy? (Are)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toys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This is a book. (books)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books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That is a pen. (These)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pens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This isn't a bird. (aren't)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aren't birds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Is that a star?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stars ?</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That is a cloud. (clouds)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clouds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is a girl. (These)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girls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is a boy. (boys)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boys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This is a friend. (These)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friends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This is a lion. (lions)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lions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That is a tiger. (Those)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tigers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Is this a door?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doors ?</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That is a girl. (girls)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girls .</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Is that a river?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rivers ?</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This is a bus. (These)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buses .</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That is a van. (Those)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Those are vans .</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Is that a car? (cars)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those cars ?</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This is an ant. (ants)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ants .</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Is this an arm? (Are)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arms ?</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That is a bed. (those)</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Those are beds .</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Translate into English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 ما هؤلاء؟</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What are these?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2) هؤلاء أحصنة.</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horses.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3) هل هؤلاء نمل؟</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ants?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4) هؤلاء قرود.</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monkeys.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5) هل هؤلاء بيض؟</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eggs?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6) هؤلاء أتوبيسات.</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buses.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7) هؤلاء أسنان.</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teeth.</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Translate into English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8) هل هؤلاء أقدام؟</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feet?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9) هل هؤلاء رجال؟</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men?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10) هؤلاء أطفال.</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children.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11) هؤلاء أسود.</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lions.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12) هؤلاء كراسي.</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chairs.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13) هل هؤلاء أسماك؟</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fish?</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14) هؤلاء مساطر.</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rulers.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Translate into English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15) هؤلاء أقلام رصاص.</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pencils.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16) هل هؤلاء نجوم؟</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stars?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17) هل هؤلاء أولاد؟</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boys?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18) هؤلاء أطباء.</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doctors.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19) هؤلاء ممرضات.</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These are nurses.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20) هل هؤلاء معلمون؟</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teachers?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21) هل هؤلاء بنات؟</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Are these girls?</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Translate into English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22) هؤلاء أطفال.</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Those are children.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9</a:t>
            </a:r>
          </a:p>
          <a:p>
            <a:pPr algn="ctr" rtl="0"/>
            <a:r>
              <a:rPr sz="4600" b="1" i="0" lang="en-US">
                <a:solidFill>
                  <a:srgbClr val="FFFFFF"/>
                </a:solidFill>
                <a:latin typeface="Segoe UI"/>
              </a:rPr>
              <a:t>Prepositions of Time (in – on – at)</a:t>
            </a:r>
          </a:p>
          <a:p>
            <a:pPr algn="ctr" rtl="1"/>
            <a:r>
              <a:rPr sz="2900" b="0" i="0" lang="ar-EG" altLang="en-US">
                <a:solidFill>
                  <a:srgbClr val="FFFFFF"/>
                </a:solidFill>
                <a:latin typeface="Traditional Arabic"/>
              </a:rPr>
              <a:t>حروف جر الزمان</a:t>
            </a:r>
          </a:p>
        </p:txBody>
      </p:sp>
    </p:spTree>
  </p:cSld>
  <p:clrMapOvr>
    <a:masterClrMapping/>
  </p:clrMapOvr>
  <p:transition spd="med">
    <p:zoom dir="in"/>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7822"/>
                </a:solidFill>
                <a:latin typeface="Segoe UI"/>
              </a:rPr>
              <a:t>▶ in + the morning / the evening / the afternoon / months / seasons / years</a:t>
            </a:r>
          </a:p>
          <a:p>
            <a:pPr rtl="1" algn="r">
              <a:spcAft>
                <a:spcPts val="600"/>
              </a:spcAft>
            </a:pPr>
            <a:r>
              <a:rPr sz="2100" b="0" i="0" lang="ar-EG" altLang="en-US">
                <a:solidFill>
                  <a:srgbClr val="1C2333"/>
                </a:solidFill>
                <a:latin typeface="Traditional Arabic"/>
              </a:rPr>
              <a:t>    نستخدم (in) مع الشهور والفصول والسنوات وفترات اليوم.</a:t>
            </a:r>
          </a:p>
          <a:p>
            <a:pPr rtl="0" algn="l">
              <a:spcAft>
                <a:spcPts val="600"/>
              </a:spcAft>
            </a:pPr>
            <a:r>
              <a:rPr sz="2000" b="1" i="0" lang="en-US">
                <a:solidFill>
                  <a:srgbClr val="947822"/>
                </a:solidFill>
                <a:latin typeface="Segoe UI"/>
              </a:rPr>
              <a:t>▶ on + days / dates / Friday morning</a:t>
            </a:r>
          </a:p>
          <a:p>
            <a:pPr rtl="1" algn="r">
              <a:spcAft>
                <a:spcPts val="600"/>
              </a:spcAft>
            </a:pPr>
            <a:r>
              <a:rPr sz="2100" b="0" i="0" lang="ar-EG" altLang="en-US">
                <a:solidFill>
                  <a:srgbClr val="1C2333"/>
                </a:solidFill>
                <a:latin typeface="Traditional Arabic"/>
              </a:rPr>
              <a:t>    نستخدم (on) مع أيام الأسبوع والتواريخ.</a:t>
            </a:r>
          </a:p>
          <a:p>
            <a:pPr rtl="0" algn="l">
              <a:spcAft>
                <a:spcPts val="600"/>
              </a:spcAft>
            </a:pPr>
            <a:r>
              <a:rPr sz="2000" b="1" i="0" lang="en-US">
                <a:solidFill>
                  <a:srgbClr val="947822"/>
                </a:solidFill>
                <a:latin typeface="Segoe UI"/>
              </a:rPr>
              <a:t>▶ at + o'clock / night / midnight / the weekend</a:t>
            </a:r>
          </a:p>
          <a:p>
            <a:pPr rtl="0" algn="l">
              <a:spcAft>
                <a:spcPts val="600"/>
              </a:spcAft>
            </a:pPr>
            <a:r>
              <a:rPr sz="1800" b="0" i="0" lang="en-US">
                <a:solidFill>
                  <a:srgbClr val="1C2333"/>
                </a:solidFill>
                <a:latin typeface="Segoe UI"/>
              </a:rPr>
              <a:t>    نستخدم (at) مع الساعات وكلمة night و midnight و the weekend.</a:t>
            </a:r>
          </a:p>
        </p:txBody>
      </p:sp>
    </p:spTree>
  </p:cSld>
  <p:clrMapOvr>
    <a:masterClrMapping/>
  </p:clrMapOvr>
  <p:transition spd="med">
    <p:random/>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7822"/>
                          </a:solidFill>
                          <a:latin typeface="Segoe UI"/>
                        </a:rPr>
                        <a:t>Saturday</a:t>
                      </a:r>
                    </a:p>
                  </a:txBody>
                  <a:tcPr>
                    <a:solidFill>
                      <a:srgbClr val="FFFFFF"/>
                    </a:solidFill>
                  </a:tcPr>
                </a:tc>
                <a:tc>
                  <a:txBody>
                    <a:bodyPr/>
                    <a:lstStyle/>
                    <a:p>
                      <a:pPr rtl="1" algn="r"/>
                      <a:r>
                        <a:rPr sz="1700" b="0" i="0" lang="ar-EG" altLang="en-US">
                          <a:solidFill>
                            <a:srgbClr val="1C2333"/>
                          </a:solidFill>
                          <a:latin typeface="Traditional Arabic"/>
                        </a:rPr>
                        <a:t>السبت</a:t>
                      </a:r>
                    </a:p>
                  </a:txBody>
                  <a:tcPr>
                    <a:solidFill>
                      <a:srgbClr val="FFFFFF"/>
                    </a:solidFill>
                  </a:tcPr>
                </a:tc>
                <a:tc>
                  <a:txBody>
                    <a:bodyPr/>
                    <a:lstStyle/>
                    <a:p>
                      <a:pPr rtl="0" algn="l"/>
                      <a:r>
                        <a:rPr sz="1500" b="1" i="0" lang="en-US">
                          <a:solidFill>
                            <a:srgbClr val="947822"/>
                          </a:solidFill>
                          <a:latin typeface="Segoe UI"/>
                        </a:rPr>
                        <a:t>Wednesday</a:t>
                      </a:r>
                    </a:p>
                  </a:txBody>
                  <a:tcPr>
                    <a:solidFill>
                      <a:srgbClr val="FFFFFF"/>
                    </a:solidFill>
                  </a:tcPr>
                </a:tc>
                <a:tc>
                  <a:txBody>
                    <a:bodyPr/>
                    <a:lstStyle/>
                    <a:p>
                      <a:pPr rtl="1" algn="r"/>
                      <a:r>
                        <a:rPr sz="1700" b="0" i="0" lang="ar-EG" altLang="en-US">
                          <a:solidFill>
                            <a:srgbClr val="1C2333"/>
                          </a:solidFill>
                          <a:latin typeface="Traditional Arabic"/>
                        </a:rPr>
                        <a:t>الأربعاء</a:t>
                      </a:r>
                    </a:p>
                  </a:txBody>
                  <a:tcPr>
                    <a:solidFill>
                      <a:srgbClr val="FFFFFF"/>
                    </a:solidFill>
                  </a:tcPr>
                </a:tc>
                <a:tc>
                  <a:txBody>
                    <a:bodyPr/>
                    <a:lstStyle/>
                    <a:p>
                      <a:pPr rtl="0" algn="l"/>
                      <a:r>
                        <a:rPr sz="1500" b="1" i="0" lang="en-US">
                          <a:solidFill>
                            <a:srgbClr val="947822"/>
                          </a:solidFill>
                          <a:latin typeface="Segoe UI"/>
                        </a:rPr>
                        <a:t>summer</a:t>
                      </a:r>
                    </a:p>
                  </a:txBody>
                  <a:tcPr>
                    <a:solidFill>
                      <a:srgbClr val="FFFFFF"/>
                    </a:solidFill>
                  </a:tcPr>
                </a:tc>
                <a:tc>
                  <a:txBody>
                    <a:bodyPr/>
                    <a:lstStyle/>
                    <a:p>
                      <a:pPr rtl="1" algn="r"/>
                      <a:r>
                        <a:rPr sz="1700" b="0" i="0" lang="ar-EG" altLang="en-US">
                          <a:solidFill>
                            <a:srgbClr val="1C2333"/>
                          </a:solidFill>
                          <a:latin typeface="Traditional Arabic"/>
                        </a:rPr>
                        <a:t>الصيف</a:t>
                      </a:r>
                    </a:p>
                  </a:txBody>
                  <a:tcPr>
                    <a:solidFill>
                      <a:srgbClr val="FFFFFF"/>
                    </a:solidFill>
                  </a:tcPr>
                </a:tc>
              </a:tr>
              <a:tr h="384048">
                <a:tc>
                  <a:txBody>
                    <a:bodyPr/>
                    <a:lstStyle/>
                    <a:p>
                      <a:pPr rtl="0" algn="l"/>
                      <a:r>
                        <a:rPr sz="1500" b="1" i="0" lang="en-US">
                          <a:solidFill>
                            <a:srgbClr val="947822"/>
                          </a:solidFill>
                          <a:latin typeface="Segoe UI"/>
                        </a:rPr>
                        <a:t>Sunday</a:t>
                      </a:r>
                    </a:p>
                  </a:txBody>
                  <a:tcPr>
                    <a:solidFill>
                      <a:srgbClr val="EEF3FA"/>
                    </a:solidFill>
                  </a:tcPr>
                </a:tc>
                <a:tc>
                  <a:txBody>
                    <a:bodyPr/>
                    <a:lstStyle/>
                    <a:p>
                      <a:pPr rtl="1" algn="r"/>
                      <a:r>
                        <a:rPr sz="1700" b="0" i="0" lang="ar-EG" altLang="en-US">
                          <a:solidFill>
                            <a:srgbClr val="1C2333"/>
                          </a:solidFill>
                          <a:latin typeface="Traditional Arabic"/>
                        </a:rPr>
                        <a:t>الأحد</a:t>
                      </a:r>
                    </a:p>
                  </a:txBody>
                  <a:tcPr>
                    <a:solidFill>
                      <a:srgbClr val="EEF3FA"/>
                    </a:solidFill>
                  </a:tcPr>
                </a:tc>
                <a:tc>
                  <a:txBody>
                    <a:bodyPr/>
                    <a:lstStyle/>
                    <a:p>
                      <a:pPr rtl="0" algn="l"/>
                      <a:r>
                        <a:rPr sz="1500" b="1" i="0" lang="en-US">
                          <a:solidFill>
                            <a:srgbClr val="947822"/>
                          </a:solidFill>
                          <a:latin typeface="Segoe UI"/>
                        </a:rPr>
                        <a:t>Thursday</a:t>
                      </a:r>
                    </a:p>
                  </a:txBody>
                  <a:tcPr>
                    <a:solidFill>
                      <a:srgbClr val="EEF3FA"/>
                    </a:solidFill>
                  </a:tcPr>
                </a:tc>
                <a:tc>
                  <a:txBody>
                    <a:bodyPr/>
                    <a:lstStyle/>
                    <a:p>
                      <a:pPr rtl="1" algn="r"/>
                      <a:r>
                        <a:rPr sz="1700" b="0" i="0" lang="ar-EG" altLang="en-US">
                          <a:solidFill>
                            <a:srgbClr val="1C2333"/>
                          </a:solidFill>
                          <a:latin typeface="Traditional Arabic"/>
                        </a:rPr>
                        <a:t>الخميس</a:t>
                      </a:r>
                    </a:p>
                  </a:txBody>
                  <a:tcPr>
                    <a:solidFill>
                      <a:srgbClr val="EEF3FA"/>
                    </a:solidFill>
                  </a:tcPr>
                </a:tc>
                <a:tc>
                  <a:txBody>
                    <a:bodyPr/>
                    <a:lstStyle/>
                    <a:p>
                      <a:pPr rtl="0" algn="l"/>
                      <a:r>
                        <a:rPr sz="1500" b="1" i="0" lang="en-US">
                          <a:solidFill>
                            <a:srgbClr val="947822"/>
                          </a:solidFill>
                          <a:latin typeface="Segoe UI"/>
                        </a:rPr>
                        <a:t>autumn / fall</a:t>
                      </a:r>
                    </a:p>
                  </a:txBody>
                  <a:tcPr>
                    <a:solidFill>
                      <a:srgbClr val="EEF3FA"/>
                    </a:solidFill>
                  </a:tcPr>
                </a:tc>
                <a:tc>
                  <a:txBody>
                    <a:bodyPr/>
                    <a:lstStyle/>
                    <a:p>
                      <a:pPr rtl="1" algn="r"/>
                      <a:r>
                        <a:rPr sz="1700" b="0" i="0" lang="ar-EG" altLang="en-US">
                          <a:solidFill>
                            <a:srgbClr val="1C2333"/>
                          </a:solidFill>
                          <a:latin typeface="Traditional Arabic"/>
                        </a:rPr>
                        <a:t>الخريف</a:t>
                      </a:r>
                    </a:p>
                  </a:txBody>
                  <a:tcPr>
                    <a:solidFill>
                      <a:srgbClr val="EEF3FA"/>
                    </a:solidFill>
                  </a:tcPr>
                </a:tc>
              </a:tr>
              <a:tr h="384048">
                <a:tc>
                  <a:txBody>
                    <a:bodyPr/>
                    <a:lstStyle/>
                    <a:p>
                      <a:pPr rtl="0" algn="l"/>
                      <a:r>
                        <a:rPr sz="1500" b="1" i="0" lang="en-US">
                          <a:solidFill>
                            <a:srgbClr val="947822"/>
                          </a:solidFill>
                          <a:latin typeface="Segoe UI"/>
                        </a:rPr>
                        <a:t>Monday</a:t>
                      </a:r>
                    </a:p>
                  </a:txBody>
                  <a:tcPr>
                    <a:solidFill>
                      <a:srgbClr val="FFFFFF"/>
                    </a:solidFill>
                  </a:tcPr>
                </a:tc>
                <a:tc>
                  <a:txBody>
                    <a:bodyPr/>
                    <a:lstStyle/>
                    <a:p>
                      <a:pPr rtl="1" algn="r"/>
                      <a:r>
                        <a:rPr sz="1700" b="0" i="0" lang="ar-EG" altLang="en-US">
                          <a:solidFill>
                            <a:srgbClr val="1C2333"/>
                          </a:solidFill>
                          <a:latin typeface="Traditional Arabic"/>
                        </a:rPr>
                        <a:t>الاثنين</a:t>
                      </a:r>
                    </a:p>
                  </a:txBody>
                  <a:tcPr>
                    <a:solidFill>
                      <a:srgbClr val="FFFFFF"/>
                    </a:solidFill>
                  </a:tcPr>
                </a:tc>
                <a:tc>
                  <a:txBody>
                    <a:bodyPr/>
                    <a:lstStyle/>
                    <a:p>
                      <a:pPr rtl="0" algn="l"/>
                      <a:r>
                        <a:rPr sz="1500" b="1" i="0" lang="en-US">
                          <a:solidFill>
                            <a:srgbClr val="947822"/>
                          </a:solidFill>
                          <a:latin typeface="Segoe UI"/>
                        </a:rPr>
                        <a:t>Friday</a:t>
                      </a:r>
                    </a:p>
                  </a:txBody>
                  <a:tcPr>
                    <a:solidFill>
                      <a:srgbClr val="FFFFFF"/>
                    </a:solidFill>
                  </a:tcPr>
                </a:tc>
                <a:tc>
                  <a:txBody>
                    <a:bodyPr/>
                    <a:lstStyle/>
                    <a:p>
                      <a:pPr rtl="1" algn="r"/>
                      <a:r>
                        <a:rPr sz="1700" b="0" i="0" lang="ar-EG" altLang="en-US">
                          <a:solidFill>
                            <a:srgbClr val="1C2333"/>
                          </a:solidFill>
                          <a:latin typeface="Traditional Arabic"/>
                        </a:rPr>
                        <a:t>الجمعة</a:t>
                      </a:r>
                    </a:p>
                  </a:txBody>
                  <a:tcPr>
                    <a:solidFill>
                      <a:srgbClr val="FFFFFF"/>
                    </a:solidFill>
                  </a:tcPr>
                </a:tc>
                <a:tc>
                  <a:txBody>
                    <a:bodyPr/>
                    <a:lstStyle/>
                    <a:p>
                      <a:pPr rtl="0" algn="l"/>
                      <a:r>
                        <a:rPr sz="1500" b="1" i="0" lang="en-US">
                          <a:solidFill>
                            <a:srgbClr val="947822"/>
                          </a:solidFill>
                          <a:latin typeface="Segoe UI"/>
                        </a:rPr>
                        <a:t>winter</a:t>
                      </a:r>
                    </a:p>
                  </a:txBody>
                  <a:tcPr>
                    <a:solidFill>
                      <a:srgbClr val="FFFFFF"/>
                    </a:solidFill>
                  </a:tcPr>
                </a:tc>
                <a:tc>
                  <a:txBody>
                    <a:bodyPr/>
                    <a:lstStyle/>
                    <a:p>
                      <a:pPr rtl="1" algn="r"/>
                      <a:r>
                        <a:rPr sz="1700" b="0" i="0" lang="ar-EG" altLang="en-US">
                          <a:solidFill>
                            <a:srgbClr val="1C2333"/>
                          </a:solidFill>
                          <a:latin typeface="Traditional Arabic"/>
                        </a:rPr>
                        <a:t>الشتاء</a:t>
                      </a:r>
                    </a:p>
                  </a:txBody>
                  <a:tcPr>
                    <a:solidFill>
                      <a:srgbClr val="FFFFFF"/>
                    </a:solidFill>
                  </a:tcPr>
                </a:tc>
              </a:tr>
              <a:tr h="384048">
                <a:tc>
                  <a:txBody>
                    <a:bodyPr/>
                    <a:lstStyle/>
                    <a:p>
                      <a:pPr rtl="0" algn="l"/>
                      <a:r>
                        <a:rPr sz="1500" b="1" i="0" lang="en-US">
                          <a:solidFill>
                            <a:srgbClr val="947822"/>
                          </a:solidFill>
                          <a:latin typeface="Segoe UI"/>
                        </a:rPr>
                        <a:t>Tuesday</a:t>
                      </a:r>
                    </a:p>
                  </a:txBody>
                  <a:tcPr>
                    <a:solidFill>
                      <a:srgbClr val="EEF3FA"/>
                    </a:solidFill>
                  </a:tcPr>
                </a:tc>
                <a:tc>
                  <a:txBody>
                    <a:bodyPr/>
                    <a:lstStyle/>
                    <a:p>
                      <a:pPr rtl="1" algn="r"/>
                      <a:r>
                        <a:rPr sz="1700" b="0" i="0" lang="ar-EG" altLang="en-US">
                          <a:solidFill>
                            <a:srgbClr val="1C2333"/>
                          </a:solidFill>
                          <a:latin typeface="Traditional Arabic"/>
                        </a:rPr>
                        <a:t>الثلاثاء</a:t>
                      </a:r>
                    </a:p>
                  </a:txBody>
                  <a:tcPr>
                    <a:solidFill>
                      <a:srgbClr val="EEF3FA"/>
                    </a:solidFill>
                  </a:tcPr>
                </a:tc>
                <a:tc>
                  <a:txBody>
                    <a:bodyPr/>
                    <a:lstStyle/>
                    <a:p>
                      <a:pPr rtl="0" algn="l"/>
                      <a:r>
                        <a:rPr sz="1500" b="1" i="0" lang="en-US">
                          <a:solidFill>
                            <a:srgbClr val="947822"/>
                          </a:solidFill>
                          <a:latin typeface="Segoe UI"/>
                        </a:rPr>
                        <a:t>spring</a:t>
                      </a:r>
                    </a:p>
                  </a:txBody>
                  <a:tcPr>
                    <a:solidFill>
                      <a:srgbClr val="EEF3FA"/>
                    </a:solidFill>
                  </a:tcPr>
                </a:tc>
                <a:tc>
                  <a:txBody>
                    <a:bodyPr/>
                    <a:lstStyle/>
                    <a:p>
                      <a:pPr rtl="1" algn="r"/>
                      <a:r>
                        <a:rPr sz="1700" b="0" i="0" lang="ar-EG" altLang="en-US">
                          <a:solidFill>
                            <a:srgbClr val="1C2333"/>
                          </a:solidFill>
                          <a:latin typeface="Traditional Arabic"/>
                        </a:rPr>
                        <a:t>الربيع</a:t>
                      </a:r>
                    </a:p>
                  </a:txBody>
                  <a:tcPr>
                    <a:solidFill>
                      <a:srgbClr val="EEF3FA"/>
                    </a:solidFill>
                  </a:tcPr>
                </a:tc>
                <a:tc>
                  <a:txBody>
                    <a:bodyPr/>
                    <a:lstStyle/>
                    <a:p>
                      <a:pPr rtl="0" algn="l"/>
                      <a:r>
                        <a:rPr sz="1500" b="1" i="0" lang="en-US">
                          <a:solidFill>
                            <a:srgbClr val="947822"/>
                          </a:solidFill>
                          <a:latin typeface="Segoe UI"/>
                        </a:rPr>
                        <a:t>seasons</a:t>
                      </a:r>
                    </a:p>
                  </a:txBody>
                  <a:tcPr>
                    <a:solidFill>
                      <a:srgbClr val="EEF3FA"/>
                    </a:solidFill>
                  </a:tcPr>
                </a:tc>
                <a:tc>
                  <a:txBody>
                    <a:bodyPr/>
                    <a:lstStyle/>
                    <a:p>
                      <a:pPr rtl="1" algn="r"/>
                      <a:r>
                        <a:rPr sz="1700" b="0" i="0" lang="ar-EG" altLang="en-US">
                          <a:solidFill>
                            <a:srgbClr val="1C2333"/>
                          </a:solidFill>
                          <a:latin typeface="Traditional Arabic"/>
                        </a:rPr>
                        <a:t>فصول السنة</a:t>
                      </a:r>
                    </a:p>
                  </a:txBody>
                  <a:tcPr>
                    <a:solidFill>
                      <a:srgbClr val="EEF3FA"/>
                    </a:solidFill>
                  </a:tcPr>
                </a:tc>
              </a:tr>
            </a:tbl>
          </a:graphicData>
        </a:graphic>
      </p:graphicFrame>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7822"/>
                          </a:solidFill>
                          <a:latin typeface="Segoe UI"/>
                        </a:rPr>
                        <a:t>January</a:t>
                      </a:r>
                    </a:p>
                  </a:txBody>
                  <a:tcPr>
                    <a:solidFill>
                      <a:srgbClr val="FFFFFF"/>
                    </a:solidFill>
                  </a:tcPr>
                </a:tc>
                <a:tc>
                  <a:txBody>
                    <a:bodyPr/>
                    <a:lstStyle/>
                    <a:p>
                      <a:pPr rtl="1" algn="r"/>
                      <a:r>
                        <a:rPr sz="1700" b="0" i="0" lang="ar-EG" altLang="en-US">
                          <a:solidFill>
                            <a:srgbClr val="1C2333"/>
                          </a:solidFill>
                          <a:latin typeface="Traditional Arabic"/>
                        </a:rPr>
                        <a:t>يناير</a:t>
                      </a:r>
                    </a:p>
                  </a:txBody>
                  <a:tcPr>
                    <a:solidFill>
                      <a:srgbClr val="FFFFFF"/>
                    </a:solidFill>
                  </a:tcPr>
                </a:tc>
                <a:tc>
                  <a:txBody>
                    <a:bodyPr/>
                    <a:lstStyle/>
                    <a:p>
                      <a:pPr rtl="0" algn="l"/>
                      <a:r>
                        <a:rPr sz="1500" b="1" i="0" lang="en-US">
                          <a:solidFill>
                            <a:srgbClr val="947822"/>
                          </a:solidFill>
                          <a:latin typeface="Segoe UI"/>
                        </a:rPr>
                        <a:t>May</a:t>
                      </a:r>
                    </a:p>
                  </a:txBody>
                  <a:tcPr>
                    <a:solidFill>
                      <a:srgbClr val="FFFFFF"/>
                    </a:solidFill>
                  </a:tcPr>
                </a:tc>
                <a:tc>
                  <a:txBody>
                    <a:bodyPr/>
                    <a:lstStyle/>
                    <a:p>
                      <a:pPr rtl="1" algn="r"/>
                      <a:r>
                        <a:rPr sz="1700" b="0" i="0" lang="ar-EG" altLang="en-US">
                          <a:solidFill>
                            <a:srgbClr val="1C2333"/>
                          </a:solidFill>
                          <a:latin typeface="Traditional Arabic"/>
                        </a:rPr>
                        <a:t>مايو</a:t>
                      </a:r>
                    </a:p>
                  </a:txBody>
                  <a:tcPr>
                    <a:solidFill>
                      <a:srgbClr val="FFFFFF"/>
                    </a:solidFill>
                  </a:tcPr>
                </a:tc>
                <a:tc>
                  <a:txBody>
                    <a:bodyPr/>
                    <a:lstStyle/>
                    <a:p>
                      <a:pPr rtl="0" algn="l"/>
                      <a:r>
                        <a:rPr sz="1500" b="1" i="0" lang="en-US">
                          <a:solidFill>
                            <a:srgbClr val="947822"/>
                          </a:solidFill>
                          <a:latin typeface="Segoe UI"/>
                        </a:rPr>
                        <a:t>September</a:t>
                      </a:r>
                    </a:p>
                  </a:txBody>
                  <a:tcPr>
                    <a:solidFill>
                      <a:srgbClr val="FFFFFF"/>
                    </a:solidFill>
                  </a:tcPr>
                </a:tc>
                <a:tc>
                  <a:txBody>
                    <a:bodyPr/>
                    <a:lstStyle/>
                    <a:p>
                      <a:pPr rtl="1" algn="r"/>
                      <a:r>
                        <a:rPr sz="1700" b="0" i="0" lang="ar-EG" altLang="en-US">
                          <a:solidFill>
                            <a:srgbClr val="1C2333"/>
                          </a:solidFill>
                          <a:latin typeface="Traditional Arabic"/>
                        </a:rPr>
                        <a:t>سبتمبر</a:t>
                      </a:r>
                    </a:p>
                  </a:txBody>
                  <a:tcPr>
                    <a:solidFill>
                      <a:srgbClr val="FFFFFF"/>
                    </a:solidFill>
                  </a:tcPr>
                </a:tc>
              </a:tr>
              <a:tr h="384048">
                <a:tc>
                  <a:txBody>
                    <a:bodyPr/>
                    <a:lstStyle/>
                    <a:p>
                      <a:pPr rtl="0" algn="l"/>
                      <a:r>
                        <a:rPr sz="1500" b="1" i="0" lang="en-US">
                          <a:solidFill>
                            <a:srgbClr val="947822"/>
                          </a:solidFill>
                          <a:latin typeface="Segoe UI"/>
                        </a:rPr>
                        <a:t>February</a:t>
                      </a:r>
                    </a:p>
                  </a:txBody>
                  <a:tcPr>
                    <a:solidFill>
                      <a:srgbClr val="EEF3FA"/>
                    </a:solidFill>
                  </a:tcPr>
                </a:tc>
                <a:tc>
                  <a:txBody>
                    <a:bodyPr/>
                    <a:lstStyle/>
                    <a:p>
                      <a:pPr rtl="1" algn="r"/>
                      <a:r>
                        <a:rPr sz="1700" b="0" i="0" lang="ar-EG" altLang="en-US">
                          <a:solidFill>
                            <a:srgbClr val="1C2333"/>
                          </a:solidFill>
                          <a:latin typeface="Traditional Arabic"/>
                        </a:rPr>
                        <a:t>فبراير</a:t>
                      </a:r>
                    </a:p>
                  </a:txBody>
                  <a:tcPr>
                    <a:solidFill>
                      <a:srgbClr val="EEF3FA"/>
                    </a:solidFill>
                  </a:tcPr>
                </a:tc>
                <a:tc>
                  <a:txBody>
                    <a:bodyPr/>
                    <a:lstStyle/>
                    <a:p>
                      <a:pPr rtl="0" algn="l"/>
                      <a:r>
                        <a:rPr sz="1500" b="1" i="0" lang="en-US">
                          <a:solidFill>
                            <a:srgbClr val="947822"/>
                          </a:solidFill>
                          <a:latin typeface="Segoe UI"/>
                        </a:rPr>
                        <a:t>June</a:t>
                      </a:r>
                    </a:p>
                  </a:txBody>
                  <a:tcPr>
                    <a:solidFill>
                      <a:srgbClr val="EEF3FA"/>
                    </a:solidFill>
                  </a:tcPr>
                </a:tc>
                <a:tc>
                  <a:txBody>
                    <a:bodyPr/>
                    <a:lstStyle/>
                    <a:p>
                      <a:pPr rtl="1" algn="r"/>
                      <a:r>
                        <a:rPr sz="1700" b="0" i="0" lang="ar-EG" altLang="en-US">
                          <a:solidFill>
                            <a:srgbClr val="1C2333"/>
                          </a:solidFill>
                          <a:latin typeface="Traditional Arabic"/>
                        </a:rPr>
                        <a:t>يونيو</a:t>
                      </a:r>
                    </a:p>
                  </a:txBody>
                  <a:tcPr>
                    <a:solidFill>
                      <a:srgbClr val="EEF3FA"/>
                    </a:solidFill>
                  </a:tcPr>
                </a:tc>
                <a:tc>
                  <a:txBody>
                    <a:bodyPr/>
                    <a:lstStyle/>
                    <a:p>
                      <a:pPr rtl="0" algn="l"/>
                      <a:r>
                        <a:rPr sz="1500" b="1" i="0" lang="en-US">
                          <a:solidFill>
                            <a:srgbClr val="947822"/>
                          </a:solidFill>
                          <a:latin typeface="Segoe UI"/>
                        </a:rPr>
                        <a:t>October</a:t>
                      </a:r>
                    </a:p>
                  </a:txBody>
                  <a:tcPr>
                    <a:solidFill>
                      <a:srgbClr val="EEF3FA"/>
                    </a:solidFill>
                  </a:tcPr>
                </a:tc>
                <a:tc>
                  <a:txBody>
                    <a:bodyPr/>
                    <a:lstStyle/>
                    <a:p>
                      <a:pPr rtl="1" algn="r"/>
                      <a:r>
                        <a:rPr sz="1700" b="0" i="0" lang="ar-EG" altLang="en-US">
                          <a:solidFill>
                            <a:srgbClr val="1C2333"/>
                          </a:solidFill>
                          <a:latin typeface="Traditional Arabic"/>
                        </a:rPr>
                        <a:t>أكتوبر</a:t>
                      </a:r>
                    </a:p>
                  </a:txBody>
                  <a:tcPr>
                    <a:solidFill>
                      <a:srgbClr val="EEF3FA"/>
                    </a:solidFill>
                  </a:tcPr>
                </a:tc>
              </a:tr>
              <a:tr h="384048">
                <a:tc>
                  <a:txBody>
                    <a:bodyPr/>
                    <a:lstStyle/>
                    <a:p>
                      <a:pPr rtl="0" algn="l"/>
                      <a:r>
                        <a:rPr sz="1500" b="1" i="0" lang="en-US">
                          <a:solidFill>
                            <a:srgbClr val="947822"/>
                          </a:solidFill>
                          <a:latin typeface="Segoe UI"/>
                        </a:rPr>
                        <a:t>March</a:t>
                      </a:r>
                    </a:p>
                  </a:txBody>
                  <a:tcPr>
                    <a:solidFill>
                      <a:srgbClr val="FFFFFF"/>
                    </a:solidFill>
                  </a:tcPr>
                </a:tc>
                <a:tc>
                  <a:txBody>
                    <a:bodyPr/>
                    <a:lstStyle/>
                    <a:p>
                      <a:pPr rtl="1" algn="r"/>
                      <a:r>
                        <a:rPr sz="1700" b="0" i="0" lang="ar-EG" altLang="en-US">
                          <a:solidFill>
                            <a:srgbClr val="1C2333"/>
                          </a:solidFill>
                          <a:latin typeface="Traditional Arabic"/>
                        </a:rPr>
                        <a:t>مارس</a:t>
                      </a:r>
                    </a:p>
                  </a:txBody>
                  <a:tcPr>
                    <a:solidFill>
                      <a:srgbClr val="FFFFFF"/>
                    </a:solidFill>
                  </a:tcPr>
                </a:tc>
                <a:tc>
                  <a:txBody>
                    <a:bodyPr/>
                    <a:lstStyle/>
                    <a:p>
                      <a:pPr rtl="0" algn="l"/>
                      <a:r>
                        <a:rPr sz="1500" b="1" i="0" lang="en-US">
                          <a:solidFill>
                            <a:srgbClr val="947822"/>
                          </a:solidFill>
                          <a:latin typeface="Segoe UI"/>
                        </a:rPr>
                        <a:t>July</a:t>
                      </a:r>
                    </a:p>
                  </a:txBody>
                  <a:tcPr>
                    <a:solidFill>
                      <a:srgbClr val="FFFFFF"/>
                    </a:solidFill>
                  </a:tcPr>
                </a:tc>
                <a:tc>
                  <a:txBody>
                    <a:bodyPr/>
                    <a:lstStyle/>
                    <a:p>
                      <a:pPr rtl="1" algn="r"/>
                      <a:r>
                        <a:rPr sz="1700" b="0" i="0" lang="ar-EG" altLang="en-US">
                          <a:solidFill>
                            <a:srgbClr val="1C2333"/>
                          </a:solidFill>
                          <a:latin typeface="Traditional Arabic"/>
                        </a:rPr>
                        <a:t>يوليو</a:t>
                      </a:r>
                    </a:p>
                  </a:txBody>
                  <a:tcPr>
                    <a:solidFill>
                      <a:srgbClr val="FFFFFF"/>
                    </a:solidFill>
                  </a:tcPr>
                </a:tc>
                <a:tc>
                  <a:txBody>
                    <a:bodyPr/>
                    <a:lstStyle/>
                    <a:p>
                      <a:pPr rtl="0" algn="l"/>
                      <a:r>
                        <a:rPr sz="1500" b="1" i="0" lang="en-US">
                          <a:solidFill>
                            <a:srgbClr val="947822"/>
                          </a:solidFill>
                          <a:latin typeface="Segoe UI"/>
                        </a:rPr>
                        <a:t>November</a:t>
                      </a:r>
                    </a:p>
                  </a:txBody>
                  <a:tcPr>
                    <a:solidFill>
                      <a:srgbClr val="FFFFFF"/>
                    </a:solidFill>
                  </a:tcPr>
                </a:tc>
                <a:tc>
                  <a:txBody>
                    <a:bodyPr/>
                    <a:lstStyle/>
                    <a:p>
                      <a:pPr rtl="1" algn="r"/>
                      <a:r>
                        <a:rPr sz="1700" b="0" i="0" lang="ar-EG" altLang="en-US">
                          <a:solidFill>
                            <a:srgbClr val="1C2333"/>
                          </a:solidFill>
                          <a:latin typeface="Traditional Arabic"/>
                        </a:rPr>
                        <a:t>نوفمبر</a:t>
                      </a:r>
                    </a:p>
                  </a:txBody>
                  <a:tcPr>
                    <a:solidFill>
                      <a:srgbClr val="FFFFFF"/>
                    </a:solidFill>
                  </a:tcPr>
                </a:tc>
              </a:tr>
              <a:tr h="384048">
                <a:tc>
                  <a:txBody>
                    <a:bodyPr/>
                    <a:lstStyle/>
                    <a:p>
                      <a:pPr rtl="0" algn="l"/>
                      <a:r>
                        <a:rPr sz="1500" b="1" i="0" lang="en-US">
                          <a:solidFill>
                            <a:srgbClr val="947822"/>
                          </a:solidFill>
                          <a:latin typeface="Segoe UI"/>
                        </a:rPr>
                        <a:t>April</a:t>
                      </a:r>
                    </a:p>
                  </a:txBody>
                  <a:tcPr>
                    <a:solidFill>
                      <a:srgbClr val="EEF3FA"/>
                    </a:solidFill>
                  </a:tcPr>
                </a:tc>
                <a:tc>
                  <a:txBody>
                    <a:bodyPr/>
                    <a:lstStyle/>
                    <a:p>
                      <a:pPr rtl="1" algn="r"/>
                      <a:r>
                        <a:rPr sz="1700" b="0" i="0" lang="ar-EG" altLang="en-US">
                          <a:solidFill>
                            <a:srgbClr val="1C2333"/>
                          </a:solidFill>
                          <a:latin typeface="Traditional Arabic"/>
                        </a:rPr>
                        <a:t>أبريل</a:t>
                      </a:r>
                    </a:p>
                  </a:txBody>
                  <a:tcPr>
                    <a:solidFill>
                      <a:srgbClr val="EEF3FA"/>
                    </a:solidFill>
                  </a:tcPr>
                </a:tc>
                <a:tc>
                  <a:txBody>
                    <a:bodyPr/>
                    <a:lstStyle/>
                    <a:p>
                      <a:pPr rtl="0" algn="l"/>
                      <a:r>
                        <a:rPr sz="1500" b="1" i="0" lang="en-US">
                          <a:solidFill>
                            <a:srgbClr val="947822"/>
                          </a:solidFill>
                          <a:latin typeface="Segoe UI"/>
                        </a:rPr>
                        <a:t>August</a:t>
                      </a:r>
                    </a:p>
                  </a:txBody>
                  <a:tcPr>
                    <a:solidFill>
                      <a:srgbClr val="EEF3FA"/>
                    </a:solidFill>
                  </a:tcPr>
                </a:tc>
                <a:tc>
                  <a:txBody>
                    <a:bodyPr/>
                    <a:lstStyle/>
                    <a:p>
                      <a:pPr rtl="1" algn="r"/>
                      <a:r>
                        <a:rPr sz="1700" b="0" i="0" lang="ar-EG" altLang="en-US">
                          <a:solidFill>
                            <a:srgbClr val="1C2333"/>
                          </a:solidFill>
                          <a:latin typeface="Traditional Arabic"/>
                        </a:rPr>
                        <a:t>أغسطس</a:t>
                      </a:r>
                    </a:p>
                  </a:txBody>
                  <a:tcPr>
                    <a:solidFill>
                      <a:srgbClr val="EEF3FA"/>
                    </a:solidFill>
                  </a:tcPr>
                </a:tc>
                <a:tc>
                  <a:txBody>
                    <a:bodyPr/>
                    <a:lstStyle/>
                    <a:p>
                      <a:pPr rtl="0" algn="l"/>
                      <a:r>
                        <a:rPr sz="1500" b="1" i="0" lang="en-US">
                          <a:solidFill>
                            <a:srgbClr val="947822"/>
                          </a:solidFill>
                          <a:latin typeface="Segoe UI"/>
                        </a:rPr>
                        <a:t>December</a:t>
                      </a:r>
                    </a:p>
                  </a:txBody>
                  <a:tcPr>
                    <a:solidFill>
                      <a:srgbClr val="EEF3FA"/>
                    </a:solidFill>
                  </a:tcPr>
                </a:tc>
                <a:tc>
                  <a:txBody>
                    <a:bodyPr/>
                    <a:lstStyle/>
                    <a:p>
                      <a:pPr rtl="1" algn="r"/>
                      <a:r>
                        <a:rPr sz="1700" b="0" i="0" lang="ar-EG" altLang="en-US">
                          <a:solidFill>
                            <a:srgbClr val="1C2333"/>
                          </a:solidFill>
                          <a:latin typeface="Traditional Arabic"/>
                        </a:rPr>
                        <a:t>ديسمبر</a:t>
                      </a:r>
                    </a:p>
                  </a:txBody>
                  <a:tcPr>
                    <a:solidFill>
                      <a:srgbClr val="EEF3FA"/>
                    </a:solidFill>
                  </a:tcPr>
                </a:tc>
              </a:tr>
            </a:tbl>
          </a:graphicData>
        </a:graphic>
      </p:graphicFrame>
    </p:spTree>
  </p:cSld>
  <p:clrMapOvr>
    <a:masterClrMapping/>
  </p:clrMapOvr>
  <p:transition spd="med">
    <p:push dir="l"/>
  </p:transition>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152144"/>
        </p:xfrm>
        <a:graphic>
          <a:graphicData uri="http://schemas.openxmlformats.org/drawingml/2006/table">
            <a:tbl>
              <a:tblPr firstRow="1" bandRow="1">
                <a:tableStyleId>{5C22544A-7EE6-4342-B048-85BDC9FD1C3A}</a:tableStyleId>
              </a:tblPr>
              <a:tblGrid>
                <a:gridCol w="2819323"/>
                <a:gridCol w="2819323"/>
                <a:gridCol w="2819323"/>
                <a:gridCol w="2819326"/>
              </a:tblGrid>
              <a:tr h="384048">
                <a:tc>
                  <a:txBody>
                    <a:bodyPr/>
                    <a:lstStyle/>
                    <a:p>
                      <a:pPr rtl="0" algn="l"/>
                      <a:r>
                        <a:rPr sz="1500" b="1" i="0" lang="en-US">
                          <a:solidFill>
                            <a:srgbClr val="947822"/>
                          </a:solidFill>
                          <a:latin typeface="Segoe UI"/>
                        </a:rPr>
                        <a:t>morning</a:t>
                      </a:r>
                    </a:p>
                  </a:txBody>
                  <a:tcPr>
                    <a:solidFill>
                      <a:srgbClr val="FFFFFF"/>
                    </a:solidFill>
                  </a:tcPr>
                </a:tc>
                <a:tc>
                  <a:txBody>
                    <a:bodyPr/>
                    <a:lstStyle/>
                    <a:p>
                      <a:pPr rtl="1" algn="r"/>
                      <a:r>
                        <a:rPr sz="1700" b="0" i="0" lang="ar-EG" altLang="en-US">
                          <a:solidFill>
                            <a:srgbClr val="1C2333"/>
                          </a:solidFill>
                          <a:latin typeface="Traditional Arabic"/>
                        </a:rPr>
                        <a:t>صباح</a:t>
                      </a:r>
                    </a:p>
                  </a:txBody>
                  <a:tcPr>
                    <a:solidFill>
                      <a:srgbClr val="FFFFFF"/>
                    </a:solidFill>
                  </a:tcPr>
                </a:tc>
                <a:tc>
                  <a:txBody>
                    <a:bodyPr/>
                    <a:lstStyle/>
                    <a:p>
                      <a:pPr rtl="0" algn="l"/>
                      <a:r>
                        <a:rPr sz="1500" b="1" i="0" lang="en-US">
                          <a:solidFill>
                            <a:srgbClr val="947822"/>
                          </a:solidFill>
                          <a:latin typeface="Segoe UI"/>
                        </a:rPr>
                        <a:t>night</a:t>
                      </a:r>
                    </a:p>
                  </a:txBody>
                  <a:tcPr>
                    <a:solidFill>
                      <a:srgbClr val="FFFFFF"/>
                    </a:solidFill>
                  </a:tcPr>
                </a:tc>
                <a:tc>
                  <a:txBody>
                    <a:bodyPr/>
                    <a:lstStyle/>
                    <a:p>
                      <a:pPr rtl="1" algn="r"/>
                      <a:r>
                        <a:rPr sz="1700" b="0" i="0" lang="ar-EG" altLang="en-US">
                          <a:solidFill>
                            <a:srgbClr val="1C2333"/>
                          </a:solidFill>
                          <a:latin typeface="Traditional Arabic"/>
                        </a:rPr>
                        <a:t>ليل</a:t>
                      </a:r>
                    </a:p>
                  </a:txBody>
                  <a:tcPr>
                    <a:solidFill>
                      <a:srgbClr val="FFFFFF"/>
                    </a:solidFill>
                  </a:tcPr>
                </a:tc>
              </a:tr>
              <a:tr h="384048">
                <a:tc>
                  <a:txBody>
                    <a:bodyPr/>
                    <a:lstStyle/>
                    <a:p>
                      <a:pPr rtl="0" algn="l"/>
                      <a:r>
                        <a:rPr sz="1500" b="1" i="0" lang="en-US">
                          <a:solidFill>
                            <a:srgbClr val="947822"/>
                          </a:solidFill>
                          <a:latin typeface="Segoe UI"/>
                        </a:rPr>
                        <a:t>evening</a:t>
                      </a:r>
                    </a:p>
                  </a:txBody>
                  <a:tcPr>
                    <a:solidFill>
                      <a:srgbClr val="EEF3FA"/>
                    </a:solidFill>
                  </a:tcPr>
                </a:tc>
                <a:tc>
                  <a:txBody>
                    <a:bodyPr/>
                    <a:lstStyle/>
                    <a:p>
                      <a:pPr rtl="1" algn="r"/>
                      <a:r>
                        <a:rPr sz="1700" b="0" i="0" lang="ar-EG" altLang="en-US">
                          <a:solidFill>
                            <a:srgbClr val="1C2333"/>
                          </a:solidFill>
                          <a:latin typeface="Traditional Arabic"/>
                        </a:rPr>
                        <a:t>مساء</a:t>
                      </a:r>
                    </a:p>
                  </a:txBody>
                  <a:tcPr>
                    <a:solidFill>
                      <a:srgbClr val="EEF3FA"/>
                    </a:solidFill>
                  </a:tcPr>
                </a:tc>
                <a:tc>
                  <a:txBody>
                    <a:bodyPr/>
                    <a:lstStyle/>
                    <a:p>
                      <a:pPr rtl="0" algn="l"/>
                      <a:r>
                        <a:rPr sz="1500" b="1" i="0" lang="en-US">
                          <a:solidFill>
                            <a:srgbClr val="947822"/>
                          </a:solidFill>
                          <a:latin typeface="Segoe UI"/>
                        </a:rPr>
                        <a:t>midday</a:t>
                      </a:r>
                    </a:p>
                  </a:txBody>
                  <a:tcPr>
                    <a:solidFill>
                      <a:srgbClr val="EEF3FA"/>
                    </a:solidFill>
                  </a:tcPr>
                </a:tc>
                <a:tc>
                  <a:txBody>
                    <a:bodyPr/>
                    <a:lstStyle/>
                    <a:p>
                      <a:pPr rtl="1" algn="r"/>
                      <a:r>
                        <a:rPr sz="1700" b="0" i="0" lang="ar-EG" altLang="en-US">
                          <a:solidFill>
                            <a:srgbClr val="1C2333"/>
                          </a:solidFill>
                          <a:latin typeface="Traditional Arabic"/>
                        </a:rPr>
                        <a:t>منتصف النهار</a:t>
                      </a:r>
                    </a:p>
                  </a:txBody>
                  <a:tcPr>
                    <a:solidFill>
                      <a:srgbClr val="EEF3FA"/>
                    </a:solidFill>
                  </a:tcPr>
                </a:tc>
              </a:tr>
              <a:tr h="384048">
                <a:tc>
                  <a:txBody>
                    <a:bodyPr/>
                    <a:lstStyle/>
                    <a:p>
                      <a:pPr rtl="0" algn="l"/>
                      <a:r>
                        <a:rPr sz="1500" b="1" i="0" lang="en-US">
                          <a:solidFill>
                            <a:srgbClr val="947822"/>
                          </a:solidFill>
                          <a:latin typeface="Segoe UI"/>
                        </a:rPr>
                        <a:t>afternoon</a:t>
                      </a:r>
                    </a:p>
                  </a:txBody>
                  <a:tcPr>
                    <a:solidFill>
                      <a:srgbClr val="FFFFFF"/>
                    </a:solidFill>
                  </a:tcPr>
                </a:tc>
                <a:tc>
                  <a:txBody>
                    <a:bodyPr/>
                    <a:lstStyle/>
                    <a:p>
                      <a:pPr rtl="1" algn="r"/>
                      <a:r>
                        <a:rPr sz="1700" b="0" i="0" lang="ar-EG" altLang="en-US">
                          <a:solidFill>
                            <a:srgbClr val="1C2333"/>
                          </a:solidFill>
                          <a:latin typeface="Traditional Arabic"/>
                        </a:rPr>
                        <a:t>بعد الظهر</a:t>
                      </a:r>
                    </a:p>
                  </a:txBody>
                  <a:tcPr>
                    <a:solidFill>
                      <a:srgbClr val="FFFFFF"/>
                    </a:solidFill>
                  </a:tcPr>
                </a:tc>
                <a:tc>
                  <a:txBody>
                    <a:bodyPr/>
                    <a:lstStyle/>
                    <a:p>
                      <a:pPr rtl="0" algn="l"/>
                      <a:r>
                        <a:rPr sz="1500" b="1" i="0" lang="en-US">
                          <a:solidFill>
                            <a:srgbClr val="947822"/>
                          </a:solidFill>
                          <a:latin typeface="Segoe UI"/>
                        </a:rPr>
                        <a:t>midnight</a:t>
                      </a:r>
                    </a:p>
                  </a:txBody>
                  <a:tcPr>
                    <a:solidFill>
                      <a:srgbClr val="FFFFFF"/>
                    </a:solidFill>
                  </a:tcPr>
                </a:tc>
                <a:tc>
                  <a:txBody>
                    <a:bodyPr/>
                    <a:lstStyle/>
                    <a:p>
                      <a:pPr rtl="1" algn="r"/>
                      <a:r>
                        <a:rPr sz="1700" b="0" i="0" lang="ar-EG" altLang="en-US">
                          <a:solidFill>
                            <a:srgbClr val="1C2333"/>
                          </a:solidFill>
                          <a:latin typeface="Traditional Arabic"/>
                        </a:rPr>
                        <a:t>منتصف الليل</a:t>
                      </a:r>
                    </a:p>
                  </a:txBody>
                  <a:tcPr>
                    <a:solidFill>
                      <a:srgbClr val="FFFFFF"/>
                    </a:solidFill>
                  </a:tcPr>
                </a:tc>
              </a:tr>
            </a:tbl>
          </a:graphicData>
        </a:graphic>
      </p:graphicFrame>
    </p:spTree>
  </p:cSld>
  <p:clrMapOvr>
    <a:masterClrMapping/>
  </p:clrMapOvr>
  <p:transition spd="med">
    <p:wipe dir="r"/>
  </p:transition>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2819323"/>
                <a:gridCol w="2819323"/>
                <a:gridCol w="2819323"/>
                <a:gridCol w="2819326"/>
              </a:tblGrid>
              <a:tr h="384048">
                <a:tc>
                  <a:txBody>
                    <a:bodyPr/>
                    <a:lstStyle/>
                    <a:p>
                      <a:pPr rtl="0" algn="l"/>
                      <a:r>
                        <a:rPr sz="1500" b="1" i="0" lang="en-US">
                          <a:solidFill>
                            <a:srgbClr val="947822"/>
                          </a:solidFill>
                          <a:latin typeface="Segoe UI"/>
                        </a:rPr>
                        <a:t>month</a:t>
                      </a:r>
                    </a:p>
                  </a:txBody>
                  <a:tcPr>
                    <a:solidFill>
                      <a:srgbClr val="FFFFFF"/>
                    </a:solidFill>
                  </a:tcPr>
                </a:tc>
                <a:tc>
                  <a:txBody>
                    <a:bodyPr/>
                    <a:lstStyle/>
                    <a:p>
                      <a:pPr rtl="1" algn="r"/>
                      <a:r>
                        <a:rPr sz="1700" b="0" i="0" lang="ar-EG" altLang="en-US">
                          <a:solidFill>
                            <a:srgbClr val="1C2333"/>
                          </a:solidFill>
                          <a:latin typeface="Traditional Arabic"/>
                        </a:rPr>
                        <a:t>شهر</a:t>
                      </a:r>
                    </a:p>
                  </a:txBody>
                  <a:tcPr>
                    <a:solidFill>
                      <a:srgbClr val="FFFFFF"/>
                    </a:solidFill>
                  </a:tcPr>
                </a:tc>
                <a:tc>
                  <a:txBody>
                    <a:bodyPr/>
                    <a:lstStyle/>
                    <a:p>
                      <a:pPr rtl="0" algn="l"/>
                      <a:r>
                        <a:rPr sz="1500" b="1" i="0" lang="en-US">
                          <a:solidFill>
                            <a:srgbClr val="947822"/>
                          </a:solidFill>
                          <a:latin typeface="Segoe UI"/>
                        </a:rPr>
                        <a:t>midday</a:t>
                      </a:r>
                    </a:p>
                  </a:txBody>
                  <a:tcPr>
                    <a:solidFill>
                      <a:srgbClr val="FFFFFF"/>
                    </a:solidFill>
                  </a:tcPr>
                </a:tc>
                <a:tc>
                  <a:txBody>
                    <a:bodyPr/>
                    <a:lstStyle/>
                    <a:p>
                      <a:pPr rtl="1" algn="r"/>
                      <a:r>
                        <a:rPr sz="1700" b="0" i="0" lang="ar-EG" altLang="en-US">
                          <a:solidFill>
                            <a:srgbClr val="1C2333"/>
                          </a:solidFill>
                          <a:latin typeface="Traditional Arabic"/>
                        </a:rPr>
                        <a:t>منتصف النهار</a:t>
                      </a:r>
                    </a:p>
                  </a:txBody>
                  <a:tcPr>
                    <a:solidFill>
                      <a:srgbClr val="FFFFFF"/>
                    </a:solidFill>
                  </a:tcPr>
                </a:tc>
              </a:tr>
              <a:tr h="384048">
                <a:tc>
                  <a:txBody>
                    <a:bodyPr/>
                    <a:lstStyle/>
                    <a:p>
                      <a:pPr rtl="0" algn="l"/>
                      <a:r>
                        <a:rPr sz="1500" b="1" i="0" lang="en-US">
                          <a:solidFill>
                            <a:srgbClr val="947822"/>
                          </a:solidFill>
                          <a:latin typeface="Segoe UI"/>
                        </a:rPr>
                        <a:t>seasons</a:t>
                      </a:r>
                    </a:p>
                  </a:txBody>
                  <a:tcPr>
                    <a:solidFill>
                      <a:srgbClr val="EEF3FA"/>
                    </a:solidFill>
                  </a:tcPr>
                </a:tc>
                <a:tc>
                  <a:txBody>
                    <a:bodyPr/>
                    <a:lstStyle/>
                    <a:p>
                      <a:pPr rtl="1" algn="r"/>
                      <a:r>
                        <a:rPr sz="1700" b="0" i="0" lang="ar-EG" altLang="en-US">
                          <a:solidFill>
                            <a:srgbClr val="1C2333"/>
                          </a:solidFill>
                          <a:latin typeface="Traditional Arabic"/>
                        </a:rPr>
                        <a:t>فصول السنة</a:t>
                      </a:r>
                    </a:p>
                  </a:txBody>
                  <a:tcPr>
                    <a:solidFill>
                      <a:srgbClr val="EEF3FA"/>
                    </a:solidFill>
                  </a:tcPr>
                </a:tc>
                <a:tc>
                  <a:txBody>
                    <a:bodyPr/>
                    <a:lstStyle/>
                    <a:p>
                      <a:pPr rtl="0" algn="l"/>
                      <a:r>
                        <a:rPr sz="1500" b="1" i="0" lang="en-US">
                          <a:solidFill>
                            <a:srgbClr val="947822"/>
                          </a:solidFill>
                          <a:latin typeface="Segoe UI"/>
                        </a:rPr>
                        <a:t>midnight</a:t>
                      </a:r>
                    </a:p>
                  </a:txBody>
                  <a:tcPr>
                    <a:solidFill>
                      <a:srgbClr val="EEF3FA"/>
                    </a:solidFill>
                  </a:tcPr>
                </a:tc>
                <a:tc>
                  <a:txBody>
                    <a:bodyPr/>
                    <a:lstStyle/>
                    <a:p>
                      <a:pPr rtl="1" algn="r"/>
                      <a:r>
                        <a:rPr sz="1700" b="0" i="0" lang="ar-EG" altLang="en-US">
                          <a:solidFill>
                            <a:srgbClr val="1C2333"/>
                          </a:solidFill>
                          <a:latin typeface="Traditional Arabic"/>
                        </a:rPr>
                        <a:t>منتصف الليل</a:t>
                      </a:r>
                    </a:p>
                  </a:txBody>
                  <a:tcPr>
                    <a:solidFill>
                      <a:srgbClr val="EEF3FA"/>
                    </a:solidFill>
                  </a:tcPr>
                </a:tc>
              </a:tr>
              <a:tr h="384048">
                <a:tc>
                  <a:txBody>
                    <a:bodyPr/>
                    <a:lstStyle/>
                    <a:p>
                      <a:pPr rtl="0" algn="l"/>
                      <a:r>
                        <a:rPr sz="1500" b="1" i="0" lang="en-US">
                          <a:solidFill>
                            <a:srgbClr val="947822"/>
                          </a:solidFill>
                          <a:latin typeface="Segoe UI"/>
                        </a:rPr>
                        <a:t>period of the day</a:t>
                      </a:r>
                    </a:p>
                  </a:txBody>
                  <a:tcPr>
                    <a:solidFill>
                      <a:srgbClr val="FFFFFF"/>
                    </a:solidFill>
                  </a:tcPr>
                </a:tc>
                <a:tc>
                  <a:txBody>
                    <a:bodyPr/>
                    <a:lstStyle/>
                    <a:p>
                      <a:pPr rtl="1" algn="r"/>
                      <a:r>
                        <a:rPr sz="1700" b="0" i="0" lang="ar-EG" altLang="en-US">
                          <a:solidFill>
                            <a:srgbClr val="1C2333"/>
                          </a:solidFill>
                          <a:latin typeface="Traditional Arabic"/>
                        </a:rPr>
                        <a:t>فترات اليوم</a:t>
                      </a:r>
                    </a:p>
                  </a:txBody>
                  <a:tcPr>
                    <a:solidFill>
                      <a:srgbClr val="FFFFFF"/>
                    </a:solidFill>
                  </a:tcPr>
                </a:tc>
                <a:tc>
                  <a:txBody>
                    <a:bodyPr/>
                    <a:lstStyle/>
                    <a:p>
                      <a:pPr rtl="0" algn="l"/>
                      <a:r>
                        <a:rPr sz="1500" b="1" i="0" lang="en-US">
                          <a:solidFill>
                            <a:srgbClr val="947822"/>
                          </a:solidFill>
                          <a:latin typeface="Segoe UI"/>
                        </a:rPr>
                        <a:t>weekend</a:t>
                      </a:r>
                    </a:p>
                  </a:txBody>
                  <a:tcPr>
                    <a:solidFill>
                      <a:srgbClr val="FFFFFF"/>
                    </a:solidFill>
                  </a:tcPr>
                </a:tc>
                <a:tc>
                  <a:txBody>
                    <a:bodyPr/>
                    <a:lstStyle/>
                    <a:p>
                      <a:pPr rtl="1" algn="r"/>
                      <a:r>
                        <a:rPr sz="1700" b="0" i="0" lang="ar-EG" altLang="en-US">
                          <a:solidFill>
                            <a:srgbClr val="1C2333"/>
                          </a:solidFill>
                          <a:latin typeface="Traditional Arabic"/>
                        </a:rPr>
                        <a:t>نهاية الأسبوع</a:t>
                      </a:r>
                    </a:p>
                  </a:txBody>
                  <a:tcPr>
                    <a:solidFill>
                      <a:srgbClr val="FFFFFF"/>
                    </a:solidFill>
                  </a:tcPr>
                </a:tc>
              </a:tr>
              <a:tr h="384048">
                <a:tc>
                  <a:txBody>
                    <a:bodyPr/>
                    <a:lstStyle/>
                    <a:p>
                      <a:pPr rtl="0" algn="l"/>
                      <a:r>
                        <a:rPr sz="1500" b="1" i="0" lang="en-US">
                          <a:solidFill>
                            <a:srgbClr val="947822"/>
                          </a:solidFill>
                          <a:latin typeface="Segoe UI"/>
                        </a:rPr>
                        <a:t>noon</a:t>
                      </a:r>
                    </a:p>
                  </a:txBody>
                  <a:tcPr>
                    <a:solidFill>
                      <a:srgbClr val="EEF3FA"/>
                    </a:solidFill>
                  </a:tcPr>
                </a:tc>
                <a:tc>
                  <a:txBody>
                    <a:bodyPr/>
                    <a:lstStyle/>
                    <a:p>
                      <a:pPr rtl="1" algn="r"/>
                      <a:r>
                        <a:rPr sz="1700" b="0" i="0" lang="ar-EG" altLang="en-US">
                          <a:solidFill>
                            <a:srgbClr val="1C2333"/>
                          </a:solidFill>
                          <a:latin typeface="Traditional Arabic"/>
                        </a:rPr>
                        <a:t>وقت الظهيرة</a:t>
                      </a:r>
                    </a:p>
                  </a:txBody>
                  <a:tcPr>
                    <a:solidFill>
                      <a:srgbClr val="EEF3FA"/>
                    </a:solidFill>
                  </a:tcPr>
                </a:tc>
                <a:tc>
                  <a:txBody>
                    <a:bodyPr/>
                    <a:lstStyle/>
                    <a:p>
                      <a:pPr rtl="0" algn="l"/>
                      <a:r>
                        <a:rPr sz="1500" b="1" i="0" lang="en-US">
                          <a:solidFill>
                            <a:srgbClr val="947822"/>
                          </a:solidFill>
                          <a:latin typeface="Segoe UI"/>
                        </a:rPr>
                        <a:t>holiday</a:t>
                      </a:r>
                    </a:p>
                  </a:txBody>
                  <a:tcPr>
                    <a:solidFill>
                      <a:srgbClr val="EEF3FA"/>
                    </a:solidFill>
                  </a:tcPr>
                </a:tc>
                <a:tc>
                  <a:txBody>
                    <a:bodyPr/>
                    <a:lstStyle/>
                    <a:p>
                      <a:pPr rtl="1" algn="r"/>
                      <a:r>
                        <a:rPr sz="1700" b="0" i="0" lang="ar-EG" altLang="en-US">
                          <a:solidFill>
                            <a:srgbClr val="1C2333"/>
                          </a:solidFill>
                          <a:latin typeface="Traditional Arabic"/>
                        </a:rPr>
                        <a:t>إجازة</a:t>
                      </a:r>
                    </a:p>
                  </a:txBody>
                  <a:tcPr>
                    <a:solidFill>
                      <a:srgbClr val="EEF3FA"/>
                    </a:solidFill>
                  </a:tcPr>
                </a:tc>
              </a:tr>
            </a:tbl>
          </a:graphicData>
        </a:graphic>
      </p:graphicFrame>
    </p:spTree>
  </p:cSld>
  <p:clrMapOvr>
    <a:masterClrMapping/>
  </p:clrMapOvr>
  <p:transition spd="med">
    <p:split orient="vert" dir="out"/>
  </p:transition>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We have a meeting …… Friday.   (in – on – 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My birthday is …… July.   (in – on – 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 train leaves …… 6 o'clock.   (in – on – at)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was born …… 2005.   (in – on – 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We'll go out …… the weekend.   (in – on – 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always wakes up early …… the morning.   (in – on – 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 concert is …… night.   (in – on – 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We had lunch …… the afternoon.   (in – on – at)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brother was born …… March.   (in – on – 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She goes to the gym …… Mondays.   (in – on – 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on</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 meeting is …… 3 p.m.   (in – on – 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He moved to London …… winter.   (in – on – 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I'll call you …… the morning.   (in – on – at)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My parents got married …… 1990.   (in – on – 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He arrived …… Tuesday afternoon.   (in – on – 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on</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I'll go on vacation …… August.   (in – on – at)</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in</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He was sleeping …… midnight.   (in – on – at)</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We met …… Sunday morning.   (in – on – at)</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on</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We have an exam in Monday.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have an exam on Monday.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 train arrives on 8 o'clock.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train arrives at 8 o'clock.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was born at 2007.</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was born in 2007.</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 meeting is on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meeting is at night.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likes reading at the evening.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likes reading in the evening.</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birthday is at July.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birthday is in July.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He called me in Tuesday.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called me on Tuesday.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He got married at 2010.</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got married in 2010.</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usually relax at the morning.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usually relax in the morning.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I'll go shopping on the weekend.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I'll go shopping at the weekend.</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We go to the beach on summer.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go to the beach in summer.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The class starts at 8 o'clock.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 The class starts at 8 o'clock. (صحيحة)</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I brush my teeth on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brush my teeth at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We'll travel at November.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We'll travel in November.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He studies on the morning.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studies in the morning.</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 party is at January 10th.</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party is on January 10th.</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I play football in Fridays.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play football on Fridays.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We watch TV on night.</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watch TV at night.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10</a:t>
            </a:r>
          </a:p>
          <a:p>
            <a:pPr algn="ctr" rtl="0"/>
            <a:r>
              <a:rPr sz="4600" b="1" i="0" lang="en-US">
                <a:solidFill>
                  <a:srgbClr val="FFFFFF"/>
                </a:solidFill>
                <a:latin typeface="Segoe UI"/>
              </a:rPr>
              <a:t>Verb to have (have / has)</a:t>
            </a:r>
          </a:p>
          <a:p>
            <a:pPr algn="ctr" rtl="1"/>
            <a:r>
              <a:rPr sz="2900" b="0" i="0" lang="ar-EG" altLang="en-US">
                <a:solidFill>
                  <a:srgbClr val="FFFFFF"/>
                </a:solidFill>
                <a:latin typeface="Traditional Arabic"/>
              </a:rPr>
              <a:t>فعل الامتلاك</a:t>
            </a:r>
          </a:p>
        </p:txBody>
      </p:sp>
    </p:spTree>
  </p:cSld>
  <p:clrMapOvr>
    <a:masterClrMapping/>
  </p:clrMapOvr>
  <p:transition spd="med">
    <p:zoom dir="in"/>
  </p:transition>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482294"/>
                </a:solidFill>
                <a:latin typeface="Traditional Arabic"/>
              </a:rPr>
              <a:t>▶ He – She – It – الاسم المفرد + has</a:t>
            </a:r>
          </a:p>
          <a:p>
            <a:pPr rtl="1" algn="r">
              <a:spcAft>
                <a:spcPts val="600"/>
              </a:spcAft>
            </a:pPr>
            <a:r>
              <a:rPr sz="2100" b="0" i="0" lang="ar-EG" altLang="en-US">
                <a:solidFill>
                  <a:srgbClr val="1C2333"/>
                </a:solidFill>
                <a:latin typeface="Traditional Arabic"/>
              </a:rPr>
              <a:t>    نستخدم (has) مع المفرد.</a:t>
            </a:r>
          </a:p>
          <a:p>
            <a:pPr rtl="0" algn="l">
              <a:spcAft>
                <a:spcPts val="600"/>
              </a:spcAft>
            </a:pPr>
            <a:r>
              <a:rPr sz="2000" b="1" i="0" lang="en-US">
                <a:solidFill>
                  <a:srgbClr val="482294"/>
                </a:solidFill>
                <a:latin typeface="Segoe UI"/>
              </a:rPr>
              <a:t>▶ I – They – You – We – الاسم الجمع + have</a:t>
            </a:r>
          </a:p>
          <a:p>
            <a:pPr rtl="1" algn="r">
              <a:spcAft>
                <a:spcPts val="600"/>
              </a:spcAft>
            </a:pPr>
            <a:r>
              <a:rPr sz="2100" b="0" i="0" lang="ar-EG" altLang="en-US">
                <a:solidFill>
                  <a:srgbClr val="1C2333"/>
                </a:solidFill>
                <a:latin typeface="Traditional Arabic"/>
              </a:rPr>
              <a:t>    نستخدم (have) مع الجمع و I.</a:t>
            </a:r>
          </a:p>
          <a:p>
            <a:pPr rtl="0" algn="l">
              <a:spcAft>
                <a:spcPts val="600"/>
              </a:spcAft>
            </a:pPr>
            <a:r>
              <a:rPr sz="1700" b="0" i="1" lang="en-US">
                <a:solidFill>
                  <a:srgbClr val="5B6478"/>
                </a:solidFill>
                <a:latin typeface="Segoe UI"/>
              </a:rPr>
              <a:t>   e.g. She has a toy. – They have many books.</a:t>
            </a:r>
          </a:p>
        </p:txBody>
      </p:sp>
    </p:spTree>
  </p:cSld>
  <p:clrMapOvr>
    <a:masterClrMapping/>
  </p:clrMapOvr>
  <p:transition spd="med">
    <p:strips dir="ld"/>
  </p:transition>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482294"/>
                </a:solidFill>
                <a:latin typeface="Segoe UI"/>
              </a:rPr>
              <a:t>▶ He – She – It + doesn't have +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482294"/>
                </a:solidFill>
                <a:latin typeface="Segoe UI"/>
              </a:rPr>
              <a:t>▶ I – They – You – We + don't have + …</a:t>
            </a:r>
          </a:p>
          <a:p>
            <a:pPr rtl="1" algn="r">
              <a:spcAft>
                <a:spcPts val="600"/>
              </a:spcAft>
            </a:pPr>
            <a:r>
              <a:rPr sz="2100" b="0" i="0" lang="ar-EG" altLang="en-US">
                <a:solidFill>
                  <a:srgbClr val="1C2333"/>
                </a:solidFill>
                <a:latin typeface="Traditional Arabic"/>
              </a:rPr>
              <a:t>نفي الجمع.</a:t>
            </a:r>
          </a:p>
        </p:txBody>
      </p:sp>
    </p:spTree>
  </p:cSld>
  <p:clrMapOvr>
    <a:masterClrMapping/>
  </p:clrMapOvr>
  <p:transition spd="med">
    <p:wheel spokes="4"/>
  </p:transition>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482294"/>
                </a:solidFill>
                <a:latin typeface="Segoe UI"/>
              </a:rPr>
              <a:t>▶ Does + he / she / it + have + … ?</a:t>
            </a:r>
          </a:p>
          <a:p>
            <a:pPr rtl="1" algn="r">
              <a:spcAft>
                <a:spcPts val="600"/>
              </a:spcAft>
            </a:pPr>
            <a:r>
              <a:rPr sz="2100" b="0" i="0" lang="ar-EG" altLang="en-US">
                <a:solidFill>
                  <a:srgbClr val="1C2333"/>
                </a:solidFill>
                <a:latin typeface="Traditional Arabic"/>
              </a:rPr>
              <a:t>السؤال للمفرد.</a:t>
            </a:r>
          </a:p>
          <a:p>
            <a:pPr rtl="0" algn="l">
              <a:spcAft>
                <a:spcPts val="600"/>
              </a:spcAft>
            </a:pPr>
            <a:r>
              <a:rPr sz="2000" b="1" i="0" lang="en-US">
                <a:solidFill>
                  <a:srgbClr val="482294"/>
                </a:solidFill>
                <a:latin typeface="Segoe UI"/>
              </a:rPr>
              <a:t>▶ Do + I / they / you / we + have + … ?</a:t>
            </a:r>
          </a:p>
          <a:p>
            <a:pPr rtl="1" algn="r">
              <a:spcAft>
                <a:spcPts val="600"/>
              </a:spcAft>
            </a:pPr>
            <a:r>
              <a:rPr sz="2100" b="0" i="0" lang="ar-EG" altLang="en-US">
                <a:solidFill>
                  <a:srgbClr val="1C2333"/>
                </a:solidFill>
                <a:latin typeface="Traditional Arabic"/>
              </a:rPr>
              <a:t>السؤال للجمع.</a:t>
            </a:r>
          </a:p>
          <a:p>
            <a:pPr rtl="0" algn="l">
              <a:spcAft>
                <a:spcPts val="600"/>
              </a:spcAft>
            </a:pPr>
            <a:r>
              <a:rPr sz="1700" b="0" i="1" lang="en-US">
                <a:solidFill>
                  <a:srgbClr val="5B6478"/>
                </a:solidFill>
                <a:latin typeface="Segoe UI"/>
              </a:rPr>
              <a:t>   e.g. Yes, she does. / No, she doesn't. Yes, they do. / No, they don't.</a:t>
            </a:r>
          </a:p>
        </p:txBody>
      </p:sp>
    </p:spTree>
  </p:cSld>
  <p:clrMapOvr>
    <a:masterClrMapping/>
  </p:clrMapOvr>
  <p:transition spd="med">
    <p:pull dir="r"/>
  </p:transition>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482294"/>
                          </a:solidFill>
                          <a:latin typeface="Segoe UI"/>
                        </a:rPr>
                        <a:t>colors</a:t>
                      </a:r>
                    </a:p>
                  </a:txBody>
                  <a:tcPr>
                    <a:solidFill>
                      <a:srgbClr val="FFFFFF"/>
                    </a:solidFill>
                  </a:tcPr>
                </a:tc>
                <a:tc>
                  <a:txBody>
                    <a:bodyPr/>
                    <a:lstStyle/>
                    <a:p>
                      <a:pPr rtl="1" algn="r"/>
                      <a:r>
                        <a:rPr sz="1700" b="0" i="0" lang="ar-EG" altLang="en-US">
                          <a:solidFill>
                            <a:srgbClr val="1C2333"/>
                          </a:solidFill>
                          <a:latin typeface="Traditional Arabic"/>
                        </a:rPr>
                        <a:t>ألوان</a:t>
                      </a:r>
                    </a:p>
                  </a:txBody>
                  <a:tcPr>
                    <a:solidFill>
                      <a:srgbClr val="FFFFFF"/>
                    </a:solidFill>
                  </a:tcPr>
                </a:tc>
                <a:tc>
                  <a:txBody>
                    <a:bodyPr/>
                    <a:lstStyle/>
                    <a:p>
                      <a:pPr rtl="0" algn="l"/>
                      <a:r>
                        <a:rPr sz="1500" b="1" i="0" lang="en-US">
                          <a:solidFill>
                            <a:srgbClr val="482294"/>
                          </a:solidFill>
                          <a:latin typeface="Segoe UI"/>
                        </a:rPr>
                        <a:t>brown</a:t>
                      </a:r>
                    </a:p>
                  </a:txBody>
                  <a:tcPr>
                    <a:solidFill>
                      <a:srgbClr val="FFFFFF"/>
                    </a:solidFill>
                  </a:tcPr>
                </a:tc>
                <a:tc>
                  <a:txBody>
                    <a:bodyPr/>
                    <a:lstStyle/>
                    <a:p>
                      <a:pPr rtl="1" algn="r"/>
                      <a:r>
                        <a:rPr sz="1700" b="0" i="0" lang="ar-EG" altLang="en-US">
                          <a:solidFill>
                            <a:srgbClr val="1C2333"/>
                          </a:solidFill>
                          <a:latin typeface="Traditional Arabic"/>
                        </a:rPr>
                        <a:t>بني</a:t>
                      </a:r>
                    </a:p>
                  </a:txBody>
                  <a:tcPr>
                    <a:solidFill>
                      <a:srgbClr val="FFFFFF"/>
                    </a:solidFill>
                  </a:tcPr>
                </a:tc>
                <a:tc>
                  <a:txBody>
                    <a:bodyPr/>
                    <a:lstStyle/>
                    <a:p>
                      <a:pPr rtl="0" algn="l"/>
                      <a:r>
                        <a:rPr sz="1500" b="1" i="0" lang="en-US">
                          <a:solidFill>
                            <a:srgbClr val="482294"/>
                          </a:solidFill>
                          <a:latin typeface="Segoe UI"/>
                        </a:rPr>
                        <a:t>computer</a:t>
                      </a:r>
                    </a:p>
                  </a:txBody>
                  <a:tcPr>
                    <a:solidFill>
                      <a:srgbClr val="FFFFFF"/>
                    </a:solidFill>
                  </a:tcPr>
                </a:tc>
                <a:tc>
                  <a:txBody>
                    <a:bodyPr/>
                    <a:lstStyle/>
                    <a:p>
                      <a:pPr rtl="1" algn="r"/>
                      <a:r>
                        <a:rPr sz="1700" b="0" i="0" lang="ar-EG" altLang="en-US">
                          <a:solidFill>
                            <a:srgbClr val="1C2333"/>
                          </a:solidFill>
                          <a:latin typeface="Traditional Arabic"/>
                        </a:rPr>
                        <a:t>كمبيوتر</a:t>
                      </a:r>
                    </a:p>
                  </a:txBody>
                  <a:tcPr>
                    <a:solidFill>
                      <a:srgbClr val="FFFFFF"/>
                    </a:solidFill>
                  </a:tcPr>
                </a:tc>
              </a:tr>
              <a:tr h="384048">
                <a:tc>
                  <a:txBody>
                    <a:bodyPr/>
                    <a:lstStyle/>
                    <a:p>
                      <a:pPr rtl="0" algn="l"/>
                      <a:r>
                        <a:rPr sz="1500" b="1" i="0" lang="en-US">
                          <a:solidFill>
                            <a:srgbClr val="482294"/>
                          </a:solidFill>
                          <a:latin typeface="Segoe UI"/>
                        </a:rPr>
                        <a:t>red</a:t>
                      </a:r>
                    </a:p>
                  </a:txBody>
                  <a:tcPr>
                    <a:solidFill>
                      <a:srgbClr val="EEF3FA"/>
                    </a:solidFill>
                  </a:tcPr>
                </a:tc>
                <a:tc>
                  <a:txBody>
                    <a:bodyPr/>
                    <a:lstStyle/>
                    <a:p>
                      <a:pPr rtl="1" algn="r"/>
                      <a:r>
                        <a:rPr sz="1700" b="0" i="0" lang="ar-EG" altLang="en-US">
                          <a:solidFill>
                            <a:srgbClr val="1C2333"/>
                          </a:solidFill>
                          <a:latin typeface="Traditional Arabic"/>
                        </a:rPr>
                        <a:t>أحمر</a:t>
                      </a:r>
                    </a:p>
                  </a:txBody>
                  <a:tcPr>
                    <a:solidFill>
                      <a:srgbClr val="EEF3FA"/>
                    </a:solidFill>
                  </a:tcPr>
                </a:tc>
                <a:tc>
                  <a:txBody>
                    <a:bodyPr/>
                    <a:lstStyle/>
                    <a:p>
                      <a:pPr rtl="0" algn="l"/>
                      <a:r>
                        <a:rPr sz="1500" b="1" i="0" lang="en-US">
                          <a:solidFill>
                            <a:srgbClr val="482294"/>
                          </a:solidFill>
                          <a:latin typeface="Segoe UI"/>
                        </a:rPr>
                        <a:t>black</a:t>
                      </a:r>
                    </a:p>
                  </a:txBody>
                  <a:tcPr>
                    <a:solidFill>
                      <a:srgbClr val="EEF3FA"/>
                    </a:solidFill>
                  </a:tcPr>
                </a:tc>
                <a:tc>
                  <a:txBody>
                    <a:bodyPr/>
                    <a:lstStyle/>
                    <a:p>
                      <a:pPr rtl="1" algn="r"/>
                      <a:r>
                        <a:rPr sz="1700" b="0" i="0" lang="ar-EG" altLang="en-US">
                          <a:solidFill>
                            <a:srgbClr val="1C2333"/>
                          </a:solidFill>
                          <a:latin typeface="Traditional Arabic"/>
                        </a:rPr>
                        <a:t>أسود</a:t>
                      </a:r>
                    </a:p>
                  </a:txBody>
                  <a:tcPr>
                    <a:solidFill>
                      <a:srgbClr val="EEF3FA"/>
                    </a:solidFill>
                  </a:tcPr>
                </a:tc>
                <a:tc>
                  <a:txBody>
                    <a:bodyPr/>
                    <a:lstStyle/>
                    <a:p>
                      <a:pPr rtl="0" algn="l"/>
                      <a:r>
                        <a:rPr sz="1500" b="1" i="0" lang="en-US">
                          <a:solidFill>
                            <a:srgbClr val="482294"/>
                          </a:solidFill>
                          <a:latin typeface="Segoe UI"/>
                        </a:rPr>
                        <a:t>new</a:t>
                      </a:r>
                    </a:p>
                  </a:txBody>
                  <a:tcPr>
                    <a:solidFill>
                      <a:srgbClr val="EEF3FA"/>
                    </a:solidFill>
                  </a:tcPr>
                </a:tc>
                <a:tc>
                  <a:txBody>
                    <a:bodyPr/>
                    <a:lstStyle/>
                    <a:p>
                      <a:pPr rtl="1" algn="r"/>
                      <a:r>
                        <a:rPr sz="1700" b="0" i="0" lang="ar-EG" altLang="en-US">
                          <a:solidFill>
                            <a:srgbClr val="1C2333"/>
                          </a:solidFill>
                          <a:latin typeface="Traditional Arabic"/>
                        </a:rPr>
                        <a:t>جديد</a:t>
                      </a:r>
                    </a:p>
                  </a:txBody>
                  <a:tcPr>
                    <a:solidFill>
                      <a:srgbClr val="EEF3FA"/>
                    </a:solidFill>
                  </a:tcPr>
                </a:tc>
              </a:tr>
              <a:tr h="384048">
                <a:tc>
                  <a:txBody>
                    <a:bodyPr/>
                    <a:lstStyle/>
                    <a:p>
                      <a:pPr rtl="0" algn="l"/>
                      <a:r>
                        <a:rPr sz="1500" b="1" i="0" lang="en-US">
                          <a:solidFill>
                            <a:srgbClr val="482294"/>
                          </a:solidFill>
                          <a:latin typeface="Segoe UI"/>
                        </a:rPr>
                        <a:t>green</a:t>
                      </a:r>
                    </a:p>
                  </a:txBody>
                  <a:tcPr>
                    <a:solidFill>
                      <a:srgbClr val="FFFFFF"/>
                    </a:solidFill>
                  </a:tcPr>
                </a:tc>
                <a:tc>
                  <a:txBody>
                    <a:bodyPr/>
                    <a:lstStyle/>
                    <a:p>
                      <a:pPr rtl="1" algn="r"/>
                      <a:r>
                        <a:rPr sz="1700" b="0" i="0" lang="ar-EG" altLang="en-US">
                          <a:solidFill>
                            <a:srgbClr val="1C2333"/>
                          </a:solidFill>
                          <a:latin typeface="Traditional Arabic"/>
                        </a:rPr>
                        <a:t>أخضر</a:t>
                      </a:r>
                    </a:p>
                  </a:txBody>
                  <a:tcPr>
                    <a:solidFill>
                      <a:srgbClr val="FFFFFF"/>
                    </a:solidFill>
                  </a:tcPr>
                </a:tc>
                <a:tc>
                  <a:txBody>
                    <a:bodyPr/>
                    <a:lstStyle/>
                    <a:p>
                      <a:pPr rtl="0" algn="l"/>
                      <a:r>
                        <a:rPr sz="1500" b="1" i="0" lang="en-US">
                          <a:solidFill>
                            <a:srgbClr val="482294"/>
                          </a:solidFill>
                          <a:latin typeface="Segoe UI"/>
                        </a:rPr>
                        <a:t>fur</a:t>
                      </a:r>
                    </a:p>
                  </a:txBody>
                  <a:tcPr>
                    <a:solidFill>
                      <a:srgbClr val="FFFFFF"/>
                    </a:solidFill>
                  </a:tcPr>
                </a:tc>
                <a:tc>
                  <a:txBody>
                    <a:bodyPr/>
                    <a:lstStyle/>
                    <a:p>
                      <a:pPr rtl="1" algn="r"/>
                      <a:r>
                        <a:rPr sz="1700" b="0" i="0" lang="ar-EG" altLang="en-US">
                          <a:solidFill>
                            <a:srgbClr val="1C2333"/>
                          </a:solidFill>
                          <a:latin typeface="Traditional Arabic"/>
                        </a:rPr>
                        <a:t>فرو</a:t>
                      </a:r>
                    </a:p>
                  </a:txBody>
                  <a:tcPr>
                    <a:solidFill>
                      <a:srgbClr val="FFFFFF"/>
                    </a:solidFill>
                  </a:tcPr>
                </a:tc>
                <a:tc>
                  <a:txBody>
                    <a:bodyPr/>
                    <a:lstStyle/>
                    <a:p>
                      <a:pPr rtl="0" algn="l"/>
                      <a:r>
                        <a:rPr sz="1500" b="1" i="0" lang="en-US">
                          <a:solidFill>
                            <a:srgbClr val="482294"/>
                          </a:solidFill>
                          <a:latin typeface="Segoe UI"/>
                        </a:rPr>
                        <a:t>sister</a:t>
                      </a:r>
                    </a:p>
                  </a:txBody>
                  <a:tcPr>
                    <a:solidFill>
                      <a:srgbClr val="FFFFFF"/>
                    </a:solidFill>
                  </a:tcPr>
                </a:tc>
                <a:tc>
                  <a:txBody>
                    <a:bodyPr/>
                    <a:lstStyle/>
                    <a:p>
                      <a:pPr rtl="1" algn="r"/>
                      <a:r>
                        <a:rPr sz="1700" b="0" i="0" lang="ar-EG" altLang="en-US">
                          <a:solidFill>
                            <a:srgbClr val="1C2333"/>
                          </a:solidFill>
                          <a:latin typeface="Traditional Arabic"/>
                        </a:rPr>
                        <a:t>أخت</a:t>
                      </a:r>
                    </a:p>
                  </a:txBody>
                  <a:tcPr>
                    <a:solidFill>
                      <a:srgbClr val="FFFFFF"/>
                    </a:solidFill>
                  </a:tcPr>
                </a:tc>
              </a:tr>
              <a:tr h="384048">
                <a:tc>
                  <a:txBody>
                    <a:bodyPr/>
                    <a:lstStyle/>
                    <a:p>
                      <a:pPr rtl="0" algn="l"/>
                      <a:r>
                        <a:rPr sz="1500" b="1" i="0" lang="en-US">
                          <a:solidFill>
                            <a:srgbClr val="482294"/>
                          </a:solidFill>
                          <a:latin typeface="Segoe UI"/>
                        </a:rPr>
                        <a:t>blue</a:t>
                      </a:r>
                    </a:p>
                  </a:txBody>
                  <a:tcPr>
                    <a:solidFill>
                      <a:srgbClr val="EEF3FA"/>
                    </a:solidFill>
                  </a:tcPr>
                </a:tc>
                <a:tc>
                  <a:txBody>
                    <a:bodyPr/>
                    <a:lstStyle/>
                    <a:p>
                      <a:pPr rtl="1" algn="r"/>
                      <a:r>
                        <a:rPr sz="1700" b="0" i="0" lang="ar-EG" altLang="en-US">
                          <a:solidFill>
                            <a:srgbClr val="1C2333"/>
                          </a:solidFill>
                          <a:latin typeface="Traditional Arabic"/>
                        </a:rPr>
                        <a:t>أزرق</a:t>
                      </a:r>
                    </a:p>
                  </a:txBody>
                  <a:tcPr>
                    <a:solidFill>
                      <a:srgbClr val="EEF3FA"/>
                    </a:solidFill>
                  </a:tcPr>
                </a:tc>
                <a:tc>
                  <a:txBody>
                    <a:bodyPr/>
                    <a:lstStyle/>
                    <a:p>
                      <a:pPr rtl="0" algn="l"/>
                      <a:r>
                        <a:rPr sz="1500" b="1" i="0" lang="en-US">
                          <a:solidFill>
                            <a:srgbClr val="482294"/>
                          </a:solidFill>
                          <a:latin typeface="Segoe UI"/>
                        </a:rPr>
                        <a:t>money</a:t>
                      </a:r>
                    </a:p>
                  </a:txBody>
                  <a:tcPr>
                    <a:solidFill>
                      <a:srgbClr val="EEF3FA"/>
                    </a:solidFill>
                  </a:tcPr>
                </a:tc>
                <a:tc>
                  <a:txBody>
                    <a:bodyPr/>
                    <a:lstStyle/>
                    <a:p>
                      <a:pPr rtl="1" algn="r"/>
                      <a:r>
                        <a:rPr sz="1700" b="0" i="0" lang="ar-EG" altLang="en-US">
                          <a:solidFill>
                            <a:srgbClr val="1C2333"/>
                          </a:solidFill>
                          <a:latin typeface="Traditional Arabic"/>
                        </a:rPr>
                        <a:t>نقود</a:t>
                      </a:r>
                    </a:p>
                  </a:txBody>
                  <a:tcPr>
                    <a:solidFill>
                      <a:srgbClr val="EEF3FA"/>
                    </a:solidFill>
                  </a:tcPr>
                </a:tc>
                <a:tc>
                  <a:txBody>
                    <a:bodyPr/>
                    <a:lstStyle/>
                    <a:p>
                      <a:pPr rtl="0" algn="l"/>
                      <a:r>
                        <a:rPr sz="1500" b="1" i="0" lang="en-US">
                          <a:solidFill>
                            <a:srgbClr val="482294"/>
                          </a:solidFill>
                          <a:latin typeface="Segoe UI"/>
                        </a:rPr>
                        <a:t>brother</a:t>
                      </a:r>
                    </a:p>
                  </a:txBody>
                  <a:tcPr>
                    <a:solidFill>
                      <a:srgbClr val="EEF3FA"/>
                    </a:solidFill>
                  </a:tcPr>
                </a:tc>
                <a:tc>
                  <a:txBody>
                    <a:bodyPr/>
                    <a:lstStyle/>
                    <a:p>
                      <a:pPr rtl="1" algn="r"/>
                      <a:r>
                        <a:rPr sz="1700" b="0" i="0" lang="ar-EG" altLang="en-US">
                          <a:solidFill>
                            <a:srgbClr val="1C2333"/>
                          </a:solidFill>
                          <a:latin typeface="Traditional Arabic"/>
                        </a:rPr>
                        <a:t>أخ</a:t>
                      </a:r>
                    </a:p>
                  </a:txBody>
                  <a:tcPr>
                    <a:solidFill>
                      <a:srgbClr val="EEF3FA"/>
                    </a:solidFill>
                  </a:tcPr>
                </a:tc>
              </a:tr>
              <a:tr h="384048">
                <a:tc>
                  <a:txBody>
                    <a:bodyPr/>
                    <a:lstStyle/>
                    <a:p>
                      <a:pPr rtl="0" algn="l"/>
                      <a:r>
                        <a:rPr sz="1500" b="1" i="0" lang="en-US">
                          <a:solidFill>
                            <a:srgbClr val="482294"/>
                          </a:solidFill>
                          <a:latin typeface="Segoe UI"/>
                        </a:rPr>
                        <a:t>orange</a:t>
                      </a:r>
                    </a:p>
                  </a:txBody>
                  <a:tcPr>
                    <a:solidFill>
                      <a:srgbClr val="FFFFFF"/>
                    </a:solidFill>
                  </a:tcPr>
                </a:tc>
                <a:tc>
                  <a:txBody>
                    <a:bodyPr/>
                    <a:lstStyle/>
                    <a:p>
                      <a:pPr rtl="1" algn="r"/>
                      <a:r>
                        <a:rPr sz="1700" b="0" i="0" lang="ar-EG" altLang="en-US">
                          <a:solidFill>
                            <a:srgbClr val="1C2333"/>
                          </a:solidFill>
                          <a:latin typeface="Traditional Arabic"/>
                        </a:rPr>
                        <a:t>برتقالي</a:t>
                      </a:r>
                    </a:p>
                  </a:txBody>
                  <a:tcPr>
                    <a:solidFill>
                      <a:srgbClr val="FFFFFF"/>
                    </a:solidFill>
                  </a:tcPr>
                </a:tc>
                <a:tc>
                  <a:txBody>
                    <a:bodyPr/>
                    <a:lstStyle/>
                    <a:p>
                      <a:pPr rtl="0" algn="l"/>
                      <a:r>
                        <a:rPr sz="1500" b="1" i="0" lang="en-US">
                          <a:solidFill>
                            <a:srgbClr val="482294"/>
                          </a:solidFill>
                          <a:latin typeface="Segoe UI"/>
                        </a:rPr>
                        <a:t>water</a:t>
                      </a:r>
                    </a:p>
                  </a:txBody>
                  <a:tcPr>
                    <a:solidFill>
                      <a:srgbClr val="FFFFFF"/>
                    </a:solidFill>
                  </a:tcPr>
                </a:tc>
                <a:tc>
                  <a:txBody>
                    <a:bodyPr/>
                    <a:lstStyle/>
                    <a:p>
                      <a:pPr rtl="1" algn="r"/>
                      <a:r>
                        <a:rPr sz="1700" b="0" i="0" lang="ar-EG" altLang="en-US">
                          <a:solidFill>
                            <a:srgbClr val="1C2333"/>
                          </a:solidFill>
                          <a:latin typeface="Traditional Arabic"/>
                        </a:rPr>
                        <a:t>ماء</a:t>
                      </a:r>
                    </a:p>
                  </a:txBody>
                  <a:tcPr>
                    <a:solidFill>
                      <a:srgbClr val="FFFFFF"/>
                    </a:solidFill>
                  </a:tcPr>
                </a:tc>
                <a:tc>
                  <a:txBody>
                    <a:bodyPr/>
                    <a:lstStyle/>
                    <a:p>
                      <a:pPr rtl="0" algn="l"/>
                      <a:r>
                        <a:rPr sz="1500" b="1" i="0" lang="en-US">
                          <a:solidFill>
                            <a:srgbClr val="482294"/>
                          </a:solidFill>
                          <a:latin typeface="Segoe UI"/>
                        </a:rPr>
                        <a:t>ring</a:t>
                      </a:r>
                    </a:p>
                  </a:txBody>
                  <a:tcPr>
                    <a:solidFill>
                      <a:srgbClr val="FFFFFF"/>
                    </a:solidFill>
                  </a:tcPr>
                </a:tc>
                <a:tc>
                  <a:txBody>
                    <a:bodyPr/>
                    <a:lstStyle/>
                    <a:p>
                      <a:pPr rtl="1" algn="r"/>
                      <a:r>
                        <a:rPr sz="1700" b="0" i="0" lang="ar-EG" altLang="en-US">
                          <a:solidFill>
                            <a:srgbClr val="1C2333"/>
                          </a:solidFill>
                          <a:latin typeface="Traditional Arabic"/>
                        </a:rPr>
                        <a:t>خاتم</a:t>
                      </a:r>
                    </a:p>
                  </a:txBody>
                  <a:tcPr>
                    <a:solidFill>
                      <a:srgbClr val="FFFFFF"/>
                    </a:solidFill>
                  </a:tcPr>
                </a:tc>
              </a:tr>
              <a:tr h="384048">
                <a:tc>
                  <a:txBody>
                    <a:bodyPr/>
                    <a:lstStyle/>
                    <a:p>
                      <a:pPr rtl="0" algn="l"/>
                      <a:r>
                        <a:rPr sz="1500" b="1" i="0" lang="en-US">
                          <a:solidFill>
                            <a:srgbClr val="482294"/>
                          </a:solidFill>
                          <a:latin typeface="Segoe UI"/>
                        </a:rPr>
                        <a:t>white</a:t>
                      </a:r>
                    </a:p>
                  </a:txBody>
                  <a:tcPr>
                    <a:solidFill>
                      <a:srgbClr val="EEF3FA"/>
                    </a:solidFill>
                  </a:tcPr>
                </a:tc>
                <a:tc>
                  <a:txBody>
                    <a:bodyPr/>
                    <a:lstStyle/>
                    <a:p>
                      <a:pPr rtl="1" algn="r"/>
                      <a:r>
                        <a:rPr sz="1700" b="0" i="0" lang="ar-EG" altLang="en-US">
                          <a:solidFill>
                            <a:srgbClr val="1C2333"/>
                          </a:solidFill>
                          <a:latin typeface="Traditional Arabic"/>
                        </a:rPr>
                        <a:t>أبيض</a:t>
                      </a:r>
                    </a:p>
                  </a:txBody>
                  <a:tcPr>
                    <a:solidFill>
                      <a:srgbClr val="EEF3FA"/>
                    </a:solidFill>
                  </a:tcPr>
                </a:tc>
                <a:tc>
                  <a:txBody>
                    <a:bodyPr/>
                    <a:lstStyle/>
                    <a:p>
                      <a:pPr rtl="0" algn="l"/>
                      <a:r>
                        <a:rPr sz="1500" b="1" i="0" lang="en-US">
                          <a:solidFill>
                            <a:srgbClr val="482294"/>
                          </a:solidFill>
                          <a:latin typeface="Segoe UI"/>
                        </a:rPr>
                        <a:t>tail</a:t>
                      </a:r>
                    </a:p>
                  </a:txBody>
                  <a:tcPr>
                    <a:solidFill>
                      <a:srgbClr val="EEF3FA"/>
                    </a:solidFill>
                  </a:tcPr>
                </a:tc>
                <a:tc>
                  <a:txBody>
                    <a:bodyPr/>
                    <a:lstStyle/>
                    <a:p>
                      <a:pPr rtl="1" algn="r"/>
                      <a:r>
                        <a:rPr sz="1700" b="0" i="0" lang="ar-EG" altLang="en-US">
                          <a:solidFill>
                            <a:srgbClr val="1C2333"/>
                          </a:solidFill>
                          <a:latin typeface="Traditional Arabic"/>
                        </a:rPr>
                        <a:t>ذيل</a:t>
                      </a:r>
                    </a:p>
                  </a:txBody>
                  <a:tcPr>
                    <a:solidFill>
                      <a:srgbClr val="EEF3FA"/>
                    </a:solidFill>
                  </a:tcPr>
                </a:tc>
                <a:tc>
                  <a:txBody>
                    <a:bodyPr/>
                    <a:lstStyle/>
                    <a:p>
                      <a:pPr rtl="0" algn="l"/>
                      <a:r>
                        <a:rPr sz="1500" b="1" i="0" lang="en-US">
                          <a:solidFill>
                            <a:srgbClr val="482294"/>
                          </a:solidFill>
                          <a:latin typeface="Segoe UI"/>
                        </a:rPr>
                        <a:t>meat</a:t>
                      </a:r>
                    </a:p>
                  </a:txBody>
                  <a:tcPr>
                    <a:solidFill>
                      <a:srgbClr val="EEF3FA"/>
                    </a:solidFill>
                  </a:tcPr>
                </a:tc>
                <a:tc>
                  <a:txBody>
                    <a:bodyPr/>
                    <a:lstStyle/>
                    <a:p>
                      <a:pPr rtl="1" algn="r"/>
                      <a:r>
                        <a:rPr sz="1700" b="0" i="0" lang="ar-EG" altLang="en-US">
                          <a:solidFill>
                            <a:srgbClr val="1C2333"/>
                          </a:solidFill>
                          <a:latin typeface="Traditional Arabic"/>
                        </a:rPr>
                        <a:t>لحمة</a:t>
                      </a:r>
                    </a:p>
                  </a:txBody>
                  <a:tcPr>
                    <a:solidFill>
                      <a:srgbClr val="EEF3FA"/>
                    </a:solidFill>
                  </a:tcPr>
                </a:tc>
              </a:tr>
              <a:tr h="384048">
                <a:tc>
                  <a:txBody>
                    <a:bodyPr/>
                    <a:lstStyle/>
                    <a:p>
                      <a:pPr rtl="0" algn="l"/>
                      <a:r>
                        <a:rPr sz="1500" b="1" i="0" lang="en-US">
                          <a:solidFill>
                            <a:srgbClr val="482294"/>
                          </a:solidFill>
                          <a:latin typeface="Segoe UI"/>
                        </a:rPr>
                        <a:t>purple</a:t>
                      </a:r>
                    </a:p>
                  </a:txBody>
                  <a:tcPr>
                    <a:solidFill>
                      <a:srgbClr val="FFFFFF"/>
                    </a:solidFill>
                  </a:tcPr>
                </a:tc>
                <a:tc>
                  <a:txBody>
                    <a:bodyPr/>
                    <a:lstStyle/>
                    <a:p>
                      <a:pPr rtl="1" algn="r"/>
                      <a:r>
                        <a:rPr sz="1700" b="0" i="0" lang="ar-EG" altLang="en-US">
                          <a:solidFill>
                            <a:srgbClr val="1C2333"/>
                          </a:solidFill>
                          <a:latin typeface="Traditional Arabic"/>
                        </a:rPr>
                        <a:t>بنفسجي</a:t>
                      </a:r>
                    </a:p>
                  </a:txBody>
                  <a:tcPr>
                    <a:solidFill>
                      <a:srgbClr val="FFFFFF"/>
                    </a:solidFill>
                  </a:tcPr>
                </a:tc>
                <a:tc>
                  <a:txBody>
                    <a:bodyPr/>
                    <a:lstStyle/>
                    <a:p>
                      <a:pPr rtl="0" algn="l"/>
                      <a:r>
                        <a:rPr sz="1500" b="1" i="0" lang="en-US">
                          <a:solidFill>
                            <a:srgbClr val="482294"/>
                          </a:solidFill>
                          <a:latin typeface="Segoe UI"/>
                        </a:rPr>
                        <a:t>wing</a:t>
                      </a:r>
                    </a:p>
                  </a:txBody>
                  <a:tcPr>
                    <a:solidFill>
                      <a:srgbClr val="FFFFFF"/>
                    </a:solidFill>
                  </a:tcPr>
                </a:tc>
                <a:tc>
                  <a:txBody>
                    <a:bodyPr/>
                    <a:lstStyle/>
                    <a:p>
                      <a:pPr rtl="1" algn="r"/>
                      <a:r>
                        <a:rPr sz="1700" b="0" i="0" lang="ar-EG" altLang="en-US">
                          <a:solidFill>
                            <a:srgbClr val="1C2333"/>
                          </a:solidFill>
                          <a:latin typeface="Traditional Arabic"/>
                        </a:rPr>
                        <a:t>جناح</a:t>
                      </a:r>
                    </a:p>
                  </a:txBody>
                  <a:tcPr>
                    <a:solidFill>
                      <a:srgbClr val="FFFFFF"/>
                    </a:solidFill>
                  </a:tcPr>
                </a:tc>
                <a:tc>
                  <a:txBody>
                    <a:bodyPr/>
                    <a:lstStyle/>
                    <a:p>
                      <a:pPr rtl="0" algn="l"/>
                      <a:r>
                        <a:rPr sz="1500" b="1" i="0" lang="en-US">
                          <a:solidFill>
                            <a:srgbClr val="482294"/>
                          </a:solidFill>
                          <a:latin typeface="Segoe UI"/>
                        </a:rPr>
                        <a:t>milk</a:t>
                      </a:r>
                    </a:p>
                  </a:txBody>
                  <a:tcPr>
                    <a:solidFill>
                      <a:srgbClr val="FFFFFF"/>
                    </a:solidFill>
                  </a:tcPr>
                </a:tc>
                <a:tc>
                  <a:txBody>
                    <a:bodyPr/>
                    <a:lstStyle/>
                    <a:p>
                      <a:pPr rtl="1" algn="r"/>
                      <a:r>
                        <a:rPr sz="1700" b="0" i="0" lang="ar-EG" altLang="en-US">
                          <a:solidFill>
                            <a:srgbClr val="1C2333"/>
                          </a:solidFill>
                          <a:latin typeface="Traditional Arabic"/>
                        </a:rPr>
                        <a:t>لبن</a:t>
                      </a:r>
                    </a:p>
                  </a:txBody>
                  <a:tcPr>
                    <a:solidFill>
                      <a:srgbClr val="FFFFFF"/>
                    </a:solidFill>
                  </a:tcPr>
                </a:tc>
              </a:tr>
              <a:tr h="384048">
                <a:tc>
                  <a:txBody>
                    <a:bodyPr/>
                    <a:lstStyle/>
                    <a:p>
                      <a:pPr rtl="0" algn="l"/>
                      <a:r>
                        <a:rPr sz="1500" b="1" i="0" lang="en-US">
                          <a:solidFill>
                            <a:srgbClr val="482294"/>
                          </a:solidFill>
                          <a:latin typeface="Segoe UI"/>
                        </a:rPr>
                        <a:t>gray</a:t>
                      </a:r>
                    </a:p>
                  </a:txBody>
                  <a:tcPr>
                    <a:solidFill>
                      <a:srgbClr val="EEF3FA"/>
                    </a:solidFill>
                  </a:tcPr>
                </a:tc>
                <a:tc>
                  <a:txBody>
                    <a:bodyPr/>
                    <a:lstStyle/>
                    <a:p>
                      <a:pPr rtl="1" algn="r"/>
                      <a:r>
                        <a:rPr sz="1700" b="0" i="0" lang="ar-EG" altLang="en-US">
                          <a:solidFill>
                            <a:srgbClr val="1C2333"/>
                          </a:solidFill>
                          <a:latin typeface="Traditional Arabic"/>
                        </a:rPr>
                        <a:t>رمادي</a:t>
                      </a:r>
                    </a:p>
                  </a:txBody>
                  <a:tcPr>
                    <a:solidFill>
                      <a:srgbClr val="EEF3FA"/>
                    </a:solidFill>
                  </a:tcPr>
                </a:tc>
                <a:tc>
                  <a:txBody>
                    <a:bodyPr/>
                    <a:lstStyle/>
                    <a:p>
                      <a:pPr rtl="0" algn="l"/>
                      <a:r>
                        <a:rPr sz="1500" b="1" i="0" lang="en-US">
                          <a:solidFill>
                            <a:srgbClr val="482294"/>
                          </a:solidFill>
                          <a:latin typeface="Segoe UI"/>
                        </a:rPr>
                        <a:t>friend</a:t>
                      </a:r>
                    </a:p>
                  </a:txBody>
                  <a:tcPr>
                    <a:solidFill>
                      <a:srgbClr val="EEF3FA"/>
                    </a:solidFill>
                  </a:tcPr>
                </a:tc>
                <a:tc>
                  <a:txBody>
                    <a:bodyPr/>
                    <a:lstStyle/>
                    <a:p>
                      <a:pPr rtl="1" algn="r"/>
                      <a:r>
                        <a:rPr sz="1700" b="0" i="0" lang="ar-EG" altLang="en-US">
                          <a:solidFill>
                            <a:srgbClr val="1C2333"/>
                          </a:solidFill>
                          <a:latin typeface="Traditional Arabic"/>
                        </a:rPr>
                        <a:t>صديق</a:t>
                      </a:r>
                    </a:p>
                  </a:txBody>
                  <a:tcPr>
                    <a:solidFill>
                      <a:srgbClr val="EEF3FA"/>
                    </a:solidFill>
                  </a:tcPr>
                </a:tc>
                <a:tc>
                  <a:txBody>
                    <a:bodyPr/>
                    <a:lstStyle/>
                    <a:p>
                      <a:pPr rtl="0" algn="l"/>
                      <a:r>
                        <a:rPr sz="1500" b="1" i="0" lang="en-US">
                          <a:solidFill>
                            <a:srgbClr val="482294"/>
                          </a:solidFill>
                          <a:latin typeface="Segoe UI"/>
                        </a:rPr>
                        <a:t>doll</a:t>
                      </a:r>
                    </a:p>
                  </a:txBody>
                  <a:tcPr>
                    <a:solidFill>
                      <a:srgbClr val="EEF3FA"/>
                    </a:solidFill>
                  </a:tcPr>
                </a:tc>
                <a:tc>
                  <a:txBody>
                    <a:bodyPr/>
                    <a:lstStyle/>
                    <a:p>
                      <a:pPr rtl="1" algn="r"/>
                      <a:r>
                        <a:rPr sz="1700" b="0" i="0" lang="ar-EG" altLang="en-US">
                          <a:solidFill>
                            <a:srgbClr val="1C2333"/>
                          </a:solidFill>
                          <a:latin typeface="Traditional Arabic"/>
                        </a:rPr>
                        <a:t>دمية</a:t>
                      </a:r>
                    </a:p>
                  </a:txBody>
                  <a:tcPr>
                    <a:solidFill>
                      <a:srgbClr val="EEF3FA"/>
                    </a:solidFill>
                  </a:tcPr>
                </a:tc>
              </a:tr>
            </a:tbl>
          </a:graphicData>
        </a:graphic>
      </p:graphicFrame>
    </p:spTree>
  </p:cSld>
  <p:clrMapOvr>
    <a:masterClrMapping/>
  </p:clrMapOvr>
  <p:transition spd="med">
    <p:random/>
  </p:transition>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768096"/>
        </p:xfrm>
        <a:graphic>
          <a:graphicData uri="http://schemas.openxmlformats.org/drawingml/2006/table">
            <a:tbl>
              <a:tblPr firstRow="1" bandRow="1">
                <a:tableStyleId>{5C22544A-7EE6-4342-B048-85BDC9FD1C3A}</a:tableStyleId>
              </a:tblPr>
              <a:tblGrid>
                <a:gridCol w="2819323"/>
                <a:gridCol w="2819323"/>
                <a:gridCol w="2819323"/>
                <a:gridCol w="2819326"/>
              </a:tblGrid>
              <a:tr h="384048">
                <a:tc>
                  <a:txBody>
                    <a:bodyPr/>
                    <a:lstStyle/>
                    <a:p>
                      <a:pPr rtl="0" algn="l"/>
                      <a:r>
                        <a:rPr sz="1500" b="1" i="0" lang="en-US">
                          <a:solidFill>
                            <a:srgbClr val="482294"/>
                          </a:solidFill>
                          <a:latin typeface="Segoe UI"/>
                        </a:rPr>
                        <a:t>house</a:t>
                      </a:r>
                    </a:p>
                  </a:txBody>
                  <a:tcPr>
                    <a:solidFill>
                      <a:srgbClr val="FFFFFF"/>
                    </a:solidFill>
                  </a:tcPr>
                </a:tc>
                <a:tc>
                  <a:txBody>
                    <a:bodyPr/>
                    <a:lstStyle/>
                    <a:p>
                      <a:pPr rtl="1" algn="r"/>
                      <a:r>
                        <a:rPr sz="1700" b="0" i="0" lang="ar-EG" altLang="en-US">
                          <a:solidFill>
                            <a:srgbClr val="1C2333"/>
                          </a:solidFill>
                          <a:latin typeface="Traditional Arabic"/>
                        </a:rPr>
                        <a:t>منزل</a:t>
                      </a:r>
                    </a:p>
                  </a:txBody>
                  <a:tcPr>
                    <a:solidFill>
                      <a:srgbClr val="FFFFFF"/>
                    </a:solidFill>
                  </a:tcPr>
                </a:tc>
                <a:tc>
                  <a:txBody>
                    <a:bodyPr/>
                    <a:lstStyle/>
                    <a:p>
                      <a:pPr rtl="0" algn="l"/>
                      <a:r>
                        <a:rPr sz="1500" b="1" i="0" lang="en-US">
                          <a:solidFill>
                            <a:srgbClr val="482294"/>
                          </a:solidFill>
                          <a:latin typeface="Segoe UI"/>
                        </a:rPr>
                        <a:t>shoes</a:t>
                      </a:r>
                    </a:p>
                  </a:txBody>
                  <a:tcPr>
                    <a:solidFill>
                      <a:srgbClr val="FFFFFF"/>
                    </a:solidFill>
                  </a:tcPr>
                </a:tc>
                <a:tc>
                  <a:txBody>
                    <a:bodyPr/>
                    <a:lstStyle/>
                    <a:p>
                      <a:pPr rtl="1" algn="r"/>
                      <a:r>
                        <a:rPr sz="1700" b="0" i="0" lang="ar-EG" altLang="en-US">
                          <a:solidFill>
                            <a:srgbClr val="1C2333"/>
                          </a:solidFill>
                          <a:latin typeface="Traditional Arabic"/>
                        </a:rPr>
                        <a:t>حذاء</a:t>
                      </a:r>
                    </a:p>
                  </a:txBody>
                  <a:tcPr>
                    <a:solidFill>
                      <a:srgbClr val="FFFFFF"/>
                    </a:solidFill>
                  </a:tcPr>
                </a:tc>
              </a:tr>
              <a:tr h="384048">
                <a:tc>
                  <a:txBody>
                    <a:bodyPr/>
                    <a:lstStyle/>
                    <a:p>
                      <a:pPr rtl="0" algn="l"/>
                      <a:r>
                        <a:rPr sz="1500" b="1" i="0" lang="en-US">
                          <a:solidFill>
                            <a:srgbClr val="482294"/>
                          </a:solidFill>
                          <a:latin typeface="Segoe UI"/>
                        </a:rPr>
                        <a:t>pants</a:t>
                      </a:r>
                    </a:p>
                  </a:txBody>
                  <a:tcPr>
                    <a:solidFill>
                      <a:srgbClr val="EEF3FA"/>
                    </a:solidFill>
                  </a:tcPr>
                </a:tc>
                <a:tc>
                  <a:txBody>
                    <a:bodyPr/>
                    <a:lstStyle/>
                    <a:p>
                      <a:pPr rtl="1" algn="r"/>
                      <a:r>
                        <a:rPr sz="1700" b="0" i="0" lang="ar-EG" altLang="en-US">
                          <a:solidFill>
                            <a:srgbClr val="1C2333"/>
                          </a:solidFill>
                          <a:latin typeface="Traditional Arabic"/>
                        </a:rPr>
                        <a:t>بنطلون</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A) Choose (have – has)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 a blue car.   (have – has)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have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My parents …… a new house.   (have – has)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have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They …… many books.   (have – has)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have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It …… a long tail.   (have – has)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We …… some oranges.   (have – has)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have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She …… a toy.   (have – has)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You …… a book.   (have – has)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have</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A) Choose (have – has)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father …… a car.   (have – has)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has</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have a pen.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don't have a pen.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They have oranges.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don't have oranges.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You have a flower.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 don't have a flower.</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My sisters have skirts.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sisters don't have skirts.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We have cats.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don't have cats.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Rody and Sara have toys.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Rody and Sara don't have toys.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I have a lion.</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don't have a lion.</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It has a long tail.</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doesn't have a long tail.</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He has a book.</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doesn't have a book.</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My mum has a car.</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mum doesn't have a car.</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Rody has a toy.</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Rody doesn't have a toy.</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She has an orange.</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doesn't have an orange.</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My sister has a ring.</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sister doesn't have a ring.</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He has a bike.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he have a bike?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has a toy.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she have a toy?</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Leen has a pen.</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Leen have a pen?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It has a long tail.</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it have a long tail?</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A cat has a rat.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a cat have a rat?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He has a book.</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he have a book?</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She has an orange.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she have an orange?</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Rawan has blue eyes.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Rawan have blue eyes?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 have a camera.</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 camera?</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They have cats.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they have cats?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We have pencils.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pencils?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You have a dress.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I have a dress?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Lions have meat.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lions have meat?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 have blue eyes.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blue eyes?</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They have hats.</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have hats?</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We have birds.</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have birds?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(1/5)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Do you have a car?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Does she have a bike?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Do they have dogs?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Does it have a tail?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does. / No, it doesn't.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Does she have a pen?</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(2/5)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Do we have books?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we do. / No, we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Does Rody have a toy?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Do I have a house?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you do. / No, you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Does he have a cat?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Do they have pencils?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(3/5)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Does she have a skirt?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Does she have a skirt?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Do they have cars?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Do lions have meat?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Does Sara have pants?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(4/5)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Does it have milk?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does. / No, it doesn't.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Do you have oranges?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Do birds have nests?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Does Leen have a doll?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Do you have an apple?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(5/5)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21) Does it have fur?</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does. / No, it doesn't.</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Does your father have a car?</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Yes, I have a car.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 car?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No, she doesn't have a cat.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she have a cat?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Yes, they have books.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they have books?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No, it doesn't have milk.</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it have milk?</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Yes, my sister has a dress.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your sister have a dress?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No, we don't have flowers.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flowers?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Yes, he has a bike.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he have a bike?</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No, you don't have a toy.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I have a toy?</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Yes, I have a camera.</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 camera?</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No, they don't have pens.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they have pens?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No, it doesn't have meat.</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it have meat?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No, he doesn't have a fish.</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he have a fish?</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Yes, my parents have cars.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your parents have cars?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No, I don't have a plant.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 plant?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Yes, it has a long tail.</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it have a long tail?</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No, they don't have ducks.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they have ducks?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Yes, you have pens.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I have pens?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No, we don't have money.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money?</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Yes, Rody has a bag.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Rody have a bag?</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Yes, my brother has pants.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your brother have pants?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No, I don't have rulers.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rulers?</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Yes, I have animals.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have animals?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have a car.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أنا أمتلك سيارة.</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He has a dog.</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هو يمتلك كلباً.</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They don't have books.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هم لا يمتلكون كتباً.</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Mido has a bag.</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ميدو لديه حقيبة.</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A cat has a long tail.</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القطة لها ذيل طويل.</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We have a new car.</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لدينا سيارة جديدة.</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You have animals.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أنت تمتلك حيوانات.</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She has a flower.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هي لديها زهرة.</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It doesn't have wings.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ليس له أجنحة.</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Does he have a bird?</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لديه طائر؟</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Do you have a pen?</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لديك قلم؟</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This cow has four legs.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هذه البقرة لها أربع أرجل.</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 have two arms.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لديّ ذراعان.</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He doesn't have milk.</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ليس لديه حليب.</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Do you have a sister?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لديك أخت؟</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We don't have water.</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ليس لدينا ماء.</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Does she have a dress?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لديها فستان؟</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He has black shoes.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لديه حذاء أسود.</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She doesn't have toys.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ليس لديها لُعَب.</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It has blue eyes.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له عينان زرقاوان.</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They don't have milk.</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ليس لديهم حليب.</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I have a blue jacket.</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لديّ جاكيت أزرق.</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(1/5)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have – car – don't – a – I.</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have a car.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doesn't – She – skirt – have – a.</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have a skirt.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oranges – They – have – don't.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have oranges.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have – they – Do – milk?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have milk?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ball – has – a – He.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has a ball.</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(2/5)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eyes – Does – have – it?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have eyes?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meat – lions – Do – have?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lions have meat?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apple – I – have – an – don't.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have an apple.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have – pen – You – a – don't.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don't have a pen.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he – Does – key – a – have?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have a key?</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(3/5)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skirt – she – a – Does – have?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have a skirt?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he – Does – a – watch – have?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have a watch?</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dress – have – don't – I – a.</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have a dress.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books – he – Does – two – have?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have two books?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blue – She – eyes – has.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has blue eyes.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(4/5)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doesn't – She – a – have – pen.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have a pen.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have – red – We – bags.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have red bags.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a – brother – My – has – car.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has a car.</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dog – sister – My – has – a.</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has a dog.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bird – have – I – a.</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have a bird.</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(5/5)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21) have – They – don't – pens.</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have pens.</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long – has – It – tail – a.</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has a long tail.</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car – My – has – mum – a.</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has a car.</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have – she – What – does?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she have?</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doesn't have a bike.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don't have a bike.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don't have a cat.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 doesn't have a cat.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We don't has books.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don't have books.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Does you have an orange?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an orange?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It doesn't has a long tail.</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 doesn't have a long tail.</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My parents has a new house.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parents have a new house.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Do your mum have a camera?</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your mum have a camera?</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My mum doesn't has a car.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 mum doesn't have a car.</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Lions doesn't have meat.</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Lions don't have meat.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They doesn't have pens.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don't have pens.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Camels has strong legs.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Camels have strong legs.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He don't have a shirt.</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 doesn't have a shirt.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You doesn't have a camera.</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 don't have a camera.</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Do they has a bag?</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they have a bag?</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Does it has milk?</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have milk?</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Does she has a skirt?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have a skirt?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You do have a bird?</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have a bird?</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She have doesn't a dress.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have a dress.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I) Rewrite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have a camera. (She)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has a camera.</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You have blue eyes. (He)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has blue eyes.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have a new house. (My father)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father has a new house.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don't have books. (She)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have books.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Lions have strong teeth. (A lion)</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 lion has strong teeth.</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I) Rewrite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 don't have a shirt. (He)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have a shirt.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parents have glasses. (My mum)</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has glasses.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Rody has a toy. (They)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have a toy.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brother has a camera. (not)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doesn't have a camera.</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Birds have two wings. (A bird)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 bird has two wings.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I) Rewrite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 have blue eyes. (?)</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have blue eyes?</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J) Choose the correct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She …… a beautiful dress.   (have – has – is)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 you got any question?   (Is – Do – Does)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 a big family.   (have – is – has)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have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 a bike.   (don't have – doesn't have – isn't have)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doesn't have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My parents …… a car.   (have – has – was)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J) Choose the correct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 he have a pen?   (Do – Is – Does)</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We …… have any milk.   (doesn't – don't – weren't)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don't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What …… you have for breakfast?   (do – does – is)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 he have a bike?   (Does – Do – Is)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K)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What …… you have for breakfast?</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What do you have for breakfast?</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I …… cheese and eggs.</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I have cheese and eggs.</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Do you have coffee for breakfast?</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Do you have coffee for breakfast?</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Leen: ……</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Leen: No, I don't. I have milk.</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Lst>
  </p:timing>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K)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How …… you?</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How are you?</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Fine, …… you.</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Fine, thank you.</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 you have a pen?</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Do you have a pen?</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Yes, I …… a pen.</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Yes, I have a pen.</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How many pens do you …… ?</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How many pens do you have ?</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I have 3 pens.</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I have 3 pens.</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Thank you.</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Thank you.</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You are welcome.</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You are welcome.</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Translate into English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 هل هو عنده خاتم؟</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he have a ring?</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2) أنا عندي برتقالة.</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have an orange.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3) هل هو عنده تفاحة؟</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he have an apple?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4) هم ليس عندهم كلاب.</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 don't have dogs.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5) هل أنت عندك نظارة؟</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glasses?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6) أنا ليس عندي قلم جاف.</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don't have a pen.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7) نحن ليس عندنا أقلام رصاص.</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don't have pencils.</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Translate into English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8) هل أنت عندك أسد؟</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 lion?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9) هل هي عندها خاتم؟</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she have a ring?</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10) أنا عندي صديق.</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 have a friend.</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11) نحن عندنا كتب.</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 have books.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12) هل أنت عندك أخت؟</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a sister?</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13) هل هي عندها كمبيوتر؟</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Does she have a computer?</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1" algn="r"/>
            <a:r>
              <a:rPr sz="1900" b="0" i="0" lang="ar-EG" altLang="en-US">
                <a:solidFill>
                  <a:srgbClr val="1C2333"/>
                </a:solidFill>
                <a:latin typeface="Traditional Arabic"/>
              </a:rPr>
              <a:t>14) هل أنتم عندكم أصدقاء؟</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Do you have friends?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Translate into English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15) أنا ليس عندي ماء.</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have water.</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16) القطط ليس عندها لبن.</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Cats don't have milk.</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17) هي عندها شمسية.</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has an umbrella.</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11</a:t>
            </a:r>
          </a:p>
          <a:p>
            <a:pPr algn="ctr" rtl="0"/>
            <a:r>
              <a:rPr sz="4600" b="1" i="0" lang="en-US">
                <a:solidFill>
                  <a:srgbClr val="FFFFFF"/>
                </a:solidFill>
                <a:latin typeface="Segoe UI"/>
              </a:rPr>
              <a:t>Pronouns</a:t>
            </a:r>
          </a:p>
          <a:p>
            <a:pPr algn="ctr" rtl="1"/>
            <a:r>
              <a:rPr sz="2900" b="0" i="0" lang="ar-EG" altLang="en-US">
                <a:solidFill>
                  <a:srgbClr val="FFFFFF"/>
                </a:solidFill>
                <a:latin typeface="Traditional Arabic"/>
              </a:rPr>
              <a:t>الضمائر</a:t>
            </a:r>
          </a:p>
        </p:txBody>
      </p:sp>
    </p:spTree>
  </p:cSld>
  <p:clrMapOvr>
    <a:masterClrMapping/>
  </p:clrMapOvr>
  <p:transition spd="med">
    <p:zoom dir="in"/>
  </p:transition>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Important notes — ملاحظات مهمة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800" b="0" i="0" lang="en-US">
                <a:solidFill>
                  <a:srgbClr val="1C2333"/>
                </a:solidFill>
                <a:latin typeface="Segoe UI"/>
              </a:rPr>
              <a:t>• Subject pronouns → first ضمائر الفاعل تأتي في أول الكلام. She likes him.</a:t>
            </a:r>
          </a:p>
          <a:p>
            <a:pPr rtl="0" algn="l">
              <a:spcAft>
                <a:spcPts val="600"/>
              </a:spcAft>
            </a:pPr>
            <a:r>
              <a:rPr sz="1800" b="0" i="0" lang="en-US">
                <a:solidFill>
                  <a:srgbClr val="1C2333"/>
                </a:solidFill>
                <a:latin typeface="Segoe UI"/>
              </a:rPr>
              <a:t>• Object pronouns → after the verb or a preposition ضمائر المفعول تأتي بعد الفعل الأساسي أو بعد حرف الجر. I saw them. – Look at me.</a:t>
            </a:r>
          </a:p>
          <a:p>
            <a:pPr rtl="0" algn="l">
              <a:spcAft>
                <a:spcPts val="600"/>
              </a:spcAft>
            </a:pPr>
            <a:r>
              <a:rPr sz="1800" b="0" i="0" lang="en-US">
                <a:solidFill>
                  <a:srgbClr val="1C2333"/>
                </a:solidFill>
                <a:latin typeface="Segoe UI"/>
              </a:rPr>
              <a:t>• Possessive adjectives + noun صفات الملكية تأتي قبل الاسم. This is my book.</a:t>
            </a:r>
          </a:p>
          <a:p>
            <a:pPr rtl="1" algn="r">
              <a:spcAft>
                <a:spcPts val="600"/>
              </a:spcAft>
            </a:pPr>
            <a:r>
              <a:rPr sz="2100" b="0" i="0" lang="ar-EG" altLang="en-US">
                <a:solidFill>
                  <a:srgbClr val="1C2333"/>
                </a:solidFill>
                <a:latin typeface="Traditional Arabic"/>
              </a:rPr>
              <a:t>• Possessive pronouns → at the end ضمائر الملكية تأتي في نهاية الجملة ولا يأتي بعدها اسم. This book is mine.</a:t>
            </a:r>
          </a:p>
          <a:p>
            <a:pPr rtl="1" algn="r">
              <a:spcAft>
                <a:spcPts val="600"/>
              </a:spcAft>
            </a:pPr>
            <a:r>
              <a:rPr sz="2100" b="0" i="0" lang="ar-EG" altLang="en-US">
                <a:solidFill>
                  <a:srgbClr val="1C2333"/>
                </a:solidFill>
                <a:latin typeface="Traditional Arabic"/>
              </a:rPr>
              <a:t>• Reflexive pronouns → at the end (by + myself) الضمائر المنعكسة تأتي في نهاية الجملة، وإذا بدأت الجملة بفعل في المصدر نستخدم yourself / yourselves، ومع الجمع غير العاقل نستخدم themselves. I do homework by myself.</a:t>
            </a:r>
          </a:p>
        </p:txBody>
      </p:sp>
    </p:spTree>
  </p:cSld>
  <p:clrMapOvr>
    <a:masterClrMapping/>
  </p:clrMapOvr>
  <p:transition spd="med">
    <p:wedge/>
  </p:transition>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127248"/>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47472">
                <a:tc>
                  <a:txBody>
                    <a:bodyPr/>
                    <a:lstStyle/>
                    <a:p>
                      <a:pPr rtl="1" algn="r"/>
                      <a:r>
                        <a:rPr sz="1700" b="1" i="0" lang="ar-EG" altLang="en-US">
                          <a:solidFill>
                            <a:srgbClr val="FFFFFF"/>
                          </a:solidFill>
                          <a:latin typeface="Traditional Arabic"/>
                        </a:rPr>
                        <a:t>ضمائر الفاعل</a:t>
                      </a:r>
                    </a:p>
                  </a:txBody>
                  <a:tcPr>
                    <a:solidFill>
                      <a:srgbClr val="942294"/>
                    </a:solidFill>
                  </a:tcPr>
                </a:tc>
                <a:tc>
                  <a:txBody>
                    <a:bodyPr/>
                    <a:lstStyle/>
                    <a:p>
                      <a:pPr rtl="1" algn="r"/>
                      <a:r>
                        <a:rPr sz="1700" b="1" i="0" lang="ar-EG" altLang="en-US">
                          <a:solidFill>
                            <a:srgbClr val="FFFFFF"/>
                          </a:solidFill>
                          <a:latin typeface="Traditional Arabic"/>
                        </a:rPr>
                        <a:t>ضمائر المفعول</a:t>
                      </a:r>
                    </a:p>
                  </a:txBody>
                  <a:tcPr>
                    <a:solidFill>
                      <a:srgbClr val="942294"/>
                    </a:solidFill>
                  </a:tcPr>
                </a:tc>
                <a:tc>
                  <a:txBody>
                    <a:bodyPr/>
                    <a:lstStyle/>
                    <a:p>
                      <a:pPr rtl="1" algn="r"/>
                      <a:r>
                        <a:rPr sz="1700" b="1" i="0" lang="ar-EG" altLang="en-US">
                          <a:solidFill>
                            <a:srgbClr val="FFFFFF"/>
                          </a:solidFill>
                          <a:latin typeface="Traditional Arabic"/>
                        </a:rPr>
                        <a:t>صفات الملكية</a:t>
                      </a:r>
                    </a:p>
                  </a:txBody>
                  <a:tcPr>
                    <a:solidFill>
                      <a:srgbClr val="942294"/>
                    </a:solidFill>
                  </a:tcPr>
                </a:tc>
                <a:tc>
                  <a:txBody>
                    <a:bodyPr/>
                    <a:lstStyle/>
                    <a:p>
                      <a:pPr rtl="1" algn="r"/>
                      <a:r>
                        <a:rPr sz="1700" b="1" i="0" lang="ar-EG" altLang="en-US">
                          <a:solidFill>
                            <a:srgbClr val="FFFFFF"/>
                          </a:solidFill>
                          <a:latin typeface="Traditional Arabic"/>
                        </a:rPr>
                        <a:t>ضمائر الملكية</a:t>
                      </a:r>
                    </a:p>
                  </a:txBody>
                  <a:tcPr>
                    <a:solidFill>
                      <a:srgbClr val="942294"/>
                    </a:solidFill>
                  </a:tcPr>
                </a:tc>
                <a:tc>
                  <a:txBody>
                    <a:bodyPr/>
                    <a:lstStyle/>
                    <a:p>
                      <a:pPr rtl="1" algn="r"/>
                      <a:r>
                        <a:rPr sz="1700" b="1" i="0" lang="ar-EG" altLang="en-US">
                          <a:solidFill>
                            <a:srgbClr val="FFFFFF"/>
                          </a:solidFill>
                          <a:latin typeface="Traditional Arabic"/>
                        </a:rPr>
                        <a:t>الضمائر المنعكسة</a:t>
                      </a:r>
                    </a:p>
                  </a:txBody>
                  <a:tcPr>
                    <a:solidFill>
                      <a:srgbClr val="942294"/>
                    </a:solidFill>
                  </a:tcPr>
                </a:tc>
              </a:tr>
              <a:tr h="347472">
                <a:tc>
                  <a:txBody>
                    <a:bodyPr/>
                    <a:lstStyle/>
                    <a:p>
                      <a:pPr rtl="0" algn="l"/>
                      <a:r>
                        <a:rPr sz="1300" b="0" i="0" lang="en-US">
                          <a:solidFill>
                            <a:srgbClr val="1C2333"/>
                          </a:solidFill>
                          <a:latin typeface="Segoe UI"/>
                        </a:rPr>
                        <a:t>I</a:t>
                      </a:r>
                    </a:p>
                  </a:txBody>
                  <a:tcPr>
                    <a:solidFill>
                      <a:srgbClr val="FFFFFF"/>
                    </a:solidFill>
                  </a:tcPr>
                </a:tc>
                <a:tc>
                  <a:txBody>
                    <a:bodyPr/>
                    <a:lstStyle/>
                    <a:p>
                      <a:pPr rtl="0" algn="l"/>
                      <a:r>
                        <a:rPr sz="1300" b="0" i="0" lang="en-US">
                          <a:solidFill>
                            <a:srgbClr val="1C2333"/>
                          </a:solidFill>
                          <a:latin typeface="Segoe UI"/>
                        </a:rPr>
                        <a:t>me</a:t>
                      </a:r>
                    </a:p>
                  </a:txBody>
                  <a:tcPr>
                    <a:solidFill>
                      <a:srgbClr val="FFFFFF"/>
                    </a:solidFill>
                  </a:tcPr>
                </a:tc>
                <a:tc>
                  <a:txBody>
                    <a:bodyPr/>
                    <a:lstStyle/>
                    <a:p>
                      <a:pPr rtl="0" algn="l"/>
                      <a:r>
                        <a:rPr sz="1300" b="0" i="0" lang="en-US">
                          <a:solidFill>
                            <a:srgbClr val="1C2333"/>
                          </a:solidFill>
                          <a:latin typeface="Segoe UI"/>
                        </a:rPr>
                        <a:t>my</a:t>
                      </a:r>
                    </a:p>
                  </a:txBody>
                  <a:tcPr>
                    <a:solidFill>
                      <a:srgbClr val="FFFFFF"/>
                    </a:solidFill>
                  </a:tcPr>
                </a:tc>
                <a:tc>
                  <a:txBody>
                    <a:bodyPr/>
                    <a:lstStyle/>
                    <a:p>
                      <a:pPr rtl="0" algn="l"/>
                      <a:r>
                        <a:rPr sz="1300" b="0" i="0" lang="en-US">
                          <a:solidFill>
                            <a:srgbClr val="1C2333"/>
                          </a:solidFill>
                          <a:latin typeface="Segoe UI"/>
                        </a:rPr>
                        <a:t>mine</a:t>
                      </a:r>
                    </a:p>
                  </a:txBody>
                  <a:tcPr>
                    <a:solidFill>
                      <a:srgbClr val="FFFFFF"/>
                    </a:solidFill>
                  </a:tcPr>
                </a:tc>
                <a:tc>
                  <a:txBody>
                    <a:bodyPr/>
                    <a:lstStyle/>
                    <a:p>
                      <a:pPr rtl="0" algn="l"/>
                      <a:r>
                        <a:rPr sz="1300" b="0" i="0" lang="en-US">
                          <a:solidFill>
                            <a:srgbClr val="1C2333"/>
                          </a:solidFill>
                          <a:latin typeface="Segoe UI"/>
                        </a:rPr>
                        <a:t>myself</a:t>
                      </a:r>
                    </a:p>
                  </a:txBody>
                  <a:tcPr>
                    <a:solidFill>
                      <a:srgbClr val="FFFFFF"/>
                    </a:solidFill>
                  </a:tcPr>
                </a:tc>
              </a:tr>
              <a:tr h="347472">
                <a:tc>
                  <a:txBody>
                    <a:bodyPr/>
                    <a:lstStyle/>
                    <a:p>
                      <a:pPr rtl="0" algn="l"/>
                      <a:r>
                        <a:rPr sz="1300" b="0" i="0" lang="en-US">
                          <a:solidFill>
                            <a:srgbClr val="1C2333"/>
                          </a:solidFill>
                          <a:latin typeface="Segoe UI"/>
                        </a:rPr>
                        <a:t>He</a:t>
                      </a:r>
                    </a:p>
                  </a:txBody>
                  <a:tcPr>
                    <a:solidFill>
                      <a:srgbClr val="EEF3FA"/>
                    </a:solidFill>
                  </a:tcPr>
                </a:tc>
                <a:tc>
                  <a:txBody>
                    <a:bodyPr/>
                    <a:lstStyle/>
                    <a:p>
                      <a:pPr rtl="0" algn="l"/>
                      <a:r>
                        <a:rPr sz="1300" b="0" i="0" lang="en-US">
                          <a:solidFill>
                            <a:srgbClr val="1C2333"/>
                          </a:solidFill>
                          <a:latin typeface="Segoe UI"/>
                        </a:rPr>
                        <a:t>him</a:t>
                      </a:r>
                    </a:p>
                  </a:txBody>
                  <a:tcPr>
                    <a:solidFill>
                      <a:srgbClr val="EEF3FA"/>
                    </a:solidFill>
                  </a:tcPr>
                </a:tc>
                <a:tc>
                  <a:txBody>
                    <a:bodyPr/>
                    <a:lstStyle/>
                    <a:p>
                      <a:pPr rtl="0" algn="l"/>
                      <a:r>
                        <a:rPr sz="1300" b="0" i="0" lang="en-US">
                          <a:solidFill>
                            <a:srgbClr val="1C2333"/>
                          </a:solidFill>
                          <a:latin typeface="Segoe UI"/>
                        </a:rPr>
                        <a:t>his</a:t>
                      </a:r>
                    </a:p>
                  </a:txBody>
                  <a:tcPr>
                    <a:solidFill>
                      <a:srgbClr val="EEF3FA"/>
                    </a:solidFill>
                  </a:tcPr>
                </a:tc>
                <a:tc>
                  <a:txBody>
                    <a:bodyPr/>
                    <a:lstStyle/>
                    <a:p>
                      <a:pPr rtl="0" algn="l"/>
                      <a:r>
                        <a:rPr sz="1300" b="0" i="0" lang="en-US">
                          <a:solidFill>
                            <a:srgbClr val="1C2333"/>
                          </a:solidFill>
                          <a:latin typeface="Segoe UI"/>
                        </a:rPr>
                        <a:t>his</a:t>
                      </a:r>
                    </a:p>
                  </a:txBody>
                  <a:tcPr>
                    <a:solidFill>
                      <a:srgbClr val="EEF3FA"/>
                    </a:solidFill>
                  </a:tcPr>
                </a:tc>
                <a:tc>
                  <a:txBody>
                    <a:bodyPr/>
                    <a:lstStyle/>
                    <a:p>
                      <a:pPr rtl="0" algn="l"/>
                      <a:r>
                        <a:rPr sz="1300" b="0" i="0" lang="en-US">
                          <a:solidFill>
                            <a:srgbClr val="1C2333"/>
                          </a:solidFill>
                          <a:latin typeface="Segoe UI"/>
                        </a:rPr>
                        <a:t>himself</a:t>
                      </a:r>
                    </a:p>
                  </a:txBody>
                  <a:tcPr>
                    <a:solidFill>
                      <a:srgbClr val="EEF3FA"/>
                    </a:solidFill>
                  </a:tcPr>
                </a:tc>
              </a:tr>
              <a:tr h="347472">
                <a:tc>
                  <a:txBody>
                    <a:bodyPr/>
                    <a:lstStyle/>
                    <a:p>
                      <a:pPr rtl="0" algn="l"/>
                      <a:r>
                        <a:rPr sz="1300" b="0" i="0" lang="en-US">
                          <a:solidFill>
                            <a:srgbClr val="1C2333"/>
                          </a:solidFill>
                          <a:latin typeface="Segoe UI"/>
                        </a:rPr>
                        <a:t>She</a:t>
                      </a:r>
                    </a:p>
                  </a:txBody>
                  <a:tcPr>
                    <a:solidFill>
                      <a:srgbClr val="FFFFFF"/>
                    </a:solidFill>
                  </a:tcPr>
                </a:tc>
                <a:tc>
                  <a:txBody>
                    <a:bodyPr/>
                    <a:lstStyle/>
                    <a:p>
                      <a:pPr rtl="0" algn="l"/>
                      <a:r>
                        <a:rPr sz="1300" b="0" i="0" lang="en-US">
                          <a:solidFill>
                            <a:srgbClr val="1C2333"/>
                          </a:solidFill>
                          <a:latin typeface="Segoe UI"/>
                        </a:rPr>
                        <a:t>her</a:t>
                      </a:r>
                    </a:p>
                  </a:txBody>
                  <a:tcPr>
                    <a:solidFill>
                      <a:srgbClr val="FFFFFF"/>
                    </a:solidFill>
                  </a:tcPr>
                </a:tc>
                <a:tc>
                  <a:txBody>
                    <a:bodyPr/>
                    <a:lstStyle/>
                    <a:p>
                      <a:pPr rtl="0" algn="l"/>
                      <a:r>
                        <a:rPr sz="1300" b="0" i="0" lang="en-US">
                          <a:solidFill>
                            <a:srgbClr val="1C2333"/>
                          </a:solidFill>
                          <a:latin typeface="Segoe UI"/>
                        </a:rPr>
                        <a:t>her</a:t>
                      </a:r>
                    </a:p>
                  </a:txBody>
                  <a:tcPr>
                    <a:solidFill>
                      <a:srgbClr val="FFFFFF"/>
                    </a:solidFill>
                  </a:tcPr>
                </a:tc>
                <a:tc>
                  <a:txBody>
                    <a:bodyPr/>
                    <a:lstStyle/>
                    <a:p>
                      <a:pPr rtl="0" algn="l"/>
                      <a:r>
                        <a:rPr sz="1300" b="0" i="0" lang="en-US">
                          <a:solidFill>
                            <a:srgbClr val="1C2333"/>
                          </a:solidFill>
                          <a:latin typeface="Segoe UI"/>
                        </a:rPr>
                        <a:t>hers</a:t>
                      </a:r>
                    </a:p>
                  </a:txBody>
                  <a:tcPr>
                    <a:solidFill>
                      <a:srgbClr val="FFFFFF"/>
                    </a:solidFill>
                  </a:tcPr>
                </a:tc>
                <a:tc>
                  <a:txBody>
                    <a:bodyPr/>
                    <a:lstStyle/>
                    <a:p>
                      <a:pPr rtl="0" algn="l"/>
                      <a:r>
                        <a:rPr sz="1300" b="0" i="0" lang="en-US">
                          <a:solidFill>
                            <a:srgbClr val="1C2333"/>
                          </a:solidFill>
                          <a:latin typeface="Segoe UI"/>
                        </a:rPr>
                        <a:t>herself</a:t>
                      </a:r>
                    </a:p>
                  </a:txBody>
                  <a:tcPr>
                    <a:solidFill>
                      <a:srgbClr val="FFFFFF"/>
                    </a:solidFill>
                  </a:tcPr>
                </a:tc>
              </a:tr>
              <a:tr h="347472">
                <a:tc>
                  <a:txBody>
                    <a:bodyPr/>
                    <a:lstStyle/>
                    <a:p>
                      <a:pPr rtl="0" algn="l"/>
                      <a:r>
                        <a:rPr sz="1300" b="0" i="0" lang="en-US">
                          <a:solidFill>
                            <a:srgbClr val="1C2333"/>
                          </a:solidFill>
                          <a:latin typeface="Segoe UI"/>
                        </a:rPr>
                        <a:t>It</a:t>
                      </a:r>
                    </a:p>
                  </a:txBody>
                  <a:tcPr>
                    <a:solidFill>
                      <a:srgbClr val="EEF3FA"/>
                    </a:solidFill>
                  </a:tcPr>
                </a:tc>
                <a:tc>
                  <a:txBody>
                    <a:bodyPr/>
                    <a:lstStyle/>
                    <a:p>
                      <a:pPr rtl="0" algn="l"/>
                      <a:r>
                        <a:rPr sz="1300" b="0" i="0" lang="en-US">
                          <a:solidFill>
                            <a:srgbClr val="1C2333"/>
                          </a:solidFill>
                          <a:latin typeface="Segoe UI"/>
                        </a:rPr>
                        <a:t>it</a:t>
                      </a:r>
                    </a:p>
                  </a:txBody>
                  <a:tcPr>
                    <a:solidFill>
                      <a:srgbClr val="EEF3FA"/>
                    </a:solidFill>
                  </a:tcPr>
                </a:tc>
                <a:tc>
                  <a:txBody>
                    <a:bodyPr/>
                    <a:lstStyle/>
                    <a:p>
                      <a:pPr rtl="0" algn="l"/>
                      <a:r>
                        <a:rPr sz="1300" b="0" i="0" lang="en-US">
                          <a:solidFill>
                            <a:srgbClr val="1C2333"/>
                          </a:solidFill>
                          <a:latin typeface="Segoe UI"/>
                        </a:rPr>
                        <a:t>its</a:t>
                      </a:r>
                    </a:p>
                  </a:txBody>
                  <a:tcPr>
                    <a:solidFill>
                      <a:srgbClr val="EEF3FA"/>
                    </a:solidFill>
                  </a:tcPr>
                </a:tc>
                <a:tc>
                  <a:txBody>
                    <a:bodyPr/>
                    <a:lstStyle/>
                    <a:p>
                      <a:pPr rtl="0" algn="l"/>
                      <a:r>
                        <a:rPr sz="1300" b="0" i="0" lang="en-US">
                          <a:solidFill>
                            <a:srgbClr val="1C2333"/>
                          </a:solidFill>
                          <a:latin typeface="Segoe UI"/>
                        </a:rPr>
                        <a:t>its</a:t>
                      </a:r>
                    </a:p>
                  </a:txBody>
                  <a:tcPr>
                    <a:solidFill>
                      <a:srgbClr val="EEF3FA"/>
                    </a:solidFill>
                  </a:tcPr>
                </a:tc>
                <a:tc>
                  <a:txBody>
                    <a:bodyPr/>
                    <a:lstStyle/>
                    <a:p>
                      <a:pPr rtl="0" algn="l"/>
                      <a:r>
                        <a:rPr sz="1300" b="0" i="0" lang="en-US">
                          <a:solidFill>
                            <a:srgbClr val="1C2333"/>
                          </a:solidFill>
                          <a:latin typeface="Segoe UI"/>
                        </a:rPr>
                        <a:t>itself</a:t>
                      </a:r>
                    </a:p>
                  </a:txBody>
                  <a:tcPr>
                    <a:solidFill>
                      <a:srgbClr val="EEF3FA"/>
                    </a:solidFill>
                  </a:tcPr>
                </a:tc>
              </a:tr>
              <a:tr h="347472">
                <a:tc>
                  <a:txBody>
                    <a:bodyPr/>
                    <a:lstStyle/>
                    <a:p>
                      <a:pPr rtl="0" algn="l"/>
                      <a:r>
                        <a:rPr sz="1300" b="0" i="0" lang="en-US">
                          <a:solidFill>
                            <a:srgbClr val="1C2333"/>
                          </a:solidFill>
                          <a:latin typeface="Segoe UI"/>
                        </a:rPr>
                        <a:t>They</a:t>
                      </a:r>
                    </a:p>
                  </a:txBody>
                  <a:tcPr>
                    <a:solidFill>
                      <a:srgbClr val="FFFFFF"/>
                    </a:solidFill>
                  </a:tcPr>
                </a:tc>
                <a:tc>
                  <a:txBody>
                    <a:bodyPr/>
                    <a:lstStyle/>
                    <a:p>
                      <a:pPr rtl="0" algn="l"/>
                      <a:r>
                        <a:rPr sz="1300" b="0" i="0" lang="en-US">
                          <a:solidFill>
                            <a:srgbClr val="1C2333"/>
                          </a:solidFill>
                          <a:latin typeface="Segoe UI"/>
                        </a:rPr>
                        <a:t>them</a:t>
                      </a:r>
                    </a:p>
                  </a:txBody>
                  <a:tcPr>
                    <a:solidFill>
                      <a:srgbClr val="FFFFFF"/>
                    </a:solidFill>
                  </a:tcPr>
                </a:tc>
                <a:tc>
                  <a:txBody>
                    <a:bodyPr/>
                    <a:lstStyle/>
                    <a:p>
                      <a:pPr rtl="0" algn="l"/>
                      <a:r>
                        <a:rPr sz="1300" b="0" i="0" lang="en-US">
                          <a:solidFill>
                            <a:srgbClr val="1C2333"/>
                          </a:solidFill>
                          <a:latin typeface="Segoe UI"/>
                        </a:rPr>
                        <a:t>their</a:t>
                      </a:r>
                    </a:p>
                  </a:txBody>
                  <a:tcPr>
                    <a:solidFill>
                      <a:srgbClr val="FFFFFF"/>
                    </a:solidFill>
                  </a:tcPr>
                </a:tc>
                <a:tc>
                  <a:txBody>
                    <a:bodyPr/>
                    <a:lstStyle/>
                    <a:p>
                      <a:pPr rtl="0" algn="l"/>
                      <a:r>
                        <a:rPr sz="1300" b="0" i="0" lang="en-US">
                          <a:solidFill>
                            <a:srgbClr val="1C2333"/>
                          </a:solidFill>
                          <a:latin typeface="Segoe UI"/>
                        </a:rPr>
                        <a:t>theirs</a:t>
                      </a:r>
                    </a:p>
                  </a:txBody>
                  <a:tcPr>
                    <a:solidFill>
                      <a:srgbClr val="FFFFFF"/>
                    </a:solidFill>
                  </a:tcPr>
                </a:tc>
                <a:tc>
                  <a:txBody>
                    <a:bodyPr/>
                    <a:lstStyle/>
                    <a:p>
                      <a:pPr rtl="0" algn="l"/>
                      <a:r>
                        <a:rPr sz="1300" b="0" i="0" lang="en-US">
                          <a:solidFill>
                            <a:srgbClr val="1C2333"/>
                          </a:solidFill>
                          <a:latin typeface="Segoe UI"/>
                        </a:rPr>
                        <a:t>themselves</a:t>
                      </a:r>
                    </a:p>
                  </a:txBody>
                  <a:tcPr>
                    <a:solidFill>
                      <a:srgbClr val="FFFFFF"/>
                    </a:solidFill>
                  </a:tcPr>
                </a:tc>
              </a:tr>
              <a:tr h="347472">
                <a:tc>
                  <a:txBody>
                    <a:bodyPr/>
                    <a:lstStyle/>
                    <a:p>
                      <a:pPr rtl="1" algn="r"/>
                      <a:r>
                        <a:rPr sz="1600" b="0" i="0" lang="ar-EG" altLang="en-US">
                          <a:solidFill>
                            <a:srgbClr val="1C2333"/>
                          </a:solidFill>
                          <a:latin typeface="Traditional Arabic"/>
                        </a:rPr>
                        <a:t>You (مفرد)</a:t>
                      </a:r>
                    </a:p>
                  </a:txBody>
                  <a:tcPr>
                    <a:solidFill>
                      <a:srgbClr val="EEF3FA"/>
                    </a:solidFill>
                  </a:tcPr>
                </a:tc>
                <a:tc>
                  <a:txBody>
                    <a:bodyPr/>
                    <a:lstStyle/>
                    <a:p>
                      <a:pPr rtl="0" algn="l"/>
                      <a:r>
                        <a:rPr sz="1300" b="0" i="0" lang="en-US">
                          <a:solidFill>
                            <a:srgbClr val="1C2333"/>
                          </a:solidFill>
                          <a:latin typeface="Segoe UI"/>
                        </a:rPr>
                        <a:t>you</a:t>
                      </a:r>
                    </a:p>
                  </a:txBody>
                  <a:tcPr>
                    <a:solidFill>
                      <a:srgbClr val="EEF3FA"/>
                    </a:solidFill>
                  </a:tcPr>
                </a:tc>
                <a:tc>
                  <a:txBody>
                    <a:bodyPr/>
                    <a:lstStyle/>
                    <a:p>
                      <a:pPr rtl="0" algn="l"/>
                      <a:r>
                        <a:rPr sz="1300" b="0" i="0" lang="en-US">
                          <a:solidFill>
                            <a:srgbClr val="1C2333"/>
                          </a:solidFill>
                          <a:latin typeface="Segoe UI"/>
                        </a:rPr>
                        <a:t>your</a:t>
                      </a:r>
                    </a:p>
                  </a:txBody>
                  <a:tcPr>
                    <a:solidFill>
                      <a:srgbClr val="EEF3FA"/>
                    </a:solidFill>
                  </a:tcPr>
                </a:tc>
                <a:tc>
                  <a:txBody>
                    <a:bodyPr/>
                    <a:lstStyle/>
                    <a:p>
                      <a:pPr rtl="0" algn="l"/>
                      <a:r>
                        <a:rPr sz="1300" b="0" i="0" lang="en-US">
                          <a:solidFill>
                            <a:srgbClr val="1C2333"/>
                          </a:solidFill>
                          <a:latin typeface="Segoe UI"/>
                        </a:rPr>
                        <a:t>yours</a:t>
                      </a:r>
                    </a:p>
                  </a:txBody>
                  <a:tcPr>
                    <a:solidFill>
                      <a:srgbClr val="EEF3FA"/>
                    </a:solidFill>
                  </a:tcPr>
                </a:tc>
                <a:tc>
                  <a:txBody>
                    <a:bodyPr/>
                    <a:lstStyle/>
                    <a:p>
                      <a:pPr rtl="0" algn="l"/>
                      <a:r>
                        <a:rPr sz="1300" b="0" i="0" lang="en-US">
                          <a:solidFill>
                            <a:srgbClr val="1C2333"/>
                          </a:solidFill>
                          <a:latin typeface="Segoe UI"/>
                        </a:rPr>
                        <a:t>yourself</a:t>
                      </a:r>
                    </a:p>
                  </a:txBody>
                  <a:tcPr>
                    <a:solidFill>
                      <a:srgbClr val="EEF3FA"/>
                    </a:solidFill>
                  </a:tcPr>
                </a:tc>
              </a:tr>
              <a:tr h="347472">
                <a:tc>
                  <a:txBody>
                    <a:bodyPr/>
                    <a:lstStyle/>
                    <a:p>
                      <a:pPr rtl="0" algn="l"/>
                      <a:r>
                        <a:rPr sz="1300" b="0" i="0" lang="en-US">
                          <a:solidFill>
                            <a:srgbClr val="1C2333"/>
                          </a:solidFill>
                          <a:latin typeface="Segoe UI"/>
                        </a:rPr>
                        <a:t>You (جمع)</a:t>
                      </a:r>
                    </a:p>
                  </a:txBody>
                  <a:tcPr>
                    <a:solidFill>
                      <a:srgbClr val="FFFFFF"/>
                    </a:solidFill>
                  </a:tcPr>
                </a:tc>
                <a:tc>
                  <a:txBody>
                    <a:bodyPr/>
                    <a:lstStyle/>
                    <a:p>
                      <a:pPr rtl="0" algn="l"/>
                      <a:r>
                        <a:rPr sz="1300" b="0" i="0" lang="en-US">
                          <a:solidFill>
                            <a:srgbClr val="1C2333"/>
                          </a:solidFill>
                          <a:latin typeface="Segoe UI"/>
                        </a:rPr>
                        <a:t>you</a:t>
                      </a:r>
                    </a:p>
                  </a:txBody>
                  <a:tcPr>
                    <a:solidFill>
                      <a:srgbClr val="FFFFFF"/>
                    </a:solidFill>
                  </a:tcPr>
                </a:tc>
                <a:tc>
                  <a:txBody>
                    <a:bodyPr/>
                    <a:lstStyle/>
                    <a:p>
                      <a:pPr rtl="0" algn="l"/>
                      <a:r>
                        <a:rPr sz="1300" b="0" i="0" lang="en-US">
                          <a:solidFill>
                            <a:srgbClr val="1C2333"/>
                          </a:solidFill>
                          <a:latin typeface="Segoe UI"/>
                        </a:rPr>
                        <a:t>your</a:t>
                      </a:r>
                    </a:p>
                  </a:txBody>
                  <a:tcPr>
                    <a:solidFill>
                      <a:srgbClr val="FFFFFF"/>
                    </a:solidFill>
                  </a:tcPr>
                </a:tc>
                <a:tc>
                  <a:txBody>
                    <a:bodyPr/>
                    <a:lstStyle/>
                    <a:p>
                      <a:pPr rtl="0" algn="l"/>
                      <a:r>
                        <a:rPr sz="1300" b="0" i="0" lang="en-US">
                          <a:solidFill>
                            <a:srgbClr val="1C2333"/>
                          </a:solidFill>
                          <a:latin typeface="Segoe UI"/>
                        </a:rPr>
                        <a:t>yours</a:t>
                      </a:r>
                    </a:p>
                  </a:txBody>
                  <a:tcPr>
                    <a:solidFill>
                      <a:srgbClr val="FFFFFF"/>
                    </a:solidFill>
                  </a:tcPr>
                </a:tc>
                <a:tc>
                  <a:txBody>
                    <a:bodyPr/>
                    <a:lstStyle/>
                    <a:p>
                      <a:pPr rtl="0" algn="l"/>
                      <a:r>
                        <a:rPr sz="1300" b="0" i="0" lang="en-US">
                          <a:solidFill>
                            <a:srgbClr val="1C2333"/>
                          </a:solidFill>
                          <a:latin typeface="Segoe UI"/>
                        </a:rPr>
                        <a:t>yourselves</a:t>
                      </a:r>
                    </a:p>
                  </a:txBody>
                  <a:tcPr>
                    <a:solidFill>
                      <a:srgbClr val="FFFFFF"/>
                    </a:solidFill>
                  </a:tcPr>
                </a:tc>
              </a:tr>
              <a:tr h="347472">
                <a:tc>
                  <a:txBody>
                    <a:bodyPr/>
                    <a:lstStyle/>
                    <a:p>
                      <a:pPr rtl="0" algn="l"/>
                      <a:r>
                        <a:rPr sz="1300" b="0" i="0" lang="en-US">
                          <a:solidFill>
                            <a:srgbClr val="1C2333"/>
                          </a:solidFill>
                          <a:latin typeface="Segoe UI"/>
                        </a:rPr>
                        <a:t>We</a:t>
                      </a:r>
                    </a:p>
                  </a:txBody>
                  <a:tcPr>
                    <a:solidFill>
                      <a:srgbClr val="EEF3FA"/>
                    </a:solidFill>
                  </a:tcPr>
                </a:tc>
                <a:tc>
                  <a:txBody>
                    <a:bodyPr/>
                    <a:lstStyle/>
                    <a:p>
                      <a:pPr rtl="0" algn="l"/>
                      <a:r>
                        <a:rPr sz="1300" b="0" i="0" lang="en-US">
                          <a:solidFill>
                            <a:srgbClr val="1C2333"/>
                          </a:solidFill>
                          <a:latin typeface="Segoe UI"/>
                        </a:rPr>
                        <a:t>us</a:t>
                      </a:r>
                    </a:p>
                  </a:txBody>
                  <a:tcPr>
                    <a:solidFill>
                      <a:srgbClr val="EEF3FA"/>
                    </a:solidFill>
                  </a:tcPr>
                </a:tc>
                <a:tc>
                  <a:txBody>
                    <a:bodyPr/>
                    <a:lstStyle/>
                    <a:p>
                      <a:pPr rtl="0" algn="l"/>
                      <a:r>
                        <a:rPr sz="1300" b="0" i="0" lang="en-US">
                          <a:solidFill>
                            <a:srgbClr val="1C2333"/>
                          </a:solidFill>
                          <a:latin typeface="Segoe UI"/>
                        </a:rPr>
                        <a:t>our</a:t>
                      </a:r>
                    </a:p>
                  </a:txBody>
                  <a:tcPr>
                    <a:solidFill>
                      <a:srgbClr val="EEF3FA"/>
                    </a:solidFill>
                  </a:tcPr>
                </a:tc>
                <a:tc>
                  <a:txBody>
                    <a:bodyPr/>
                    <a:lstStyle/>
                    <a:p>
                      <a:pPr rtl="0" algn="l"/>
                      <a:r>
                        <a:rPr sz="1300" b="0" i="0" lang="en-US">
                          <a:solidFill>
                            <a:srgbClr val="1C2333"/>
                          </a:solidFill>
                          <a:latin typeface="Segoe UI"/>
                        </a:rPr>
                        <a:t>ours</a:t>
                      </a:r>
                    </a:p>
                  </a:txBody>
                  <a:tcPr>
                    <a:solidFill>
                      <a:srgbClr val="EEF3FA"/>
                    </a:solidFill>
                  </a:tcPr>
                </a:tc>
                <a:tc>
                  <a:txBody>
                    <a:bodyPr/>
                    <a:lstStyle/>
                    <a:p>
                      <a:pPr rtl="0" algn="l"/>
                      <a:r>
                        <a:rPr sz="1300" b="0" i="0" lang="en-US">
                          <a:solidFill>
                            <a:srgbClr val="1C2333"/>
                          </a:solidFill>
                          <a:latin typeface="Segoe UI"/>
                        </a:rPr>
                        <a:t>ourselves</a:t>
                      </a:r>
                    </a:p>
                  </a:txBody>
                  <a:tcPr>
                    <a:solidFill>
                      <a:srgbClr val="EEF3FA"/>
                    </a:solidFill>
                  </a:tcPr>
                </a:tc>
              </a:tr>
            </a:tbl>
          </a:graphicData>
        </a:graphic>
      </p:graphicFrame>
    </p:spTree>
  </p:cSld>
  <p:clrMapOvr>
    <a:masterClrMapping/>
  </p:clrMapOvr>
  <p:transition spd="med">
    <p:zoom dir="in"/>
  </p:transition>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A) Choose the correct answer (subject / object pronouns)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 likes him a lot.   (She – her – him)</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 saw …… at the mall.   (he – they – them)</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them</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Mona can help …… .   (your – you – he)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 can jump high.   (Him – Its – It)</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Let …… help you.   (my – me – they)</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 can run fast.   (Him – Her – He)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He met …… in the club.   (our – us – your)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us</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A) Choose the correct answer (subject / object pronouns)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I read …… yesterday.   (its – it – they)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 give …… a story.   (he – she – him)</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him</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 are swimming.   (Them – They – Her)</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They</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It makes …… happy.   (they – his – me)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I was talking to …… .   (he – I – her)</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her</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Let's do …… .   (it – They – It)</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 played with …… .   (they – him – she)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him</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This house is …… .   (her – ours – our)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ours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That is …… shirt.   (mine – me – my)</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 red car is …… .   (him – hers – them)</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hers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We like …… teacher.   (theirs – him – our)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our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 blue pen is …… .   (his – it – my)</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his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These bags are …… .   (their – our – hers)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hers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 mother is a doctor.   (Me – My – Yours)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My</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We visited …… yesterday.   (hers – him – your)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him</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This car is …… .   (him – her – mine)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mine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That is …… dog.   (him – theirs – his)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his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These are …… pens.   (yours – him – your)</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your</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 ear is long.   (It – Its – Theirs)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Its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She is …… sister.   (yours – ours – our)</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our</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This house is …… .   (our – their – yours)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yours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They are …… friends.   (yours – him – my)</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 name is Ali.   (Yours – His – Her)</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 name is Mona.   (Her – His – Their)</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Her</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(1/5)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She gave …… a present.   (he – him – mine)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him</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 car is black.   (Them – hers – Our)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Our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 loves to read books.   (His – She – Them)</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They cooked dinner by …… .   (themselves – her – they)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themselves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 parents are doctors.   (Them – My – Him)</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(2/5)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fixed the car by …… .   (myself – herself – himself)</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himself</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This car is …… .   (your – mine – them)</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mine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Those books are …… .   (your – them – ours)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ours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 team won the match.   (Them – Our – Yours)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Our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This bag is …… .   (ours – my – yours)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ours</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(3/5)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 ride my bike by …… .   (himself – itself – myself)</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myself</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 listen to music.   (Them – I – our)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Dogs drink milk by …… .   (itself – themselves – their)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themselves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Do the laundry by …… .   (myself – yourself – itself)</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yourself</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 house is …… .   (our – their – his)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(4/5)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These are …… pens.   (him – your – ours)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 make my bed.   (They – He – I)</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This dog is …… .   (him – her – his)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Make the bed by …… .   (myself – yourself – himself)</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yourself</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 listen to music every day.   (His – They – Her)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(5/5)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21) The cat cleaned its tail by …… .   (myself – itself – hers)</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itself</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Him is very happy.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very happy.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We go to school by myself .</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go to school by ourselves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is my friend. Her name is Ali.</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my friend. His name is Ali.</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It's hers birthday.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her birthday.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They are my parents. Them car is red.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 my parents. Their car is red.</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did the laundry by herself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did the laundry by himself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Me shoes are black.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shoes are black.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What is yours birthday?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is your birthday?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That is my friend. His name is Mona.</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That is my friend. Her name is Mona.</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She did it by myself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 it by herself .</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We enjoyed myself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enjoyed ourselves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That is ours house.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That is our house.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Tidy the room by myself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Tidy the room by yourself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My parents painted them house.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parents painted their house.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Him name is Ahmed.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His name is Ahmed.</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Cats clean theirselves .</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Cats clean themselves .</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I go to school with myself.</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school by myself.</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E)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name – What – your – is?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is your name?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are – They – friends – my.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 my friends.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by – the – myself – I – birds – feed.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feed the birds by myself.</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is – That – book – your.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That is your book.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book – This – yours – is.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This book is yours.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E)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are – My – teachers – parents.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parents are teachers.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is – birthday – When – your?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is your birthday?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did – She – homework – herself – by.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 homework by herself.</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nurse – is – My – mother.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mother is a nurse.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are – The – yours – pens.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pens are yours.</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E)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your – is – How – family?</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is your family?</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by – go – myself – I – school – to.</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school by myself.</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12</a:t>
            </a:r>
          </a:p>
          <a:p>
            <a:pPr algn="ctr" rtl="0"/>
            <a:r>
              <a:rPr sz="4600" b="1" i="0" lang="en-US">
                <a:solidFill>
                  <a:srgbClr val="FFFFFF"/>
                </a:solidFill>
                <a:latin typeface="Segoe UI"/>
              </a:rPr>
              <a:t>Like + v-ing / to + inf.</a:t>
            </a:r>
          </a:p>
          <a:p>
            <a:pPr algn="ctr" rtl="1"/>
            <a:r>
              <a:rPr sz="2900" b="0" i="0" lang="ar-EG" altLang="en-US">
                <a:solidFill>
                  <a:srgbClr val="FFFFFF"/>
                </a:solidFill>
                <a:latin typeface="Traditional Arabic"/>
              </a:rPr>
              <a:t>فعل الإعجاب</a:t>
            </a:r>
          </a:p>
        </p:txBody>
      </p:sp>
    </p:spTree>
  </p:cSld>
  <p:clrMapOvr>
    <a:masterClrMapping/>
  </p:clrMapOvr>
  <p:transition spd="med">
    <p:zoom dir="in"/>
  </p:transition>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5B"/>
                </a:solidFill>
                <a:latin typeface="Segoe UI"/>
              </a:rPr>
              <a:t>▶ He – She – It – الاسم المفرد + likes</a:t>
            </a:r>
          </a:p>
          <a:p>
            <a:pPr rtl="1" algn="r">
              <a:spcAft>
                <a:spcPts val="600"/>
              </a:spcAft>
            </a:pPr>
            <a:r>
              <a:rPr sz="2100" b="0" i="0" lang="ar-EG" altLang="en-US">
                <a:solidFill>
                  <a:srgbClr val="1C2333"/>
                </a:solidFill>
                <a:latin typeface="Traditional Arabic"/>
              </a:rPr>
              <a:t>    نستخدم (likes) مع المفرد.</a:t>
            </a:r>
          </a:p>
          <a:p>
            <a:pPr rtl="0" algn="l">
              <a:spcAft>
                <a:spcPts val="600"/>
              </a:spcAft>
            </a:pPr>
            <a:r>
              <a:rPr sz="2000" b="1" i="0" lang="en-US">
                <a:solidFill>
                  <a:srgbClr val="94225B"/>
                </a:solidFill>
                <a:latin typeface="Segoe UI"/>
              </a:rPr>
              <a:t>▶ I – They – You – We + like</a:t>
            </a:r>
          </a:p>
          <a:p>
            <a:pPr rtl="1" algn="r">
              <a:spcAft>
                <a:spcPts val="600"/>
              </a:spcAft>
            </a:pPr>
            <a:r>
              <a:rPr sz="2100" b="0" i="0" lang="ar-EG" altLang="en-US">
                <a:solidFill>
                  <a:srgbClr val="1C2333"/>
                </a:solidFill>
                <a:latin typeface="Traditional Arabic"/>
              </a:rPr>
              <a:t>    نستخدم (like) مع الجمع و I.</a:t>
            </a:r>
          </a:p>
          <a:p>
            <a:pPr rtl="0" algn="l">
              <a:spcAft>
                <a:spcPts val="600"/>
              </a:spcAft>
            </a:pPr>
            <a:r>
              <a:rPr sz="2000" b="1" i="0" lang="en-US">
                <a:solidFill>
                  <a:srgbClr val="94225B"/>
                </a:solidFill>
                <a:latin typeface="Segoe UI"/>
              </a:rPr>
              <a:t>▶ like + v-ing / like + to + inf.</a:t>
            </a:r>
          </a:p>
          <a:p>
            <a:pPr rtl="1" algn="r">
              <a:spcAft>
                <a:spcPts val="600"/>
              </a:spcAft>
            </a:pPr>
            <a:r>
              <a:rPr sz="2100" b="0" i="0" lang="ar-EG" altLang="en-US">
                <a:solidFill>
                  <a:srgbClr val="1C2333"/>
                </a:solidFill>
                <a:latin typeface="Traditional Arabic"/>
              </a:rPr>
              <a:t>    يأتي بعد like الفعل مضافاً إليه ing أو المصدر مسبوقاً بـ to.</a:t>
            </a:r>
          </a:p>
          <a:p>
            <a:pPr rtl="0" algn="l">
              <a:spcAft>
                <a:spcPts val="600"/>
              </a:spcAft>
            </a:pPr>
            <a:r>
              <a:rPr sz="1700" b="0" i="1" lang="en-US">
                <a:solidFill>
                  <a:srgbClr val="5B6478"/>
                </a:solidFill>
                <a:latin typeface="Segoe UI"/>
              </a:rPr>
              <a:t>   e.g. She likes reading. – I like to study English.</a:t>
            </a:r>
          </a:p>
        </p:txBody>
      </p:sp>
    </p:spTree>
  </p:cSld>
  <p:clrMapOvr>
    <a:masterClrMapping/>
  </p:clrMapOvr>
  <p:transition spd="med">
    <p:newsflash/>
  </p:transition>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5B"/>
                </a:solidFill>
                <a:latin typeface="Segoe UI"/>
              </a:rPr>
              <a:t>▶ He / She / It + doesn't like +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94225B"/>
                </a:solidFill>
                <a:latin typeface="Segoe UI"/>
              </a:rPr>
              <a:t>▶ I / They / You / We + don't like + …</a:t>
            </a:r>
          </a:p>
          <a:p>
            <a:pPr rtl="1" algn="r">
              <a:spcAft>
                <a:spcPts val="600"/>
              </a:spcAft>
            </a:pPr>
            <a:r>
              <a:rPr sz="2100" b="0" i="0" lang="ar-EG" altLang="en-US">
                <a:solidFill>
                  <a:srgbClr val="1C2333"/>
                </a:solidFill>
                <a:latin typeface="Traditional Arabic"/>
              </a:rPr>
              <a:t>نفي الجمع.</a:t>
            </a:r>
          </a:p>
          <a:p>
            <a:pPr rtl="0" algn="l">
              <a:spcAft>
                <a:spcPts val="600"/>
              </a:spcAft>
            </a:pPr>
            <a:r>
              <a:rPr sz="2000" b="1" i="0" lang="en-US">
                <a:solidFill>
                  <a:srgbClr val="94225B"/>
                </a:solidFill>
                <a:latin typeface="Segoe UI"/>
              </a:rPr>
              <a:t>▶ Does + he / she / it + like … ? | Do + I / they / you / we + like … ?</a:t>
            </a:r>
          </a:p>
          <a:p>
            <a:pPr rtl="1" algn="r">
              <a:spcAft>
                <a:spcPts val="600"/>
              </a:spcAft>
            </a:pPr>
            <a:r>
              <a:rPr sz="2100" b="0" i="0" lang="ar-EG" altLang="en-US">
                <a:solidFill>
                  <a:srgbClr val="1C2333"/>
                </a:solidFill>
                <a:latin typeface="Traditional Arabic"/>
              </a:rPr>
              <a:t>    السؤال بـ Does للمفرد و Do للجمع.</a:t>
            </a:r>
          </a:p>
        </p:txBody>
      </p:sp>
    </p:spTree>
  </p:cSld>
  <p:clrMapOvr>
    <a:masterClrMapping/>
  </p:clrMapOvr>
  <p:transition spd="med">
    <p:plus/>
  </p:transition>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225B"/>
                          </a:solidFill>
                          <a:latin typeface="Segoe UI"/>
                        </a:rPr>
                        <a:t>play</a:t>
                      </a:r>
                    </a:p>
                  </a:txBody>
                  <a:tcPr>
                    <a:solidFill>
                      <a:srgbClr val="FFFFFF"/>
                    </a:solidFill>
                  </a:tcPr>
                </a:tc>
                <a:tc>
                  <a:txBody>
                    <a:bodyPr/>
                    <a:lstStyle/>
                    <a:p>
                      <a:pPr rtl="1" algn="r"/>
                      <a:r>
                        <a:rPr sz="1700" b="0" i="0" lang="ar-EG" altLang="en-US">
                          <a:solidFill>
                            <a:srgbClr val="1C2333"/>
                          </a:solidFill>
                          <a:latin typeface="Traditional Arabic"/>
                        </a:rPr>
                        <a:t>يلعب</a:t>
                      </a:r>
                    </a:p>
                  </a:txBody>
                  <a:tcPr>
                    <a:solidFill>
                      <a:srgbClr val="FFFFFF"/>
                    </a:solidFill>
                  </a:tcPr>
                </a:tc>
                <a:tc>
                  <a:txBody>
                    <a:bodyPr/>
                    <a:lstStyle/>
                    <a:p>
                      <a:pPr rtl="0" algn="l"/>
                      <a:r>
                        <a:rPr sz="1500" b="1" i="0" lang="en-US">
                          <a:solidFill>
                            <a:srgbClr val="94225B"/>
                          </a:solidFill>
                          <a:latin typeface="Segoe UI"/>
                        </a:rPr>
                        <a:t>love</a:t>
                      </a:r>
                    </a:p>
                  </a:txBody>
                  <a:tcPr>
                    <a:solidFill>
                      <a:srgbClr val="FFFFFF"/>
                    </a:solidFill>
                  </a:tcPr>
                </a:tc>
                <a:tc>
                  <a:txBody>
                    <a:bodyPr/>
                    <a:lstStyle/>
                    <a:p>
                      <a:pPr rtl="1" algn="r"/>
                      <a:r>
                        <a:rPr sz="1700" b="0" i="0" lang="ar-EG" altLang="en-US">
                          <a:solidFill>
                            <a:srgbClr val="1C2333"/>
                          </a:solidFill>
                          <a:latin typeface="Traditional Arabic"/>
                        </a:rPr>
                        <a:t>يحب</a:t>
                      </a:r>
                    </a:p>
                  </a:txBody>
                  <a:tcPr>
                    <a:solidFill>
                      <a:srgbClr val="FFFFFF"/>
                    </a:solidFill>
                  </a:tcPr>
                </a:tc>
                <a:tc>
                  <a:txBody>
                    <a:bodyPr/>
                    <a:lstStyle/>
                    <a:p>
                      <a:pPr rtl="0" algn="l"/>
                      <a:r>
                        <a:rPr sz="1500" b="1" i="0" lang="en-US">
                          <a:solidFill>
                            <a:srgbClr val="94225B"/>
                          </a:solidFill>
                          <a:latin typeface="Segoe UI"/>
                        </a:rPr>
                        <a:t>have / has</a:t>
                      </a:r>
                    </a:p>
                  </a:txBody>
                  <a:tcPr>
                    <a:solidFill>
                      <a:srgbClr val="FFFFFF"/>
                    </a:solidFill>
                  </a:tcPr>
                </a:tc>
                <a:tc>
                  <a:txBody>
                    <a:bodyPr/>
                    <a:lstStyle/>
                    <a:p>
                      <a:pPr rtl="1" algn="r"/>
                      <a:r>
                        <a:rPr sz="1700" b="0" i="0" lang="ar-EG" altLang="en-US">
                          <a:solidFill>
                            <a:srgbClr val="1C2333"/>
                          </a:solidFill>
                          <a:latin typeface="Traditional Arabic"/>
                        </a:rPr>
                        <a:t>لديه</a:t>
                      </a:r>
                    </a:p>
                  </a:txBody>
                  <a:tcPr>
                    <a:solidFill>
                      <a:srgbClr val="FFFFFF"/>
                    </a:solidFill>
                  </a:tcPr>
                </a:tc>
              </a:tr>
              <a:tr h="384048">
                <a:tc>
                  <a:txBody>
                    <a:bodyPr/>
                    <a:lstStyle/>
                    <a:p>
                      <a:pPr rtl="0" algn="l"/>
                      <a:r>
                        <a:rPr sz="1500" b="1" i="0" lang="en-US">
                          <a:solidFill>
                            <a:srgbClr val="94225B"/>
                          </a:solidFill>
                          <a:latin typeface="Segoe UI"/>
                        </a:rPr>
                        <a:t>walk</a:t>
                      </a:r>
                    </a:p>
                  </a:txBody>
                  <a:tcPr>
                    <a:solidFill>
                      <a:srgbClr val="EEF3FA"/>
                    </a:solidFill>
                  </a:tcPr>
                </a:tc>
                <a:tc>
                  <a:txBody>
                    <a:bodyPr/>
                    <a:lstStyle/>
                    <a:p>
                      <a:pPr rtl="1" algn="r"/>
                      <a:r>
                        <a:rPr sz="1700" b="0" i="0" lang="ar-EG" altLang="en-US">
                          <a:solidFill>
                            <a:srgbClr val="1C2333"/>
                          </a:solidFill>
                          <a:latin typeface="Traditional Arabic"/>
                        </a:rPr>
                        <a:t>يمشي</a:t>
                      </a:r>
                    </a:p>
                  </a:txBody>
                  <a:tcPr>
                    <a:solidFill>
                      <a:srgbClr val="EEF3FA"/>
                    </a:solidFill>
                  </a:tcPr>
                </a:tc>
                <a:tc>
                  <a:txBody>
                    <a:bodyPr/>
                    <a:lstStyle/>
                    <a:p>
                      <a:pPr rtl="0" algn="l"/>
                      <a:r>
                        <a:rPr sz="1500" b="1" i="0" lang="en-US">
                          <a:solidFill>
                            <a:srgbClr val="94225B"/>
                          </a:solidFill>
                          <a:latin typeface="Segoe UI"/>
                        </a:rPr>
                        <a:t>pay</a:t>
                      </a:r>
                    </a:p>
                  </a:txBody>
                  <a:tcPr>
                    <a:solidFill>
                      <a:srgbClr val="EEF3FA"/>
                    </a:solidFill>
                  </a:tcPr>
                </a:tc>
                <a:tc>
                  <a:txBody>
                    <a:bodyPr/>
                    <a:lstStyle/>
                    <a:p>
                      <a:pPr rtl="1" algn="r"/>
                      <a:r>
                        <a:rPr sz="1700" b="0" i="0" lang="ar-EG" altLang="en-US">
                          <a:solidFill>
                            <a:srgbClr val="1C2333"/>
                          </a:solidFill>
                          <a:latin typeface="Traditional Arabic"/>
                        </a:rPr>
                        <a:t>يدفع</a:t>
                      </a:r>
                    </a:p>
                  </a:txBody>
                  <a:tcPr>
                    <a:solidFill>
                      <a:srgbClr val="EEF3FA"/>
                    </a:solidFill>
                  </a:tcPr>
                </a:tc>
                <a:tc>
                  <a:txBody>
                    <a:bodyPr/>
                    <a:lstStyle/>
                    <a:p>
                      <a:pPr rtl="0" algn="l"/>
                      <a:r>
                        <a:rPr sz="1500" b="1" i="0" lang="en-US">
                          <a:solidFill>
                            <a:srgbClr val="94225B"/>
                          </a:solidFill>
                          <a:latin typeface="Segoe UI"/>
                        </a:rPr>
                        <a:t>wash</a:t>
                      </a:r>
                    </a:p>
                  </a:txBody>
                  <a:tcPr>
                    <a:solidFill>
                      <a:srgbClr val="EEF3FA"/>
                    </a:solidFill>
                  </a:tcPr>
                </a:tc>
                <a:tc>
                  <a:txBody>
                    <a:bodyPr/>
                    <a:lstStyle/>
                    <a:p>
                      <a:pPr rtl="1" algn="r"/>
                      <a:r>
                        <a:rPr sz="1700" b="0" i="0" lang="ar-EG" altLang="en-US">
                          <a:solidFill>
                            <a:srgbClr val="1C2333"/>
                          </a:solidFill>
                          <a:latin typeface="Traditional Arabic"/>
                        </a:rPr>
                        <a:t>يغسل</a:t>
                      </a:r>
                    </a:p>
                  </a:txBody>
                  <a:tcPr>
                    <a:solidFill>
                      <a:srgbClr val="EEF3FA"/>
                    </a:solidFill>
                  </a:tcPr>
                </a:tc>
              </a:tr>
              <a:tr h="384048">
                <a:tc>
                  <a:txBody>
                    <a:bodyPr/>
                    <a:lstStyle/>
                    <a:p>
                      <a:pPr rtl="0" algn="l"/>
                      <a:r>
                        <a:rPr sz="1500" b="1" i="0" lang="en-US">
                          <a:solidFill>
                            <a:srgbClr val="94225B"/>
                          </a:solidFill>
                          <a:latin typeface="Segoe UI"/>
                        </a:rPr>
                        <a:t>visit</a:t>
                      </a:r>
                    </a:p>
                  </a:txBody>
                  <a:tcPr>
                    <a:solidFill>
                      <a:srgbClr val="FFFFFF"/>
                    </a:solidFill>
                  </a:tcPr>
                </a:tc>
                <a:tc>
                  <a:txBody>
                    <a:bodyPr/>
                    <a:lstStyle/>
                    <a:p>
                      <a:pPr rtl="1" algn="r"/>
                      <a:r>
                        <a:rPr sz="1700" b="0" i="0" lang="ar-EG" altLang="en-US">
                          <a:solidFill>
                            <a:srgbClr val="1C2333"/>
                          </a:solidFill>
                          <a:latin typeface="Traditional Arabic"/>
                        </a:rPr>
                        <a:t>يزور</a:t>
                      </a:r>
                    </a:p>
                  </a:txBody>
                  <a:tcPr>
                    <a:solidFill>
                      <a:srgbClr val="FFFFFF"/>
                    </a:solidFill>
                  </a:tcPr>
                </a:tc>
                <a:tc>
                  <a:txBody>
                    <a:bodyPr/>
                    <a:lstStyle/>
                    <a:p>
                      <a:pPr rtl="0" algn="l"/>
                      <a:r>
                        <a:rPr sz="1500" b="1" i="0" lang="en-US">
                          <a:solidFill>
                            <a:srgbClr val="94225B"/>
                          </a:solidFill>
                          <a:latin typeface="Segoe UI"/>
                        </a:rPr>
                        <a:t>want</a:t>
                      </a:r>
                    </a:p>
                  </a:txBody>
                  <a:tcPr>
                    <a:solidFill>
                      <a:srgbClr val="FFFFFF"/>
                    </a:solidFill>
                  </a:tcPr>
                </a:tc>
                <a:tc>
                  <a:txBody>
                    <a:bodyPr/>
                    <a:lstStyle/>
                    <a:p>
                      <a:pPr rtl="1" algn="r"/>
                      <a:r>
                        <a:rPr sz="1700" b="0" i="0" lang="ar-EG" altLang="en-US">
                          <a:solidFill>
                            <a:srgbClr val="1C2333"/>
                          </a:solidFill>
                          <a:latin typeface="Traditional Arabic"/>
                        </a:rPr>
                        <a:t>يريد</a:t>
                      </a:r>
                    </a:p>
                  </a:txBody>
                  <a:tcPr>
                    <a:solidFill>
                      <a:srgbClr val="FFFFFF"/>
                    </a:solidFill>
                  </a:tcPr>
                </a:tc>
                <a:tc>
                  <a:txBody>
                    <a:bodyPr/>
                    <a:lstStyle/>
                    <a:p>
                      <a:pPr rtl="0" algn="l"/>
                      <a:r>
                        <a:rPr sz="1500" b="1" i="0" lang="en-US">
                          <a:solidFill>
                            <a:srgbClr val="94225B"/>
                          </a:solidFill>
                          <a:latin typeface="Segoe UI"/>
                        </a:rPr>
                        <a:t>make</a:t>
                      </a:r>
                    </a:p>
                  </a:txBody>
                  <a:tcPr>
                    <a:solidFill>
                      <a:srgbClr val="FFFFFF"/>
                    </a:solidFill>
                  </a:tcPr>
                </a:tc>
                <a:tc>
                  <a:txBody>
                    <a:bodyPr/>
                    <a:lstStyle/>
                    <a:p>
                      <a:pPr rtl="1" algn="r"/>
                      <a:r>
                        <a:rPr sz="1700" b="0" i="0" lang="ar-EG" altLang="en-US">
                          <a:solidFill>
                            <a:srgbClr val="1C2333"/>
                          </a:solidFill>
                          <a:latin typeface="Traditional Arabic"/>
                        </a:rPr>
                        <a:t>يصنع</a:t>
                      </a:r>
                    </a:p>
                  </a:txBody>
                  <a:tcPr>
                    <a:solidFill>
                      <a:srgbClr val="FFFFFF"/>
                    </a:solidFill>
                  </a:tcPr>
                </a:tc>
              </a:tr>
              <a:tr h="384048">
                <a:tc>
                  <a:txBody>
                    <a:bodyPr/>
                    <a:lstStyle/>
                    <a:p>
                      <a:pPr rtl="0" algn="l"/>
                      <a:r>
                        <a:rPr sz="1500" b="1" i="0" lang="en-US">
                          <a:solidFill>
                            <a:srgbClr val="94225B"/>
                          </a:solidFill>
                          <a:latin typeface="Segoe UI"/>
                        </a:rPr>
                        <a:t>run</a:t>
                      </a:r>
                    </a:p>
                  </a:txBody>
                  <a:tcPr>
                    <a:solidFill>
                      <a:srgbClr val="EEF3FA"/>
                    </a:solidFill>
                  </a:tcPr>
                </a:tc>
                <a:tc>
                  <a:txBody>
                    <a:bodyPr/>
                    <a:lstStyle/>
                    <a:p>
                      <a:pPr rtl="1" algn="r"/>
                      <a:r>
                        <a:rPr sz="1700" b="0" i="0" lang="ar-EG" altLang="en-US">
                          <a:solidFill>
                            <a:srgbClr val="1C2333"/>
                          </a:solidFill>
                          <a:latin typeface="Traditional Arabic"/>
                        </a:rPr>
                        <a:t>يجري</a:t>
                      </a:r>
                    </a:p>
                  </a:txBody>
                  <a:tcPr>
                    <a:solidFill>
                      <a:srgbClr val="EEF3FA"/>
                    </a:solidFill>
                  </a:tcPr>
                </a:tc>
                <a:tc>
                  <a:txBody>
                    <a:bodyPr/>
                    <a:lstStyle/>
                    <a:p>
                      <a:pPr rtl="0" algn="l"/>
                      <a:r>
                        <a:rPr sz="1500" b="1" i="0" lang="en-US">
                          <a:solidFill>
                            <a:srgbClr val="94225B"/>
                          </a:solidFill>
                          <a:latin typeface="Segoe UI"/>
                        </a:rPr>
                        <a:t>help</a:t>
                      </a:r>
                    </a:p>
                  </a:txBody>
                  <a:tcPr>
                    <a:solidFill>
                      <a:srgbClr val="EEF3FA"/>
                    </a:solidFill>
                  </a:tcPr>
                </a:tc>
                <a:tc>
                  <a:txBody>
                    <a:bodyPr/>
                    <a:lstStyle/>
                    <a:p>
                      <a:pPr rtl="1" algn="r"/>
                      <a:r>
                        <a:rPr sz="1700" b="0" i="0" lang="ar-EG" altLang="en-US">
                          <a:solidFill>
                            <a:srgbClr val="1C2333"/>
                          </a:solidFill>
                          <a:latin typeface="Traditional Arabic"/>
                        </a:rPr>
                        <a:t>يساعد</a:t>
                      </a:r>
                    </a:p>
                  </a:txBody>
                  <a:tcPr>
                    <a:solidFill>
                      <a:srgbClr val="EEF3FA"/>
                    </a:solidFill>
                  </a:tcPr>
                </a:tc>
                <a:tc>
                  <a:txBody>
                    <a:bodyPr/>
                    <a:lstStyle/>
                    <a:p>
                      <a:pPr rtl="0" algn="l"/>
                      <a:r>
                        <a:rPr sz="1500" b="1" i="0" lang="en-US">
                          <a:solidFill>
                            <a:srgbClr val="94225B"/>
                          </a:solidFill>
                          <a:latin typeface="Segoe UI"/>
                        </a:rPr>
                        <a:t>get</a:t>
                      </a:r>
                    </a:p>
                  </a:txBody>
                  <a:tcPr>
                    <a:solidFill>
                      <a:srgbClr val="EEF3FA"/>
                    </a:solidFill>
                  </a:tcPr>
                </a:tc>
                <a:tc>
                  <a:txBody>
                    <a:bodyPr/>
                    <a:lstStyle/>
                    <a:p>
                      <a:pPr rtl="1" algn="r"/>
                      <a:r>
                        <a:rPr sz="1700" b="0" i="0" lang="ar-EG" altLang="en-US">
                          <a:solidFill>
                            <a:srgbClr val="1C2333"/>
                          </a:solidFill>
                          <a:latin typeface="Traditional Arabic"/>
                        </a:rPr>
                        <a:t>يحصل</a:t>
                      </a:r>
                    </a:p>
                  </a:txBody>
                  <a:tcPr>
                    <a:solidFill>
                      <a:srgbClr val="EEF3FA"/>
                    </a:solidFill>
                  </a:tcPr>
                </a:tc>
              </a:tr>
              <a:tr h="384048">
                <a:tc>
                  <a:txBody>
                    <a:bodyPr/>
                    <a:lstStyle/>
                    <a:p>
                      <a:pPr rtl="0" algn="l"/>
                      <a:r>
                        <a:rPr sz="1500" b="1" i="0" lang="en-US">
                          <a:solidFill>
                            <a:srgbClr val="94225B"/>
                          </a:solidFill>
                          <a:latin typeface="Segoe UI"/>
                        </a:rPr>
                        <a:t>like</a:t>
                      </a:r>
                    </a:p>
                  </a:txBody>
                  <a:tcPr>
                    <a:solidFill>
                      <a:srgbClr val="FFFFFF"/>
                    </a:solidFill>
                  </a:tcPr>
                </a:tc>
                <a:tc>
                  <a:txBody>
                    <a:bodyPr/>
                    <a:lstStyle/>
                    <a:p>
                      <a:pPr rtl="1" algn="r"/>
                      <a:r>
                        <a:rPr sz="1700" b="0" i="0" lang="ar-EG" altLang="en-US">
                          <a:solidFill>
                            <a:srgbClr val="1C2333"/>
                          </a:solidFill>
                          <a:latin typeface="Traditional Arabic"/>
                        </a:rPr>
                        <a:t>يحب</a:t>
                      </a:r>
                    </a:p>
                  </a:txBody>
                  <a:tcPr>
                    <a:solidFill>
                      <a:srgbClr val="FFFFFF"/>
                    </a:solidFill>
                  </a:tcPr>
                </a:tc>
                <a:tc>
                  <a:txBody>
                    <a:bodyPr/>
                    <a:lstStyle/>
                    <a:p>
                      <a:pPr rtl="0" algn="l"/>
                      <a:r>
                        <a:rPr sz="1500" b="1" i="0" lang="en-US">
                          <a:solidFill>
                            <a:srgbClr val="94225B"/>
                          </a:solidFill>
                          <a:latin typeface="Segoe UI"/>
                        </a:rPr>
                        <a:t>go</a:t>
                      </a:r>
                    </a:p>
                  </a:txBody>
                  <a:tcPr>
                    <a:solidFill>
                      <a:srgbClr val="FFFFFF"/>
                    </a:solidFill>
                  </a:tcPr>
                </a:tc>
                <a:tc>
                  <a:txBody>
                    <a:bodyPr/>
                    <a:lstStyle/>
                    <a:p>
                      <a:pPr rtl="1" algn="r"/>
                      <a:r>
                        <a:rPr sz="1700" b="0" i="0" lang="ar-EG" altLang="en-US">
                          <a:solidFill>
                            <a:srgbClr val="1C2333"/>
                          </a:solidFill>
                          <a:latin typeface="Traditional Arabic"/>
                        </a:rPr>
                        <a:t>يذهب</a:t>
                      </a:r>
                    </a:p>
                  </a:txBody>
                  <a:tcPr>
                    <a:solidFill>
                      <a:srgbClr val="FFFFFF"/>
                    </a:solidFill>
                  </a:tcPr>
                </a:tc>
                <a:tc>
                  <a:txBody>
                    <a:bodyPr/>
                    <a:lstStyle/>
                    <a:p>
                      <a:pPr rtl="0" algn="l"/>
                      <a:r>
                        <a:rPr sz="1500" b="1" i="0" lang="en-US">
                          <a:solidFill>
                            <a:srgbClr val="94225B"/>
                          </a:solidFill>
                          <a:latin typeface="Segoe UI"/>
                        </a:rPr>
                        <a:t>catch</a:t>
                      </a:r>
                    </a:p>
                  </a:txBody>
                  <a:tcPr>
                    <a:solidFill>
                      <a:srgbClr val="FFFFFF"/>
                    </a:solidFill>
                  </a:tcPr>
                </a:tc>
                <a:tc>
                  <a:txBody>
                    <a:bodyPr/>
                    <a:lstStyle/>
                    <a:p>
                      <a:pPr rtl="1" algn="r"/>
                      <a:r>
                        <a:rPr sz="1700" b="0" i="0" lang="ar-EG" altLang="en-US">
                          <a:solidFill>
                            <a:srgbClr val="1C2333"/>
                          </a:solidFill>
                          <a:latin typeface="Traditional Arabic"/>
                        </a:rPr>
                        <a:t>يلحق</a:t>
                      </a:r>
                    </a:p>
                  </a:txBody>
                  <a:tcPr>
                    <a:solidFill>
                      <a:srgbClr val="FFFFFF"/>
                    </a:solidFill>
                  </a:tcPr>
                </a:tc>
              </a:tr>
              <a:tr h="384048">
                <a:tc>
                  <a:txBody>
                    <a:bodyPr/>
                    <a:lstStyle/>
                    <a:p>
                      <a:pPr rtl="0" algn="l"/>
                      <a:r>
                        <a:rPr sz="1500" b="1" i="0" lang="en-US">
                          <a:solidFill>
                            <a:srgbClr val="94225B"/>
                          </a:solidFill>
                          <a:latin typeface="Segoe UI"/>
                        </a:rPr>
                        <a:t>eat</a:t>
                      </a:r>
                    </a:p>
                  </a:txBody>
                  <a:tcPr>
                    <a:solidFill>
                      <a:srgbClr val="EEF3FA"/>
                    </a:solidFill>
                  </a:tcPr>
                </a:tc>
                <a:tc>
                  <a:txBody>
                    <a:bodyPr/>
                    <a:lstStyle/>
                    <a:p>
                      <a:pPr rtl="1" algn="r"/>
                      <a:r>
                        <a:rPr sz="1700" b="0" i="0" lang="ar-EG" altLang="en-US">
                          <a:solidFill>
                            <a:srgbClr val="1C2333"/>
                          </a:solidFill>
                          <a:latin typeface="Traditional Arabic"/>
                        </a:rPr>
                        <a:t>يأكل</a:t>
                      </a:r>
                    </a:p>
                  </a:txBody>
                  <a:tcPr>
                    <a:solidFill>
                      <a:srgbClr val="EEF3FA"/>
                    </a:solidFill>
                  </a:tcPr>
                </a:tc>
                <a:tc>
                  <a:txBody>
                    <a:bodyPr/>
                    <a:lstStyle/>
                    <a:p>
                      <a:pPr rtl="0" algn="l"/>
                      <a:r>
                        <a:rPr sz="1500" b="1" i="0" lang="en-US">
                          <a:solidFill>
                            <a:srgbClr val="94225B"/>
                          </a:solidFill>
                          <a:latin typeface="Segoe UI"/>
                        </a:rPr>
                        <a:t>meet</a:t>
                      </a:r>
                    </a:p>
                  </a:txBody>
                  <a:tcPr>
                    <a:solidFill>
                      <a:srgbClr val="EEF3FA"/>
                    </a:solidFill>
                  </a:tcPr>
                </a:tc>
                <a:tc>
                  <a:txBody>
                    <a:bodyPr/>
                    <a:lstStyle/>
                    <a:p>
                      <a:pPr rtl="1" algn="r"/>
                      <a:r>
                        <a:rPr sz="1700" b="0" i="0" lang="ar-EG" altLang="en-US">
                          <a:solidFill>
                            <a:srgbClr val="1C2333"/>
                          </a:solidFill>
                          <a:latin typeface="Traditional Arabic"/>
                        </a:rPr>
                        <a:t>يقابل</a:t>
                      </a:r>
                    </a:p>
                  </a:txBody>
                  <a:tcPr>
                    <a:solidFill>
                      <a:srgbClr val="EEF3FA"/>
                    </a:solidFill>
                  </a:tcPr>
                </a:tc>
                <a:tc>
                  <a:txBody>
                    <a:bodyPr/>
                    <a:lstStyle/>
                    <a:p>
                      <a:pPr rtl="0" algn="l"/>
                      <a:r>
                        <a:rPr sz="1500" b="1" i="0" lang="en-US">
                          <a:solidFill>
                            <a:srgbClr val="94225B"/>
                          </a:solidFill>
                          <a:latin typeface="Segoe UI"/>
                        </a:rPr>
                        <a:t>wear</a:t>
                      </a:r>
                    </a:p>
                  </a:txBody>
                  <a:tcPr>
                    <a:solidFill>
                      <a:srgbClr val="EEF3FA"/>
                    </a:solidFill>
                  </a:tcPr>
                </a:tc>
                <a:tc>
                  <a:txBody>
                    <a:bodyPr/>
                    <a:lstStyle/>
                    <a:p>
                      <a:pPr rtl="1" algn="r"/>
                      <a:r>
                        <a:rPr sz="1700" b="0" i="0" lang="ar-EG" altLang="en-US">
                          <a:solidFill>
                            <a:srgbClr val="1C2333"/>
                          </a:solidFill>
                          <a:latin typeface="Traditional Arabic"/>
                        </a:rPr>
                        <a:t>يرتدي</a:t>
                      </a:r>
                    </a:p>
                  </a:txBody>
                  <a:tcPr>
                    <a:solidFill>
                      <a:srgbClr val="EEF3FA"/>
                    </a:solidFill>
                  </a:tcPr>
                </a:tc>
              </a:tr>
              <a:tr h="384048">
                <a:tc>
                  <a:txBody>
                    <a:bodyPr/>
                    <a:lstStyle/>
                    <a:p>
                      <a:pPr rtl="0" algn="l"/>
                      <a:r>
                        <a:rPr sz="1500" b="1" i="0" lang="en-US">
                          <a:solidFill>
                            <a:srgbClr val="94225B"/>
                          </a:solidFill>
                          <a:latin typeface="Segoe UI"/>
                        </a:rPr>
                        <a:t>drink</a:t>
                      </a:r>
                    </a:p>
                  </a:txBody>
                  <a:tcPr>
                    <a:solidFill>
                      <a:srgbClr val="FFFFFF"/>
                    </a:solidFill>
                  </a:tcPr>
                </a:tc>
                <a:tc>
                  <a:txBody>
                    <a:bodyPr/>
                    <a:lstStyle/>
                    <a:p>
                      <a:pPr rtl="1" algn="r"/>
                      <a:r>
                        <a:rPr sz="1700" b="0" i="0" lang="ar-EG" altLang="en-US">
                          <a:solidFill>
                            <a:srgbClr val="1C2333"/>
                          </a:solidFill>
                          <a:latin typeface="Traditional Arabic"/>
                        </a:rPr>
                        <a:t>يشرب</a:t>
                      </a:r>
                    </a:p>
                  </a:txBody>
                  <a:tcPr>
                    <a:solidFill>
                      <a:srgbClr val="FFFFFF"/>
                    </a:solidFill>
                  </a:tcPr>
                </a:tc>
                <a:tc>
                  <a:txBody>
                    <a:bodyPr/>
                    <a:lstStyle/>
                    <a:p>
                      <a:pPr rtl="0" algn="l"/>
                      <a:r>
                        <a:rPr sz="1500" b="1" i="0" lang="en-US">
                          <a:solidFill>
                            <a:srgbClr val="94225B"/>
                          </a:solidFill>
                          <a:latin typeface="Segoe UI"/>
                        </a:rPr>
                        <a:t>take</a:t>
                      </a:r>
                    </a:p>
                  </a:txBody>
                  <a:tcPr>
                    <a:solidFill>
                      <a:srgbClr val="FFFFFF"/>
                    </a:solidFill>
                  </a:tcPr>
                </a:tc>
                <a:tc>
                  <a:txBody>
                    <a:bodyPr/>
                    <a:lstStyle/>
                    <a:p>
                      <a:pPr rtl="1" algn="r"/>
                      <a:r>
                        <a:rPr sz="1700" b="0" i="0" lang="ar-EG" altLang="en-US">
                          <a:solidFill>
                            <a:srgbClr val="1C2333"/>
                          </a:solidFill>
                          <a:latin typeface="Traditional Arabic"/>
                        </a:rPr>
                        <a:t>يأخذ</a:t>
                      </a:r>
                    </a:p>
                  </a:txBody>
                  <a:tcPr>
                    <a:solidFill>
                      <a:srgbClr val="FFFFFF"/>
                    </a:solidFill>
                  </a:tcPr>
                </a:tc>
                <a:tc>
                  <a:txBody>
                    <a:bodyPr/>
                    <a:lstStyle/>
                    <a:p>
                      <a:pPr rtl="0" algn="l"/>
                      <a:r>
                        <a:rPr sz="1500" b="1" i="0" lang="en-US">
                          <a:solidFill>
                            <a:srgbClr val="94225B"/>
                          </a:solidFill>
                          <a:latin typeface="Segoe UI"/>
                        </a:rPr>
                        <a:t>buy</a:t>
                      </a:r>
                    </a:p>
                  </a:txBody>
                  <a:tcPr>
                    <a:solidFill>
                      <a:srgbClr val="FFFFFF"/>
                    </a:solidFill>
                  </a:tcPr>
                </a:tc>
                <a:tc>
                  <a:txBody>
                    <a:bodyPr/>
                    <a:lstStyle/>
                    <a:p>
                      <a:pPr rtl="1" algn="r"/>
                      <a:r>
                        <a:rPr sz="1700" b="0" i="0" lang="ar-EG" altLang="en-US">
                          <a:solidFill>
                            <a:srgbClr val="1C2333"/>
                          </a:solidFill>
                          <a:latin typeface="Traditional Arabic"/>
                        </a:rPr>
                        <a:t>يشتري</a:t>
                      </a:r>
                    </a:p>
                  </a:txBody>
                  <a:tcPr>
                    <a:solidFill>
                      <a:srgbClr val="FFFFFF"/>
                    </a:solidFill>
                  </a:tcPr>
                </a:tc>
              </a:tr>
              <a:tr h="384048">
                <a:tc>
                  <a:txBody>
                    <a:bodyPr/>
                    <a:lstStyle/>
                    <a:p>
                      <a:pPr rtl="0" algn="l"/>
                      <a:r>
                        <a:rPr sz="1500" b="1" i="0" lang="en-US">
                          <a:solidFill>
                            <a:srgbClr val="94225B"/>
                          </a:solidFill>
                          <a:latin typeface="Segoe UI"/>
                        </a:rPr>
                        <a:t>do / does</a:t>
                      </a:r>
                    </a:p>
                  </a:txBody>
                  <a:tcPr>
                    <a:solidFill>
                      <a:srgbClr val="EEF3FA"/>
                    </a:solidFill>
                  </a:tcPr>
                </a:tc>
                <a:tc>
                  <a:txBody>
                    <a:bodyPr/>
                    <a:lstStyle/>
                    <a:p>
                      <a:pPr rtl="1" algn="r"/>
                      <a:r>
                        <a:rPr sz="1700" b="0" i="0" lang="ar-EG" altLang="en-US">
                          <a:solidFill>
                            <a:srgbClr val="1C2333"/>
                          </a:solidFill>
                          <a:latin typeface="Traditional Arabic"/>
                        </a:rPr>
                        <a:t>يفعل</a:t>
                      </a:r>
                    </a:p>
                  </a:txBody>
                  <a:tcPr>
                    <a:solidFill>
                      <a:srgbClr val="EEF3FA"/>
                    </a:solidFill>
                  </a:tcPr>
                </a:tc>
                <a:tc>
                  <a:txBody>
                    <a:bodyPr/>
                    <a:lstStyle/>
                    <a:p>
                      <a:pPr rtl="0" algn="l"/>
                      <a:r>
                        <a:rPr sz="1500" b="1" i="0" lang="en-US">
                          <a:solidFill>
                            <a:srgbClr val="94225B"/>
                          </a:solidFill>
                          <a:latin typeface="Segoe UI"/>
                        </a:rPr>
                        <a:t>feel</a:t>
                      </a:r>
                    </a:p>
                  </a:txBody>
                  <a:tcPr>
                    <a:solidFill>
                      <a:srgbClr val="EEF3FA"/>
                    </a:solidFill>
                  </a:tcPr>
                </a:tc>
                <a:tc>
                  <a:txBody>
                    <a:bodyPr/>
                    <a:lstStyle/>
                    <a:p>
                      <a:pPr rtl="1" algn="r"/>
                      <a:r>
                        <a:rPr sz="1700" b="0" i="0" lang="ar-EG" altLang="en-US">
                          <a:solidFill>
                            <a:srgbClr val="1C2333"/>
                          </a:solidFill>
                          <a:latin typeface="Traditional Arabic"/>
                        </a:rPr>
                        <a:t>يشعر</a:t>
                      </a:r>
                    </a:p>
                  </a:txBody>
                  <a:tcPr>
                    <a:solidFill>
                      <a:srgbClr val="EEF3FA"/>
                    </a:solidFill>
                  </a:tcPr>
                </a:tc>
                <a:tc>
                  <a:txBody>
                    <a:bodyPr/>
                    <a:lstStyle/>
                    <a:p>
                      <a:pPr rtl="0" algn="l"/>
                      <a:r>
                        <a:rPr sz="1500" b="1" i="0" lang="en-US">
                          <a:solidFill>
                            <a:srgbClr val="94225B"/>
                          </a:solidFill>
                          <a:latin typeface="Segoe UI"/>
                        </a:rPr>
                        <a:t>ring</a:t>
                      </a:r>
                    </a:p>
                  </a:txBody>
                  <a:tcPr>
                    <a:solidFill>
                      <a:srgbClr val="EEF3FA"/>
                    </a:solidFill>
                  </a:tcPr>
                </a:tc>
                <a:tc>
                  <a:txBody>
                    <a:bodyPr/>
                    <a:lstStyle/>
                    <a:p>
                      <a:pPr rtl="1" algn="r"/>
                      <a:r>
                        <a:rPr sz="1700" b="0" i="0" lang="ar-EG" altLang="en-US">
                          <a:solidFill>
                            <a:srgbClr val="1C2333"/>
                          </a:solidFill>
                          <a:latin typeface="Traditional Arabic"/>
                        </a:rPr>
                        <a:t>يرن</a:t>
                      </a:r>
                    </a:p>
                  </a:txBody>
                  <a:tcPr>
                    <a:solidFill>
                      <a:srgbClr val="EEF3FA"/>
                    </a:solidFill>
                  </a:tcPr>
                </a:tc>
              </a:tr>
            </a:tbl>
          </a:graphicData>
        </a:graphic>
      </p:graphicFrame>
    </p:spTree>
  </p:cSld>
  <p:clrMapOvr>
    <a:masterClrMapping/>
  </p:clrMapOvr>
  <p:transition spd="med">
    <p:strips dir="ld"/>
  </p:transition>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225B"/>
                          </a:solidFill>
                          <a:latin typeface="Segoe UI"/>
                        </a:rPr>
                        <a:t>swim</a:t>
                      </a:r>
                    </a:p>
                  </a:txBody>
                  <a:tcPr>
                    <a:solidFill>
                      <a:srgbClr val="FFFFFF"/>
                    </a:solidFill>
                  </a:tcPr>
                </a:tc>
                <a:tc>
                  <a:txBody>
                    <a:bodyPr/>
                    <a:lstStyle/>
                    <a:p>
                      <a:pPr rtl="1" algn="r"/>
                      <a:r>
                        <a:rPr sz="1700" b="0" i="0" lang="ar-EG" altLang="en-US">
                          <a:solidFill>
                            <a:srgbClr val="1C2333"/>
                          </a:solidFill>
                          <a:latin typeface="Traditional Arabic"/>
                        </a:rPr>
                        <a:t>يسبح</a:t>
                      </a:r>
                    </a:p>
                  </a:txBody>
                  <a:tcPr>
                    <a:solidFill>
                      <a:srgbClr val="FFFFFF"/>
                    </a:solidFill>
                  </a:tcPr>
                </a:tc>
                <a:tc>
                  <a:txBody>
                    <a:bodyPr/>
                    <a:lstStyle/>
                    <a:p>
                      <a:pPr rtl="0" algn="l"/>
                      <a:r>
                        <a:rPr sz="1500" b="1" i="0" lang="en-US">
                          <a:solidFill>
                            <a:srgbClr val="94225B"/>
                          </a:solidFill>
                          <a:latin typeface="Segoe UI"/>
                        </a:rPr>
                        <a:t>learn</a:t>
                      </a:r>
                    </a:p>
                  </a:txBody>
                  <a:tcPr>
                    <a:solidFill>
                      <a:srgbClr val="FFFFFF"/>
                    </a:solidFill>
                  </a:tcPr>
                </a:tc>
                <a:tc>
                  <a:txBody>
                    <a:bodyPr/>
                    <a:lstStyle/>
                    <a:p>
                      <a:pPr rtl="1" algn="r"/>
                      <a:r>
                        <a:rPr sz="1700" b="0" i="0" lang="ar-EG" altLang="en-US">
                          <a:solidFill>
                            <a:srgbClr val="1C2333"/>
                          </a:solidFill>
                          <a:latin typeface="Traditional Arabic"/>
                        </a:rPr>
                        <a:t>يتعلم</a:t>
                      </a:r>
                    </a:p>
                  </a:txBody>
                  <a:tcPr>
                    <a:solidFill>
                      <a:srgbClr val="FFFFFF"/>
                    </a:solidFill>
                  </a:tcPr>
                </a:tc>
                <a:tc>
                  <a:txBody>
                    <a:bodyPr/>
                    <a:lstStyle/>
                    <a:p>
                      <a:pPr rtl="0" algn="l"/>
                      <a:r>
                        <a:rPr sz="1500" b="1" i="0" lang="en-US">
                          <a:solidFill>
                            <a:srgbClr val="94225B"/>
                          </a:solidFill>
                          <a:latin typeface="Segoe UI"/>
                        </a:rPr>
                        <a:t>think</a:t>
                      </a:r>
                    </a:p>
                  </a:txBody>
                  <a:tcPr>
                    <a:solidFill>
                      <a:srgbClr val="FFFFFF"/>
                    </a:solidFill>
                  </a:tcPr>
                </a:tc>
                <a:tc>
                  <a:txBody>
                    <a:bodyPr/>
                    <a:lstStyle/>
                    <a:p>
                      <a:pPr rtl="1" algn="r"/>
                      <a:r>
                        <a:rPr sz="1700" b="0" i="0" lang="ar-EG" altLang="en-US">
                          <a:solidFill>
                            <a:srgbClr val="1C2333"/>
                          </a:solidFill>
                          <a:latin typeface="Traditional Arabic"/>
                        </a:rPr>
                        <a:t>يفكر</a:t>
                      </a:r>
                    </a:p>
                  </a:txBody>
                  <a:tcPr>
                    <a:solidFill>
                      <a:srgbClr val="FFFFFF"/>
                    </a:solidFill>
                  </a:tcPr>
                </a:tc>
              </a:tr>
              <a:tr h="384048">
                <a:tc>
                  <a:txBody>
                    <a:bodyPr/>
                    <a:lstStyle/>
                    <a:p>
                      <a:pPr rtl="0" algn="l"/>
                      <a:r>
                        <a:rPr sz="1500" b="1" i="0" lang="en-US">
                          <a:solidFill>
                            <a:srgbClr val="94225B"/>
                          </a:solidFill>
                          <a:latin typeface="Segoe UI"/>
                        </a:rPr>
                        <a:t>give</a:t>
                      </a:r>
                    </a:p>
                  </a:txBody>
                  <a:tcPr>
                    <a:solidFill>
                      <a:srgbClr val="EEF3FA"/>
                    </a:solidFill>
                  </a:tcPr>
                </a:tc>
                <a:tc>
                  <a:txBody>
                    <a:bodyPr/>
                    <a:lstStyle/>
                    <a:p>
                      <a:pPr rtl="1" algn="r"/>
                      <a:r>
                        <a:rPr sz="1700" b="0" i="0" lang="ar-EG" altLang="en-US">
                          <a:solidFill>
                            <a:srgbClr val="1C2333"/>
                          </a:solidFill>
                          <a:latin typeface="Traditional Arabic"/>
                        </a:rPr>
                        <a:t>يعطي</a:t>
                      </a:r>
                    </a:p>
                  </a:txBody>
                  <a:tcPr>
                    <a:solidFill>
                      <a:srgbClr val="EEF3FA"/>
                    </a:solidFill>
                  </a:tcPr>
                </a:tc>
                <a:tc>
                  <a:txBody>
                    <a:bodyPr/>
                    <a:lstStyle/>
                    <a:p>
                      <a:pPr rtl="0" algn="l"/>
                      <a:r>
                        <a:rPr sz="1500" b="1" i="0" lang="en-US">
                          <a:solidFill>
                            <a:srgbClr val="94225B"/>
                          </a:solidFill>
                          <a:latin typeface="Segoe UI"/>
                        </a:rPr>
                        <a:t>watch</a:t>
                      </a:r>
                    </a:p>
                  </a:txBody>
                  <a:tcPr>
                    <a:solidFill>
                      <a:srgbClr val="EEF3FA"/>
                    </a:solidFill>
                  </a:tcPr>
                </a:tc>
                <a:tc>
                  <a:txBody>
                    <a:bodyPr/>
                    <a:lstStyle/>
                    <a:p>
                      <a:pPr rtl="1" algn="r"/>
                      <a:r>
                        <a:rPr sz="1700" b="0" i="0" lang="ar-EG" altLang="en-US">
                          <a:solidFill>
                            <a:srgbClr val="1C2333"/>
                          </a:solidFill>
                          <a:latin typeface="Traditional Arabic"/>
                        </a:rPr>
                        <a:t>يشاهد</a:t>
                      </a:r>
                    </a:p>
                  </a:txBody>
                  <a:tcPr>
                    <a:solidFill>
                      <a:srgbClr val="EEF3FA"/>
                    </a:solidFill>
                  </a:tcPr>
                </a:tc>
                <a:tc>
                  <a:txBody>
                    <a:bodyPr/>
                    <a:lstStyle/>
                    <a:p>
                      <a:pPr rtl="0" algn="l"/>
                      <a:r>
                        <a:rPr sz="1500" b="1" i="0" lang="en-US">
                          <a:solidFill>
                            <a:srgbClr val="94225B"/>
                          </a:solidFill>
                          <a:latin typeface="Segoe UI"/>
                        </a:rPr>
                        <a:t>thank</a:t>
                      </a:r>
                    </a:p>
                  </a:txBody>
                  <a:tcPr>
                    <a:solidFill>
                      <a:srgbClr val="EEF3FA"/>
                    </a:solidFill>
                  </a:tcPr>
                </a:tc>
                <a:tc>
                  <a:txBody>
                    <a:bodyPr/>
                    <a:lstStyle/>
                    <a:p>
                      <a:pPr rtl="1" algn="r"/>
                      <a:r>
                        <a:rPr sz="1700" b="0" i="0" lang="ar-EG" altLang="en-US">
                          <a:solidFill>
                            <a:srgbClr val="1C2333"/>
                          </a:solidFill>
                          <a:latin typeface="Traditional Arabic"/>
                        </a:rPr>
                        <a:t>يشكر</a:t>
                      </a:r>
                    </a:p>
                  </a:txBody>
                  <a:tcPr>
                    <a:solidFill>
                      <a:srgbClr val="EEF3FA"/>
                    </a:solidFill>
                  </a:tcPr>
                </a:tc>
              </a:tr>
              <a:tr h="384048">
                <a:tc>
                  <a:txBody>
                    <a:bodyPr/>
                    <a:lstStyle/>
                    <a:p>
                      <a:pPr rtl="0" algn="l"/>
                      <a:r>
                        <a:rPr sz="1500" b="1" i="0" lang="en-US">
                          <a:solidFill>
                            <a:srgbClr val="94225B"/>
                          </a:solidFill>
                          <a:latin typeface="Segoe UI"/>
                        </a:rPr>
                        <a:t>build</a:t>
                      </a:r>
                    </a:p>
                  </a:txBody>
                  <a:tcPr>
                    <a:solidFill>
                      <a:srgbClr val="FFFFFF"/>
                    </a:solidFill>
                  </a:tcPr>
                </a:tc>
                <a:tc>
                  <a:txBody>
                    <a:bodyPr/>
                    <a:lstStyle/>
                    <a:p>
                      <a:pPr rtl="1" algn="r"/>
                      <a:r>
                        <a:rPr sz="1700" b="0" i="0" lang="ar-EG" altLang="en-US">
                          <a:solidFill>
                            <a:srgbClr val="1C2333"/>
                          </a:solidFill>
                          <a:latin typeface="Traditional Arabic"/>
                        </a:rPr>
                        <a:t>يبني</a:t>
                      </a:r>
                    </a:p>
                  </a:txBody>
                  <a:tcPr>
                    <a:solidFill>
                      <a:srgbClr val="FFFFFF"/>
                    </a:solidFill>
                  </a:tcPr>
                </a:tc>
                <a:tc>
                  <a:txBody>
                    <a:bodyPr/>
                    <a:lstStyle/>
                    <a:p>
                      <a:pPr rtl="0" algn="l"/>
                      <a:r>
                        <a:rPr sz="1500" b="1" i="0" lang="en-US">
                          <a:solidFill>
                            <a:srgbClr val="94225B"/>
                          </a:solidFill>
                          <a:latin typeface="Segoe UI"/>
                        </a:rPr>
                        <a:t>stand</a:t>
                      </a:r>
                    </a:p>
                  </a:txBody>
                  <a:tcPr>
                    <a:solidFill>
                      <a:srgbClr val="FFFFFF"/>
                    </a:solidFill>
                  </a:tcPr>
                </a:tc>
                <a:tc>
                  <a:txBody>
                    <a:bodyPr/>
                    <a:lstStyle/>
                    <a:p>
                      <a:pPr rtl="1" algn="r"/>
                      <a:r>
                        <a:rPr sz="1700" b="0" i="0" lang="ar-EG" altLang="en-US">
                          <a:solidFill>
                            <a:srgbClr val="1C2333"/>
                          </a:solidFill>
                          <a:latin typeface="Traditional Arabic"/>
                        </a:rPr>
                        <a:t>يقف</a:t>
                      </a:r>
                    </a:p>
                  </a:txBody>
                  <a:tcPr>
                    <a:solidFill>
                      <a:srgbClr val="FFFFFF"/>
                    </a:solidFill>
                  </a:tcPr>
                </a:tc>
                <a:tc>
                  <a:txBody>
                    <a:bodyPr/>
                    <a:lstStyle/>
                    <a:p>
                      <a:pPr rtl="0" algn="l"/>
                      <a:r>
                        <a:rPr sz="1500" b="1" i="0" lang="en-US">
                          <a:solidFill>
                            <a:srgbClr val="94225B"/>
                          </a:solidFill>
                          <a:latin typeface="Segoe UI"/>
                        </a:rPr>
                        <a:t>choose</a:t>
                      </a:r>
                    </a:p>
                  </a:txBody>
                  <a:tcPr>
                    <a:solidFill>
                      <a:srgbClr val="FFFFFF"/>
                    </a:solidFill>
                  </a:tcPr>
                </a:tc>
                <a:tc>
                  <a:txBody>
                    <a:bodyPr/>
                    <a:lstStyle/>
                    <a:p>
                      <a:pPr rtl="1" algn="r"/>
                      <a:r>
                        <a:rPr sz="1700" b="0" i="0" lang="ar-EG" altLang="en-US">
                          <a:solidFill>
                            <a:srgbClr val="1C2333"/>
                          </a:solidFill>
                          <a:latin typeface="Traditional Arabic"/>
                        </a:rPr>
                        <a:t>يختار</a:t>
                      </a:r>
                    </a:p>
                  </a:txBody>
                  <a:tcPr>
                    <a:solidFill>
                      <a:srgbClr val="FFFFFF"/>
                    </a:solidFill>
                  </a:tcPr>
                </a:tc>
              </a:tr>
              <a:tr h="384048">
                <a:tc>
                  <a:txBody>
                    <a:bodyPr/>
                    <a:lstStyle/>
                    <a:p>
                      <a:pPr rtl="0" algn="l"/>
                      <a:r>
                        <a:rPr sz="1500" b="1" i="0" lang="en-US">
                          <a:solidFill>
                            <a:srgbClr val="94225B"/>
                          </a:solidFill>
                          <a:latin typeface="Segoe UI"/>
                        </a:rPr>
                        <a:t>sleep</a:t>
                      </a:r>
                    </a:p>
                  </a:txBody>
                  <a:tcPr>
                    <a:solidFill>
                      <a:srgbClr val="EEF3FA"/>
                    </a:solidFill>
                  </a:tcPr>
                </a:tc>
                <a:tc>
                  <a:txBody>
                    <a:bodyPr/>
                    <a:lstStyle/>
                    <a:p>
                      <a:pPr rtl="1" algn="r"/>
                      <a:r>
                        <a:rPr sz="1700" b="0" i="0" lang="ar-EG" altLang="en-US">
                          <a:solidFill>
                            <a:srgbClr val="1C2333"/>
                          </a:solidFill>
                          <a:latin typeface="Traditional Arabic"/>
                        </a:rPr>
                        <a:t>ينام</a:t>
                      </a:r>
                    </a:p>
                  </a:txBody>
                  <a:tcPr>
                    <a:solidFill>
                      <a:srgbClr val="EEF3FA"/>
                    </a:solidFill>
                  </a:tcPr>
                </a:tc>
                <a:tc>
                  <a:txBody>
                    <a:bodyPr/>
                    <a:lstStyle/>
                    <a:p>
                      <a:pPr rtl="0" algn="l"/>
                      <a:r>
                        <a:rPr sz="1500" b="1" i="0" lang="en-US">
                          <a:solidFill>
                            <a:srgbClr val="94225B"/>
                          </a:solidFill>
                          <a:latin typeface="Segoe UI"/>
                        </a:rPr>
                        <a:t>lose</a:t>
                      </a:r>
                    </a:p>
                  </a:txBody>
                  <a:tcPr>
                    <a:solidFill>
                      <a:srgbClr val="EEF3FA"/>
                    </a:solidFill>
                  </a:tcPr>
                </a:tc>
                <a:tc>
                  <a:txBody>
                    <a:bodyPr/>
                    <a:lstStyle/>
                    <a:p>
                      <a:pPr rtl="1" algn="r"/>
                      <a:r>
                        <a:rPr sz="1700" b="0" i="0" lang="ar-EG" altLang="en-US">
                          <a:solidFill>
                            <a:srgbClr val="1C2333"/>
                          </a:solidFill>
                          <a:latin typeface="Traditional Arabic"/>
                        </a:rPr>
                        <a:t>يفقد</a:t>
                      </a:r>
                    </a:p>
                  </a:txBody>
                  <a:tcPr>
                    <a:solidFill>
                      <a:srgbClr val="EEF3FA"/>
                    </a:solidFill>
                  </a:tcPr>
                </a:tc>
                <a:tc>
                  <a:txBody>
                    <a:bodyPr/>
                    <a:lstStyle/>
                    <a:p>
                      <a:pPr rtl="0" algn="l"/>
                      <a:r>
                        <a:rPr sz="1500" b="1" i="0" lang="en-US">
                          <a:solidFill>
                            <a:srgbClr val="94225B"/>
                          </a:solidFill>
                          <a:latin typeface="Segoe UI"/>
                        </a:rPr>
                        <a:t>win</a:t>
                      </a:r>
                    </a:p>
                  </a:txBody>
                  <a:tcPr>
                    <a:solidFill>
                      <a:srgbClr val="EEF3FA"/>
                    </a:solidFill>
                  </a:tcPr>
                </a:tc>
                <a:tc>
                  <a:txBody>
                    <a:bodyPr/>
                    <a:lstStyle/>
                    <a:p>
                      <a:pPr rtl="1" algn="r"/>
                      <a:r>
                        <a:rPr sz="1700" b="0" i="0" lang="ar-EG" altLang="en-US">
                          <a:solidFill>
                            <a:srgbClr val="1C2333"/>
                          </a:solidFill>
                          <a:latin typeface="Traditional Arabic"/>
                        </a:rPr>
                        <a:t>يفوز</a:t>
                      </a:r>
                    </a:p>
                  </a:txBody>
                  <a:tcPr>
                    <a:solidFill>
                      <a:srgbClr val="EEF3FA"/>
                    </a:solidFill>
                  </a:tcPr>
                </a:tc>
              </a:tr>
              <a:tr h="384048">
                <a:tc>
                  <a:txBody>
                    <a:bodyPr/>
                    <a:lstStyle/>
                    <a:p>
                      <a:pPr rtl="0" algn="l"/>
                      <a:r>
                        <a:rPr sz="1500" b="1" i="0" lang="en-US">
                          <a:solidFill>
                            <a:srgbClr val="94225B"/>
                          </a:solidFill>
                          <a:latin typeface="Segoe UI"/>
                        </a:rPr>
                        <a:t>read</a:t>
                      </a:r>
                    </a:p>
                  </a:txBody>
                  <a:tcPr>
                    <a:solidFill>
                      <a:srgbClr val="FFFFFF"/>
                    </a:solidFill>
                  </a:tcPr>
                </a:tc>
                <a:tc>
                  <a:txBody>
                    <a:bodyPr/>
                    <a:lstStyle/>
                    <a:p>
                      <a:pPr rtl="1" algn="r"/>
                      <a:r>
                        <a:rPr sz="1700" b="0" i="0" lang="ar-EG" altLang="en-US">
                          <a:solidFill>
                            <a:srgbClr val="1C2333"/>
                          </a:solidFill>
                          <a:latin typeface="Traditional Arabic"/>
                        </a:rPr>
                        <a:t>يقرأ</a:t>
                      </a:r>
                    </a:p>
                  </a:txBody>
                  <a:tcPr>
                    <a:solidFill>
                      <a:srgbClr val="FFFFFF"/>
                    </a:solidFill>
                  </a:tcPr>
                </a:tc>
                <a:tc>
                  <a:txBody>
                    <a:bodyPr/>
                    <a:lstStyle/>
                    <a:p>
                      <a:pPr rtl="0" algn="l"/>
                      <a:r>
                        <a:rPr sz="1500" b="1" i="0" lang="en-US">
                          <a:solidFill>
                            <a:srgbClr val="94225B"/>
                          </a:solidFill>
                          <a:latin typeface="Segoe UI"/>
                        </a:rPr>
                        <a:t>sweep</a:t>
                      </a:r>
                    </a:p>
                  </a:txBody>
                  <a:tcPr>
                    <a:solidFill>
                      <a:srgbClr val="FFFFFF"/>
                    </a:solidFill>
                  </a:tcPr>
                </a:tc>
                <a:tc>
                  <a:txBody>
                    <a:bodyPr/>
                    <a:lstStyle/>
                    <a:p>
                      <a:pPr rtl="1" algn="r"/>
                      <a:r>
                        <a:rPr sz="1700" b="0" i="0" lang="ar-EG" altLang="en-US">
                          <a:solidFill>
                            <a:srgbClr val="1C2333"/>
                          </a:solidFill>
                          <a:latin typeface="Traditional Arabic"/>
                        </a:rPr>
                        <a:t>يكنس</a:t>
                      </a:r>
                    </a:p>
                  </a:txBody>
                  <a:tcPr>
                    <a:solidFill>
                      <a:srgbClr val="FFFFFF"/>
                    </a:solidFill>
                  </a:tcPr>
                </a:tc>
                <a:tc>
                  <a:txBody>
                    <a:bodyPr/>
                    <a:lstStyle/>
                    <a:p>
                      <a:pPr rtl="0" algn="l"/>
                      <a:r>
                        <a:rPr sz="1500" b="1" i="0" lang="en-US">
                          <a:solidFill>
                            <a:srgbClr val="94225B"/>
                          </a:solidFill>
                          <a:latin typeface="Segoe UI"/>
                        </a:rPr>
                        <a:t>fly</a:t>
                      </a:r>
                    </a:p>
                  </a:txBody>
                  <a:tcPr>
                    <a:solidFill>
                      <a:srgbClr val="FFFFFF"/>
                    </a:solidFill>
                  </a:tcPr>
                </a:tc>
                <a:tc>
                  <a:txBody>
                    <a:bodyPr/>
                    <a:lstStyle/>
                    <a:p>
                      <a:pPr rtl="1" algn="r"/>
                      <a:r>
                        <a:rPr sz="1700" b="0" i="0" lang="ar-EG" altLang="en-US">
                          <a:solidFill>
                            <a:srgbClr val="1C2333"/>
                          </a:solidFill>
                          <a:latin typeface="Traditional Arabic"/>
                        </a:rPr>
                        <a:t>يطير</a:t>
                      </a:r>
                    </a:p>
                  </a:txBody>
                  <a:tcPr>
                    <a:solidFill>
                      <a:srgbClr val="FFFFFF"/>
                    </a:solidFill>
                  </a:tcPr>
                </a:tc>
              </a:tr>
              <a:tr h="384048">
                <a:tc>
                  <a:txBody>
                    <a:bodyPr/>
                    <a:lstStyle/>
                    <a:p>
                      <a:pPr rtl="0" algn="l"/>
                      <a:r>
                        <a:rPr sz="1500" b="1" i="0" lang="en-US">
                          <a:solidFill>
                            <a:srgbClr val="94225B"/>
                          </a:solidFill>
                          <a:latin typeface="Segoe UI"/>
                        </a:rPr>
                        <a:t>come</a:t>
                      </a:r>
                    </a:p>
                  </a:txBody>
                  <a:tcPr>
                    <a:solidFill>
                      <a:srgbClr val="EEF3FA"/>
                    </a:solidFill>
                  </a:tcPr>
                </a:tc>
                <a:tc>
                  <a:txBody>
                    <a:bodyPr/>
                    <a:lstStyle/>
                    <a:p>
                      <a:pPr rtl="1" algn="r"/>
                      <a:r>
                        <a:rPr sz="1700" b="0" i="0" lang="ar-EG" altLang="en-US">
                          <a:solidFill>
                            <a:srgbClr val="1C2333"/>
                          </a:solidFill>
                          <a:latin typeface="Traditional Arabic"/>
                        </a:rPr>
                        <a:t>يأتي</a:t>
                      </a:r>
                    </a:p>
                  </a:txBody>
                  <a:tcPr>
                    <a:solidFill>
                      <a:srgbClr val="EEF3FA"/>
                    </a:solidFill>
                  </a:tcPr>
                </a:tc>
                <a:tc>
                  <a:txBody>
                    <a:bodyPr/>
                    <a:lstStyle/>
                    <a:p>
                      <a:pPr rtl="0" algn="l"/>
                      <a:r>
                        <a:rPr sz="1500" b="1" i="0" lang="en-US">
                          <a:solidFill>
                            <a:srgbClr val="94225B"/>
                          </a:solidFill>
                          <a:latin typeface="Segoe UI"/>
                        </a:rPr>
                        <a:t>forget</a:t>
                      </a:r>
                    </a:p>
                  </a:txBody>
                  <a:tcPr>
                    <a:solidFill>
                      <a:srgbClr val="EEF3FA"/>
                    </a:solidFill>
                  </a:tcPr>
                </a:tc>
                <a:tc>
                  <a:txBody>
                    <a:bodyPr/>
                    <a:lstStyle/>
                    <a:p>
                      <a:pPr rtl="1" algn="r"/>
                      <a:r>
                        <a:rPr sz="1700" b="0" i="0" lang="ar-EG" altLang="en-US">
                          <a:solidFill>
                            <a:srgbClr val="1C2333"/>
                          </a:solidFill>
                          <a:latin typeface="Traditional Arabic"/>
                        </a:rPr>
                        <a:t>ينسى</a:t>
                      </a:r>
                    </a:p>
                  </a:txBody>
                  <a:tcPr>
                    <a:solidFill>
                      <a:srgbClr val="EEF3FA"/>
                    </a:solidFill>
                  </a:tcPr>
                </a:tc>
                <a:tc>
                  <a:txBody>
                    <a:bodyPr/>
                    <a:lstStyle/>
                    <a:p>
                      <a:pPr rtl="0" algn="l"/>
                      <a:r>
                        <a:rPr sz="1500" b="1" i="0" lang="en-US">
                          <a:solidFill>
                            <a:srgbClr val="94225B"/>
                          </a:solidFill>
                          <a:latin typeface="Segoe UI"/>
                        </a:rPr>
                        <a:t>see</a:t>
                      </a:r>
                    </a:p>
                  </a:txBody>
                  <a:tcPr>
                    <a:solidFill>
                      <a:srgbClr val="EEF3FA"/>
                    </a:solidFill>
                  </a:tcPr>
                </a:tc>
                <a:tc>
                  <a:txBody>
                    <a:bodyPr/>
                    <a:lstStyle/>
                    <a:p>
                      <a:pPr rtl="1" algn="r"/>
                      <a:r>
                        <a:rPr sz="1700" b="0" i="0" lang="ar-EG" altLang="en-US">
                          <a:solidFill>
                            <a:srgbClr val="1C2333"/>
                          </a:solidFill>
                          <a:latin typeface="Traditional Arabic"/>
                        </a:rPr>
                        <a:t>يرى</a:t>
                      </a:r>
                    </a:p>
                  </a:txBody>
                  <a:tcPr>
                    <a:solidFill>
                      <a:srgbClr val="EEF3FA"/>
                    </a:solidFill>
                  </a:tcPr>
                </a:tc>
              </a:tr>
              <a:tr h="384048">
                <a:tc>
                  <a:txBody>
                    <a:bodyPr/>
                    <a:lstStyle/>
                    <a:p>
                      <a:pPr rtl="0" algn="l"/>
                      <a:r>
                        <a:rPr sz="1500" b="1" i="0" lang="en-US">
                          <a:solidFill>
                            <a:srgbClr val="94225B"/>
                          </a:solidFill>
                          <a:latin typeface="Segoe UI"/>
                        </a:rPr>
                        <a:t>ride</a:t>
                      </a:r>
                    </a:p>
                  </a:txBody>
                  <a:tcPr>
                    <a:solidFill>
                      <a:srgbClr val="FFFFFF"/>
                    </a:solidFill>
                  </a:tcPr>
                </a:tc>
                <a:tc>
                  <a:txBody>
                    <a:bodyPr/>
                    <a:lstStyle/>
                    <a:p>
                      <a:pPr rtl="1" algn="r"/>
                      <a:r>
                        <a:rPr sz="1700" b="0" i="0" lang="ar-EG" altLang="en-US">
                          <a:solidFill>
                            <a:srgbClr val="1C2333"/>
                          </a:solidFill>
                          <a:latin typeface="Traditional Arabic"/>
                        </a:rPr>
                        <a:t>يركب</a:t>
                      </a:r>
                    </a:p>
                  </a:txBody>
                  <a:tcPr>
                    <a:solidFill>
                      <a:srgbClr val="FFFFFF"/>
                    </a:solidFill>
                  </a:tcPr>
                </a:tc>
                <a:tc>
                  <a:txBody>
                    <a:bodyPr/>
                    <a:lstStyle/>
                    <a:p>
                      <a:pPr rtl="0" algn="l"/>
                      <a:r>
                        <a:rPr sz="1500" b="1" i="0" lang="en-US">
                          <a:solidFill>
                            <a:srgbClr val="94225B"/>
                          </a:solidFill>
                          <a:latin typeface="Segoe UI"/>
                        </a:rPr>
                        <a:t>send</a:t>
                      </a:r>
                    </a:p>
                  </a:txBody>
                  <a:tcPr>
                    <a:solidFill>
                      <a:srgbClr val="FFFFFF"/>
                    </a:solidFill>
                  </a:tcPr>
                </a:tc>
                <a:tc>
                  <a:txBody>
                    <a:bodyPr/>
                    <a:lstStyle/>
                    <a:p>
                      <a:pPr rtl="1" algn="r"/>
                      <a:r>
                        <a:rPr sz="1700" b="0" i="0" lang="ar-EG" altLang="en-US">
                          <a:solidFill>
                            <a:srgbClr val="1C2333"/>
                          </a:solidFill>
                          <a:latin typeface="Traditional Arabic"/>
                        </a:rPr>
                        <a:t>يرسل</a:t>
                      </a:r>
                    </a:p>
                  </a:txBody>
                  <a:tcPr>
                    <a:solidFill>
                      <a:srgbClr val="FFFFFF"/>
                    </a:solidFill>
                  </a:tcPr>
                </a:tc>
                <a:tc>
                  <a:txBody>
                    <a:bodyPr/>
                    <a:lstStyle/>
                    <a:p>
                      <a:pPr rtl="0" algn="l"/>
                      <a:r>
                        <a:rPr sz="1500" b="1" i="0" lang="en-US">
                          <a:solidFill>
                            <a:srgbClr val="94225B"/>
                          </a:solidFill>
                          <a:latin typeface="Segoe UI"/>
                        </a:rPr>
                        <a:t>sink</a:t>
                      </a:r>
                    </a:p>
                  </a:txBody>
                  <a:tcPr>
                    <a:solidFill>
                      <a:srgbClr val="FFFFFF"/>
                    </a:solidFill>
                  </a:tcPr>
                </a:tc>
                <a:tc>
                  <a:txBody>
                    <a:bodyPr/>
                    <a:lstStyle/>
                    <a:p>
                      <a:pPr rtl="1" algn="r"/>
                      <a:r>
                        <a:rPr sz="1700" b="0" i="0" lang="ar-EG" altLang="en-US">
                          <a:solidFill>
                            <a:srgbClr val="1C2333"/>
                          </a:solidFill>
                          <a:latin typeface="Traditional Arabic"/>
                        </a:rPr>
                        <a:t>يغوص</a:t>
                      </a:r>
                    </a:p>
                  </a:txBody>
                  <a:tcPr>
                    <a:solidFill>
                      <a:srgbClr val="FFFFFF"/>
                    </a:solidFill>
                  </a:tcPr>
                </a:tc>
              </a:tr>
              <a:tr h="384048">
                <a:tc>
                  <a:txBody>
                    <a:bodyPr/>
                    <a:lstStyle/>
                    <a:p>
                      <a:pPr rtl="0" algn="l"/>
                      <a:r>
                        <a:rPr sz="1500" b="1" i="0" lang="en-US">
                          <a:solidFill>
                            <a:srgbClr val="94225B"/>
                          </a:solidFill>
                          <a:latin typeface="Segoe UI"/>
                        </a:rPr>
                        <a:t>speak</a:t>
                      </a:r>
                    </a:p>
                  </a:txBody>
                  <a:tcPr>
                    <a:solidFill>
                      <a:srgbClr val="EEF3FA"/>
                    </a:solidFill>
                  </a:tcPr>
                </a:tc>
                <a:tc>
                  <a:txBody>
                    <a:bodyPr/>
                    <a:lstStyle/>
                    <a:p>
                      <a:pPr rtl="1" algn="r"/>
                      <a:r>
                        <a:rPr sz="1700" b="0" i="0" lang="ar-EG" altLang="en-US">
                          <a:solidFill>
                            <a:srgbClr val="1C2333"/>
                          </a:solidFill>
                          <a:latin typeface="Traditional Arabic"/>
                        </a:rPr>
                        <a:t>يتحدث</a:t>
                      </a:r>
                    </a:p>
                  </a:txBody>
                  <a:tcPr>
                    <a:solidFill>
                      <a:srgbClr val="EEF3FA"/>
                    </a:solidFill>
                  </a:tcPr>
                </a:tc>
                <a:tc>
                  <a:txBody>
                    <a:bodyPr/>
                    <a:lstStyle/>
                    <a:p>
                      <a:pPr rtl="0" algn="l"/>
                      <a:r>
                        <a:rPr sz="1500" b="1" i="0" lang="en-US">
                          <a:solidFill>
                            <a:srgbClr val="94225B"/>
                          </a:solidFill>
                          <a:latin typeface="Segoe UI"/>
                        </a:rPr>
                        <a:t>bring</a:t>
                      </a:r>
                    </a:p>
                  </a:txBody>
                  <a:tcPr>
                    <a:solidFill>
                      <a:srgbClr val="EEF3FA"/>
                    </a:solidFill>
                  </a:tcPr>
                </a:tc>
                <a:tc>
                  <a:txBody>
                    <a:bodyPr/>
                    <a:lstStyle/>
                    <a:p>
                      <a:pPr rtl="1" algn="r"/>
                      <a:r>
                        <a:rPr sz="1700" b="0" i="0" lang="ar-EG" altLang="en-US">
                          <a:solidFill>
                            <a:srgbClr val="1C2333"/>
                          </a:solidFill>
                          <a:latin typeface="Traditional Arabic"/>
                        </a:rPr>
                        <a:t>يحضر</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transition spd="med">
    <p:wheel spokes="4"/>
  </p:transition>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A) Put (like – likes)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She …… reading.   (like – likes)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 …… to study English.   (like – likes)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My mother …… chocolate.   (like – likes)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Lions …… to eat meat.   (like – likes)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They …… swimming.   (like – likes)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It …… drinking milk.   (like – likes)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He …… mangoes.   (like – likes)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A) Put (like – likes)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We …… reading stories.   (like – likes)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You …… watching TV.   (like – likes)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My parents …… running.   (like – likes)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My sister …… chips.   (like – likes)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You …… listening to music.   (like – likes)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It …… climbing mountains.   (like – likes)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 …… to study English.   (like – likes)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like reading.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like reading.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likes to study English.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like to study English.</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Lions like eating grass.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Lions don't like eating grass.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My mum likes reading English.</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doesn't like reading English.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likes running.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like running.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They like to play football.</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like to play football.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sister likes chips.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doesn't like chips.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We like drinking coffee.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don't like drinking coffee.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It likes to drink milk.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doesn't like to drink milk.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Birds like to fly high in the sky.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Birds don't like to fly high in the sky.</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like playing football.</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like playing football?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It likes to eat meat.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like to eat meat?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like studying English.</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studying English?</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Sara likes mangoes.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Sara like mangoes?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Dogs like drinking milk.</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dogs like drinking milk?</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parents like reading.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your parents like reading?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He likes to get up early.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like to get up early?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She likes listening to music.</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listening to music?</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You like climbing trees.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I like climbing trees?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like to help my father.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to help your father?</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D) Answer with Yes or No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Do you like reading?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Does she like to study English?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Do they like oranges?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Do your parents like reading?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Do we like to swim?</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we do. / No, we don't.</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D) Answer with Yes or No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Do dogs like fish?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Does your sister like apples?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Does it like fish?</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does. / No, it doesn't.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Do you like swimming?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Does he like juice?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D) Answer with Yes or No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Does your brother like to play football?</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No, I don't like reading French.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reading French?</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Yes, she likes to play tennis.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to play tennis?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No, my parents don't like running.</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your parents like running?</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Yes, they like studying English.</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like studying English?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No, my sister doesn't like chips.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your sister like chips?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No, we don't like to swim in the sea.</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to swim in the sea?</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Yes, it likes to drink milk.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like to drink milk?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No, he doesn't like playing football.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like playing football?</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Yes, I like chips.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chips?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No, my brother doesn't like watching TV.</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your brother like watching TV?</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Yes, we like to get up early.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to get up early?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He likes reading English.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he like reading?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I like to play football.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 to play?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They like meat.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they like?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It likes milk.</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it like?</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She likes fish.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she like?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We like to drink coffee.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 to drink?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I like swimming.</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My parents like running.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your parents like?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My sister likes chips.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your sister like?</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F)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to – football – play – He – likes.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likes to play football.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like – They – reading – don't.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like reading.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like – Does – she – chocolate?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chocolate?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like – TV – watch – don't – I – to.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like to watch TV.</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swimming – doesn't – She – like.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like swimming.</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F)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to – it – milk – likes – drink – Yes,.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likes to drink milk.</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like – No, – don't – I – football – playing.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No, I don't like playing football.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sister – Does – like – your – milk – drinking?</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your sister like drinking milk?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you – Do – swimming – like?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swimming?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like – you – What – do?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F)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does – like – What – play – to – she?</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does she like to play?</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you – like – What – do – doing?</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 doing?</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We like to reading English.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like to read English.</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doesn't like to reads .</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like to read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Do you like play football?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playing football?</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My parents likes to run.</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parents like to run.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 don't likes to come early.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like to come early.</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They doesn't like to walk to school.</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like to walk to school.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It doesn't like eat fish.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doesn't like eating fish.</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He doesn't like play football.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like playing football.</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You doesn't like watch TV.</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don't like watching TV.</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Do they like study Arabic?</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like studying Arabic?</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Mona don't like meat.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Mona doesn't like meat.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He like eating mango.</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likes eating mango.</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Does she likes travelling?</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travelling?</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Lions like eat meat.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Lions like eating meat.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Birds like to eats beans.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Birds like to eat beans.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Does you like playing tennis?</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playing tennis?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Does it likes swimming?</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like swimming?</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My brother like eating chips.</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likes eating chips.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H) Translate into Arabic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like chips.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أنا أحب البطاطس المقلية.</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She doesn't like playing football.</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هي لا تحب لعب كرة القدم.</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They like to run every day.</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هم يحبون الجري كل يوم.</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Do you like reading English?</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تحب قراءة الإنجليزية؟</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It likes drinking milk.</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هو يحب شرب الحليب.</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What do you like?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ماذا تحب؟</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Lions like eating meat.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الأسود تحب أكل اللحم.</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H) Translate into Arabic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Does he like travelling?</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هل يحب السفر؟</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brother likes to eat apples.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أخي يحب أكل التفاح.</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Birds like to eat beans.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الطيور تحب أكل الفول.</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He likes eating mangoes.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هو يحب أكل المانجو.</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I'm Rawan. I like to go to the market with my mum. We make a list of all things we need to buy before going. Today we're going to the market because we need to buy some nuts. We also need to buy bread, cheese and honey. We also need one chicken to have for lunch. When we arrive home, we need to put everything in the fridge and in the cupboard.</a:t>
            </a:r>
          </a:p>
          <a:p>
            <a:pPr rtl="0" algn="r">
              <a:spcBef>
                <a:spcPts val="800"/>
              </a:spcBef>
            </a:pPr>
            <a:r>
              <a:rPr sz="1400" b="0" i="0" lang="en-US">
                <a:solidFill>
                  <a:srgbClr val="5B6478"/>
                </a:solidFill>
                <a:latin typeface="Segoe UI"/>
              </a:rPr>
              <a:t>market: سوق   list: قائمة   nuts: مكسرات   honey: عسل   fridge: ثلاجة   cupboard: دولاب</a:t>
            </a:r>
          </a:p>
        </p:txBody>
      </p:sp>
    </p:spTree>
  </p:cSld>
  <p:clrMapOvr>
    <a:masterClrMapping/>
  </p:clrMapOvr>
  <p:transition spd="med">
    <p:cover dir="d"/>
  </p:transition>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Rawan likes to go to the …… with her mum.   (park – market – school)</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market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We need to buy some …… .   (things – books – shoes)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things</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What do they need to buy for lunch?</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need to buy one chicken for lunch.</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What do they do when they arrive home?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put everything in the fridge and in the cupboard .</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Why do you need to go to the supermarket?</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Because we need to buy some nuts, bread, cheese and honey .</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Translate into English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 هو يحب لعب كرة القدم.</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likes playing football.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2) هم لا يحبون السباحة.</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like swimming.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3) هل أنت تحب شرب القهوة؟</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drinking coffee?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4) هي تحب أن تقرأ إنجليزي.</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likes to read English.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5) الطيور تحب الطيران في السماء.</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Birds like flying in the sky.</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Translate into English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6) أختي تحب الحليب والشيبسي.</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likes milk and chips.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7) القطط تحب السمك.</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Cats like fish.</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8) هو لا يحب لعب التنس.</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like playing tennis.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9) أنا أحب الجري والسباحة.</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like running and swimming.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10) نحن لا نحب القهوة.</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don't like coffee.</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Translate into English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11) هل هي تحب الشيكولاتة؟</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chocolate?</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13</a:t>
            </a:r>
          </a:p>
          <a:p>
            <a:pPr algn="ctr" rtl="0"/>
            <a:r>
              <a:rPr sz="4600" b="1" i="0" lang="en-US">
                <a:solidFill>
                  <a:srgbClr val="FFFFFF"/>
                </a:solidFill>
                <a:latin typeface="Segoe UI"/>
              </a:rPr>
              <a:t>How much / How many</a:t>
            </a:r>
          </a:p>
          <a:p>
            <a:pPr algn="ctr" rtl="1"/>
            <a:r>
              <a:rPr sz="2900" b="0" i="0" lang="ar-EG" altLang="en-US">
                <a:solidFill>
                  <a:srgbClr val="FFFFFF"/>
                </a:solidFill>
                <a:latin typeface="Traditional Arabic"/>
              </a:rPr>
              <a:t>السؤال عن العدد والثمن</a:t>
            </a:r>
          </a:p>
        </p:txBody>
      </p:sp>
    </p:spTree>
  </p:cSld>
  <p:clrMapOvr>
    <a:masterClrMapping/>
  </p:clrMapOvr>
  <p:transition spd="med">
    <p:zoom dir="in"/>
  </p:transition>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94"/>
                </a:solidFill>
                <a:latin typeface="Segoe UI"/>
              </a:rPr>
              <a:t>▶ How many + اسم جمع + are there … ?</a:t>
            </a:r>
          </a:p>
          <a:p>
            <a:pPr rtl="1" algn="r">
              <a:spcAft>
                <a:spcPts val="600"/>
              </a:spcAft>
            </a:pPr>
            <a:r>
              <a:rPr sz="2100" b="0" i="0" lang="ar-EG" altLang="en-US">
                <a:solidFill>
                  <a:srgbClr val="1C2333"/>
                </a:solidFill>
                <a:latin typeface="Traditional Arabic"/>
              </a:rPr>
              <a:t>للسؤال عن العدد (المعدود).</a:t>
            </a:r>
          </a:p>
          <a:p>
            <a:pPr rtl="0" algn="l">
              <a:spcAft>
                <a:spcPts val="600"/>
              </a:spcAft>
            </a:pPr>
            <a:r>
              <a:rPr sz="2000" b="1" i="0" lang="en-US">
                <a:solidFill>
                  <a:srgbClr val="229494"/>
                </a:solidFill>
                <a:latin typeface="Segoe UI"/>
              </a:rPr>
              <a:t>▶ How much + is / are + … ?</a:t>
            </a:r>
          </a:p>
          <a:p>
            <a:pPr rtl="1" algn="r">
              <a:spcAft>
                <a:spcPts val="600"/>
              </a:spcAft>
            </a:pPr>
            <a:r>
              <a:rPr sz="2100" b="0" i="0" lang="ar-EG" altLang="en-US">
                <a:solidFill>
                  <a:srgbClr val="1C2333"/>
                </a:solidFill>
                <a:latin typeface="Traditional Arabic"/>
              </a:rPr>
              <a:t>للسؤال عن الثمن.</a:t>
            </a:r>
          </a:p>
          <a:p>
            <a:pPr rtl="1" algn="r">
              <a:spcAft>
                <a:spcPts val="600"/>
              </a:spcAft>
            </a:pPr>
            <a:r>
              <a:rPr sz="2300" b="1" i="0" lang="ar-EG" altLang="en-US">
                <a:solidFill>
                  <a:srgbClr val="229494"/>
                </a:solidFill>
                <a:latin typeface="Traditional Arabic"/>
              </a:rPr>
              <a:t>▶ How much + اسم غير معدود … ?</a:t>
            </a:r>
          </a:p>
          <a:p>
            <a:pPr rtl="1" algn="r">
              <a:spcAft>
                <a:spcPts val="600"/>
              </a:spcAft>
            </a:pPr>
            <a:r>
              <a:rPr sz="2100" b="0" i="0" lang="ar-EG" altLang="en-US">
                <a:solidFill>
                  <a:srgbClr val="1C2333"/>
                </a:solidFill>
                <a:latin typeface="Traditional Arabic"/>
              </a:rPr>
              <a:t>    للسؤال عن كمية الأسماء غير المعدودة (water – milk – rice).</a:t>
            </a:r>
          </a:p>
          <a:p>
            <a:pPr rtl="0" algn="l">
              <a:spcAft>
                <a:spcPts val="600"/>
              </a:spcAft>
            </a:pPr>
            <a:r>
              <a:rPr sz="1700" b="0" i="1" lang="en-US">
                <a:solidFill>
                  <a:srgbClr val="5B6478"/>
                </a:solidFill>
                <a:latin typeface="Segoe UI"/>
              </a:rPr>
              <a:t>   e.g. How many girls are there? – How much is the book?</a:t>
            </a:r>
          </a:p>
        </p:txBody>
      </p:sp>
    </p:spTree>
  </p:cSld>
  <p:clrMapOvr>
    <a:masterClrMapping/>
  </p:clrMapOvr>
  <p:transition spd="med">
    <p:newsflash/>
  </p:transition>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9494"/>
                          </a:solidFill>
                          <a:latin typeface="Segoe UI"/>
                        </a:rPr>
                        <a:t>pants</a:t>
                      </a:r>
                    </a:p>
                  </a:txBody>
                  <a:tcPr>
                    <a:solidFill>
                      <a:srgbClr val="FFFFFF"/>
                    </a:solidFill>
                  </a:tcPr>
                </a:tc>
                <a:tc>
                  <a:txBody>
                    <a:bodyPr/>
                    <a:lstStyle/>
                    <a:p>
                      <a:pPr rtl="1" algn="r"/>
                      <a:r>
                        <a:rPr sz="1700" b="0" i="0" lang="ar-EG" altLang="en-US">
                          <a:solidFill>
                            <a:srgbClr val="1C2333"/>
                          </a:solidFill>
                          <a:latin typeface="Traditional Arabic"/>
                        </a:rPr>
                        <a:t>بنطلون</a:t>
                      </a:r>
                    </a:p>
                  </a:txBody>
                  <a:tcPr>
                    <a:solidFill>
                      <a:srgbClr val="FFFFFF"/>
                    </a:solidFill>
                  </a:tcPr>
                </a:tc>
                <a:tc>
                  <a:txBody>
                    <a:bodyPr/>
                    <a:lstStyle/>
                    <a:p>
                      <a:pPr rtl="0" algn="l"/>
                      <a:r>
                        <a:rPr sz="1500" b="1" i="0" lang="en-US">
                          <a:solidFill>
                            <a:srgbClr val="229494"/>
                          </a:solidFill>
                          <a:latin typeface="Segoe UI"/>
                        </a:rPr>
                        <a:t>olives</a:t>
                      </a:r>
                    </a:p>
                  </a:txBody>
                  <a:tcPr>
                    <a:solidFill>
                      <a:srgbClr val="FFFFFF"/>
                    </a:solidFill>
                  </a:tcPr>
                </a:tc>
                <a:tc>
                  <a:txBody>
                    <a:bodyPr/>
                    <a:lstStyle/>
                    <a:p>
                      <a:pPr rtl="1" algn="r"/>
                      <a:r>
                        <a:rPr sz="1700" b="0" i="0" lang="ar-EG" altLang="en-US">
                          <a:solidFill>
                            <a:srgbClr val="1C2333"/>
                          </a:solidFill>
                          <a:latin typeface="Traditional Arabic"/>
                        </a:rPr>
                        <a:t>زيتون</a:t>
                      </a:r>
                    </a:p>
                  </a:txBody>
                  <a:tcPr>
                    <a:solidFill>
                      <a:srgbClr val="FFFFFF"/>
                    </a:solidFill>
                  </a:tcPr>
                </a:tc>
                <a:tc>
                  <a:txBody>
                    <a:bodyPr/>
                    <a:lstStyle/>
                    <a:p>
                      <a:pPr rtl="0" algn="l"/>
                      <a:r>
                        <a:rPr sz="1500" b="1" i="0" lang="en-US">
                          <a:solidFill>
                            <a:srgbClr val="229494"/>
                          </a:solidFill>
                          <a:latin typeface="Segoe UI"/>
                        </a:rPr>
                        <a:t>jellyfish</a:t>
                      </a:r>
                    </a:p>
                  </a:txBody>
                  <a:tcPr>
                    <a:solidFill>
                      <a:srgbClr val="FFFFFF"/>
                    </a:solidFill>
                  </a:tcPr>
                </a:tc>
                <a:tc>
                  <a:txBody>
                    <a:bodyPr/>
                    <a:lstStyle/>
                    <a:p>
                      <a:pPr rtl="1" algn="r"/>
                      <a:r>
                        <a:rPr sz="1700" b="0" i="0" lang="ar-EG" altLang="en-US">
                          <a:solidFill>
                            <a:srgbClr val="1C2333"/>
                          </a:solidFill>
                          <a:latin typeface="Traditional Arabic"/>
                        </a:rPr>
                        <a:t>قنديل البحر</a:t>
                      </a:r>
                    </a:p>
                  </a:txBody>
                  <a:tcPr>
                    <a:solidFill>
                      <a:srgbClr val="FFFFFF"/>
                    </a:solidFill>
                  </a:tcPr>
                </a:tc>
              </a:tr>
              <a:tr h="384048">
                <a:tc>
                  <a:txBody>
                    <a:bodyPr/>
                    <a:lstStyle/>
                    <a:p>
                      <a:pPr rtl="0" algn="l"/>
                      <a:r>
                        <a:rPr sz="1500" b="1" i="0" lang="en-US">
                          <a:solidFill>
                            <a:srgbClr val="229494"/>
                          </a:solidFill>
                          <a:latin typeface="Segoe UI"/>
                        </a:rPr>
                        <a:t>shoes</a:t>
                      </a:r>
                    </a:p>
                  </a:txBody>
                  <a:tcPr>
                    <a:solidFill>
                      <a:srgbClr val="EEF3FA"/>
                    </a:solidFill>
                  </a:tcPr>
                </a:tc>
                <a:tc>
                  <a:txBody>
                    <a:bodyPr/>
                    <a:lstStyle/>
                    <a:p>
                      <a:pPr rtl="1" algn="r"/>
                      <a:r>
                        <a:rPr sz="1700" b="0" i="0" lang="ar-EG" altLang="en-US">
                          <a:solidFill>
                            <a:srgbClr val="1C2333"/>
                          </a:solidFill>
                          <a:latin typeface="Traditional Arabic"/>
                        </a:rPr>
                        <a:t>حذاء</a:t>
                      </a:r>
                    </a:p>
                  </a:txBody>
                  <a:tcPr>
                    <a:solidFill>
                      <a:srgbClr val="EEF3FA"/>
                    </a:solidFill>
                  </a:tcPr>
                </a:tc>
                <a:tc>
                  <a:txBody>
                    <a:bodyPr/>
                    <a:lstStyle/>
                    <a:p>
                      <a:pPr rtl="0" algn="l"/>
                      <a:r>
                        <a:rPr sz="1500" b="1" i="0" lang="en-US">
                          <a:solidFill>
                            <a:srgbClr val="229494"/>
                          </a:solidFill>
                          <a:latin typeface="Segoe UI"/>
                        </a:rPr>
                        <a:t>lemon</a:t>
                      </a:r>
                    </a:p>
                  </a:txBody>
                  <a:tcPr>
                    <a:solidFill>
                      <a:srgbClr val="EEF3FA"/>
                    </a:solidFill>
                  </a:tcPr>
                </a:tc>
                <a:tc>
                  <a:txBody>
                    <a:bodyPr/>
                    <a:lstStyle/>
                    <a:p>
                      <a:pPr rtl="1" algn="r"/>
                      <a:r>
                        <a:rPr sz="1700" b="0" i="0" lang="ar-EG" altLang="en-US">
                          <a:solidFill>
                            <a:srgbClr val="1C2333"/>
                          </a:solidFill>
                          <a:latin typeface="Traditional Arabic"/>
                        </a:rPr>
                        <a:t>ليمونة</a:t>
                      </a:r>
                    </a:p>
                  </a:txBody>
                  <a:tcPr>
                    <a:solidFill>
                      <a:srgbClr val="EEF3FA"/>
                    </a:solidFill>
                  </a:tcPr>
                </a:tc>
                <a:tc>
                  <a:txBody>
                    <a:bodyPr/>
                    <a:lstStyle/>
                    <a:p>
                      <a:pPr rtl="0" algn="l"/>
                      <a:r>
                        <a:rPr sz="1500" b="1" i="0" lang="en-US">
                          <a:solidFill>
                            <a:srgbClr val="229494"/>
                          </a:solidFill>
                          <a:latin typeface="Segoe UI"/>
                        </a:rPr>
                        <a:t>monkey</a:t>
                      </a:r>
                    </a:p>
                  </a:txBody>
                  <a:tcPr>
                    <a:solidFill>
                      <a:srgbClr val="EEF3FA"/>
                    </a:solidFill>
                  </a:tcPr>
                </a:tc>
                <a:tc>
                  <a:txBody>
                    <a:bodyPr/>
                    <a:lstStyle/>
                    <a:p>
                      <a:pPr rtl="1" algn="r"/>
                      <a:r>
                        <a:rPr sz="1700" b="0" i="0" lang="ar-EG" altLang="en-US">
                          <a:solidFill>
                            <a:srgbClr val="1C2333"/>
                          </a:solidFill>
                          <a:latin typeface="Traditional Arabic"/>
                        </a:rPr>
                        <a:t>قرد</a:t>
                      </a:r>
                    </a:p>
                  </a:txBody>
                  <a:tcPr>
                    <a:solidFill>
                      <a:srgbClr val="EEF3FA"/>
                    </a:solidFill>
                  </a:tcPr>
                </a:tc>
              </a:tr>
              <a:tr h="384048">
                <a:tc>
                  <a:txBody>
                    <a:bodyPr/>
                    <a:lstStyle/>
                    <a:p>
                      <a:pPr rtl="0" algn="l"/>
                      <a:r>
                        <a:rPr sz="1500" b="1" i="0" lang="en-US">
                          <a:solidFill>
                            <a:srgbClr val="229494"/>
                          </a:solidFill>
                          <a:latin typeface="Segoe UI"/>
                        </a:rPr>
                        <a:t>socks</a:t>
                      </a:r>
                    </a:p>
                  </a:txBody>
                  <a:tcPr>
                    <a:solidFill>
                      <a:srgbClr val="FFFFFF"/>
                    </a:solidFill>
                  </a:tcPr>
                </a:tc>
                <a:tc>
                  <a:txBody>
                    <a:bodyPr/>
                    <a:lstStyle/>
                    <a:p>
                      <a:pPr rtl="1" algn="r"/>
                      <a:r>
                        <a:rPr sz="1700" b="0" i="0" lang="ar-EG" altLang="en-US">
                          <a:solidFill>
                            <a:srgbClr val="1C2333"/>
                          </a:solidFill>
                          <a:latin typeface="Traditional Arabic"/>
                        </a:rPr>
                        <a:t>جورب</a:t>
                      </a:r>
                    </a:p>
                  </a:txBody>
                  <a:tcPr>
                    <a:solidFill>
                      <a:srgbClr val="FFFFFF"/>
                    </a:solidFill>
                  </a:tcPr>
                </a:tc>
                <a:tc>
                  <a:txBody>
                    <a:bodyPr/>
                    <a:lstStyle/>
                    <a:p>
                      <a:pPr rtl="0" algn="l"/>
                      <a:r>
                        <a:rPr sz="1500" b="1" i="0" lang="en-US">
                          <a:solidFill>
                            <a:srgbClr val="229494"/>
                          </a:solidFill>
                          <a:latin typeface="Segoe UI"/>
                        </a:rPr>
                        <a:t>map</a:t>
                      </a:r>
                    </a:p>
                  </a:txBody>
                  <a:tcPr>
                    <a:solidFill>
                      <a:srgbClr val="FFFFFF"/>
                    </a:solidFill>
                  </a:tcPr>
                </a:tc>
                <a:tc>
                  <a:txBody>
                    <a:bodyPr/>
                    <a:lstStyle/>
                    <a:p>
                      <a:pPr rtl="1" algn="r"/>
                      <a:r>
                        <a:rPr sz="1700" b="0" i="0" lang="ar-EG" altLang="en-US">
                          <a:solidFill>
                            <a:srgbClr val="1C2333"/>
                          </a:solidFill>
                          <a:latin typeface="Traditional Arabic"/>
                        </a:rPr>
                        <a:t>خريطة</a:t>
                      </a:r>
                    </a:p>
                  </a:txBody>
                  <a:tcPr>
                    <a:solidFill>
                      <a:srgbClr val="FFFFFF"/>
                    </a:solidFill>
                  </a:tcPr>
                </a:tc>
                <a:tc>
                  <a:txBody>
                    <a:bodyPr/>
                    <a:lstStyle/>
                    <a:p>
                      <a:pPr rtl="0" algn="l"/>
                      <a:r>
                        <a:rPr sz="1500" b="1" i="0" lang="en-US">
                          <a:solidFill>
                            <a:srgbClr val="229494"/>
                          </a:solidFill>
                          <a:latin typeface="Segoe UI"/>
                        </a:rPr>
                        <a:t>parrot</a:t>
                      </a:r>
                    </a:p>
                  </a:txBody>
                  <a:tcPr>
                    <a:solidFill>
                      <a:srgbClr val="FFFFFF"/>
                    </a:solidFill>
                  </a:tcPr>
                </a:tc>
                <a:tc>
                  <a:txBody>
                    <a:bodyPr/>
                    <a:lstStyle/>
                    <a:p>
                      <a:pPr rtl="1" algn="r"/>
                      <a:r>
                        <a:rPr sz="1700" b="0" i="0" lang="ar-EG" altLang="en-US">
                          <a:solidFill>
                            <a:srgbClr val="1C2333"/>
                          </a:solidFill>
                          <a:latin typeface="Traditional Arabic"/>
                        </a:rPr>
                        <a:t>ببغاء</a:t>
                      </a:r>
                    </a:p>
                  </a:txBody>
                  <a:tcPr>
                    <a:solidFill>
                      <a:srgbClr val="FFFFFF"/>
                    </a:solidFill>
                  </a:tcPr>
                </a:tc>
              </a:tr>
              <a:tr h="384048">
                <a:tc>
                  <a:txBody>
                    <a:bodyPr/>
                    <a:lstStyle/>
                    <a:p>
                      <a:pPr rtl="0" algn="l"/>
                      <a:r>
                        <a:rPr sz="1500" b="1" i="0" lang="en-US">
                          <a:solidFill>
                            <a:srgbClr val="229494"/>
                          </a:solidFill>
                          <a:latin typeface="Segoe UI"/>
                        </a:rPr>
                        <a:t>jacket</a:t>
                      </a:r>
                    </a:p>
                  </a:txBody>
                  <a:tcPr>
                    <a:solidFill>
                      <a:srgbClr val="EEF3FA"/>
                    </a:solidFill>
                  </a:tcPr>
                </a:tc>
                <a:tc>
                  <a:txBody>
                    <a:bodyPr/>
                    <a:lstStyle/>
                    <a:p>
                      <a:pPr rtl="1" algn="r"/>
                      <a:r>
                        <a:rPr sz="1700" b="0" i="0" lang="ar-EG" altLang="en-US">
                          <a:solidFill>
                            <a:srgbClr val="1C2333"/>
                          </a:solidFill>
                          <a:latin typeface="Traditional Arabic"/>
                        </a:rPr>
                        <a:t>جاكيت</a:t>
                      </a:r>
                    </a:p>
                  </a:txBody>
                  <a:tcPr>
                    <a:solidFill>
                      <a:srgbClr val="EEF3FA"/>
                    </a:solidFill>
                  </a:tcPr>
                </a:tc>
                <a:tc>
                  <a:txBody>
                    <a:bodyPr/>
                    <a:lstStyle/>
                    <a:p>
                      <a:pPr rtl="0" algn="l"/>
                      <a:r>
                        <a:rPr sz="1500" b="1" i="0" lang="en-US">
                          <a:solidFill>
                            <a:srgbClr val="229494"/>
                          </a:solidFill>
                          <a:latin typeface="Segoe UI"/>
                        </a:rPr>
                        <a:t>lamp</a:t>
                      </a:r>
                    </a:p>
                  </a:txBody>
                  <a:tcPr>
                    <a:solidFill>
                      <a:srgbClr val="EEF3FA"/>
                    </a:solidFill>
                  </a:tcPr>
                </a:tc>
                <a:tc>
                  <a:txBody>
                    <a:bodyPr/>
                    <a:lstStyle/>
                    <a:p>
                      <a:pPr rtl="1" algn="r"/>
                      <a:r>
                        <a:rPr sz="1700" b="0" i="0" lang="ar-EG" altLang="en-US">
                          <a:solidFill>
                            <a:srgbClr val="1C2333"/>
                          </a:solidFill>
                          <a:latin typeface="Traditional Arabic"/>
                        </a:rPr>
                        <a:t>أباجورة</a:t>
                      </a:r>
                    </a:p>
                  </a:txBody>
                  <a:tcPr>
                    <a:solidFill>
                      <a:srgbClr val="EEF3FA"/>
                    </a:solidFill>
                  </a:tcPr>
                </a:tc>
                <a:tc>
                  <a:txBody>
                    <a:bodyPr/>
                    <a:lstStyle/>
                    <a:p>
                      <a:pPr rtl="0" algn="l"/>
                      <a:r>
                        <a:rPr sz="1500" b="1" i="0" lang="en-US">
                          <a:solidFill>
                            <a:srgbClr val="229494"/>
                          </a:solidFill>
                          <a:latin typeface="Segoe UI"/>
                        </a:rPr>
                        <a:t>octopus</a:t>
                      </a:r>
                    </a:p>
                  </a:txBody>
                  <a:tcPr>
                    <a:solidFill>
                      <a:srgbClr val="EEF3FA"/>
                    </a:solidFill>
                  </a:tcPr>
                </a:tc>
                <a:tc>
                  <a:txBody>
                    <a:bodyPr/>
                    <a:lstStyle/>
                    <a:p>
                      <a:pPr rtl="1" algn="r"/>
                      <a:r>
                        <a:rPr sz="1700" b="0" i="0" lang="ar-EG" altLang="en-US">
                          <a:solidFill>
                            <a:srgbClr val="1C2333"/>
                          </a:solidFill>
                          <a:latin typeface="Traditional Arabic"/>
                        </a:rPr>
                        <a:t>أخطبوط</a:t>
                      </a:r>
                    </a:p>
                  </a:txBody>
                  <a:tcPr>
                    <a:solidFill>
                      <a:srgbClr val="EEF3FA"/>
                    </a:solidFill>
                  </a:tcPr>
                </a:tc>
              </a:tr>
              <a:tr h="384048">
                <a:tc>
                  <a:txBody>
                    <a:bodyPr/>
                    <a:lstStyle/>
                    <a:p>
                      <a:pPr rtl="0" algn="l"/>
                      <a:r>
                        <a:rPr sz="1500" b="1" i="0" lang="en-US">
                          <a:solidFill>
                            <a:srgbClr val="229494"/>
                          </a:solidFill>
                          <a:latin typeface="Segoe UI"/>
                        </a:rPr>
                        <a:t>T-shirt</a:t>
                      </a:r>
                    </a:p>
                  </a:txBody>
                  <a:tcPr>
                    <a:solidFill>
                      <a:srgbClr val="FFFFFF"/>
                    </a:solidFill>
                  </a:tcPr>
                </a:tc>
                <a:tc>
                  <a:txBody>
                    <a:bodyPr/>
                    <a:lstStyle/>
                    <a:p>
                      <a:pPr rtl="1" algn="r"/>
                      <a:r>
                        <a:rPr sz="1700" b="0" i="0" lang="ar-EG" altLang="en-US">
                          <a:solidFill>
                            <a:srgbClr val="1C2333"/>
                          </a:solidFill>
                          <a:latin typeface="Traditional Arabic"/>
                        </a:rPr>
                        <a:t>تي شيرت</a:t>
                      </a:r>
                    </a:p>
                  </a:txBody>
                  <a:tcPr>
                    <a:solidFill>
                      <a:srgbClr val="FFFFFF"/>
                    </a:solidFill>
                  </a:tcPr>
                </a:tc>
                <a:tc>
                  <a:txBody>
                    <a:bodyPr/>
                    <a:lstStyle/>
                    <a:p>
                      <a:pPr rtl="0" algn="l"/>
                      <a:r>
                        <a:rPr sz="1500" b="1" i="0" lang="en-US">
                          <a:solidFill>
                            <a:srgbClr val="229494"/>
                          </a:solidFill>
                          <a:latin typeface="Segoe UI"/>
                        </a:rPr>
                        <a:t>water</a:t>
                      </a:r>
                    </a:p>
                  </a:txBody>
                  <a:tcPr>
                    <a:solidFill>
                      <a:srgbClr val="FFFFFF"/>
                    </a:solidFill>
                  </a:tcPr>
                </a:tc>
                <a:tc>
                  <a:txBody>
                    <a:bodyPr/>
                    <a:lstStyle/>
                    <a:p>
                      <a:pPr rtl="1" algn="r"/>
                      <a:r>
                        <a:rPr sz="1700" b="0" i="0" lang="ar-EG" altLang="en-US">
                          <a:solidFill>
                            <a:srgbClr val="1C2333"/>
                          </a:solidFill>
                          <a:latin typeface="Traditional Arabic"/>
                        </a:rPr>
                        <a:t>ماء</a:t>
                      </a:r>
                    </a:p>
                  </a:txBody>
                  <a:tcPr>
                    <a:solidFill>
                      <a:srgbClr val="FFFFFF"/>
                    </a:solidFill>
                  </a:tcPr>
                </a:tc>
                <a:tc>
                  <a:txBody>
                    <a:bodyPr/>
                    <a:lstStyle/>
                    <a:p>
                      <a:pPr rtl="0" algn="l"/>
                      <a:r>
                        <a:rPr sz="1500" b="1" i="0" lang="en-US">
                          <a:solidFill>
                            <a:srgbClr val="229494"/>
                          </a:solidFill>
                          <a:latin typeface="Segoe UI"/>
                        </a:rPr>
                        <a:t>market</a:t>
                      </a:r>
                    </a:p>
                  </a:txBody>
                  <a:tcPr>
                    <a:solidFill>
                      <a:srgbClr val="FFFFFF"/>
                    </a:solidFill>
                  </a:tcPr>
                </a:tc>
                <a:tc>
                  <a:txBody>
                    <a:bodyPr/>
                    <a:lstStyle/>
                    <a:p>
                      <a:pPr rtl="1" algn="r"/>
                      <a:r>
                        <a:rPr sz="1700" b="0" i="0" lang="ar-EG" altLang="en-US">
                          <a:solidFill>
                            <a:srgbClr val="1C2333"/>
                          </a:solidFill>
                          <a:latin typeface="Traditional Arabic"/>
                        </a:rPr>
                        <a:t>سوق</a:t>
                      </a:r>
                    </a:p>
                  </a:txBody>
                  <a:tcPr>
                    <a:solidFill>
                      <a:srgbClr val="FFFFFF"/>
                    </a:solidFill>
                  </a:tcPr>
                </a:tc>
              </a:tr>
              <a:tr h="384048">
                <a:tc>
                  <a:txBody>
                    <a:bodyPr/>
                    <a:lstStyle/>
                    <a:p>
                      <a:pPr rtl="0" algn="l"/>
                      <a:r>
                        <a:rPr sz="1500" b="1" i="0" lang="en-US">
                          <a:solidFill>
                            <a:srgbClr val="229494"/>
                          </a:solidFill>
                          <a:latin typeface="Segoe UI"/>
                        </a:rPr>
                        <a:t>zipper</a:t>
                      </a:r>
                    </a:p>
                  </a:txBody>
                  <a:tcPr>
                    <a:solidFill>
                      <a:srgbClr val="EEF3FA"/>
                    </a:solidFill>
                  </a:tcPr>
                </a:tc>
                <a:tc>
                  <a:txBody>
                    <a:bodyPr/>
                    <a:lstStyle/>
                    <a:p>
                      <a:pPr rtl="1" algn="r"/>
                      <a:r>
                        <a:rPr sz="1700" b="0" i="0" lang="ar-EG" altLang="en-US">
                          <a:solidFill>
                            <a:srgbClr val="1C2333"/>
                          </a:solidFill>
                          <a:latin typeface="Traditional Arabic"/>
                        </a:rPr>
                        <a:t>سوستة</a:t>
                      </a:r>
                    </a:p>
                  </a:txBody>
                  <a:tcPr>
                    <a:solidFill>
                      <a:srgbClr val="EEF3FA"/>
                    </a:solidFill>
                  </a:tcPr>
                </a:tc>
                <a:tc>
                  <a:txBody>
                    <a:bodyPr/>
                    <a:lstStyle/>
                    <a:p>
                      <a:pPr rtl="0" algn="l"/>
                      <a:r>
                        <a:rPr sz="1500" b="1" i="0" lang="en-US">
                          <a:solidFill>
                            <a:srgbClr val="229494"/>
                          </a:solidFill>
                          <a:latin typeface="Segoe UI"/>
                        </a:rPr>
                        <a:t>coffee</a:t>
                      </a:r>
                    </a:p>
                  </a:txBody>
                  <a:tcPr>
                    <a:solidFill>
                      <a:srgbClr val="EEF3FA"/>
                    </a:solidFill>
                  </a:tcPr>
                </a:tc>
                <a:tc>
                  <a:txBody>
                    <a:bodyPr/>
                    <a:lstStyle/>
                    <a:p>
                      <a:pPr rtl="1" algn="r"/>
                      <a:r>
                        <a:rPr sz="1700" b="0" i="0" lang="ar-EG" altLang="en-US">
                          <a:solidFill>
                            <a:srgbClr val="1C2333"/>
                          </a:solidFill>
                          <a:latin typeface="Traditional Arabic"/>
                        </a:rPr>
                        <a:t>قهوة</a:t>
                      </a:r>
                    </a:p>
                  </a:txBody>
                  <a:tcPr>
                    <a:solidFill>
                      <a:srgbClr val="EEF3FA"/>
                    </a:solidFill>
                  </a:tcPr>
                </a:tc>
                <a:tc>
                  <a:txBody>
                    <a:bodyPr/>
                    <a:lstStyle/>
                    <a:p>
                      <a:pPr rtl="0" algn="l"/>
                      <a:r>
                        <a:rPr sz="1500" b="1" i="0" lang="en-US">
                          <a:solidFill>
                            <a:srgbClr val="229494"/>
                          </a:solidFill>
                          <a:latin typeface="Segoe UI"/>
                        </a:rPr>
                        <a:t>eggplant</a:t>
                      </a:r>
                    </a:p>
                  </a:txBody>
                  <a:tcPr>
                    <a:solidFill>
                      <a:srgbClr val="EEF3FA"/>
                    </a:solidFill>
                  </a:tcPr>
                </a:tc>
                <a:tc>
                  <a:txBody>
                    <a:bodyPr/>
                    <a:lstStyle/>
                    <a:p>
                      <a:pPr rtl="1" algn="r"/>
                      <a:r>
                        <a:rPr sz="1700" b="0" i="0" lang="ar-EG" altLang="en-US">
                          <a:solidFill>
                            <a:srgbClr val="1C2333"/>
                          </a:solidFill>
                          <a:latin typeface="Traditional Arabic"/>
                        </a:rPr>
                        <a:t>باذنجان</a:t>
                      </a:r>
                    </a:p>
                  </a:txBody>
                  <a:tcPr>
                    <a:solidFill>
                      <a:srgbClr val="EEF3FA"/>
                    </a:solidFill>
                  </a:tcPr>
                </a:tc>
              </a:tr>
              <a:tr h="384048">
                <a:tc>
                  <a:txBody>
                    <a:bodyPr/>
                    <a:lstStyle/>
                    <a:p>
                      <a:pPr rtl="0" algn="l"/>
                      <a:r>
                        <a:rPr sz="1500" b="1" i="0" lang="en-US">
                          <a:solidFill>
                            <a:srgbClr val="229494"/>
                          </a:solidFill>
                          <a:latin typeface="Segoe UI"/>
                        </a:rPr>
                        <a:t>sweater</a:t>
                      </a:r>
                    </a:p>
                  </a:txBody>
                  <a:tcPr>
                    <a:solidFill>
                      <a:srgbClr val="FFFFFF"/>
                    </a:solidFill>
                  </a:tcPr>
                </a:tc>
                <a:tc>
                  <a:txBody>
                    <a:bodyPr/>
                    <a:lstStyle/>
                    <a:p>
                      <a:pPr rtl="1" algn="r"/>
                      <a:r>
                        <a:rPr sz="1700" b="0" i="0" lang="ar-EG" altLang="en-US">
                          <a:solidFill>
                            <a:srgbClr val="1C2333"/>
                          </a:solidFill>
                          <a:latin typeface="Traditional Arabic"/>
                        </a:rPr>
                        <a:t>سويتر</a:t>
                      </a:r>
                    </a:p>
                  </a:txBody>
                  <a:tcPr>
                    <a:solidFill>
                      <a:srgbClr val="FFFFFF"/>
                    </a:solidFill>
                  </a:tcPr>
                </a:tc>
                <a:tc>
                  <a:txBody>
                    <a:bodyPr/>
                    <a:lstStyle/>
                    <a:p>
                      <a:pPr rtl="0" algn="l"/>
                      <a:r>
                        <a:rPr sz="1500" b="1" i="0" lang="en-US">
                          <a:solidFill>
                            <a:srgbClr val="229494"/>
                          </a:solidFill>
                          <a:latin typeface="Segoe UI"/>
                        </a:rPr>
                        <a:t>elephant</a:t>
                      </a:r>
                    </a:p>
                  </a:txBody>
                  <a:tcPr>
                    <a:solidFill>
                      <a:srgbClr val="FFFFFF"/>
                    </a:solidFill>
                  </a:tcPr>
                </a:tc>
                <a:tc>
                  <a:txBody>
                    <a:bodyPr/>
                    <a:lstStyle/>
                    <a:p>
                      <a:pPr rtl="1" algn="r"/>
                      <a:r>
                        <a:rPr sz="1700" b="0" i="0" lang="ar-EG" altLang="en-US">
                          <a:solidFill>
                            <a:srgbClr val="1C2333"/>
                          </a:solidFill>
                          <a:latin typeface="Traditional Arabic"/>
                        </a:rPr>
                        <a:t>فيل</a:t>
                      </a:r>
                    </a:p>
                  </a:txBody>
                  <a:tcPr>
                    <a:solidFill>
                      <a:srgbClr val="FFFFFF"/>
                    </a:solidFill>
                  </a:tcPr>
                </a:tc>
                <a:tc>
                  <a:txBody>
                    <a:bodyPr/>
                    <a:lstStyle/>
                    <a:p>
                      <a:pPr rtl="0" algn="l"/>
                      <a:r>
                        <a:rPr sz="1500" b="1" i="0" lang="en-US">
                          <a:solidFill>
                            <a:srgbClr val="229494"/>
                          </a:solidFill>
                          <a:latin typeface="Segoe UI"/>
                        </a:rPr>
                        <a:t>cucumber</a:t>
                      </a:r>
                    </a:p>
                  </a:txBody>
                  <a:tcPr>
                    <a:solidFill>
                      <a:srgbClr val="FFFFFF"/>
                    </a:solidFill>
                  </a:tcPr>
                </a:tc>
                <a:tc>
                  <a:txBody>
                    <a:bodyPr/>
                    <a:lstStyle/>
                    <a:p>
                      <a:pPr rtl="1" algn="r"/>
                      <a:r>
                        <a:rPr sz="1700" b="0" i="0" lang="ar-EG" altLang="en-US">
                          <a:solidFill>
                            <a:srgbClr val="1C2333"/>
                          </a:solidFill>
                          <a:latin typeface="Traditional Arabic"/>
                        </a:rPr>
                        <a:t>خيارة</a:t>
                      </a:r>
                    </a:p>
                  </a:txBody>
                  <a:tcPr>
                    <a:solidFill>
                      <a:srgbClr val="FFFFFF"/>
                    </a:solidFill>
                  </a:tcPr>
                </a:tc>
              </a:tr>
              <a:tr h="384048">
                <a:tc>
                  <a:txBody>
                    <a:bodyPr/>
                    <a:lstStyle/>
                    <a:p>
                      <a:pPr rtl="0" algn="l"/>
                      <a:r>
                        <a:rPr sz="1500" b="1" i="0" lang="en-US">
                          <a:solidFill>
                            <a:srgbClr val="229494"/>
                          </a:solidFill>
                          <a:latin typeface="Segoe UI"/>
                        </a:rPr>
                        <a:t>candle</a:t>
                      </a:r>
                    </a:p>
                  </a:txBody>
                  <a:tcPr>
                    <a:solidFill>
                      <a:srgbClr val="EEF3FA"/>
                    </a:solidFill>
                  </a:tcPr>
                </a:tc>
                <a:tc>
                  <a:txBody>
                    <a:bodyPr/>
                    <a:lstStyle/>
                    <a:p>
                      <a:pPr rtl="1" algn="r"/>
                      <a:r>
                        <a:rPr sz="1700" b="0" i="0" lang="ar-EG" altLang="en-US">
                          <a:solidFill>
                            <a:srgbClr val="1C2333"/>
                          </a:solidFill>
                          <a:latin typeface="Traditional Arabic"/>
                        </a:rPr>
                        <a:t>شمعة</a:t>
                      </a:r>
                    </a:p>
                  </a:txBody>
                  <a:tcPr>
                    <a:solidFill>
                      <a:srgbClr val="EEF3FA"/>
                    </a:solidFill>
                  </a:tcPr>
                </a:tc>
                <a:tc>
                  <a:txBody>
                    <a:bodyPr/>
                    <a:lstStyle/>
                    <a:p>
                      <a:pPr rtl="0" algn="l"/>
                      <a:r>
                        <a:rPr sz="1500" b="1" i="0" lang="en-US">
                          <a:solidFill>
                            <a:srgbClr val="229494"/>
                          </a:solidFill>
                          <a:latin typeface="Segoe UI"/>
                        </a:rPr>
                        <a:t>snake</a:t>
                      </a:r>
                    </a:p>
                  </a:txBody>
                  <a:tcPr>
                    <a:solidFill>
                      <a:srgbClr val="EEF3FA"/>
                    </a:solidFill>
                  </a:tcPr>
                </a:tc>
                <a:tc>
                  <a:txBody>
                    <a:bodyPr/>
                    <a:lstStyle/>
                    <a:p>
                      <a:pPr rtl="1" algn="r"/>
                      <a:r>
                        <a:rPr sz="1700" b="0" i="0" lang="ar-EG" altLang="en-US">
                          <a:solidFill>
                            <a:srgbClr val="1C2333"/>
                          </a:solidFill>
                          <a:latin typeface="Traditional Arabic"/>
                        </a:rPr>
                        <a:t>ثعبان</a:t>
                      </a:r>
                    </a:p>
                  </a:txBody>
                  <a:tcPr>
                    <a:solidFill>
                      <a:srgbClr val="EEF3FA"/>
                    </a:solidFill>
                  </a:tcPr>
                </a:tc>
                <a:tc>
                  <a:txBody>
                    <a:bodyPr/>
                    <a:lstStyle/>
                    <a:p>
                      <a:pPr rtl="0" algn="l"/>
                      <a:r>
                        <a:rPr sz="1500" b="1" i="0" lang="en-US">
                          <a:solidFill>
                            <a:srgbClr val="229494"/>
                          </a:solidFill>
                          <a:latin typeface="Segoe UI"/>
                        </a:rPr>
                        <a:t>desert</a:t>
                      </a:r>
                    </a:p>
                  </a:txBody>
                  <a:tcPr>
                    <a:solidFill>
                      <a:srgbClr val="EEF3FA"/>
                    </a:solidFill>
                  </a:tcPr>
                </a:tc>
                <a:tc>
                  <a:txBody>
                    <a:bodyPr/>
                    <a:lstStyle/>
                    <a:p>
                      <a:pPr rtl="1" algn="r"/>
                      <a:r>
                        <a:rPr sz="1700" b="0" i="0" lang="ar-EG" altLang="en-US">
                          <a:solidFill>
                            <a:srgbClr val="1C2333"/>
                          </a:solidFill>
                          <a:latin typeface="Traditional Arabic"/>
                        </a:rPr>
                        <a:t>صحراء</a:t>
                      </a:r>
                    </a:p>
                  </a:txBody>
                  <a:tcPr>
                    <a:solidFill>
                      <a:srgbClr val="EEF3FA"/>
                    </a:solidFill>
                  </a:tcPr>
                </a:tc>
              </a:tr>
            </a:tbl>
          </a:graphicData>
        </a:graphic>
      </p:graphicFrame>
    </p:spTree>
  </p:cSld>
  <p:clrMapOvr>
    <a:masterClrMapping/>
  </p:clrMapOvr>
  <p:transition spd="med">
    <p:plus/>
  </p:transition>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9494"/>
                          </a:solidFill>
                          <a:latin typeface="Segoe UI"/>
                        </a:rPr>
                        <a:t>jungle</a:t>
                      </a:r>
                    </a:p>
                  </a:txBody>
                  <a:tcPr>
                    <a:solidFill>
                      <a:srgbClr val="FFFFFF"/>
                    </a:solidFill>
                  </a:tcPr>
                </a:tc>
                <a:tc>
                  <a:txBody>
                    <a:bodyPr/>
                    <a:lstStyle/>
                    <a:p>
                      <a:pPr rtl="1" algn="r"/>
                      <a:r>
                        <a:rPr sz="1700" b="0" i="0" lang="ar-EG" altLang="en-US">
                          <a:solidFill>
                            <a:srgbClr val="1C2333"/>
                          </a:solidFill>
                          <a:latin typeface="Traditional Arabic"/>
                        </a:rPr>
                        <a:t>أدغال</a:t>
                      </a:r>
                    </a:p>
                  </a:txBody>
                  <a:tcPr>
                    <a:solidFill>
                      <a:srgbClr val="FFFFFF"/>
                    </a:solidFill>
                  </a:tcPr>
                </a:tc>
                <a:tc>
                  <a:txBody>
                    <a:bodyPr/>
                    <a:lstStyle/>
                    <a:p>
                      <a:pPr rtl="0" algn="l"/>
                      <a:r>
                        <a:rPr sz="1500" b="1" i="0" lang="en-US">
                          <a:solidFill>
                            <a:srgbClr val="229494"/>
                          </a:solidFill>
                          <a:latin typeface="Segoe UI"/>
                        </a:rPr>
                        <a:t>truck</a:t>
                      </a:r>
                    </a:p>
                  </a:txBody>
                  <a:tcPr>
                    <a:solidFill>
                      <a:srgbClr val="FFFFFF"/>
                    </a:solidFill>
                  </a:tcPr>
                </a:tc>
                <a:tc>
                  <a:txBody>
                    <a:bodyPr/>
                    <a:lstStyle/>
                    <a:p>
                      <a:pPr rtl="1" algn="r"/>
                      <a:r>
                        <a:rPr sz="1700" b="0" i="0" lang="ar-EG" altLang="en-US">
                          <a:solidFill>
                            <a:srgbClr val="1C2333"/>
                          </a:solidFill>
                          <a:latin typeface="Traditional Arabic"/>
                        </a:rPr>
                        <a:t>شاحنة</a:t>
                      </a:r>
                    </a:p>
                  </a:txBody>
                  <a:tcPr>
                    <a:solidFill>
                      <a:srgbClr val="FFFFFF"/>
                    </a:solidFill>
                  </a:tcPr>
                </a:tc>
                <a:tc>
                  <a:txBody>
                    <a:bodyPr/>
                    <a:lstStyle/>
                    <a:p>
                      <a:pPr rtl="0" algn="l"/>
                      <a:r>
                        <a:rPr sz="1500" b="1" i="0" lang="en-US">
                          <a:solidFill>
                            <a:srgbClr val="229494"/>
                          </a:solidFill>
                          <a:latin typeface="Segoe UI"/>
                        </a:rPr>
                        <a:t>rocket</a:t>
                      </a:r>
                    </a:p>
                  </a:txBody>
                  <a:tcPr>
                    <a:solidFill>
                      <a:srgbClr val="FFFFFF"/>
                    </a:solidFill>
                  </a:tcPr>
                </a:tc>
                <a:tc>
                  <a:txBody>
                    <a:bodyPr/>
                    <a:lstStyle/>
                    <a:p>
                      <a:pPr rtl="1" algn="r"/>
                      <a:r>
                        <a:rPr sz="1700" b="0" i="0" lang="ar-EG" altLang="en-US">
                          <a:solidFill>
                            <a:srgbClr val="1C2333"/>
                          </a:solidFill>
                          <a:latin typeface="Traditional Arabic"/>
                        </a:rPr>
                        <a:t>صاروخ</a:t>
                      </a:r>
                    </a:p>
                  </a:txBody>
                  <a:tcPr>
                    <a:solidFill>
                      <a:srgbClr val="FFFFFF"/>
                    </a:solidFill>
                  </a:tcPr>
                </a:tc>
              </a:tr>
              <a:tr h="384048">
                <a:tc>
                  <a:txBody>
                    <a:bodyPr/>
                    <a:lstStyle/>
                    <a:p>
                      <a:pPr rtl="0" algn="l"/>
                      <a:r>
                        <a:rPr sz="1500" b="1" i="0" lang="en-US">
                          <a:solidFill>
                            <a:srgbClr val="229494"/>
                          </a:solidFill>
                          <a:latin typeface="Segoe UI"/>
                        </a:rPr>
                        <a:t>insect</a:t>
                      </a:r>
                    </a:p>
                  </a:txBody>
                  <a:tcPr>
                    <a:solidFill>
                      <a:srgbClr val="EEF3FA"/>
                    </a:solidFill>
                  </a:tcPr>
                </a:tc>
                <a:tc>
                  <a:txBody>
                    <a:bodyPr/>
                    <a:lstStyle/>
                    <a:p>
                      <a:pPr rtl="1" algn="r"/>
                      <a:r>
                        <a:rPr sz="1700" b="0" i="0" lang="ar-EG" altLang="en-US">
                          <a:solidFill>
                            <a:srgbClr val="1C2333"/>
                          </a:solidFill>
                          <a:latin typeface="Traditional Arabic"/>
                        </a:rPr>
                        <a:t>حشرة</a:t>
                      </a:r>
                    </a:p>
                  </a:txBody>
                  <a:tcPr>
                    <a:solidFill>
                      <a:srgbClr val="EEF3FA"/>
                    </a:solidFill>
                  </a:tcPr>
                </a:tc>
                <a:tc>
                  <a:txBody>
                    <a:bodyPr/>
                    <a:lstStyle/>
                    <a:p>
                      <a:pPr rtl="0" algn="l"/>
                      <a:r>
                        <a:rPr sz="1500" b="1" i="0" lang="en-US">
                          <a:solidFill>
                            <a:srgbClr val="229494"/>
                          </a:solidFill>
                          <a:latin typeface="Segoe UI"/>
                        </a:rPr>
                        <a:t>motorbike</a:t>
                      </a:r>
                    </a:p>
                  </a:txBody>
                  <a:tcPr>
                    <a:solidFill>
                      <a:srgbClr val="EEF3FA"/>
                    </a:solidFill>
                  </a:tcPr>
                </a:tc>
                <a:tc>
                  <a:txBody>
                    <a:bodyPr/>
                    <a:lstStyle/>
                    <a:p>
                      <a:pPr rtl="1" algn="r"/>
                      <a:r>
                        <a:rPr sz="1700" b="0" i="0" lang="ar-EG" altLang="en-US">
                          <a:solidFill>
                            <a:srgbClr val="1C2333"/>
                          </a:solidFill>
                          <a:latin typeface="Traditional Arabic"/>
                        </a:rPr>
                        <a:t>دراجة بخارية</a:t>
                      </a:r>
                    </a:p>
                  </a:txBody>
                  <a:tcPr>
                    <a:solidFill>
                      <a:srgbClr val="EEF3FA"/>
                    </a:solidFill>
                  </a:tcPr>
                </a:tc>
                <a:tc>
                  <a:txBody>
                    <a:bodyPr/>
                    <a:lstStyle/>
                    <a:p>
                      <a:pPr rtl="0" algn="l"/>
                      <a:r>
                        <a:rPr sz="1500" b="1" i="0" lang="en-US">
                          <a:solidFill>
                            <a:srgbClr val="229494"/>
                          </a:solidFill>
                          <a:latin typeface="Segoe UI"/>
                        </a:rPr>
                        <a:t>ship</a:t>
                      </a:r>
                    </a:p>
                  </a:txBody>
                  <a:tcPr>
                    <a:solidFill>
                      <a:srgbClr val="EEF3FA"/>
                    </a:solidFill>
                  </a:tcPr>
                </a:tc>
                <a:tc>
                  <a:txBody>
                    <a:bodyPr/>
                    <a:lstStyle/>
                    <a:p>
                      <a:pPr rtl="1" algn="r"/>
                      <a:r>
                        <a:rPr sz="1700" b="0" i="0" lang="ar-EG" altLang="en-US">
                          <a:solidFill>
                            <a:srgbClr val="1C2333"/>
                          </a:solidFill>
                          <a:latin typeface="Traditional Arabic"/>
                        </a:rPr>
                        <a:t>سفينة</a:t>
                      </a:r>
                    </a:p>
                  </a:txBody>
                  <a:tcPr>
                    <a:solidFill>
                      <a:srgbClr val="EEF3FA"/>
                    </a:solidFill>
                  </a:tcPr>
                </a:tc>
              </a:tr>
              <a:tr h="384048">
                <a:tc>
                  <a:txBody>
                    <a:bodyPr/>
                    <a:lstStyle/>
                    <a:p>
                      <a:pPr rtl="0" algn="l"/>
                      <a:r>
                        <a:rPr sz="1500" b="1" i="0" lang="en-US">
                          <a:solidFill>
                            <a:srgbClr val="229494"/>
                          </a:solidFill>
                          <a:latin typeface="Segoe UI"/>
                        </a:rPr>
                        <a:t>train</a:t>
                      </a:r>
                    </a:p>
                  </a:txBody>
                  <a:tcPr>
                    <a:solidFill>
                      <a:srgbClr val="FFFFFF"/>
                    </a:solidFill>
                  </a:tcPr>
                </a:tc>
                <a:tc>
                  <a:txBody>
                    <a:bodyPr/>
                    <a:lstStyle/>
                    <a:p>
                      <a:pPr rtl="1" algn="r"/>
                      <a:r>
                        <a:rPr sz="1700" b="0" i="0" lang="ar-EG" altLang="en-US">
                          <a:solidFill>
                            <a:srgbClr val="1C2333"/>
                          </a:solidFill>
                          <a:latin typeface="Traditional Arabic"/>
                        </a:rPr>
                        <a:t>قطار</a:t>
                      </a:r>
                    </a:p>
                  </a:txBody>
                  <a:tcPr>
                    <a:solidFill>
                      <a:srgbClr val="FFFFFF"/>
                    </a:solidFill>
                  </a:tcPr>
                </a:tc>
                <a:tc>
                  <a:txBody>
                    <a:bodyPr/>
                    <a:lstStyle/>
                    <a:p>
                      <a:pPr rtl="0" algn="l"/>
                      <a:r>
                        <a:rPr sz="1500" b="1" i="0" lang="en-US">
                          <a:solidFill>
                            <a:srgbClr val="229494"/>
                          </a:solidFill>
                          <a:latin typeface="Segoe UI"/>
                        </a:rPr>
                        <a:t>bicycle / bike</a:t>
                      </a:r>
                    </a:p>
                  </a:txBody>
                  <a:tcPr>
                    <a:solidFill>
                      <a:srgbClr val="FFFFFF"/>
                    </a:solidFill>
                  </a:tcPr>
                </a:tc>
                <a:tc>
                  <a:txBody>
                    <a:bodyPr/>
                    <a:lstStyle/>
                    <a:p>
                      <a:pPr rtl="1" algn="r"/>
                      <a:r>
                        <a:rPr sz="1700" b="0" i="0" lang="ar-EG" altLang="en-US">
                          <a:solidFill>
                            <a:srgbClr val="1C2333"/>
                          </a:solidFill>
                          <a:latin typeface="Traditional Arabic"/>
                        </a:rPr>
                        <a:t>دراجة</a:t>
                      </a:r>
                    </a:p>
                  </a:txBody>
                  <a:tcPr>
                    <a:solidFill>
                      <a:srgbClr val="FFFFFF"/>
                    </a:solidFill>
                  </a:tcPr>
                </a:tc>
                <a:tc>
                  <a:txBody>
                    <a:bodyPr/>
                    <a:lstStyle/>
                    <a:p>
                      <a:pPr rtl="0" algn="l"/>
                      <a:r>
                        <a:rPr sz="1500" b="1" i="0" lang="en-US">
                          <a:solidFill>
                            <a:srgbClr val="229494"/>
                          </a:solidFill>
                          <a:latin typeface="Segoe UI"/>
                        </a:rPr>
                        <a:t>boat</a:t>
                      </a:r>
                    </a:p>
                  </a:txBody>
                  <a:tcPr>
                    <a:solidFill>
                      <a:srgbClr val="FFFFFF"/>
                    </a:solidFill>
                  </a:tcPr>
                </a:tc>
                <a:tc>
                  <a:txBody>
                    <a:bodyPr/>
                    <a:lstStyle/>
                    <a:p>
                      <a:pPr rtl="1" algn="r"/>
                      <a:r>
                        <a:rPr sz="1700" b="0" i="0" lang="ar-EG" altLang="en-US">
                          <a:solidFill>
                            <a:srgbClr val="1C2333"/>
                          </a:solidFill>
                          <a:latin typeface="Traditional Arabic"/>
                        </a:rPr>
                        <a:t>قارب</a:t>
                      </a:r>
                    </a:p>
                  </a:txBody>
                  <a:tcPr>
                    <a:solidFill>
                      <a:srgbClr val="FFFFFF"/>
                    </a:solidFill>
                  </a:tcPr>
                </a:tc>
              </a:tr>
              <a:tr h="384048">
                <a:tc>
                  <a:txBody>
                    <a:bodyPr/>
                    <a:lstStyle/>
                    <a:p>
                      <a:pPr rtl="0" algn="l"/>
                      <a:r>
                        <a:rPr sz="1500" b="1" i="0" lang="en-US">
                          <a:solidFill>
                            <a:srgbClr val="229494"/>
                          </a:solidFill>
                          <a:latin typeface="Segoe UI"/>
                        </a:rPr>
                        <a:t>plane</a:t>
                      </a:r>
                    </a:p>
                  </a:txBody>
                  <a:tcPr>
                    <a:solidFill>
                      <a:srgbClr val="EEF3FA"/>
                    </a:solidFill>
                  </a:tcPr>
                </a:tc>
                <a:tc>
                  <a:txBody>
                    <a:bodyPr/>
                    <a:lstStyle/>
                    <a:p>
                      <a:pPr rtl="1" algn="r"/>
                      <a:r>
                        <a:rPr sz="1700" b="0" i="0" lang="ar-EG" altLang="en-US">
                          <a:solidFill>
                            <a:srgbClr val="1C2333"/>
                          </a:solidFill>
                          <a:latin typeface="Traditional Arabic"/>
                        </a:rPr>
                        <a:t>طائرة</a:t>
                      </a:r>
                    </a:p>
                  </a:txBody>
                  <a:tcPr>
                    <a:solidFill>
                      <a:srgbClr val="EEF3FA"/>
                    </a:solidFill>
                  </a:tcPr>
                </a:tc>
                <a:tc>
                  <a:txBody>
                    <a:bodyPr/>
                    <a:lstStyle/>
                    <a:p>
                      <a:pPr rtl="0" algn="l"/>
                      <a:r>
                        <a:rPr sz="1500" b="1" i="0" lang="en-US">
                          <a:solidFill>
                            <a:srgbClr val="229494"/>
                          </a:solidFill>
                          <a:latin typeface="Segoe UI"/>
                        </a:rPr>
                        <a:t>yacht</a:t>
                      </a:r>
                    </a:p>
                  </a:txBody>
                  <a:tcPr>
                    <a:solidFill>
                      <a:srgbClr val="EEF3FA"/>
                    </a:solidFill>
                  </a:tcPr>
                </a:tc>
                <a:tc>
                  <a:txBody>
                    <a:bodyPr/>
                    <a:lstStyle/>
                    <a:p>
                      <a:pPr rtl="1" algn="r"/>
                      <a:r>
                        <a:rPr sz="1700" b="0" i="0" lang="ar-EG" altLang="en-US">
                          <a:solidFill>
                            <a:srgbClr val="1C2333"/>
                          </a:solidFill>
                          <a:latin typeface="Traditional Arabic"/>
                        </a:rPr>
                        <a:t>يخت</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transition spd="med">
    <p:strips dir="ld"/>
  </p:transition>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There are 10 girls.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girls are there?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There are 5 skirts.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skirts are there?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There are 2 pens.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pens are there?</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There are 9 books.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books are there?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There are 3 toys.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toys are there?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There are 7 girls.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girls are there?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There are 6 rulers.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rulers are there?</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There are 4 pants.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pants are there?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There are 12 boys.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many boys are there?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The book is 10 pounds.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much is the book?</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The pens are 50 pounds.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much are the pens?</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The toy is 20 pounds.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much is the toy?</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The apples are 30 pounds.</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much are the apples?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The rulers are 5 pounds.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How much are the rulers?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This ball is 60 pounds.</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this ball?</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That cat is 100 pounds.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that cat?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These shoes are 200 pounds.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these shoes?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Those pencils are 15 pounds.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those pencils?</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B)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many – there – are – How – boys?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boys are there?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is – How – much – book – the?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book?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apples – many – How – there – are?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apples are there?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 – is – How – toy – much?</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toy?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there – girls – many – How – are?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girls are there?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B)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ruler – much – is – How – the?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ruler?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pants – many – How – there – are?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pants are there?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are – How – the – much – apples?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 apples?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lions – many – How – there – are?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lions are there?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tomatoes – much – are – How – the?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 tomatoes?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B)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there – How – bananas – are – many?</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bananas are there?</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is – much – How – the – door?</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door?</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How much birds are there?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birds are there?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How many toy are there?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toys are there?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Who much are the apples?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 apples?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How much are the book?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book?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How many is the goat?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goat?</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How many glasses there are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glasses are there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How much are the flower?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flower?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What many doctors are there?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doctors are there?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How much are the dog?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dog?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How many child are there?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children are there?</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How many friends is there?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friends are there?</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How much are the apple?</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is the apple?</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How much is the bananas?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 bananas?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How many tomato are there?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tomatoes are there?</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Correct the underlined word (extra)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How much boys are there?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boys are there?</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How often pens are there?</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pens are there?</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How much is the cats?</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much are the cats?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How much pants are there?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many pants are there?</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14</a:t>
            </a:r>
          </a:p>
          <a:p>
            <a:pPr algn="ctr" rtl="0"/>
            <a:r>
              <a:rPr sz="4600" b="1" i="0" lang="en-US">
                <a:solidFill>
                  <a:srgbClr val="FFFFFF"/>
                </a:solidFill>
                <a:latin typeface="Segoe UI"/>
              </a:rPr>
              <a:t>Verb to be in the past (was / were)</a:t>
            </a:r>
          </a:p>
          <a:p>
            <a:pPr algn="ctr" rtl="1"/>
            <a:r>
              <a:rPr sz="2900" b="0" i="0" lang="ar-EG" altLang="en-US">
                <a:solidFill>
                  <a:srgbClr val="FFFFFF"/>
                </a:solidFill>
                <a:latin typeface="Traditional Arabic"/>
              </a:rPr>
              <a:t>فعل الكون في الماضي</a:t>
            </a:r>
          </a:p>
        </p:txBody>
      </p:sp>
    </p:spTree>
  </p:cSld>
  <p:clrMapOvr>
    <a:masterClrMapping/>
  </p:clrMapOvr>
  <p:transition spd="med">
    <p:zoom dir="in"/>
  </p:transition>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22"/>
                </a:solidFill>
                <a:latin typeface="Segoe UI"/>
              </a:rPr>
              <a:t>▶ I – He – She – It – الاسم المفرد + was</a:t>
            </a:r>
          </a:p>
          <a:p>
            <a:pPr rtl="1" algn="r">
              <a:spcAft>
                <a:spcPts val="600"/>
              </a:spcAft>
            </a:pPr>
            <a:r>
              <a:rPr sz="2100" b="0" i="0" lang="ar-EG" altLang="en-US">
                <a:solidFill>
                  <a:srgbClr val="1C2333"/>
                </a:solidFill>
                <a:latin typeface="Traditional Arabic"/>
              </a:rPr>
              <a:t>كنتُ / كان / كانت.</a:t>
            </a:r>
          </a:p>
          <a:p>
            <a:pPr rtl="0" algn="l">
              <a:spcAft>
                <a:spcPts val="600"/>
              </a:spcAft>
            </a:pPr>
            <a:r>
              <a:rPr sz="2000" b="1" i="0" lang="en-US">
                <a:solidFill>
                  <a:srgbClr val="942222"/>
                </a:solidFill>
                <a:latin typeface="Segoe UI"/>
              </a:rPr>
              <a:t>▶ They – You – We – الاسم الجمع + were</a:t>
            </a:r>
          </a:p>
          <a:p>
            <a:pPr rtl="1" algn="r">
              <a:spcAft>
                <a:spcPts val="600"/>
              </a:spcAft>
            </a:pPr>
            <a:r>
              <a:rPr sz="2100" b="0" i="0" lang="ar-EG" altLang="en-US">
                <a:solidFill>
                  <a:srgbClr val="1C2333"/>
                </a:solidFill>
                <a:latin typeface="Traditional Arabic"/>
              </a:rPr>
              <a:t>كانوا / كنا / كنتم.</a:t>
            </a:r>
          </a:p>
        </p:txBody>
      </p:sp>
    </p:spTree>
  </p:cSld>
  <p:clrMapOvr>
    <a:masterClrMapping/>
  </p:clrMapOvr>
  <p:transition spd="med">
    <p:wedge/>
  </p:transition>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22"/>
                </a:solidFill>
                <a:latin typeface="Segoe UI"/>
              </a:rPr>
              <a:t>▶ was not = wasn't | were not = weren't</a:t>
            </a:r>
          </a:p>
          <a:p>
            <a:pPr rtl="0" algn="l">
              <a:spcAft>
                <a:spcPts val="600"/>
              </a:spcAft>
            </a:pPr>
            <a:r>
              <a:rPr sz="1800" b="0" i="0" lang="en-US">
                <a:solidFill>
                  <a:srgbClr val="1C2333"/>
                </a:solidFill>
                <a:latin typeface="Segoe UI"/>
              </a:rPr>
              <a:t>    نضع not بعد was أو were.</a:t>
            </a:r>
          </a:p>
        </p:txBody>
      </p:sp>
    </p:spTree>
  </p:cSld>
  <p:clrMapOvr>
    <a:masterClrMapping/>
  </p:clrMapOvr>
  <p:transition spd="med">
    <p:zoom dir="in"/>
  </p:transition>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22"/>
                </a:solidFill>
                <a:latin typeface="Traditional Arabic"/>
              </a:rPr>
              <a:t>▶ Was + فاعل + باقي الجملة ? | Were + فاعل + باقي الجملة ?</a:t>
            </a:r>
          </a:p>
          <a:p>
            <a:pPr rtl="0" algn="l">
              <a:spcAft>
                <a:spcPts val="600"/>
              </a:spcAft>
            </a:pPr>
            <a:r>
              <a:rPr sz="1800" b="0" i="0" lang="en-US">
                <a:solidFill>
                  <a:srgbClr val="1C2333"/>
                </a:solidFill>
                <a:latin typeface="Segoe UI"/>
              </a:rPr>
              <a:t>    نقدّم was / were على الفاعل. لاحظ: I was → Were you …? We were → Were you …?</a:t>
            </a:r>
          </a:p>
        </p:txBody>
      </p:sp>
    </p:spTree>
  </p:cSld>
  <p:clrMapOvr>
    <a:masterClrMapping/>
  </p:clrMapOvr>
  <p:transition spd="med">
    <p:comb dir="horz"/>
  </p:transition>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2222"/>
                          </a:solidFill>
                          <a:latin typeface="Segoe UI"/>
                        </a:rPr>
                        <a:t>fast</a:t>
                      </a:r>
                    </a:p>
                  </a:txBody>
                  <a:tcPr>
                    <a:solidFill>
                      <a:srgbClr val="FFFFFF"/>
                    </a:solidFill>
                  </a:tcPr>
                </a:tc>
                <a:tc>
                  <a:txBody>
                    <a:bodyPr/>
                    <a:lstStyle/>
                    <a:p>
                      <a:pPr rtl="1" algn="r"/>
                      <a:r>
                        <a:rPr sz="1700" b="0" i="0" lang="ar-EG" altLang="en-US">
                          <a:solidFill>
                            <a:srgbClr val="1C2333"/>
                          </a:solidFill>
                          <a:latin typeface="Traditional Arabic"/>
                        </a:rPr>
                        <a:t>سريع</a:t>
                      </a:r>
                    </a:p>
                  </a:txBody>
                  <a:tcPr>
                    <a:solidFill>
                      <a:srgbClr val="FFFFFF"/>
                    </a:solidFill>
                  </a:tcPr>
                </a:tc>
                <a:tc>
                  <a:txBody>
                    <a:bodyPr/>
                    <a:lstStyle/>
                    <a:p>
                      <a:pPr rtl="0" algn="l"/>
                      <a:r>
                        <a:rPr sz="1500" b="1" i="0" lang="en-US">
                          <a:solidFill>
                            <a:srgbClr val="942222"/>
                          </a:solidFill>
                          <a:latin typeface="Segoe UI"/>
                        </a:rPr>
                        <a:t>old</a:t>
                      </a:r>
                    </a:p>
                  </a:txBody>
                  <a:tcPr>
                    <a:solidFill>
                      <a:srgbClr val="FFFFFF"/>
                    </a:solidFill>
                  </a:tcPr>
                </a:tc>
                <a:tc>
                  <a:txBody>
                    <a:bodyPr/>
                    <a:lstStyle/>
                    <a:p>
                      <a:pPr rtl="1" algn="r"/>
                      <a:r>
                        <a:rPr sz="1700" b="0" i="0" lang="ar-EG" altLang="en-US">
                          <a:solidFill>
                            <a:srgbClr val="1C2333"/>
                          </a:solidFill>
                          <a:latin typeface="Traditional Arabic"/>
                        </a:rPr>
                        <a:t>كبير السن</a:t>
                      </a:r>
                    </a:p>
                  </a:txBody>
                  <a:tcPr>
                    <a:solidFill>
                      <a:srgbClr val="FFFFFF"/>
                    </a:solidFill>
                  </a:tcPr>
                </a:tc>
                <a:tc>
                  <a:txBody>
                    <a:bodyPr/>
                    <a:lstStyle/>
                    <a:p>
                      <a:pPr rtl="0" algn="l"/>
                      <a:r>
                        <a:rPr sz="1500" b="1" i="0" lang="en-US">
                          <a:solidFill>
                            <a:srgbClr val="942222"/>
                          </a:solidFill>
                          <a:latin typeface="Segoe UI"/>
                        </a:rPr>
                        <a:t>thin</a:t>
                      </a:r>
                    </a:p>
                  </a:txBody>
                  <a:tcPr>
                    <a:solidFill>
                      <a:srgbClr val="FFFFFF"/>
                    </a:solidFill>
                  </a:tcPr>
                </a:tc>
                <a:tc>
                  <a:txBody>
                    <a:bodyPr/>
                    <a:lstStyle/>
                    <a:p>
                      <a:pPr rtl="1" algn="r"/>
                      <a:r>
                        <a:rPr sz="1700" b="0" i="0" lang="ar-EG" altLang="en-US">
                          <a:solidFill>
                            <a:srgbClr val="1C2333"/>
                          </a:solidFill>
                          <a:latin typeface="Traditional Arabic"/>
                        </a:rPr>
                        <a:t>نحيف</a:t>
                      </a:r>
                    </a:p>
                  </a:txBody>
                  <a:tcPr>
                    <a:solidFill>
                      <a:srgbClr val="FFFFFF"/>
                    </a:solidFill>
                  </a:tcPr>
                </a:tc>
              </a:tr>
              <a:tr h="384048">
                <a:tc>
                  <a:txBody>
                    <a:bodyPr/>
                    <a:lstStyle/>
                    <a:p>
                      <a:pPr rtl="0" algn="l"/>
                      <a:r>
                        <a:rPr sz="1500" b="1" i="0" lang="en-US">
                          <a:solidFill>
                            <a:srgbClr val="942222"/>
                          </a:solidFill>
                          <a:latin typeface="Segoe UI"/>
                        </a:rPr>
                        <a:t>slow</a:t>
                      </a:r>
                    </a:p>
                  </a:txBody>
                  <a:tcPr>
                    <a:solidFill>
                      <a:srgbClr val="EEF3FA"/>
                    </a:solidFill>
                  </a:tcPr>
                </a:tc>
                <a:tc>
                  <a:txBody>
                    <a:bodyPr/>
                    <a:lstStyle/>
                    <a:p>
                      <a:pPr rtl="1" algn="r"/>
                      <a:r>
                        <a:rPr sz="1700" b="0" i="0" lang="ar-EG" altLang="en-US">
                          <a:solidFill>
                            <a:srgbClr val="1C2333"/>
                          </a:solidFill>
                          <a:latin typeface="Traditional Arabic"/>
                        </a:rPr>
                        <a:t>بطيء</a:t>
                      </a:r>
                    </a:p>
                  </a:txBody>
                  <a:tcPr>
                    <a:solidFill>
                      <a:srgbClr val="EEF3FA"/>
                    </a:solidFill>
                  </a:tcPr>
                </a:tc>
                <a:tc>
                  <a:txBody>
                    <a:bodyPr/>
                    <a:lstStyle/>
                    <a:p>
                      <a:pPr rtl="0" algn="l"/>
                      <a:r>
                        <a:rPr sz="1500" b="1" i="0" lang="en-US">
                          <a:solidFill>
                            <a:srgbClr val="942222"/>
                          </a:solidFill>
                          <a:latin typeface="Segoe UI"/>
                        </a:rPr>
                        <a:t>bad</a:t>
                      </a:r>
                    </a:p>
                  </a:txBody>
                  <a:tcPr>
                    <a:solidFill>
                      <a:srgbClr val="EEF3FA"/>
                    </a:solidFill>
                  </a:tcPr>
                </a:tc>
                <a:tc>
                  <a:txBody>
                    <a:bodyPr/>
                    <a:lstStyle/>
                    <a:p>
                      <a:pPr rtl="1" algn="r"/>
                      <a:r>
                        <a:rPr sz="1700" b="0" i="0" lang="ar-EG" altLang="en-US">
                          <a:solidFill>
                            <a:srgbClr val="1C2333"/>
                          </a:solidFill>
                          <a:latin typeface="Traditional Arabic"/>
                        </a:rPr>
                        <a:t>سيئ</a:t>
                      </a:r>
                    </a:p>
                  </a:txBody>
                  <a:tcPr>
                    <a:solidFill>
                      <a:srgbClr val="EEF3FA"/>
                    </a:solidFill>
                  </a:tcPr>
                </a:tc>
                <a:tc>
                  <a:txBody>
                    <a:bodyPr/>
                    <a:lstStyle/>
                    <a:p>
                      <a:pPr rtl="0" algn="l"/>
                      <a:r>
                        <a:rPr sz="1500" b="1" i="0" lang="en-US">
                          <a:solidFill>
                            <a:srgbClr val="942222"/>
                          </a:solidFill>
                          <a:latin typeface="Segoe UI"/>
                        </a:rPr>
                        <a:t>heavy</a:t>
                      </a:r>
                    </a:p>
                  </a:txBody>
                  <a:tcPr>
                    <a:solidFill>
                      <a:srgbClr val="EEF3FA"/>
                    </a:solidFill>
                  </a:tcPr>
                </a:tc>
                <a:tc>
                  <a:txBody>
                    <a:bodyPr/>
                    <a:lstStyle/>
                    <a:p>
                      <a:pPr rtl="1" algn="r"/>
                      <a:r>
                        <a:rPr sz="1700" b="0" i="0" lang="ar-EG" altLang="en-US">
                          <a:solidFill>
                            <a:srgbClr val="1C2333"/>
                          </a:solidFill>
                          <a:latin typeface="Traditional Arabic"/>
                        </a:rPr>
                        <a:t>ثقيل</a:t>
                      </a:r>
                    </a:p>
                  </a:txBody>
                  <a:tcPr>
                    <a:solidFill>
                      <a:srgbClr val="EEF3FA"/>
                    </a:solidFill>
                  </a:tcPr>
                </a:tc>
              </a:tr>
              <a:tr h="384048">
                <a:tc>
                  <a:txBody>
                    <a:bodyPr/>
                    <a:lstStyle/>
                    <a:p>
                      <a:pPr rtl="0" algn="l"/>
                      <a:r>
                        <a:rPr sz="1500" b="1" i="0" lang="en-US">
                          <a:solidFill>
                            <a:srgbClr val="942222"/>
                          </a:solidFill>
                          <a:latin typeface="Segoe UI"/>
                        </a:rPr>
                        <a:t>easy</a:t>
                      </a:r>
                    </a:p>
                  </a:txBody>
                  <a:tcPr>
                    <a:solidFill>
                      <a:srgbClr val="FFFFFF"/>
                    </a:solidFill>
                  </a:tcPr>
                </a:tc>
                <a:tc>
                  <a:txBody>
                    <a:bodyPr/>
                    <a:lstStyle/>
                    <a:p>
                      <a:pPr rtl="1" algn="r"/>
                      <a:r>
                        <a:rPr sz="1700" b="0" i="0" lang="ar-EG" altLang="en-US">
                          <a:solidFill>
                            <a:srgbClr val="1C2333"/>
                          </a:solidFill>
                          <a:latin typeface="Traditional Arabic"/>
                        </a:rPr>
                        <a:t>سهل</a:t>
                      </a:r>
                    </a:p>
                  </a:txBody>
                  <a:tcPr>
                    <a:solidFill>
                      <a:srgbClr val="FFFFFF"/>
                    </a:solidFill>
                  </a:tcPr>
                </a:tc>
                <a:tc>
                  <a:txBody>
                    <a:bodyPr/>
                    <a:lstStyle/>
                    <a:p>
                      <a:pPr rtl="0" algn="l"/>
                      <a:r>
                        <a:rPr sz="1500" b="1" i="0" lang="en-US">
                          <a:solidFill>
                            <a:srgbClr val="942222"/>
                          </a:solidFill>
                          <a:latin typeface="Segoe UI"/>
                        </a:rPr>
                        <a:t>good</a:t>
                      </a:r>
                    </a:p>
                  </a:txBody>
                  <a:tcPr>
                    <a:solidFill>
                      <a:srgbClr val="FFFFFF"/>
                    </a:solidFill>
                  </a:tcPr>
                </a:tc>
                <a:tc>
                  <a:txBody>
                    <a:bodyPr/>
                    <a:lstStyle/>
                    <a:p>
                      <a:pPr rtl="1" algn="r"/>
                      <a:r>
                        <a:rPr sz="1700" b="0" i="0" lang="ar-EG" altLang="en-US">
                          <a:solidFill>
                            <a:srgbClr val="1C2333"/>
                          </a:solidFill>
                          <a:latin typeface="Traditional Arabic"/>
                        </a:rPr>
                        <a:t>جيد</a:t>
                      </a:r>
                    </a:p>
                  </a:txBody>
                  <a:tcPr>
                    <a:solidFill>
                      <a:srgbClr val="FFFFFF"/>
                    </a:solidFill>
                  </a:tcPr>
                </a:tc>
                <a:tc>
                  <a:txBody>
                    <a:bodyPr/>
                    <a:lstStyle/>
                    <a:p>
                      <a:pPr rtl="0" algn="l"/>
                      <a:r>
                        <a:rPr sz="1500" b="1" i="0" lang="en-US">
                          <a:solidFill>
                            <a:srgbClr val="942222"/>
                          </a:solidFill>
                          <a:latin typeface="Segoe UI"/>
                        </a:rPr>
                        <a:t>long</a:t>
                      </a:r>
                    </a:p>
                  </a:txBody>
                  <a:tcPr>
                    <a:solidFill>
                      <a:srgbClr val="FFFFFF"/>
                    </a:solidFill>
                  </a:tcPr>
                </a:tc>
                <a:tc>
                  <a:txBody>
                    <a:bodyPr/>
                    <a:lstStyle/>
                    <a:p>
                      <a:pPr rtl="1" algn="r"/>
                      <a:r>
                        <a:rPr sz="1700" b="0" i="0" lang="ar-EG" altLang="en-US">
                          <a:solidFill>
                            <a:srgbClr val="1C2333"/>
                          </a:solidFill>
                          <a:latin typeface="Traditional Arabic"/>
                        </a:rPr>
                        <a:t>طويل</a:t>
                      </a:r>
                    </a:p>
                  </a:txBody>
                  <a:tcPr>
                    <a:solidFill>
                      <a:srgbClr val="FFFFFF"/>
                    </a:solidFill>
                  </a:tcPr>
                </a:tc>
              </a:tr>
              <a:tr h="384048">
                <a:tc>
                  <a:txBody>
                    <a:bodyPr/>
                    <a:lstStyle/>
                    <a:p>
                      <a:pPr rtl="0" algn="l"/>
                      <a:r>
                        <a:rPr sz="1500" b="1" i="0" lang="en-US">
                          <a:solidFill>
                            <a:srgbClr val="942222"/>
                          </a:solidFill>
                          <a:latin typeface="Segoe UI"/>
                        </a:rPr>
                        <a:t>strong</a:t>
                      </a:r>
                    </a:p>
                  </a:txBody>
                  <a:tcPr>
                    <a:solidFill>
                      <a:srgbClr val="EEF3FA"/>
                    </a:solidFill>
                  </a:tcPr>
                </a:tc>
                <a:tc>
                  <a:txBody>
                    <a:bodyPr/>
                    <a:lstStyle/>
                    <a:p>
                      <a:pPr rtl="1" algn="r"/>
                      <a:r>
                        <a:rPr sz="1700" b="0" i="0" lang="ar-EG" altLang="en-US">
                          <a:solidFill>
                            <a:srgbClr val="1C2333"/>
                          </a:solidFill>
                          <a:latin typeface="Traditional Arabic"/>
                        </a:rPr>
                        <a:t>قوي</a:t>
                      </a:r>
                    </a:p>
                  </a:txBody>
                  <a:tcPr>
                    <a:solidFill>
                      <a:srgbClr val="EEF3FA"/>
                    </a:solidFill>
                  </a:tcPr>
                </a:tc>
                <a:tc>
                  <a:txBody>
                    <a:bodyPr/>
                    <a:lstStyle/>
                    <a:p>
                      <a:pPr rtl="0" algn="l"/>
                      <a:r>
                        <a:rPr sz="1500" b="1" i="0" lang="en-US">
                          <a:solidFill>
                            <a:srgbClr val="942222"/>
                          </a:solidFill>
                          <a:latin typeface="Segoe UI"/>
                        </a:rPr>
                        <a:t>nice</a:t>
                      </a:r>
                    </a:p>
                  </a:txBody>
                  <a:tcPr>
                    <a:solidFill>
                      <a:srgbClr val="EEF3FA"/>
                    </a:solidFill>
                  </a:tcPr>
                </a:tc>
                <a:tc>
                  <a:txBody>
                    <a:bodyPr/>
                    <a:lstStyle/>
                    <a:p>
                      <a:pPr rtl="1" algn="r"/>
                      <a:r>
                        <a:rPr sz="1700" b="0" i="0" lang="ar-EG" altLang="en-US">
                          <a:solidFill>
                            <a:srgbClr val="1C2333"/>
                          </a:solidFill>
                          <a:latin typeface="Traditional Arabic"/>
                        </a:rPr>
                        <a:t>جميل</a:t>
                      </a:r>
                    </a:p>
                  </a:txBody>
                  <a:tcPr>
                    <a:solidFill>
                      <a:srgbClr val="EEF3FA"/>
                    </a:solidFill>
                  </a:tcPr>
                </a:tc>
                <a:tc>
                  <a:txBody>
                    <a:bodyPr/>
                    <a:lstStyle/>
                    <a:p>
                      <a:pPr rtl="0" algn="l"/>
                      <a:r>
                        <a:rPr sz="1500" b="1" i="0" lang="en-US">
                          <a:solidFill>
                            <a:srgbClr val="942222"/>
                          </a:solidFill>
                          <a:latin typeface="Segoe UI"/>
                        </a:rPr>
                        <a:t>short</a:t>
                      </a:r>
                    </a:p>
                  </a:txBody>
                  <a:tcPr>
                    <a:solidFill>
                      <a:srgbClr val="EEF3FA"/>
                    </a:solidFill>
                  </a:tcPr>
                </a:tc>
                <a:tc>
                  <a:txBody>
                    <a:bodyPr/>
                    <a:lstStyle/>
                    <a:p>
                      <a:pPr rtl="1" algn="r"/>
                      <a:r>
                        <a:rPr sz="1700" b="0" i="0" lang="ar-EG" altLang="en-US">
                          <a:solidFill>
                            <a:srgbClr val="1C2333"/>
                          </a:solidFill>
                          <a:latin typeface="Traditional Arabic"/>
                        </a:rPr>
                        <a:t>قصير</a:t>
                      </a:r>
                    </a:p>
                  </a:txBody>
                  <a:tcPr>
                    <a:solidFill>
                      <a:srgbClr val="EEF3FA"/>
                    </a:solidFill>
                  </a:tcPr>
                </a:tc>
              </a:tr>
              <a:tr h="384048">
                <a:tc>
                  <a:txBody>
                    <a:bodyPr/>
                    <a:lstStyle/>
                    <a:p>
                      <a:pPr rtl="0" algn="l"/>
                      <a:r>
                        <a:rPr sz="1500" b="1" i="0" lang="en-US">
                          <a:solidFill>
                            <a:srgbClr val="942222"/>
                          </a:solidFill>
                          <a:latin typeface="Segoe UI"/>
                        </a:rPr>
                        <a:t>dirty</a:t>
                      </a:r>
                    </a:p>
                  </a:txBody>
                  <a:tcPr>
                    <a:solidFill>
                      <a:srgbClr val="FFFFFF"/>
                    </a:solidFill>
                  </a:tcPr>
                </a:tc>
                <a:tc>
                  <a:txBody>
                    <a:bodyPr/>
                    <a:lstStyle/>
                    <a:p>
                      <a:pPr rtl="1" algn="r"/>
                      <a:r>
                        <a:rPr sz="1700" b="0" i="0" lang="ar-EG" altLang="en-US">
                          <a:solidFill>
                            <a:srgbClr val="1C2333"/>
                          </a:solidFill>
                          <a:latin typeface="Traditional Arabic"/>
                        </a:rPr>
                        <a:t>قذر</a:t>
                      </a:r>
                    </a:p>
                  </a:txBody>
                  <a:tcPr>
                    <a:solidFill>
                      <a:srgbClr val="FFFFFF"/>
                    </a:solidFill>
                  </a:tcPr>
                </a:tc>
                <a:tc>
                  <a:txBody>
                    <a:bodyPr/>
                    <a:lstStyle/>
                    <a:p>
                      <a:pPr rtl="0" algn="l"/>
                      <a:r>
                        <a:rPr sz="1500" b="1" i="0" lang="en-US">
                          <a:solidFill>
                            <a:srgbClr val="942222"/>
                          </a:solidFill>
                          <a:latin typeface="Segoe UI"/>
                        </a:rPr>
                        <a:t>happy</a:t>
                      </a:r>
                    </a:p>
                  </a:txBody>
                  <a:tcPr>
                    <a:solidFill>
                      <a:srgbClr val="FFFFFF"/>
                    </a:solidFill>
                  </a:tcPr>
                </a:tc>
                <a:tc>
                  <a:txBody>
                    <a:bodyPr/>
                    <a:lstStyle/>
                    <a:p>
                      <a:pPr rtl="1" algn="r"/>
                      <a:r>
                        <a:rPr sz="1700" b="0" i="0" lang="ar-EG" altLang="en-US">
                          <a:solidFill>
                            <a:srgbClr val="1C2333"/>
                          </a:solidFill>
                          <a:latin typeface="Traditional Arabic"/>
                        </a:rPr>
                        <a:t>سعيد</a:t>
                      </a:r>
                    </a:p>
                  </a:txBody>
                  <a:tcPr>
                    <a:solidFill>
                      <a:srgbClr val="FFFFFF"/>
                    </a:solidFill>
                  </a:tcPr>
                </a:tc>
                <a:tc>
                  <a:txBody>
                    <a:bodyPr/>
                    <a:lstStyle/>
                    <a:p>
                      <a:pPr rtl="0" algn="l"/>
                      <a:r>
                        <a:rPr sz="1500" b="1" i="0" lang="en-US">
                          <a:solidFill>
                            <a:srgbClr val="942222"/>
                          </a:solidFill>
                          <a:latin typeface="Segoe UI"/>
                        </a:rPr>
                        <a:t>warm</a:t>
                      </a:r>
                    </a:p>
                  </a:txBody>
                  <a:tcPr>
                    <a:solidFill>
                      <a:srgbClr val="FFFFFF"/>
                    </a:solidFill>
                  </a:tcPr>
                </a:tc>
                <a:tc>
                  <a:txBody>
                    <a:bodyPr/>
                    <a:lstStyle/>
                    <a:p>
                      <a:pPr rtl="1" algn="r"/>
                      <a:r>
                        <a:rPr sz="1700" b="0" i="0" lang="ar-EG" altLang="en-US">
                          <a:solidFill>
                            <a:srgbClr val="1C2333"/>
                          </a:solidFill>
                          <a:latin typeface="Traditional Arabic"/>
                        </a:rPr>
                        <a:t>دافئ</a:t>
                      </a:r>
                    </a:p>
                  </a:txBody>
                  <a:tcPr>
                    <a:solidFill>
                      <a:srgbClr val="FFFFFF"/>
                    </a:solidFill>
                  </a:tcPr>
                </a:tc>
              </a:tr>
              <a:tr h="384048">
                <a:tc>
                  <a:txBody>
                    <a:bodyPr/>
                    <a:lstStyle/>
                    <a:p>
                      <a:pPr rtl="0" algn="l"/>
                      <a:r>
                        <a:rPr sz="1500" b="1" i="0" lang="en-US">
                          <a:solidFill>
                            <a:srgbClr val="942222"/>
                          </a:solidFill>
                          <a:latin typeface="Segoe UI"/>
                        </a:rPr>
                        <a:t>clean</a:t>
                      </a:r>
                    </a:p>
                  </a:txBody>
                  <a:tcPr>
                    <a:solidFill>
                      <a:srgbClr val="EEF3FA"/>
                    </a:solidFill>
                  </a:tcPr>
                </a:tc>
                <a:tc>
                  <a:txBody>
                    <a:bodyPr/>
                    <a:lstStyle/>
                    <a:p>
                      <a:pPr rtl="1" algn="r"/>
                      <a:r>
                        <a:rPr sz="1700" b="0" i="0" lang="ar-EG" altLang="en-US">
                          <a:solidFill>
                            <a:srgbClr val="1C2333"/>
                          </a:solidFill>
                          <a:latin typeface="Traditional Arabic"/>
                        </a:rPr>
                        <a:t>نظيف</a:t>
                      </a:r>
                    </a:p>
                  </a:txBody>
                  <a:tcPr>
                    <a:solidFill>
                      <a:srgbClr val="EEF3FA"/>
                    </a:solidFill>
                  </a:tcPr>
                </a:tc>
                <a:tc>
                  <a:txBody>
                    <a:bodyPr/>
                    <a:lstStyle/>
                    <a:p>
                      <a:pPr rtl="0" algn="l"/>
                      <a:r>
                        <a:rPr sz="1500" b="1" i="0" lang="en-US">
                          <a:solidFill>
                            <a:srgbClr val="942222"/>
                          </a:solidFill>
                          <a:latin typeface="Segoe UI"/>
                        </a:rPr>
                        <a:t>angry</a:t>
                      </a:r>
                    </a:p>
                  </a:txBody>
                  <a:tcPr>
                    <a:solidFill>
                      <a:srgbClr val="EEF3FA"/>
                    </a:solidFill>
                  </a:tcPr>
                </a:tc>
                <a:tc>
                  <a:txBody>
                    <a:bodyPr/>
                    <a:lstStyle/>
                    <a:p>
                      <a:pPr rtl="1" algn="r"/>
                      <a:r>
                        <a:rPr sz="1700" b="0" i="0" lang="ar-EG" altLang="en-US">
                          <a:solidFill>
                            <a:srgbClr val="1C2333"/>
                          </a:solidFill>
                          <a:latin typeface="Traditional Arabic"/>
                        </a:rPr>
                        <a:t>غاضب</a:t>
                      </a:r>
                    </a:p>
                  </a:txBody>
                  <a:tcPr>
                    <a:solidFill>
                      <a:srgbClr val="EEF3FA"/>
                    </a:solidFill>
                  </a:tcPr>
                </a:tc>
                <a:tc>
                  <a:txBody>
                    <a:bodyPr/>
                    <a:lstStyle/>
                    <a:p>
                      <a:pPr rtl="0" algn="l"/>
                      <a:r>
                        <a:rPr sz="1500" b="1" i="0" lang="en-US">
                          <a:solidFill>
                            <a:srgbClr val="942222"/>
                          </a:solidFill>
                          <a:latin typeface="Segoe UI"/>
                        </a:rPr>
                        <a:t>expensive</a:t>
                      </a:r>
                    </a:p>
                  </a:txBody>
                  <a:tcPr>
                    <a:solidFill>
                      <a:srgbClr val="EEF3FA"/>
                    </a:solidFill>
                  </a:tcPr>
                </a:tc>
                <a:tc>
                  <a:txBody>
                    <a:bodyPr/>
                    <a:lstStyle/>
                    <a:p>
                      <a:pPr rtl="1" algn="r"/>
                      <a:r>
                        <a:rPr sz="1700" b="0" i="0" lang="ar-EG" altLang="en-US">
                          <a:solidFill>
                            <a:srgbClr val="1C2333"/>
                          </a:solidFill>
                          <a:latin typeface="Traditional Arabic"/>
                        </a:rPr>
                        <a:t>غالي الثمن</a:t>
                      </a:r>
                    </a:p>
                  </a:txBody>
                  <a:tcPr>
                    <a:solidFill>
                      <a:srgbClr val="EEF3FA"/>
                    </a:solidFill>
                  </a:tcPr>
                </a:tc>
              </a:tr>
              <a:tr h="384048">
                <a:tc>
                  <a:txBody>
                    <a:bodyPr/>
                    <a:lstStyle/>
                    <a:p>
                      <a:pPr rtl="0" algn="l"/>
                      <a:r>
                        <a:rPr sz="1500" b="1" i="0" lang="en-US">
                          <a:solidFill>
                            <a:srgbClr val="942222"/>
                          </a:solidFill>
                          <a:latin typeface="Segoe UI"/>
                        </a:rPr>
                        <a:t>small</a:t>
                      </a:r>
                    </a:p>
                  </a:txBody>
                  <a:tcPr>
                    <a:solidFill>
                      <a:srgbClr val="FFFFFF"/>
                    </a:solidFill>
                  </a:tcPr>
                </a:tc>
                <a:tc>
                  <a:txBody>
                    <a:bodyPr/>
                    <a:lstStyle/>
                    <a:p>
                      <a:pPr rtl="1" algn="r"/>
                      <a:r>
                        <a:rPr sz="1700" b="0" i="0" lang="ar-EG" altLang="en-US">
                          <a:solidFill>
                            <a:srgbClr val="1C2333"/>
                          </a:solidFill>
                          <a:latin typeface="Traditional Arabic"/>
                        </a:rPr>
                        <a:t>صغير</a:t>
                      </a:r>
                    </a:p>
                  </a:txBody>
                  <a:tcPr>
                    <a:solidFill>
                      <a:srgbClr val="FFFFFF"/>
                    </a:solidFill>
                  </a:tcPr>
                </a:tc>
                <a:tc>
                  <a:txBody>
                    <a:bodyPr/>
                    <a:lstStyle/>
                    <a:p>
                      <a:pPr rtl="0" algn="l"/>
                      <a:r>
                        <a:rPr sz="1500" b="1" i="0" lang="en-US">
                          <a:solidFill>
                            <a:srgbClr val="942222"/>
                          </a:solidFill>
                          <a:latin typeface="Segoe UI"/>
                        </a:rPr>
                        <a:t>cold</a:t>
                      </a:r>
                    </a:p>
                  </a:txBody>
                  <a:tcPr>
                    <a:solidFill>
                      <a:srgbClr val="FFFFFF"/>
                    </a:solidFill>
                  </a:tcPr>
                </a:tc>
                <a:tc>
                  <a:txBody>
                    <a:bodyPr/>
                    <a:lstStyle/>
                    <a:p>
                      <a:pPr rtl="1" algn="r"/>
                      <a:r>
                        <a:rPr sz="1700" b="0" i="0" lang="ar-EG" altLang="en-US">
                          <a:solidFill>
                            <a:srgbClr val="1C2333"/>
                          </a:solidFill>
                          <a:latin typeface="Traditional Arabic"/>
                        </a:rPr>
                        <a:t>بارد</a:t>
                      </a:r>
                    </a:p>
                  </a:txBody>
                  <a:tcPr>
                    <a:solidFill>
                      <a:srgbClr val="FFFFFF"/>
                    </a:solidFill>
                  </a:tcPr>
                </a:tc>
                <a:tc>
                  <a:txBody>
                    <a:bodyPr/>
                    <a:lstStyle/>
                    <a:p>
                      <a:pPr rtl="0" algn="l"/>
                      <a:r>
                        <a:rPr sz="1500" b="1" i="0" lang="en-US">
                          <a:solidFill>
                            <a:srgbClr val="942222"/>
                          </a:solidFill>
                          <a:latin typeface="Segoe UI"/>
                        </a:rPr>
                        <a:t>modern</a:t>
                      </a:r>
                    </a:p>
                  </a:txBody>
                  <a:tcPr>
                    <a:solidFill>
                      <a:srgbClr val="FFFFFF"/>
                    </a:solidFill>
                  </a:tcPr>
                </a:tc>
                <a:tc>
                  <a:txBody>
                    <a:bodyPr/>
                    <a:lstStyle/>
                    <a:p>
                      <a:pPr rtl="1" algn="r"/>
                      <a:r>
                        <a:rPr sz="1700" b="0" i="0" lang="ar-EG" altLang="en-US">
                          <a:solidFill>
                            <a:srgbClr val="1C2333"/>
                          </a:solidFill>
                          <a:latin typeface="Traditional Arabic"/>
                        </a:rPr>
                        <a:t>حديث</a:t>
                      </a:r>
                    </a:p>
                  </a:txBody>
                  <a:tcPr>
                    <a:solidFill>
                      <a:srgbClr val="FFFFFF"/>
                    </a:solidFill>
                  </a:tcPr>
                </a:tc>
              </a:tr>
              <a:tr h="384048">
                <a:tc>
                  <a:txBody>
                    <a:bodyPr/>
                    <a:lstStyle/>
                    <a:p>
                      <a:pPr rtl="0" algn="l"/>
                      <a:r>
                        <a:rPr sz="1500" b="1" i="0" lang="en-US">
                          <a:solidFill>
                            <a:srgbClr val="942222"/>
                          </a:solidFill>
                          <a:latin typeface="Segoe UI"/>
                        </a:rPr>
                        <a:t>big</a:t>
                      </a:r>
                    </a:p>
                  </a:txBody>
                  <a:tcPr>
                    <a:solidFill>
                      <a:srgbClr val="EEF3FA"/>
                    </a:solidFill>
                  </a:tcPr>
                </a:tc>
                <a:tc>
                  <a:txBody>
                    <a:bodyPr/>
                    <a:lstStyle/>
                    <a:p>
                      <a:pPr rtl="1" algn="r"/>
                      <a:r>
                        <a:rPr sz="1700" b="0" i="0" lang="ar-EG" altLang="en-US">
                          <a:solidFill>
                            <a:srgbClr val="1C2333"/>
                          </a:solidFill>
                          <a:latin typeface="Traditional Arabic"/>
                        </a:rPr>
                        <a:t>كبير الحجم</a:t>
                      </a:r>
                    </a:p>
                  </a:txBody>
                  <a:tcPr>
                    <a:solidFill>
                      <a:srgbClr val="EEF3FA"/>
                    </a:solidFill>
                  </a:tcPr>
                </a:tc>
                <a:tc>
                  <a:txBody>
                    <a:bodyPr/>
                    <a:lstStyle/>
                    <a:p>
                      <a:pPr rtl="0" algn="l"/>
                      <a:r>
                        <a:rPr sz="1500" b="1" i="0" lang="en-US">
                          <a:solidFill>
                            <a:srgbClr val="942222"/>
                          </a:solidFill>
                          <a:latin typeface="Segoe UI"/>
                        </a:rPr>
                        <a:t>fat</a:t>
                      </a:r>
                    </a:p>
                  </a:txBody>
                  <a:tcPr>
                    <a:solidFill>
                      <a:srgbClr val="EEF3FA"/>
                    </a:solidFill>
                  </a:tcPr>
                </a:tc>
                <a:tc>
                  <a:txBody>
                    <a:bodyPr/>
                    <a:lstStyle/>
                    <a:p>
                      <a:pPr rtl="1" algn="r"/>
                      <a:r>
                        <a:rPr sz="1700" b="0" i="0" lang="ar-EG" altLang="en-US">
                          <a:solidFill>
                            <a:srgbClr val="1C2333"/>
                          </a:solidFill>
                          <a:latin typeface="Traditional Arabic"/>
                        </a:rPr>
                        <a:t>سمين</a:t>
                      </a:r>
                    </a:p>
                  </a:txBody>
                  <a:tcPr>
                    <a:solidFill>
                      <a:srgbClr val="EEF3FA"/>
                    </a:solidFill>
                  </a:tcPr>
                </a:tc>
                <a:tc>
                  <a:txBody>
                    <a:bodyPr/>
                    <a:lstStyle/>
                    <a:p>
                      <a:pPr rtl="0" algn="l"/>
                      <a:r>
                        <a:rPr sz="1500" b="1" i="0" lang="en-US">
                          <a:solidFill>
                            <a:srgbClr val="942222"/>
                          </a:solidFill>
                          <a:latin typeface="Segoe UI"/>
                        </a:rPr>
                        <a:t>dangerous</a:t>
                      </a:r>
                    </a:p>
                  </a:txBody>
                  <a:tcPr>
                    <a:solidFill>
                      <a:srgbClr val="EEF3FA"/>
                    </a:solidFill>
                  </a:tcPr>
                </a:tc>
                <a:tc>
                  <a:txBody>
                    <a:bodyPr/>
                    <a:lstStyle/>
                    <a:p>
                      <a:pPr rtl="1" algn="r"/>
                      <a:r>
                        <a:rPr sz="1700" b="0" i="0" lang="ar-EG" altLang="en-US">
                          <a:solidFill>
                            <a:srgbClr val="1C2333"/>
                          </a:solidFill>
                          <a:latin typeface="Traditional Arabic"/>
                        </a:rPr>
                        <a:t>خطير</a:t>
                      </a:r>
                    </a:p>
                  </a:txBody>
                  <a:tcPr>
                    <a:solidFill>
                      <a:srgbClr val="EEF3FA"/>
                    </a:solidFill>
                  </a:tcPr>
                </a:tc>
              </a:tr>
            </a:tbl>
          </a:graphicData>
        </a:graphic>
      </p:graphicFrame>
    </p:spTree>
  </p:cSld>
  <p:clrMapOvr>
    <a:masterClrMapping/>
  </p:clrMapOvr>
  <p:transition spd="med">
    <p:newsflash/>
  </p:transition>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15214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2222"/>
                          </a:solidFill>
                          <a:latin typeface="Segoe UI"/>
                        </a:rPr>
                        <a:t>beautiful</a:t>
                      </a:r>
                    </a:p>
                  </a:txBody>
                  <a:tcPr>
                    <a:solidFill>
                      <a:srgbClr val="FFFFFF"/>
                    </a:solidFill>
                  </a:tcPr>
                </a:tc>
                <a:tc>
                  <a:txBody>
                    <a:bodyPr/>
                    <a:lstStyle/>
                    <a:p>
                      <a:pPr rtl="1" algn="r"/>
                      <a:r>
                        <a:rPr sz="1700" b="0" i="0" lang="ar-EG" altLang="en-US">
                          <a:solidFill>
                            <a:srgbClr val="1C2333"/>
                          </a:solidFill>
                          <a:latin typeface="Traditional Arabic"/>
                        </a:rPr>
                        <a:t>جميل</a:t>
                      </a:r>
                    </a:p>
                  </a:txBody>
                  <a:tcPr>
                    <a:solidFill>
                      <a:srgbClr val="FFFFFF"/>
                    </a:solidFill>
                  </a:tcPr>
                </a:tc>
                <a:tc>
                  <a:txBody>
                    <a:bodyPr/>
                    <a:lstStyle/>
                    <a:p>
                      <a:pPr rtl="0" algn="l"/>
                      <a:r>
                        <a:rPr sz="1500" b="1" i="0" lang="en-US">
                          <a:solidFill>
                            <a:srgbClr val="942222"/>
                          </a:solidFill>
                          <a:latin typeface="Segoe UI"/>
                        </a:rPr>
                        <a:t>thirsty</a:t>
                      </a:r>
                    </a:p>
                  </a:txBody>
                  <a:tcPr>
                    <a:solidFill>
                      <a:srgbClr val="FFFFFF"/>
                    </a:solidFill>
                  </a:tcPr>
                </a:tc>
                <a:tc>
                  <a:txBody>
                    <a:bodyPr/>
                    <a:lstStyle/>
                    <a:p>
                      <a:pPr rtl="1" algn="r"/>
                      <a:r>
                        <a:rPr sz="1700" b="0" i="0" lang="ar-EG" altLang="en-US">
                          <a:solidFill>
                            <a:srgbClr val="1C2333"/>
                          </a:solidFill>
                          <a:latin typeface="Traditional Arabic"/>
                        </a:rPr>
                        <a:t>عطشان</a:t>
                      </a:r>
                    </a:p>
                  </a:txBody>
                  <a:tcPr>
                    <a:solidFill>
                      <a:srgbClr val="FFFFFF"/>
                    </a:solidFill>
                  </a:tcPr>
                </a:tc>
                <a:tc>
                  <a:txBody>
                    <a:bodyPr/>
                    <a:lstStyle/>
                    <a:p>
                      <a:pPr rtl="0" algn="l"/>
                      <a:r>
                        <a:rPr sz="1500" b="1" i="0" lang="en-US">
                          <a:solidFill>
                            <a:srgbClr val="942222"/>
                          </a:solidFill>
                          <a:latin typeface="Segoe UI"/>
                        </a:rPr>
                        <a:t>yesterday</a:t>
                      </a:r>
                    </a:p>
                  </a:txBody>
                  <a:tcPr>
                    <a:solidFill>
                      <a:srgbClr val="FFFFFF"/>
                    </a:solidFill>
                  </a:tcPr>
                </a:tc>
                <a:tc>
                  <a:txBody>
                    <a:bodyPr/>
                    <a:lstStyle/>
                    <a:p>
                      <a:pPr rtl="1" algn="r"/>
                      <a:r>
                        <a:rPr sz="1700" b="0" i="0" lang="ar-EG" altLang="en-US">
                          <a:solidFill>
                            <a:srgbClr val="1C2333"/>
                          </a:solidFill>
                          <a:latin typeface="Traditional Arabic"/>
                        </a:rPr>
                        <a:t>أمس</a:t>
                      </a:r>
                    </a:p>
                  </a:txBody>
                  <a:tcPr>
                    <a:solidFill>
                      <a:srgbClr val="FFFFFF"/>
                    </a:solidFill>
                  </a:tcPr>
                </a:tc>
              </a:tr>
              <a:tr h="384048">
                <a:tc>
                  <a:txBody>
                    <a:bodyPr/>
                    <a:lstStyle/>
                    <a:p>
                      <a:pPr rtl="0" algn="l"/>
                      <a:r>
                        <a:rPr sz="1500" b="1" i="0" lang="en-US">
                          <a:solidFill>
                            <a:srgbClr val="942222"/>
                          </a:solidFill>
                          <a:latin typeface="Segoe UI"/>
                        </a:rPr>
                        <a:t>clever</a:t>
                      </a:r>
                    </a:p>
                  </a:txBody>
                  <a:tcPr>
                    <a:solidFill>
                      <a:srgbClr val="EEF3FA"/>
                    </a:solidFill>
                  </a:tcPr>
                </a:tc>
                <a:tc>
                  <a:txBody>
                    <a:bodyPr/>
                    <a:lstStyle/>
                    <a:p>
                      <a:pPr rtl="1" algn="r"/>
                      <a:r>
                        <a:rPr sz="1700" b="0" i="0" lang="ar-EG" altLang="en-US">
                          <a:solidFill>
                            <a:srgbClr val="1C2333"/>
                          </a:solidFill>
                          <a:latin typeface="Traditional Arabic"/>
                        </a:rPr>
                        <a:t>ماهر</a:t>
                      </a:r>
                    </a:p>
                  </a:txBody>
                  <a:tcPr>
                    <a:solidFill>
                      <a:srgbClr val="EEF3FA"/>
                    </a:solidFill>
                  </a:tcPr>
                </a:tc>
                <a:tc>
                  <a:txBody>
                    <a:bodyPr/>
                    <a:lstStyle/>
                    <a:p>
                      <a:pPr rtl="0" algn="l"/>
                      <a:r>
                        <a:rPr sz="1500" b="1" i="0" lang="en-US">
                          <a:solidFill>
                            <a:srgbClr val="942222"/>
                          </a:solidFill>
                          <a:latin typeface="Segoe UI"/>
                        </a:rPr>
                        <a:t>hungry</a:t>
                      </a:r>
                    </a:p>
                  </a:txBody>
                  <a:tcPr>
                    <a:solidFill>
                      <a:srgbClr val="EEF3FA"/>
                    </a:solidFill>
                  </a:tcPr>
                </a:tc>
                <a:tc>
                  <a:txBody>
                    <a:bodyPr/>
                    <a:lstStyle/>
                    <a:p>
                      <a:pPr rtl="1" algn="r"/>
                      <a:r>
                        <a:rPr sz="1700" b="0" i="0" lang="ar-EG" altLang="en-US">
                          <a:solidFill>
                            <a:srgbClr val="1C2333"/>
                          </a:solidFill>
                          <a:latin typeface="Traditional Arabic"/>
                        </a:rPr>
                        <a:t>جوعان</a:t>
                      </a:r>
                    </a:p>
                  </a:txBody>
                  <a:tcPr>
                    <a:solidFill>
                      <a:srgbClr val="EEF3FA"/>
                    </a:solidFill>
                  </a:tcPr>
                </a:tc>
                <a:tc>
                  <a:txBody>
                    <a:bodyPr/>
                    <a:lstStyle/>
                    <a:p>
                      <a:pPr rtl="0" algn="l"/>
                      <a:r>
                        <a:rPr sz="1500" b="1" i="0" lang="en-US">
                          <a:solidFill>
                            <a:srgbClr val="942222"/>
                          </a:solidFill>
                          <a:latin typeface="Segoe UI"/>
                        </a:rPr>
                        <a:t>last night</a:t>
                      </a:r>
                    </a:p>
                  </a:txBody>
                  <a:tcPr>
                    <a:solidFill>
                      <a:srgbClr val="EEF3FA"/>
                    </a:solidFill>
                  </a:tcPr>
                </a:tc>
                <a:tc>
                  <a:txBody>
                    <a:bodyPr/>
                    <a:lstStyle/>
                    <a:p>
                      <a:pPr rtl="1" algn="r"/>
                      <a:r>
                        <a:rPr sz="1700" b="0" i="0" lang="ar-EG" altLang="en-US">
                          <a:solidFill>
                            <a:srgbClr val="1C2333"/>
                          </a:solidFill>
                          <a:latin typeface="Traditional Arabic"/>
                        </a:rPr>
                        <a:t>الليلة الماضية</a:t>
                      </a:r>
                    </a:p>
                  </a:txBody>
                  <a:tcPr>
                    <a:solidFill>
                      <a:srgbClr val="EEF3FA"/>
                    </a:solidFill>
                  </a:tcPr>
                </a:tc>
              </a:tr>
              <a:tr h="384048">
                <a:tc>
                  <a:txBody>
                    <a:bodyPr/>
                    <a:lstStyle/>
                    <a:p>
                      <a:pPr rtl="0" algn="l"/>
                      <a:r>
                        <a:rPr sz="1500" b="1" i="0" lang="en-US">
                          <a:solidFill>
                            <a:srgbClr val="942222"/>
                          </a:solidFill>
                          <a:latin typeface="Segoe UI"/>
                        </a:rPr>
                        <a:t>busy</a:t>
                      </a:r>
                    </a:p>
                  </a:txBody>
                  <a:tcPr>
                    <a:solidFill>
                      <a:srgbClr val="FFFFFF"/>
                    </a:solidFill>
                  </a:tcPr>
                </a:tc>
                <a:tc>
                  <a:txBody>
                    <a:bodyPr/>
                    <a:lstStyle/>
                    <a:p>
                      <a:pPr rtl="1" algn="r"/>
                      <a:r>
                        <a:rPr sz="1700" b="0" i="0" lang="ar-EG" altLang="en-US">
                          <a:solidFill>
                            <a:srgbClr val="1C2333"/>
                          </a:solidFill>
                          <a:latin typeface="Traditional Arabic"/>
                        </a:rPr>
                        <a:t>مشغول</a:t>
                      </a:r>
                    </a:p>
                  </a:txBody>
                  <a:tcPr>
                    <a:solidFill>
                      <a:srgbClr val="FFFFFF"/>
                    </a:solidFill>
                  </a:tcPr>
                </a:tc>
                <a:tc>
                  <a:txBody>
                    <a:bodyPr/>
                    <a:lstStyle/>
                    <a:p>
                      <a:pPr rtl="0" algn="l"/>
                      <a:r>
                        <a:rPr sz="1500" b="1" i="0" lang="en-US">
                          <a:solidFill>
                            <a:srgbClr val="942222"/>
                          </a:solidFill>
                          <a:latin typeface="Segoe UI"/>
                        </a:rPr>
                        <a:t>hospital</a:t>
                      </a:r>
                    </a:p>
                  </a:txBody>
                  <a:tcPr>
                    <a:solidFill>
                      <a:srgbClr val="FFFFFF"/>
                    </a:solidFill>
                  </a:tcPr>
                </a:tc>
                <a:tc>
                  <a:txBody>
                    <a:bodyPr/>
                    <a:lstStyle/>
                    <a:p>
                      <a:pPr rtl="1" algn="r"/>
                      <a:r>
                        <a:rPr sz="1700" b="0" i="0" lang="ar-EG" altLang="en-US">
                          <a:solidFill>
                            <a:srgbClr val="1C2333"/>
                          </a:solidFill>
                          <a:latin typeface="Traditional Arabic"/>
                        </a:rPr>
                        <a:t>مستشفى</a:t>
                      </a:r>
                    </a:p>
                  </a:txBody>
                  <a:tcPr>
                    <a:solidFill>
                      <a:srgbClr val="FFFFFF"/>
                    </a:solidFill>
                  </a:tcPr>
                </a:tc>
                <a:tc>
                  <a:txBody>
                    <a:bodyPr/>
                    <a:lstStyle/>
                    <a:p>
                      <a:pPr rtl="0" algn="l"/>
                      <a:r>
                        <a:rPr sz="1500" b="1" i="0" lang="en-US">
                          <a:solidFill>
                            <a:srgbClr val="942222"/>
                          </a:solidFill>
                          <a:latin typeface="Segoe UI"/>
                        </a:rPr>
                        <a:t>last week</a:t>
                      </a:r>
                    </a:p>
                  </a:txBody>
                  <a:tcPr>
                    <a:solidFill>
                      <a:srgbClr val="FFFFFF"/>
                    </a:solidFill>
                  </a:tcPr>
                </a:tc>
                <a:tc>
                  <a:txBody>
                    <a:bodyPr/>
                    <a:lstStyle/>
                    <a:p>
                      <a:pPr rtl="1" algn="r"/>
                      <a:r>
                        <a:rPr sz="1700" b="0" i="0" lang="ar-EG" altLang="en-US">
                          <a:solidFill>
                            <a:srgbClr val="1C2333"/>
                          </a:solidFill>
                          <a:latin typeface="Traditional Arabic"/>
                        </a:rPr>
                        <a:t>الأسبوع الماضي</a:t>
                      </a:r>
                    </a:p>
                  </a:txBody>
                  <a:tcPr>
                    <a:solidFill>
                      <a:srgbClr val="FFFFFF"/>
                    </a:solidFill>
                  </a:tcPr>
                </a:tc>
              </a:tr>
            </a:tbl>
          </a:graphicData>
        </a:graphic>
      </p:graphicFrame>
    </p:spTree>
  </p:cSld>
  <p:clrMapOvr>
    <a:masterClrMapping/>
  </p:clrMapOvr>
  <p:transition spd="med">
    <p:plus/>
  </p:transition>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We …… at school.   (was – is – were)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It …… a good day.   (were – was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Rody …… at the club.   (was – are – were)</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They …… late.   (was – is – were)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Mido and Rody …… sleeping.   (was – were – is)</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She …… thin.   (was – are – were)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You …… busy.   (was – were – is)</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1)">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heel(1)">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He …… fast.   (were – are – was)</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I …… at home.   (were – was – are)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Sara …… reading.   (are – were – was)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My friends …… playing.   (were – was – is)</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My sister …… studying.   (were – was – are)</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Lions …… hungry.   (is – was – were)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were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I …… happy yesterday.   (is – was – were)</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He was at home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wasn't at home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were hungry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weren't hungry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was at school last week.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wasn't at school last week.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It was hot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wasn't hot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 were playing football.</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weren't playing football.</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She was in the hospital last night.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wasn't in the hospital last night.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Rody was studying English.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Rody wasn't studying English.</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You were very fast.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weren't very fast.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mum was cooking lunch.</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wasn't cooking lunch.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My friends were reading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friends weren't reading yesterday.</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He was hungry.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he hungry?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were very clever.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they very clever?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was in the park.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in the park?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It was hot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it hot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You were playing football.</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I playing football?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Leen was studying English.</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Leen studying English?</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Lions were hungry last night.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lions hungry last night?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We were happy yesterday.</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happy yesterday?</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was at the hospital last night.</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at the hospital last night?</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D)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Was he at school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was. / No, he wasn't.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Were you playing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was. / No, I wasn't.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Was it thirsty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was. / No, it wasn't.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Were they happy last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were. / No, they weren't.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Was Sara at the hospital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was. / No, she wasn't.</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D)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Were lions hungry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were. / No, they weren't.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Was he in the park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was. / No, he wasn't.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Were you watching TV at 5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was. / No, I wasn't.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Were birds flying high in the sky?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were. / No, they weren't.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Was she studying English?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was. / No, she wasn't.</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E) Make a question for these answers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No, they weren't at school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they at school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Yes, she was at the garden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she at the garden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No, there wasn't a bench in the park.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there a bench in the park?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Yes, there were cars next to the school.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there cars next to the school?</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No, I wasn't listening to music.</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listening to music?</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E) Make a question for these answers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Yes, she was a nurse.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she a nurse?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No, it wasn't hungry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it hungry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Yes, he was a dentist.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he a dentist?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No, we weren't watching TV last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watching TV last night?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Yes, lions were thirsty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lions thirsty yesterday?</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E) Make a question for these answers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No, my mum wasn't angry yesterday.</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your mum angry yesterday?</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F) Rearrange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 school – Were – yesterday – 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they at school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busy – was – night – She – last.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was busy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playing – and – Rody – yesterday – Rawan – were.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Rody and Rawan were playing yesterday.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were – yesterday – Where – you?</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were you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week – was – I – last – the library – 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was at the library last week.</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F) Rearrange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weren't – We – late –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weren't late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happy – Was – night – Haneen – last?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Haneen happy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at – Were – the – you – party?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at the party?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wasn't – It – thirsty –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wasn't thirsty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wasn't – there – No, – park – a.</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No, there wasn't a park.</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F) Rearrange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there – Was – school – a?</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there a school?</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 they at the park yesterday?   (Was – Were – Is)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 playing football last night.   (am – was – were)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 were happy yesterday.   (He – She – We)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 tired after the match.   (was – are – were)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Where …… they yesterday?   (was – are – were)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No, I …… not angry yesterday.   (is – was – were)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 it a good day?   (Are – Were – Was)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 was sad last night.   (They – She – We)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They …… at home yesterday.   (were – are – was)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My parents …… proud of me.   (is – was – were)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 cat …… running fast.   (are – was – were)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We …… in Cairo last summer.   (are – was – were)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The children …… in the park.   (is – were – was)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The weather …… hot yesterday.   (was – were – is)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You …… late yesterday.   (was – were – are)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 he at the cinema?   (Were – Are – Was)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My mum …… at the hospital.   (was – are – were)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Yes, there …… a park.   (were – was – are)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No, there …… not cars.   (were – was – is)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I …… busy last night.   (am – were – was)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was at the hospital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were at the hospital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were at the hospital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was at the hospital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 was late for school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 late for school yesterday.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weren't at home last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wasn't at home last night.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He weren't happy about the test.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wasn't happy about the test.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brothers was on vacation last week.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brothers were on vacation last week.</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You wasn't in the meeting.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weren't in the meeting.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 cat were on the sofa.</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cat was on the sofa.</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friends was very happy.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friends were very happy.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Were he at the party?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he at the party?</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Was they at the cinema last night?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they at the cinema last night?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They wasn't ready for the exam.</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weren't ready for the exam.</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We was in London in 2010.</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 in London in 2010.</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Was your parents at home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your parents at home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Were she your teacher last year?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she your teacher last year?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Where was you yesterday?</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were you yesterday?</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When were his birthday?</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was his birthday?</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I) Translate into Arabic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was playing football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كنت ألعب كرة القدم أمس.</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was at school last week.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كان في المدرسة الأسبوع الماضي.</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Were you thirsty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هل كنت عطشاناً أمس؟</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She was listening to music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كانت تستمع إلى الموسيقى أمس.</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My mum was cooking breakfast.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كانت أمي تطبخ الإفطار.</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I) Translate into Arabic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It wasn't a lion.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لم يكن أسداً.</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They were doctors.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كانوا أطباء.</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Birds were flying in the sky.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كانت الطيور تطير في السماء.</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You were studying English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كنت تذاكر الإنجليزية أمس.</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Yes, they were boys.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نعم، كانوا أولاداً.</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I) Translate into Arabic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 was happy yesterday.</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كنت سعيداً أمس.</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How are you, Ahmed?</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How are you, Ahmed?</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I'm fine, thank you.</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Where were you yesterday?</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Where were you yesterday?</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I …… at the zoo.</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I was at the zoo.</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Do you like animals?</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Do you like animals?</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Yes, I …… animals.</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Yes, I like animals.</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 you happy at the zoo?</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Were you happy at the zoo?</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Yes, I …… happy at the zoo.</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Yes, I was happy at the zoo.</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Why …… you late yesterday?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Why were you late yesterday?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Because I …… sick.</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Because I was sick.</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 your brother sick too?</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Was your brother sick too?</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No, he …… okay.</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No, he was okay.</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I hope you …… better today.</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I hope you are better today.</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Thank you.</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Thank you.</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You are welcome.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You are welcome.</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Lst>
  </p:timing>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K) Read the text and answer (1)</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We have a fish tank in our room. There are ten fish in the tank. We put green plants in the water. We put rocks on the bottom. We put a snail in the tank. The snail keeps the tank clean. My sister feeds the fish every morning.</a:t>
            </a:r>
          </a:p>
          <a:p>
            <a:pPr rtl="0" algn="r">
              <a:spcBef>
                <a:spcPts val="800"/>
              </a:spcBef>
            </a:pPr>
            <a:r>
              <a:rPr sz="1400" b="0" i="0" lang="en-US">
                <a:solidFill>
                  <a:srgbClr val="5B6478"/>
                </a:solidFill>
                <a:latin typeface="Segoe UI"/>
              </a:rPr>
              <a:t>fish tank: حوض سمك   rocks: صخور   bottom: القاع   snail: حلزون   feeds: تُطعم</a:t>
            </a:r>
          </a:p>
        </p:txBody>
      </p:sp>
    </p:spTree>
  </p:cSld>
  <p:clrMapOvr>
    <a:masterClrMapping/>
  </p:clrMapOvr>
  <p:transition spd="med">
    <p:wedge/>
  </p:transition>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K) Read the text and answer (1)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We put …… plants in the tank.   (red – green – yellow)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green</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My sister feeds the fish every …… .   (morning – night – 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morning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How many fish are in the tank?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There are ten fish in the tank.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Who feeds the fish every morning?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feeds the fish every morning.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Where did we put rocks?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put rocks on the bottom of the tank.</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L) Read the text and answer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I want to be a teacher. For me, the teacher's job is the best in the world. For a teacher every day is different. Students always ask surprising questions. Teachers need to think quickly. They need to encourage their students. They need to be very patient. They work for many hours every day. It's a hard job, but it's exciting. A teacher can change his students' lives.</a:t>
            </a:r>
          </a:p>
          <a:p>
            <a:pPr rtl="0" algn="r">
              <a:spcBef>
                <a:spcPts val="800"/>
              </a:spcBef>
            </a:pPr>
            <a:r>
              <a:rPr sz="1400" b="0" i="0" lang="en-US">
                <a:solidFill>
                  <a:srgbClr val="5B6478"/>
                </a:solidFill>
                <a:latin typeface="Segoe UI"/>
              </a:rPr>
              <a:t>surprising: مفاجئة   encourage: يشجع   patient: صبور   exciting: مثير   lives: حياة</a:t>
            </a:r>
          </a:p>
        </p:txBody>
      </p:sp>
    </p:spTree>
  </p:cSld>
  <p:clrMapOvr>
    <a:masterClrMapping/>
  </p:clrMapOvr>
  <p:transition spd="med">
    <p:comb dir="horz"/>
  </p:transition>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L) Read the text and answer (2)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This text is about a …… job.   (doctor's – teacher's – engineer's)</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teacher's</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Teachers need to be very …… .   (nervous – unkind – patient)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patient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What do students usually ask their teacher?</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ask surprising questions .</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Who can change the students' lives?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 teacher can change his students' lives.</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Translate into English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 نحن كنا في المدرسة أمس.</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 at school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2) هي كانت سعيدة أمس.</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was happy yesterday.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3) صديقي كان في حديقة الحيوان أمس.</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friend was at the zoo yesterday.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4) الجو كان حارًا أمس.</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weather was hot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5) أمي كانت في الحديقة؟</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 my mum in the garden?</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Translate into English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6) أنا لم أكن في المنزل أمس.</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wasn't at home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7) نحن كنا سعداء أمس.</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 happy yesterday.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8) الأسود كانت غاضبة أمس.</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lions were angry yesterday.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9) القمر كان في السماء أمس.</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moon was in the sky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10) هل كانوا في المستشفى أمس؟</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they in the hospital yesterday?</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15</a:t>
            </a:r>
          </a:p>
          <a:p>
            <a:pPr algn="ctr" rtl="0"/>
            <a:r>
              <a:rPr sz="4600" b="1" i="0" lang="en-US">
                <a:solidFill>
                  <a:srgbClr val="FFFFFF"/>
                </a:solidFill>
                <a:latin typeface="Segoe UI"/>
              </a:rPr>
              <a:t>Writing: A paragraph about an animal or a bird</a:t>
            </a:r>
          </a:p>
          <a:p>
            <a:pPr algn="ctr" rtl="1"/>
            <a:r>
              <a:rPr sz="2900" b="0" i="0" lang="ar-EG" altLang="en-US">
                <a:solidFill>
                  <a:srgbClr val="FFFFFF"/>
                </a:solidFill>
                <a:latin typeface="Traditional Arabic"/>
              </a:rPr>
              <a:t>كيف تكتب براجراف عن حيوان أو طائر</a:t>
            </a:r>
          </a:p>
        </p:txBody>
      </p:sp>
    </p:spTree>
  </p:cSld>
  <p:clrMapOvr>
    <a:masterClrMapping/>
  </p:clrMapOvr>
  <p:transition spd="med">
    <p:zoom dir="in"/>
  </p:transition>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Model paragraph — نموذج</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It's a lion. It's an animal. It lives in the forest. It's strong and dangerous. It has four legs and strong teeth. It eats meat.</a:t>
            </a:r>
          </a:p>
        </p:txBody>
      </p:sp>
    </p:spTree>
  </p:cSld>
  <p:clrMapOvr>
    <a:masterClrMapping/>
  </p:clrMapOvr>
  <p:transition spd="med">
    <p:wheel spokes="4"/>
  </p:transition>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2084832"/>
        </p:xfrm>
        <a:graphic>
          <a:graphicData uri="http://schemas.openxmlformats.org/drawingml/2006/table">
            <a:tbl>
              <a:tblPr firstRow="1" bandRow="1">
                <a:tableStyleId>{5C22544A-7EE6-4342-B048-85BDC9FD1C3A}</a:tableStyleId>
              </a:tblPr>
              <a:tblGrid>
                <a:gridCol w="5638647"/>
                <a:gridCol w="5638648"/>
              </a:tblGrid>
              <a:tr h="347472">
                <a:tc>
                  <a:txBody>
                    <a:bodyPr/>
                    <a:lstStyle/>
                    <a:p>
                      <a:pPr rtl="0" algn="l"/>
                      <a:r>
                        <a:rPr sz="1400" b="1" i="0" lang="en-US">
                          <a:solidFill>
                            <a:srgbClr val="FFFFFF"/>
                          </a:solidFill>
                          <a:latin typeface="Segoe UI"/>
                        </a:rPr>
                        <a:t>Sentence</a:t>
                      </a:r>
                    </a:p>
                  </a:txBody>
                  <a:tcPr>
                    <a:solidFill>
                      <a:srgbClr val="489422"/>
                    </a:solidFill>
                  </a:tcPr>
                </a:tc>
                <a:tc>
                  <a:txBody>
                    <a:bodyPr/>
                    <a:lstStyle/>
                    <a:p>
                      <a:pPr rtl="1" algn="r"/>
                      <a:r>
                        <a:rPr sz="1700" b="1" i="0" lang="ar-EG" altLang="en-US">
                          <a:solidFill>
                            <a:srgbClr val="FFFFFF"/>
                          </a:solidFill>
                          <a:latin typeface="Traditional Arabic"/>
                        </a:rPr>
                        <a:t>Choices — الاختيارات</a:t>
                      </a:r>
                    </a:p>
                  </a:txBody>
                  <a:tcPr>
                    <a:solidFill>
                      <a:srgbClr val="489422"/>
                    </a:solidFill>
                  </a:tcPr>
                </a:tc>
              </a:tr>
              <a:tr h="347472">
                <a:tc>
                  <a:txBody>
                    <a:bodyPr/>
                    <a:lstStyle/>
                    <a:p>
                      <a:pPr rtl="1" algn="r"/>
                      <a:r>
                        <a:rPr sz="1600" b="0" i="0" lang="ar-EG" altLang="en-US">
                          <a:solidFill>
                            <a:srgbClr val="1C2333"/>
                          </a:solidFill>
                          <a:latin typeface="Traditional Arabic"/>
                        </a:rPr>
                        <a:t>It's a / an … (اسم الحيوان أو الطائر)</a:t>
                      </a:r>
                    </a:p>
                  </a:txBody>
                  <a:tcPr>
                    <a:solidFill>
                      <a:srgbClr val="FFFFFF"/>
                    </a:solidFill>
                  </a:tcPr>
                </a:tc>
                <a:tc>
                  <a:txBody>
                    <a:bodyPr/>
                    <a:lstStyle/>
                    <a:p>
                      <a:pPr rtl="0" algn="l"/>
                      <a:r>
                        <a:rPr sz="1300" b="0" i="0" lang="en-US">
                          <a:solidFill>
                            <a:srgbClr val="1C2333"/>
                          </a:solidFill>
                          <a:latin typeface="Segoe UI"/>
                        </a:rPr>
                        <a:t>It's an animal / It's a bird</a:t>
                      </a:r>
                    </a:p>
                  </a:txBody>
                  <a:tcPr>
                    <a:solidFill>
                      <a:srgbClr val="FFFFFF"/>
                    </a:solidFill>
                  </a:tcPr>
                </a:tc>
              </a:tr>
              <a:tr h="347472">
                <a:tc>
                  <a:txBody>
                    <a:bodyPr/>
                    <a:lstStyle/>
                    <a:p>
                      <a:pPr rtl="0" algn="l"/>
                      <a:r>
                        <a:rPr sz="1300" b="0" i="0" lang="en-US">
                          <a:solidFill>
                            <a:srgbClr val="1C2333"/>
                          </a:solidFill>
                          <a:latin typeface="Segoe UI"/>
                        </a:rPr>
                        <a:t>It lives in the …</a:t>
                      </a:r>
                    </a:p>
                  </a:txBody>
                  <a:tcPr>
                    <a:solidFill>
                      <a:srgbClr val="EEF3FA"/>
                    </a:solidFill>
                  </a:tcPr>
                </a:tc>
                <a:tc>
                  <a:txBody>
                    <a:bodyPr/>
                    <a:lstStyle/>
                    <a:p>
                      <a:pPr rtl="1" algn="r"/>
                      <a:r>
                        <a:rPr sz="1600" b="0" i="0" lang="ar-EG" altLang="en-US">
                          <a:solidFill>
                            <a:srgbClr val="1C2333"/>
                          </a:solidFill>
                          <a:latin typeface="Traditional Arabic"/>
                        </a:rPr>
                        <a:t>barn الحظيرة – forest الغابة – desert الصحراء – zoo حديقة الحيوان – field الحقل – farm المزرعة – sea البحر</a:t>
                      </a:r>
                    </a:p>
                  </a:txBody>
                  <a:tcPr>
                    <a:solidFill>
                      <a:srgbClr val="EEF3FA"/>
                    </a:solidFill>
                  </a:tcPr>
                </a:tc>
              </a:tr>
              <a:tr h="347472">
                <a:tc>
                  <a:txBody>
                    <a:bodyPr/>
                    <a:lstStyle/>
                    <a:p>
                      <a:pPr rtl="0" algn="l"/>
                      <a:r>
                        <a:rPr sz="1300" b="0" i="0" lang="en-US">
                          <a:solidFill>
                            <a:srgbClr val="1C2333"/>
                          </a:solidFill>
                          <a:latin typeface="Segoe UI"/>
                        </a:rPr>
                        <a:t>It's …</a:t>
                      </a:r>
                    </a:p>
                  </a:txBody>
                  <a:tcPr>
                    <a:solidFill>
                      <a:srgbClr val="FFFFFF"/>
                    </a:solidFill>
                  </a:tcPr>
                </a:tc>
                <a:tc>
                  <a:txBody>
                    <a:bodyPr/>
                    <a:lstStyle/>
                    <a:p>
                      <a:pPr rtl="0" algn="l"/>
                      <a:r>
                        <a:rPr sz="1300" b="0" i="0" lang="en-US">
                          <a:solidFill>
                            <a:srgbClr val="1C2333"/>
                          </a:solidFill>
                          <a:latin typeface="Segoe UI"/>
                        </a:rPr>
                        <a:t>strong قوي – dangerous خطير – huge ضخم – helpful متعاون – small صغير – fast سريع – slow بطيء</a:t>
                      </a:r>
                    </a:p>
                  </a:txBody>
                  <a:tcPr>
                    <a:solidFill>
                      <a:srgbClr val="FFFFFF"/>
                    </a:solidFill>
                  </a:tcPr>
                </a:tc>
              </a:tr>
              <a:tr h="347472">
                <a:tc>
                  <a:txBody>
                    <a:bodyPr/>
                    <a:lstStyle/>
                    <a:p>
                      <a:pPr rtl="0" algn="l"/>
                      <a:r>
                        <a:rPr sz="1300" b="0" i="0" lang="en-US">
                          <a:solidFill>
                            <a:srgbClr val="1C2333"/>
                          </a:solidFill>
                          <a:latin typeface="Segoe UI"/>
                        </a:rPr>
                        <a:t>It has …</a:t>
                      </a:r>
                    </a:p>
                  </a:txBody>
                  <a:tcPr>
                    <a:solidFill>
                      <a:srgbClr val="EEF3FA"/>
                    </a:solidFill>
                  </a:tcPr>
                </a:tc>
                <a:tc>
                  <a:txBody>
                    <a:bodyPr/>
                    <a:lstStyle/>
                    <a:p>
                      <a:pPr rtl="0" algn="l"/>
                      <a:r>
                        <a:rPr sz="1300" b="0" i="0" lang="en-US">
                          <a:solidFill>
                            <a:srgbClr val="1C2333"/>
                          </a:solidFill>
                          <a:latin typeface="Segoe UI"/>
                        </a:rPr>
                        <a:t>four legs أربع أرجل – two legs رجلان – wings أجنحة – strong teeth أسنان قوية – a beak منقار – claws مخالب – a long tail ذيل طويل – a trunk خرطوم</a:t>
                      </a:r>
                    </a:p>
                  </a:txBody>
                  <a:tcPr>
                    <a:solidFill>
                      <a:srgbClr val="EEF3FA"/>
                    </a:solidFill>
                  </a:tcPr>
                </a:tc>
              </a:tr>
              <a:tr h="347472">
                <a:tc>
                  <a:txBody>
                    <a:bodyPr/>
                    <a:lstStyle/>
                    <a:p>
                      <a:pPr rtl="0" algn="l"/>
                      <a:r>
                        <a:rPr sz="1300" b="0" i="0" lang="en-US">
                          <a:solidFill>
                            <a:srgbClr val="1C2333"/>
                          </a:solidFill>
                          <a:latin typeface="Segoe UI"/>
                        </a:rPr>
                        <a:t>It eats …</a:t>
                      </a:r>
                    </a:p>
                  </a:txBody>
                  <a:tcPr>
                    <a:solidFill>
                      <a:srgbClr val="FFFFFF"/>
                    </a:solidFill>
                  </a:tcPr>
                </a:tc>
                <a:tc>
                  <a:txBody>
                    <a:bodyPr/>
                    <a:lstStyle/>
                    <a:p>
                      <a:pPr rtl="0" algn="l"/>
                      <a:r>
                        <a:rPr sz="1300" b="0" i="0" lang="en-US">
                          <a:solidFill>
                            <a:srgbClr val="1C2333"/>
                          </a:solidFill>
                          <a:latin typeface="Segoe UI"/>
                        </a:rPr>
                        <a:t>animals حيوانات – plants نباتات – grass حشائش – insects حشرات – meat لحم – corn ذرة</a:t>
                      </a:r>
                    </a:p>
                  </a:txBody>
                  <a:tcPr>
                    <a:solidFill>
                      <a:srgbClr val="FFFFFF"/>
                    </a:solidFill>
                  </a:tcPr>
                </a:tc>
              </a:tr>
            </a:tbl>
          </a:graphicData>
        </a:graphic>
      </p:graphicFrame>
    </p:spTree>
  </p:cSld>
  <p:clrMapOvr>
    <a:masterClrMapping/>
  </p:clrMapOvr>
  <p:transition spd="med">
    <p:pull dir="r"/>
  </p:transition>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A) Write a paragraph about an animal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Write a paragraph about an animal — اكتب براجراف عن حيوان (a camel)</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 camel. It's an animal. It lives in the desert. It's strong and helpful. It has four legs and a long neck. It eats plants and grass.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Write a paragraph about an animal (an elephant)</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an elephant. It's an animal. It lives in the forest and in the zoo. It's huge and strong. It has four legs, two big ears and a trunk. It eats plants and grass.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Write a paragraph about an animal (a cow)</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 cow. It's an animal. It lives in the barn on the farm. It's helpful and slow. It has four legs and a long tail. It eats grass and corn. It gives us milk.</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B) Write a paragraph about a bird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Write a paragraph about a bird — اكتب براجراف عن طائر (an eagle)</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an eagle. It's a bird. It lives in the mountains. It's strong, fast and dangerous. It has two legs, two big wings, a beak and sharp claws. It eats small animals.</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Write a paragraph about a bird (a hen)</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 hen. It's a bird. It lives on the farm. It's small and helpful. It has two legs, two wings and a beak. It eats corn and insects. It gives us eggs.</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Write a paragraph about a bird (a parrot)</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It's a parrot. It's a bird. It lives in the forest. It's small, fast and beautiful. It has two legs, two colourful wings and a beak. It eats fruit and seeds. It can talk.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16</a:t>
            </a:r>
          </a:p>
          <a:p>
            <a:pPr algn="ctr" rtl="0"/>
            <a:r>
              <a:rPr sz="4600" b="1" i="0" lang="en-US">
                <a:solidFill>
                  <a:srgbClr val="FFFFFF"/>
                </a:solidFill>
                <a:latin typeface="Segoe UI"/>
              </a:rPr>
              <a:t>Comparative &amp; Superlative Adjectives</a:t>
            </a:r>
          </a:p>
          <a:p>
            <a:pPr algn="ctr" rtl="1"/>
            <a:r>
              <a:rPr sz="2900" b="0" i="0" lang="ar-EG" altLang="en-US">
                <a:solidFill>
                  <a:srgbClr val="FFFFFF"/>
                </a:solidFill>
                <a:latin typeface="Traditional Arabic"/>
              </a:rPr>
              <a:t>صفات المقارنة والتفضيل</a:t>
            </a:r>
          </a:p>
        </p:txBody>
      </p:sp>
    </p:spTree>
  </p:cSld>
  <p:clrMapOvr>
    <a:masterClrMapping/>
  </p:clrMapOvr>
  <p:transition spd="med">
    <p:zoom dir="in"/>
  </p:transition>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1" algn="r"/>
            <a:r>
              <a:rPr sz="1700" b="0" i="0" lang="ar-EG" altLang="en-US">
                <a:solidFill>
                  <a:srgbClr val="DDE6F3"/>
                </a:solidFill>
                <a:latin typeface="Traditional Arabic"/>
              </a:rPr>
              <a:t>Comparative — صفات المقارنة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782294"/>
                </a:solidFill>
                <a:latin typeface="Segoe UI"/>
              </a:rPr>
              <a:t>▶ فاعل + am / is / are + صفة + er + than + …</a:t>
            </a:r>
          </a:p>
          <a:p>
            <a:pPr rtl="1" algn="r">
              <a:spcAft>
                <a:spcPts val="600"/>
              </a:spcAft>
            </a:pPr>
            <a:r>
              <a:rPr sz="2100" b="0" i="0" lang="ar-EG" altLang="en-US">
                <a:solidFill>
                  <a:srgbClr val="1C2333"/>
                </a:solidFill>
                <a:latin typeface="Traditional Arabic"/>
              </a:rPr>
              <a:t>تُستخدم للمقارنة بين شخصين أو شيئين أو مجموعتين.</a:t>
            </a:r>
          </a:p>
          <a:p>
            <a:pPr rtl="1" algn="r">
              <a:spcAft>
                <a:spcPts val="600"/>
              </a:spcAft>
            </a:pPr>
            <a:r>
              <a:rPr sz="2100" b="0" i="0" lang="ar-EG" altLang="en-US">
                <a:solidFill>
                  <a:srgbClr val="1C2333"/>
                </a:solidFill>
                <a:latin typeface="Traditional Arabic"/>
              </a:rPr>
              <a:t>• fat → fat ter thin → thin ner big → big ger — إذا كانت الصفة من مقطع واحد وتنتهي بحرف ساكن قبله حرف متحرك، نضعّف الحرف الأخير قبل إضافة er.</a:t>
            </a:r>
          </a:p>
          <a:p>
            <a:pPr rtl="1" algn="r">
              <a:spcAft>
                <a:spcPts val="600"/>
              </a:spcAft>
            </a:pPr>
            <a:r>
              <a:rPr sz="2100" b="0" i="0" lang="ar-EG" altLang="en-US">
                <a:solidFill>
                  <a:srgbClr val="1C2333"/>
                </a:solidFill>
                <a:latin typeface="Traditional Arabic"/>
              </a:rPr>
              <a:t>• happy → happ ier than easy → eas ier than — إذا انتهت الصفة بـ y وقبلها حرف ساكن، تُحذف الـ y ونضيف ier.</a:t>
            </a:r>
          </a:p>
          <a:p>
            <a:pPr rtl="1" algn="r">
              <a:spcAft>
                <a:spcPts val="600"/>
              </a:spcAft>
            </a:pPr>
            <a:r>
              <a:rPr sz="2100" b="0" i="0" lang="ar-EG" altLang="en-US">
                <a:solidFill>
                  <a:srgbClr val="1C2333"/>
                </a:solidFill>
                <a:latin typeface="Traditional Arabic"/>
              </a:rPr>
              <a:t>• good → better than bad → worse than — صفات شاذة غير منتظمة تُحفظ كما هي.</a:t>
            </a:r>
          </a:p>
          <a:p>
            <a:pPr rtl="0" algn="l">
              <a:spcAft>
                <a:spcPts val="600"/>
              </a:spcAft>
            </a:pPr>
            <a:r>
              <a:rPr sz="1800" b="0" i="0" lang="en-US">
                <a:solidFill>
                  <a:srgbClr val="1C2333"/>
                </a:solidFill>
                <a:latin typeface="Segoe UI"/>
              </a:rPr>
              <a:t>• fast → fast er than tall → tall er than — باقي الصفات المنتظمة يضاف لها er.</a:t>
            </a:r>
          </a:p>
        </p:txBody>
      </p:sp>
    </p:spTree>
  </p:cSld>
  <p:clrMapOvr>
    <a:masterClrMapping/>
  </p:clrMapOvr>
  <p:transition spd="med">
    <p:push dir="l"/>
  </p:transition>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Superlative — صفات التفضيل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782294"/>
                </a:solidFill>
                <a:latin typeface="Segoe UI"/>
              </a:rPr>
              <a:t>▶ the + صفة + est</a:t>
            </a:r>
          </a:p>
          <a:p>
            <a:pPr rtl="1" algn="r">
              <a:spcAft>
                <a:spcPts val="600"/>
              </a:spcAft>
            </a:pPr>
            <a:r>
              <a:rPr sz="2100" b="0" i="0" lang="ar-EG" altLang="en-US">
                <a:solidFill>
                  <a:srgbClr val="1C2333"/>
                </a:solidFill>
                <a:latin typeface="Traditional Arabic"/>
              </a:rPr>
              <a:t>تُستخدم لتفضيل شخص أو شيء عن الباقي.</a:t>
            </a:r>
          </a:p>
          <a:p>
            <a:pPr rtl="1" algn="r">
              <a:spcAft>
                <a:spcPts val="600"/>
              </a:spcAft>
            </a:pPr>
            <a:r>
              <a:rPr sz="2100" b="0" i="0" lang="ar-EG" altLang="en-US">
                <a:solidFill>
                  <a:srgbClr val="1C2333"/>
                </a:solidFill>
                <a:latin typeface="Traditional Arabic"/>
              </a:rPr>
              <a:t>• happy → the happ iest easy → the eas iest — إذا انتهت الصفة بـ y وقبلها ساكن، تُحذف ونضيف iest.</a:t>
            </a:r>
          </a:p>
          <a:p>
            <a:pPr rtl="1" algn="r">
              <a:spcAft>
                <a:spcPts val="600"/>
              </a:spcAft>
            </a:pPr>
            <a:r>
              <a:rPr sz="2100" b="0" i="0" lang="ar-EG" altLang="en-US">
                <a:solidFill>
                  <a:srgbClr val="1C2333"/>
                </a:solidFill>
                <a:latin typeface="Traditional Arabic"/>
              </a:rPr>
              <a:t>• big → the big gest fat → the fat test — إذا كانت من مقطع واحد وتنتهي بساكن قبله متحرك، نضعّف الحرف الأخير ونضيف est.</a:t>
            </a:r>
          </a:p>
          <a:p>
            <a:pPr rtl="0" algn="l">
              <a:spcAft>
                <a:spcPts val="600"/>
              </a:spcAft>
            </a:pPr>
            <a:r>
              <a:rPr sz="1800" b="0" i="0" lang="en-US">
                <a:solidFill>
                  <a:srgbClr val="1C2333"/>
                </a:solidFill>
                <a:latin typeface="Segoe UI"/>
              </a:rPr>
              <a:t>• good → the best bad → the worst — صفات شاذة تُحفظ.</a:t>
            </a:r>
          </a:p>
        </p:txBody>
      </p:sp>
    </p:spTree>
  </p:cSld>
  <p:clrMapOvr>
    <a:masterClrMapping/>
  </p:clrMapOvr>
  <p:transition spd="med">
    <p:wipe dir="r"/>
  </p:transition>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Long adjectives — الصفات الطويلة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782294"/>
                </a:solidFill>
                <a:latin typeface="Segoe UI"/>
              </a:rPr>
              <a:t>▶ more + long adjective + than</a:t>
            </a:r>
          </a:p>
          <a:p>
            <a:pPr rtl="1" algn="r">
              <a:spcAft>
                <a:spcPts val="600"/>
              </a:spcAft>
            </a:pPr>
            <a:r>
              <a:rPr sz="2100" b="0" i="0" lang="ar-EG" altLang="en-US">
                <a:solidFill>
                  <a:srgbClr val="1C2333"/>
                </a:solidFill>
                <a:latin typeface="Traditional Arabic"/>
              </a:rPr>
              <a:t>المقارنة مع الصفات الطويلة (المكوّنة من مقطعين أو أكثر).</a:t>
            </a:r>
          </a:p>
          <a:p>
            <a:pPr rtl="0" algn="l">
              <a:spcAft>
                <a:spcPts val="600"/>
              </a:spcAft>
            </a:pPr>
            <a:r>
              <a:rPr sz="2000" b="1" i="0" lang="en-US">
                <a:solidFill>
                  <a:srgbClr val="782294"/>
                </a:solidFill>
                <a:latin typeface="Segoe UI"/>
              </a:rPr>
              <a:t>▶ the most + long adjective</a:t>
            </a:r>
          </a:p>
          <a:p>
            <a:pPr rtl="1" algn="r">
              <a:spcAft>
                <a:spcPts val="600"/>
              </a:spcAft>
            </a:pPr>
            <a:r>
              <a:rPr sz="2100" b="0" i="0" lang="ar-EG" altLang="en-US">
                <a:solidFill>
                  <a:srgbClr val="1C2333"/>
                </a:solidFill>
                <a:latin typeface="Traditional Arabic"/>
              </a:rPr>
              <a:t>التفضيل مع الصفات الطويلة.</a:t>
            </a:r>
          </a:p>
          <a:p>
            <a:pPr rtl="0" algn="l">
              <a:spcAft>
                <a:spcPts val="600"/>
              </a:spcAft>
            </a:pPr>
            <a:r>
              <a:rPr sz="1800" b="0" i="0" lang="en-US">
                <a:solidFill>
                  <a:srgbClr val="1C2333"/>
                </a:solidFill>
                <a:latin typeface="Segoe UI"/>
              </a:rPr>
              <a:t>   beautiful – dangerous – expensive – modern – important – interesting</a:t>
            </a:r>
          </a:p>
        </p:txBody>
      </p:sp>
    </p:spTree>
  </p:cSld>
  <p:clrMapOvr>
    <a:masterClrMapping/>
  </p:clrMapOvr>
  <p:transition spd="med">
    <p:split orient="vert" dir="out"/>
  </p:transition>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Adjectives — الصفات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    الصفة تُستخدم لوصف شخص أو شيء أو مجموعة، وتأتي بعد Verb to be. وتنقسم إلى: صفة عادية · صفات المقارنة · صفات التفضيل.</a:t>
            </a:r>
          </a:p>
          <a:p>
            <a:pPr rtl="0" algn="l">
              <a:spcAft>
                <a:spcPts val="600"/>
              </a:spcAft>
            </a:pPr>
            <a:r>
              <a:rPr sz="1700" b="0" i="1" lang="en-US">
                <a:solidFill>
                  <a:srgbClr val="5B6478"/>
                </a:solidFill>
                <a:latin typeface="Segoe UI"/>
              </a:rPr>
              <a:t>   e.g. Ahmed is a good boy. – Lions are strong animals. – She is tall. – He is fast. – They are short.</a:t>
            </a:r>
          </a:p>
          <a:p>
            <a:pPr rtl="0" algn="l">
              <a:spcAft>
                <a:spcPts val="600"/>
              </a:spcAft>
            </a:pPr>
            <a:r>
              <a:rPr sz="1800" b="0" i="0" lang="en-US">
                <a:solidFill>
                  <a:srgbClr val="1C2333"/>
                </a:solidFill>
                <a:latin typeface="Segoe UI"/>
              </a:rPr>
              <a:t>    الصفات قصيرة المقطع (fast – tall – big) والصفات طويلة المقطع (beautiful – dangerous – expensive).</a:t>
            </a:r>
          </a:p>
        </p:txBody>
      </p:sp>
    </p:spTree>
  </p:cSld>
  <p:clrMapOvr>
    <a:masterClrMapping/>
  </p:clrMapOvr>
  <p:transition spd="med">
    <p:cover dir="d"/>
  </p:transition>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fast →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faster than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small →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smaller than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thin →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thinner than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angry → ……</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angrier than</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easy →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easier than</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bad →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worse than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nice → ……</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nicer than</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long →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longer than</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slow →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slower than</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happy →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happier than</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heavy → ……</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heavier than</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good →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better than</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strong →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stronger than</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cold → ……</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colder than</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old → ……</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older than</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clean → ……</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cleaner than</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dirty → ……</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dirtier than</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fat → ……</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fatter than</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big → ……</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bigger than</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short → ……</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shorter than</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B) Choose the correct answer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Ali is …… than Ahmed.   (tall – taller – tallest)</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taller</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 lion is stronger …… the dog.   (that – then – than)</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than</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My car is …… than yours.   (faster – fast – fastest)</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faster</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fast →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fastest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small →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smallest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thin →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thinnest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angry → ……</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angriest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easy →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easiest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bad →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worst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nice → ……</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nicest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long → ……</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longest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slow → ……</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slowest</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happy → ……</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happiest</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heavy → ……</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heaviest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good → ……</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best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strong → ……</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strongest</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cold → ……</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coldest</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old → ……</a:t>
            </a:r>
          </a:p>
        </p:txBody>
      </p:sp>
      <p:sp>
        <p:nvSpPr>
          <p:cNvPr id="9" name="Rounded Rectangle 8"/>
          <p:cNvSpPr/>
          <p:nvPr/>
        </p:nvSpPr>
        <p:spPr>
          <a:xfrm>
            <a:off x="822960" y="15773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oldest</a:t>
            </a:r>
          </a:p>
        </p:txBody>
      </p:sp>
      <p:sp>
        <p:nvSpPr>
          <p:cNvPr id="10" name="TextBox 9"/>
          <p:cNvSpPr txBox="1"/>
          <p:nvPr/>
        </p:nvSpPr>
        <p:spPr>
          <a:xfrm>
            <a:off x="411480" y="201168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clean → ……</a:t>
            </a:r>
          </a:p>
        </p:txBody>
      </p:sp>
      <p:sp>
        <p:nvSpPr>
          <p:cNvPr id="11" name="Rounded Rectangle 10"/>
          <p:cNvSpPr/>
          <p:nvPr/>
        </p:nvSpPr>
        <p:spPr>
          <a:xfrm>
            <a:off x="822960" y="244602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cleanest</a:t>
            </a:r>
          </a:p>
        </p:txBody>
      </p:sp>
      <p:sp>
        <p:nvSpPr>
          <p:cNvPr id="12" name="TextBox 11"/>
          <p:cNvSpPr txBox="1"/>
          <p:nvPr/>
        </p:nvSpPr>
        <p:spPr>
          <a:xfrm>
            <a:off x="411480" y="288036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dirty → ……</a:t>
            </a:r>
          </a:p>
        </p:txBody>
      </p:sp>
      <p:sp>
        <p:nvSpPr>
          <p:cNvPr id="13" name="Rounded Rectangle 12"/>
          <p:cNvSpPr/>
          <p:nvPr/>
        </p:nvSpPr>
        <p:spPr>
          <a:xfrm>
            <a:off x="822960" y="331470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dirtiest</a:t>
            </a:r>
          </a:p>
        </p:txBody>
      </p:sp>
      <p:sp>
        <p:nvSpPr>
          <p:cNvPr id="14" name="TextBox 13"/>
          <p:cNvSpPr txBox="1"/>
          <p:nvPr/>
        </p:nvSpPr>
        <p:spPr>
          <a:xfrm>
            <a:off x="411480" y="374904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fat → ……</a:t>
            </a:r>
          </a:p>
        </p:txBody>
      </p:sp>
      <p:sp>
        <p:nvSpPr>
          <p:cNvPr id="15" name="Rounded Rectangle 14"/>
          <p:cNvSpPr/>
          <p:nvPr/>
        </p:nvSpPr>
        <p:spPr>
          <a:xfrm>
            <a:off x="822960" y="418338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fattest</a:t>
            </a:r>
          </a:p>
        </p:txBody>
      </p:sp>
      <p:sp>
        <p:nvSpPr>
          <p:cNvPr id="16" name="TextBox 15"/>
          <p:cNvSpPr txBox="1"/>
          <p:nvPr/>
        </p:nvSpPr>
        <p:spPr>
          <a:xfrm>
            <a:off x="411480" y="461772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big → ……</a:t>
            </a:r>
          </a:p>
        </p:txBody>
      </p:sp>
      <p:sp>
        <p:nvSpPr>
          <p:cNvPr id="17" name="Rounded Rectangle 16"/>
          <p:cNvSpPr/>
          <p:nvPr/>
        </p:nvSpPr>
        <p:spPr>
          <a:xfrm>
            <a:off x="822960" y="505206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biggest</a:t>
            </a:r>
          </a:p>
        </p:txBody>
      </p:sp>
      <p:sp>
        <p:nvSpPr>
          <p:cNvPr id="18" name="TextBox 17"/>
          <p:cNvSpPr txBox="1"/>
          <p:nvPr/>
        </p:nvSpPr>
        <p:spPr>
          <a:xfrm>
            <a:off x="411480" y="5486400"/>
            <a:ext cx="11368735" cy="434340"/>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short → ……</a:t>
            </a:r>
          </a:p>
        </p:txBody>
      </p:sp>
      <p:sp>
        <p:nvSpPr>
          <p:cNvPr id="19" name="Rounded Rectangle 18"/>
          <p:cNvSpPr/>
          <p:nvPr/>
        </p:nvSpPr>
        <p:spPr>
          <a:xfrm>
            <a:off x="822960" y="5920740"/>
            <a:ext cx="10545775" cy="399592"/>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the shortest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Lst>
  </p:timing>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D)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 elephant is the …… .   (big – bigger – biggest)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biggest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Shahd is …… than Hoda.   (nicer – nice – nicest)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nicer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 River Nile is the …… in the world.   (longer – long – longest)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longest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 bike is …… than the car.   (cheap – cheapest – cheaper)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cheaper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Ali is the …… boy in the class.   (tallest – taller – tall)</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tallest</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D)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Dina is …… than Salma.   (fattest – fatter – fat)</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fatter</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 elephant is the …… animal.   (strong – stronger – strongest)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strongest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Nancy is …… girl in the team.   (young – younger – the youngest)</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youngest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 tiger is the …… animal.   (strong – strongest – stronger)</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strongest</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E) Choose the correct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Cairo is …… than Alex.   (crowded – more crowded – most crowded)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more crowded</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 giraffe is …… than the cow.   (the tallest – tall – taller)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taller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Mona is …… beautiful girl in the class.   (more – the most – less)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most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Cats are …… than dogs.   (nicer – nice – nicest)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nicer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Are you taller …… your brother?   (that – than – then)</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than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E) Choose the correct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This place is the …… one in Cairo.   (noisy – noisier – noisiest)</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noisiest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Mona is the …… in the class.   (fast – faster – fastest)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fastest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Alex is …… relaxing than Cairo.   (the most – the least – more)</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more</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A bus is …… a car.   (slower than – the slowest – slow)</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slower than</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Ahmed is …… (tall) than Ali.</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Ahmed is taller than Ali.</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 plane is the …… (more) expensive.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plane is the most expensive.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Bats are …… (small) than rats.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Bats are smaller than rats.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Cats are …… (more nice) than dogs.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Cats are nicer than dogs.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Snakes are …… (dangerous) than foxes.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Snakes are more dangerous than foxes.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Elephants are the …… (big) animal.</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Elephants are the biggest animal.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Ahmed is the …… (taller) boy in the class.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Ahmed is the tallest boy in the class.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 River Nile is the …… (long) in the world.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River Nile is the longest in the world.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Cairo is the …… (more crowded) in Egypt.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Cairo is the most crowded in Egypt.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Lions are stronger …… (then) dogs.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Lions are stronger than dogs.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Crocodiles are …… (most dangerous) than snakes.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Crocodiles are more dangerous than snakes.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Planes are the …… (more comfortable).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Planes are the most comfortable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Snakes are …… (thin) than crocodiles.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Snakes are thinner than crocodiles.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Dogs are …… (the fastest) than monkeys.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Dogs are faster than monkeys.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Camels are …… (big) than horses.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Camels are bigger than horses.</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 tiger is the …… (fast) animal.</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tiger is the fastest animal.</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Ahmed is taller …… (that) Ali.</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Ahmed is taller than Ali.</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G) Rearrange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than – is – Heba – taller – Mona.</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Heba is taller than Mona.</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more – The crocodile – dangerous – is – than – the lion.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crocodile is more dangerous than the lion.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are – than – cars – Planes – faster.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Planes are faster than cars.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less – is – Cairo – crowded – Alexandria – than.</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Alexandria is less crowded than Cairo.</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than – are – camels – Elephants – bigger.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Elephants are bigger than camels.</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G) Rearrange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crowded – most – Cairo – the – is – Egypt – in.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Cairo is the most crowded in Egypt.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are – Horses – helpful – more – than – donkeys.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Horses are more helpful than donkeys.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are – Cats – than – nicer – dogs.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Cats are nicer than dogs.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is – The – biggest – elephant – the.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elephant is the biggest.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are – elephants – Dogs – than – thinner.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Dogs are thinner than elephants.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17</a:t>
            </a:r>
          </a:p>
          <a:p>
            <a:pPr algn="ctr" rtl="0"/>
            <a:r>
              <a:rPr sz="4600" b="1" i="0" lang="en-US">
                <a:solidFill>
                  <a:srgbClr val="FFFFFF"/>
                </a:solidFill>
                <a:latin typeface="Segoe UI"/>
              </a:rPr>
              <a:t>Can</a:t>
            </a:r>
          </a:p>
          <a:p>
            <a:pPr algn="ctr" rtl="1"/>
            <a:r>
              <a:rPr sz="2900" b="0" i="0" lang="ar-EG" altLang="en-US">
                <a:solidFill>
                  <a:srgbClr val="FFFFFF"/>
                </a:solidFill>
                <a:latin typeface="Traditional Arabic"/>
              </a:rPr>
              <a:t>فعل الاستطاعة</a:t>
            </a:r>
          </a:p>
        </p:txBody>
      </p:sp>
    </p:spTree>
  </p:cSld>
  <p:clrMapOvr>
    <a:masterClrMapping/>
  </p:clrMapOvr>
  <p:transition spd="med">
    <p:zoom dir="in"/>
  </p:transition>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9478"/>
                </a:solidFill>
                <a:latin typeface="Traditional Arabic"/>
              </a:rPr>
              <a:t>▶ فاعل + can + مصدر + باقي الجملة .</a:t>
            </a:r>
          </a:p>
          <a:p>
            <a:pPr rtl="1" algn="r">
              <a:spcAft>
                <a:spcPts val="600"/>
              </a:spcAft>
            </a:pPr>
            <a:r>
              <a:rPr sz="2100" b="0" i="0" lang="ar-EG" altLang="en-US">
                <a:solidFill>
                  <a:srgbClr val="1C2333"/>
                </a:solidFill>
                <a:latin typeface="Traditional Arabic"/>
              </a:rPr>
              <a:t>    تُستخدم can للتعبير عن القدرة، ويأتي بعدها الفعل في المصدر.</a:t>
            </a:r>
          </a:p>
          <a:p>
            <a:pPr rtl="0" algn="l">
              <a:spcAft>
                <a:spcPts val="600"/>
              </a:spcAft>
            </a:pPr>
            <a:r>
              <a:rPr sz="2000" b="1" i="0" lang="en-US">
                <a:solidFill>
                  <a:srgbClr val="229478"/>
                </a:solidFill>
                <a:latin typeface="Segoe UI"/>
              </a:rPr>
              <a:t>▶ can not = can't</a:t>
            </a:r>
          </a:p>
          <a:p>
            <a:pPr rtl="1" algn="r">
              <a:spcAft>
                <a:spcPts val="600"/>
              </a:spcAft>
            </a:pPr>
            <a:r>
              <a:rPr sz="2100" b="0" i="0" lang="ar-EG" altLang="en-US">
                <a:solidFill>
                  <a:srgbClr val="1C2333"/>
                </a:solidFill>
                <a:latin typeface="Traditional Arabic"/>
              </a:rPr>
              <a:t>    النفي بإضافة not بعد can.</a:t>
            </a:r>
          </a:p>
          <a:p>
            <a:pPr rtl="1" algn="r">
              <a:spcAft>
                <a:spcPts val="600"/>
              </a:spcAft>
            </a:pPr>
            <a:r>
              <a:rPr sz="2300" b="1" i="0" lang="ar-EG" altLang="en-US">
                <a:solidFill>
                  <a:srgbClr val="229478"/>
                </a:solidFill>
                <a:latin typeface="Traditional Arabic"/>
              </a:rPr>
              <a:t>▶ Can + فاعل + مصدر … ?</a:t>
            </a:r>
          </a:p>
          <a:p>
            <a:pPr rtl="1" algn="r">
              <a:spcAft>
                <a:spcPts val="600"/>
              </a:spcAft>
            </a:pPr>
            <a:r>
              <a:rPr sz="2100" b="0" i="0" lang="ar-EG" altLang="en-US">
                <a:solidFill>
                  <a:srgbClr val="1C2333"/>
                </a:solidFill>
                <a:latin typeface="Traditional Arabic"/>
              </a:rPr>
              <a:t>    السؤال بتقديم can على الفاعل.</a:t>
            </a:r>
          </a:p>
          <a:p>
            <a:pPr rtl="0" algn="l">
              <a:spcAft>
                <a:spcPts val="600"/>
              </a:spcAft>
            </a:pPr>
            <a:r>
              <a:rPr sz="1700" b="0" i="1" lang="en-US">
                <a:solidFill>
                  <a:srgbClr val="5B6478"/>
                </a:solidFill>
                <a:latin typeface="Segoe UI"/>
              </a:rPr>
              <a:t>   e.g. I can swim. – He can't speak English. – Can you run fast? Yes, I can. / No, I can't.</a:t>
            </a:r>
          </a:p>
        </p:txBody>
      </p:sp>
    </p:spTree>
  </p:cSld>
  <p:clrMapOvr>
    <a:masterClrMapping/>
  </p:clrMapOvr>
  <p:transition spd="med">
    <p:diamond/>
  </p:transition>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A) Translate into Arabic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can run but I can't swim.</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أستطيع أن أجري لكن لا أستطيع أن أسبح.</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can't speak English but he can speak Arabic.</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هو لا يستطيع التحدث بالإنجليزية لكن يستطيع التحدث بالعربية.</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can play tennis.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هو يستطيع لعب التنس.</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can swim.</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أستطيع أن أسبح.</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They can speak English.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هم يستطيعون التحدث بالإنجليزية.</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A) Translate into Arabic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 can count to ten.</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نستطيع العد إلى عشرة.</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It can run fast.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يستطيع أن يجري بسرعة.</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She can sing a song.</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هي تستطيع أن تغني أغنية.</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can play football.</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أستطيع لعب كرة القدم.</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B)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Can you run fast?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can. / No, I can't.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Can she play music?</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can. / No, she can't.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Can they swim in the sea?</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can. / No, they can't.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Can he ride a bike?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can. / No, he can't.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Can it climb a tree?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can. / No, it can't.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B)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Can we help each other?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we can. / No, we can't.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Can Ali count to ten?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can. / No, he can't.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Can your sister drive a car?</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can. / No, she can't.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Can you play football?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can. / No, I can't.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Can he wash the car?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can. / No, he can't.</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C) Make a question for these answers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No, I can't walk to school alone.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you walk to school alone?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Yes, he can play the piano.</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he play the piano?</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No, they can't play tennis.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they play tennis?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Yes, it can climb the mountain.</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it climb the mountain?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No, she can't cook lunch.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she cook lunch?</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C) Make a question for these answers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Yes, we can wash the car.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you wash the car?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No, Ali can't play the guitar.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Ali play the guitar?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Yes, I can count to twenty.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you count to twenty?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No, my brother can't read English.</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your brother read English?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Yes, my parents can speak French.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Can your parents speak French?</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18</a:t>
            </a:r>
          </a:p>
          <a:p>
            <a:pPr algn="ctr" rtl="0"/>
            <a:r>
              <a:rPr sz="4600" b="1" i="0" lang="en-US">
                <a:solidFill>
                  <a:srgbClr val="FFFFFF"/>
                </a:solidFill>
                <a:latin typeface="Segoe UI"/>
              </a:rPr>
              <a:t>The Present Simple Tense</a:t>
            </a:r>
          </a:p>
          <a:p>
            <a:pPr algn="ctr" rtl="1"/>
            <a:r>
              <a:rPr sz="2900" b="0" i="0" lang="ar-EG" altLang="en-US">
                <a:solidFill>
                  <a:srgbClr val="FFFFFF"/>
                </a:solidFill>
                <a:latin typeface="Traditional Arabic"/>
              </a:rPr>
              <a:t>زمن المضارع البسيط</a:t>
            </a:r>
          </a:p>
        </p:txBody>
      </p:sp>
    </p:spTree>
  </p:cSld>
  <p:clrMapOvr>
    <a:masterClrMapping/>
  </p:clrMapOvr>
  <p:transition spd="med">
    <p:zoom dir="in"/>
  </p:transition>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6E94"/>
                </a:solidFill>
                <a:latin typeface="Traditional Arabic"/>
              </a:rPr>
              <a:t>▶ He – She – It – الاسم المفرد + الفعل + s / es / ies</a:t>
            </a:r>
          </a:p>
          <a:p>
            <a:pPr rtl="1" algn="r">
              <a:spcAft>
                <a:spcPts val="600"/>
              </a:spcAft>
            </a:pPr>
            <a:r>
              <a:rPr sz="2100" b="0" i="0" lang="ar-EG" altLang="en-US">
                <a:solidFill>
                  <a:srgbClr val="1C2333"/>
                </a:solidFill>
                <a:latin typeface="Traditional Arabic"/>
              </a:rPr>
              <a:t>مع المفرد نضيف (s) للفعل.</a:t>
            </a:r>
          </a:p>
          <a:p>
            <a:pPr rtl="1" algn="r">
              <a:spcAft>
                <a:spcPts val="600"/>
              </a:spcAft>
            </a:pPr>
            <a:r>
              <a:rPr sz="2300" b="1" i="0" lang="ar-EG" altLang="en-US">
                <a:solidFill>
                  <a:srgbClr val="226E94"/>
                </a:solidFill>
                <a:latin typeface="Traditional Arabic"/>
              </a:rPr>
              <a:t>▶ I – They – You – We + الفعل في المصدر</a:t>
            </a:r>
          </a:p>
          <a:p>
            <a:pPr rtl="1" algn="r">
              <a:spcAft>
                <a:spcPts val="600"/>
              </a:spcAft>
            </a:pPr>
            <a:r>
              <a:rPr sz="2100" b="0" i="0" lang="ar-EG" altLang="en-US">
                <a:solidFill>
                  <a:srgbClr val="1C2333"/>
                </a:solidFill>
                <a:latin typeface="Traditional Arabic"/>
              </a:rPr>
              <a:t>مع الجمع يبقى الفعل في المصدر.</a:t>
            </a:r>
          </a:p>
          <a:p>
            <a:pPr rtl="0" algn="l">
              <a:spcAft>
                <a:spcPts val="600"/>
              </a:spcAft>
            </a:pPr>
            <a:r>
              <a:rPr sz="1800" b="0" i="0" lang="en-US">
                <a:solidFill>
                  <a:srgbClr val="1C2333"/>
                </a:solidFill>
                <a:latin typeface="Segoe UI"/>
              </a:rPr>
              <a:t>• go → go es watch → watch es — تضاف es إذا انتهى الفعل بـ o - s - sh - ch - x</a:t>
            </a:r>
          </a:p>
          <a:p>
            <a:pPr rtl="1" algn="r">
              <a:spcAft>
                <a:spcPts val="600"/>
              </a:spcAft>
            </a:pPr>
            <a:r>
              <a:rPr sz="2100" b="0" i="0" lang="ar-EG" altLang="en-US">
                <a:solidFill>
                  <a:srgbClr val="1C2333"/>
                </a:solidFill>
                <a:latin typeface="Traditional Arabic"/>
              </a:rPr>
              <a:t>• study → stud ies — تُحذف y ونضيف ies إذا سبقها ساكن</a:t>
            </a:r>
          </a:p>
          <a:p>
            <a:pPr rtl="0" algn="l">
              <a:spcAft>
                <a:spcPts val="600"/>
              </a:spcAft>
            </a:pPr>
            <a:r>
              <a:rPr sz="1800" b="0" i="0" lang="en-US">
                <a:solidFill>
                  <a:srgbClr val="1C2333"/>
                </a:solidFill>
                <a:latin typeface="Segoe UI"/>
              </a:rPr>
              <a:t>• play → play s</a:t>
            </a:r>
          </a:p>
          <a:p>
            <a:pPr rtl="0" algn="l">
              <a:spcAft>
                <a:spcPts val="600"/>
              </a:spcAft>
            </a:pPr>
            <a:r>
              <a:rPr sz="1800" b="0" i="0" lang="en-US">
                <a:solidFill>
                  <a:srgbClr val="1C2333"/>
                </a:solidFill>
                <a:latin typeface="Segoe UI"/>
              </a:rPr>
              <a:t>   every day – every morning – always – usually – often – sometimes – never – on Fridays</a:t>
            </a:r>
          </a:p>
        </p:txBody>
      </p:sp>
    </p:spTree>
  </p:cSld>
  <p:clrMapOvr>
    <a:masterClrMapping/>
  </p:clrMapOvr>
  <p:transition spd="med">
    <p:wheel spokes="4"/>
  </p:transition>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6E94"/>
                </a:solidFill>
                <a:latin typeface="Segoe UI"/>
              </a:rPr>
              <a:t>▶ He – She – It + doesn't + مصدر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226E94"/>
                </a:solidFill>
                <a:latin typeface="Segoe UI"/>
              </a:rPr>
              <a:t>▶ I – They – You – We + don't + مصدر .</a:t>
            </a:r>
          </a:p>
          <a:p>
            <a:pPr rtl="1" algn="r">
              <a:spcAft>
                <a:spcPts val="600"/>
              </a:spcAft>
            </a:pPr>
            <a:r>
              <a:rPr sz="2100" b="0" i="0" lang="ar-EG" altLang="en-US">
                <a:solidFill>
                  <a:srgbClr val="1C2333"/>
                </a:solidFill>
                <a:latin typeface="Traditional Arabic"/>
              </a:rPr>
              <a:t>نفي الجمع.</a:t>
            </a:r>
          </a:p>
          <a:p>
            <a:pPr rtl="0" algn="l">
              <a:spcAft>
                <a:spcPts val="600"/>
              </a:spcAft>
            </a:pPr>
            <a:r>
              <a:rPr sz="2000" b="1" i="0" lang="en-US">
                <a:solidFill>
                  <a:srgbClr val="226E94"/>
                </a:solidFill>
                <a:latin typeface="Segoe UI"/>
              </a:rPr>
              <a:t>▶ Does + he / she / it + مصدر … ?</a:t>
            </a:r>
          </a:p>
          <a:p>
            <a:pPr rtl="1" algn="r">
              <a:spcAft>
                <a:spcPts val="600"/>
              </a:spcAft>
            </a:pPr>
            <a:r>
              <a:rPr sz="2100" b="0" i="0" lang="ar-EG" altLang="en-US">
                <a:solidFill>
                  <a:srgbClr val="1C2333"/>
                </a:solidFill>
                <a:latin typeface="Traditional Arabic"/>
              </a:rPr>
              <a:t>السؤال للمفرد.</a:t>
            </a:r>
          </a:p>
          <a:p>
            <a:pPr rtl="0" algn="l">
              <a:spcAft>
                <a:spcPts val="600"/>
              </a:spcAft>
            </a:pPr>
            <a:r>
              <a:rPr sz="2000" b="1" i="0" lang="en-US">
                <a:solidFill>
                  <a:srgbClr val="226E94"/>
                </a:solidFill>
                <a:latin typeface="Segoe UI"/>
              </a:rPr>
              <a:t>▶ Do + I / they / you / we + مصدر … ?</a:t>
            </a:r>
          </a:p>
          <a:p>
            <a:pPr rtl="1" algn="r">
              <a:spcAft>
                <a:spcPts val="600"/>
              </a:spcAft>
            </a:pPr>
            <a:r>
              <a:rPr sz="2100" b="0" i="0" lang="ar-EG" altLang="en-US">
                <a:solidFill>
                  <a:srgbClr val="1C2333"/>
                </a:solidFill>
                <a:latin typeface="Traditional Arabic"/>
              </a:rPr>
              <a:t>السؤال للجمع.</a:t>
            </a:r>
          </a:p>
        </p:txBody>
      </p:sp>
    </p:spTree>
  </p:cSld>
  <p:clrMapOvr>
    <a:masterClrMapping/>
  </p:clrMapOvr>
  <p:transition spd="med">
    <p:pull dir="r"/>
  </p:transition>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1" algn="r"/>
            <a:r>
              <a:rPr sz="1700" b="0" i="0" lang="ar-EG" altLang="en-US">
                <a:solidFill>
                  <a:srgbClr val="DDE6F3"/>
                </a:solidFill>
                <a:latin typeface="Traditional Arabic"/>
              </a:rPr>
              <a:t>أدوات الاستفهام</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الأداة | الاستخدام | الإجابة تكون بـ</a:t>
            </a:r>
          </a:p>
          <a:p>
            <a:pPr rtl="0" algn="l">
              <a:spcAft>
                <a:spcPts val="600"/>
              </a:spcAft>
            </a:pPr>
            <a:r>
              <a:rPr sz="1800" b="0" i="0" lang="en-US">
                <a:solidFill>
                  <a:srgbClr val="1C2333"/>
                </a:solidFill>
                <a:latin typeface="Segoe UI"/>
              </a:rPr>
              <a:t>Where | للسؤال عن المكان | in – here – there</a:t>
            </a:r>
          </a:p>
          <a:p>
            <a:pPr rtl="0" algn="l">
              <a:spcAft>
                <a:spcPts val="600"/>
              </a:spcAft>
            </a:pPr>
            <a:r>
              <a:rPr sz="1800" b="0" i="0" lang="en-US">
                <a:solidFill>
                  <a:srgbClr val="1C2333"/>
                </a:solidFill>
                <a:latin typeface="Segoe UI"/>
              </a:rPr>
              <a:t>When | للسؤال عن الوقت | in – on – at – every</a:t>
            </a:r>
          </a:p>
          <a:p>
            <a:pPr rtl="0" algn="l">
              <a:spcAft>
                <a:spcPts val="600"/>
              </a:spcAft>
            </a:pPr>
            <a:r>
              <a:rPr sz="1800" b="0" i="0" lang="en-US">
                <a:solidFill>
                  <a:srgbClr val="1C2333"/>
                </a:solidFill>
                <a:latin typeface="Segoe UI"/>
              </a:rPr>
              <a:t>Why | للسؤال عن السبب | as – because – to</a:t>
            </a:r>
          </a:p>
          <a:p>
            <a:pPr rtl="1" algn="r">
              <a:spcAft>
                <a:spcPts val="600"/>
              </a:spcAft>
            </a:pPr>
            <a:r>
              <a:rPr sz="2100" b="0" i="0" lang="ar-EG" altLang="en-US">
                <a:solidFill>
                  <a:srgbClr val="1C2333"/>
                </a:solidFill>
                <a:latin typeface="Traditional Arabic"/>
              </a:rPr>
              <a:t>Who | للسؤال عن الفاعل العاقل | اسم شخص</a:t>
            </a:r>
          </a:p>
          <a:p>
            <a:pPr rtl="1" algn="r">
              <a:spcAft>
                <a:spcPts val="600"/>
              </a:spcAft>
            </a:pPr>
            <a:r>
              <a:rPr sz="2100" b="0" i="0" lang="ar-EG" altLang="en-US">
                <a:solidFill>
                  <a:srgbClr val="1C2333"/>
                </a:solidFill>
                <a:latin typeface="Traditional Arabic"/>
              </a:rPr>
              <a:t>How | للسؤال عن وسيلة المواصلات أو الحال | in – on – by</a:t>
            </a:r>
          </a:p>
          <a:p>
            <a:pPr rtl="0" algn="l">
              <a:spcAft>
                <a:spcPts val="600"/>
              </a:spcAft>
            </a:pPr>
            <a:r>
              <a:rPr sz="1800" b="0" i="0" lang="en-US">
                <a:solidFill>
                  <a:srgbClr val="1C2333"/>
                </a:solidFill>
                <a:latin typeface="Segoe UI"/>
              </a:rPr>
              <a:t>How often | للسؤال عن عدد المرات | once – twice – three times</a:t>
            </a:r>
          </a:p>
          <a:p>
            <a:pPr rtl="1" algn="r">
              <a:spcAft>
                <a:spcPts val="600"/>
              </a:spcAft>
            </a:pPr>
            <a:r>
              <a:rPr sz="2100" b="0" i="0" lang="ar-EG" altLang="en-US">
                <a:solidFill>
                  <a:srgbClr val="1C2333"/>
                </a:solidFill>
                <a:latin typeface="Traditional Arabic"/>
              </a:rPr>
              <a:t>Whose | للسؤال عن صاحب الشيء | ضمير ملكية</a:t>
            </a:r>
          </a:p>
          <a:p>
            <a:pPr rtl="1" algn="r">
              <a:spcAft>
                <a:spcPts val="600"/>
              </a:spcAft>
            </a:pPr>
            <a:r>
              <a:rPr sz="2100" b="0" i="0" lang="ar-EG" altLang="en-US">
                <a:solidFill>
                  <a:srgbClr val="1C2333"/>
                </a:solidFill>
                <a:latin typeface="Traditional Arabic"/>
              </a:rPr>
              <a:t>What | للسؤال عن الأشياء (المفعول) | اسم شيء</a:t>
            </a:r>
          </a:p>
        </p:txBody>
      </p:sp>
    </p:spTree>
  </p:cSld>
  <p:clrMapOvr>
    <a:masterClrMapping/>
  </p:clrMapOvr>
  <p:transition spd="med">
    <p:random/>
  </p:transition>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1" algn="r"/>
            <a:r>
              <a:rPr sz="1700" b="0" i="0" lang="ar-EG" altLang="en-US">
                <a:solidFill>
                  <a:srgbClr val="DDE6F3"/>
                </a:solidFill>
                <a:latin typeface="Traditional Arabic"/>
              </a:rPr>
              <a:t>أدوات الاستفهام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6E94"/>
                </a:solidFill>
                <a:latin typeface="Traditional Arabic"/>
              </a:rPr>
              <a:t>▶ أداة استفهام + do / does + فاعل + مصدر + باقي الجملة ?</a:t>
            </a:r>
          </a:p>
        </p:txBody>
      </p:sp>
    </p:spTree>
  </p:cSld>
  <p:clrMapOvr>
    <a:masterClrMapping/>
  </p:clrMapOvr>
  <p:transition spd="med">
    <p:fade/>
  </p:transition>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 sun …… in the east.   (rise – rises – rose)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rises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 to music every day.   (listen – listens – listening)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listen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She …… in Cairo.   (live – living – lives)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lives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 English at night.   (studies always – always studies – always study)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always studies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 …… my cousin every week.   (visits – visiting – visit)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visit</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The train …… in Cairo at 7 o'clock.   (arrive – arrives – arrived)</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arrives</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We usually …… football in the morning.   (played – playing – play)</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play</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She often …… pasta.   (eats – eat – ate)</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eats</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 late for school.   (am never – never am – never is)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am never</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study English every night.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study English every night.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listens to music every 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listen to music every 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go to school by bus every 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go to school by bus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studies Arabic every 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study Arabic every 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 go to the beach every summer.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don't go to the beach every summer.</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Rody drinks milk every morning.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Rody doesn't drink milk every morning.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mum cooks lunch every 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doesn't cook lunch every 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 lion eats meat every 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lion doesn't eat meat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She does her homework every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do her homework every night.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He washes the car every morning.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wash the car every morning.</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live in Cairo.</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live in Cairo?</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studies English at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study English at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play football every 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play football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like reading stories.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like reading stories?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He watches TV every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watch TV every night?</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It gets hot in summer.</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get hot in summer?</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mum cleans the kitchen every day.</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your mum clean the kitchen every day?</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You come to school on foot every day.</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I come to school on foot every day?</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He goes to work by plane.</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go to work by plane?</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D) Answer with Yes or No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Do you go to school by bus?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Does your mum like reading stories?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Do they study English at school?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Do you listen to music every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do. / No, I don't.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Do your parents live in Cairo?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D) Answer with Yes or No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Does he like riding a bike?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Does she read books at the library?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does. / No, she doesn't.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Do they drink coffee every morning?</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Does it like drinking milk?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does. / No, it doesn't.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Does he play football every Friday?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does. / No, he doesn't.</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D) Answer with Yes or No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 lions eat meat?</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do. / No, they don't.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E) Make a question for these answers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No, I don't watch TV at night.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watch TV at night?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Yes, he plays football every 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play football every 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No, they don't listen to music.</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listen to music?</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Yes, she studies English every 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study English every 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No, they don't want milk.</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want milk?</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E) Make a question for these answers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Yes, my mum likes reading.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your mum like reading?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No, he doesn't walk to school.</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walk to school?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Yes, it climbs trees.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climb trees?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No, she doesn't like milk.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like milk?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Yes, he studies English every 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study English every day?</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E) Make a question for these answers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No, I don't have a car.</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have a car?</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F) Make a question using the question word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live in Cairo. (where)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do you live?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goes to school by car. (How)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does she go to school?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study English at night. (when)</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do they study English?</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go to school to learn. (why)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Why do you go to school?</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 like playing football. (what)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do you like playing?</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F) Make a question using the question word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mum goes to work by car. (How)</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does your mum go to work?</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She gets up at 7 o'clock. (when)</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does she get up?</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 study English with my mum. (Who)</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do you study English with?</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parents watch TV every day. (When)</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do your parents watch TV?</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G) Answer the following questions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How do you go to school? (by bus)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school by bus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Who does he play football with? (his brother)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plays football with his brother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What subject do you like?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like English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When do they go to school?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go to school at 7 o'clock every morning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Where do you study French?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study French at school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G) Answer the following questions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How does your father go to work?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goes to work by car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Who do you go to school with?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school with my friends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When do you get up every 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get up at 6 o'clock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How often do you play football?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play football twice a week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How often does he get up early?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always gets up early.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G) Answer the following questions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Why do you go to the club?</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the club to play football .</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H) Choose the correct answer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always …… to school by bus.   (goes – go – going)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go</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never …… to music at night.   (listens – listening – listen)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listens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 you like reading English?   (Is – Does – Do)</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 play football in the morning.   (doesn't – don't – hasn't)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 happy.   (always is – is always – are always)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always</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H) Choose the correct answer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parents …… have a car.   (doesn't – aren't – don't)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It …… in the summer.   (rains never – never rains – never rain)</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never rains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Where do you …… football?   (play – playing – plays)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play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 she clean her teeth every morning?   (Do – Does – Did)</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When …… Rody get up every day?   (is – does – do)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H) Choose the correct answer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 you like reading? Yes, …… .   (I can – I does – I do)</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He play football every 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plays football every 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doesn't go to school on foot.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go to school on foot.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She doesn't drinks milk.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drink milk.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It don't get hot in the summer.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doesn't get hot in the summer.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My mum don't like chips.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doesn't like chips.</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always is happy.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always happy.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They walk usually to school.</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usually walk to school.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Is he watch TV at night every 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he watch TV at night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Do she listen to music?</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she listen to music?</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We studies English at school.</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study English at school.</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Does it drinks milk?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Does it drink milk?</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Are your parents have a car?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your parents have a car?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My cat don't climb the tree.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cat doesn't climb the tree.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Do you watch TV yesterday ?</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watch TV every day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He don't go to school on foot.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go to school on foot.</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He never play tennis.</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never plays tennis.</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She doesn't likes meat.</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doesn't like meat.</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J) Rewrite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walk to school every day. (She)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walks to school every 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It doesn't like eating meat. (You)</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don't like eating meat.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 play football every day. (He)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plays football every 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My mum likes reading English. (My parents)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parents like reading English.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He studies English every day. (I)</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study English every day.</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J) Rewrite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 don't go to school by bus. (My sister)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doesn't go to school by bus.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She doesn't watch TV at night. (We)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don't watch TV at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Ali and Mona go to school by car. (Ahmed)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Ahmed goes to school by car.</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friends help me at school. (My friend)</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friend helps me at school.</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My cat climbs the tree. (They)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climb the tree.</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K)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every day – football – plays – He.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plays football every 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don't – I – to – school – every day – walk.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don't walk to school every 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at night – They – TV – watch.</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watch TV at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you – to – go – Do – school – every morning?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you go to school every morning?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meat – He – like – doesn't.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like meat.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K)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every – studies – He – day – English.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studies English every 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hospital – Doctors – in – work – the.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Doctors work in the hospital.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by – school – bus – We – to – go.</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go to school by bus.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Friday – plays – He – football – every.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plays football every Friday.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hot – doesn't – It – get – winter – in.</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doesn't get hot in winter.</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K)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swim – don't – the – sea – They – in.</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don't swim in the sea.</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L) Translate into Arabic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go to school by bus every 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أذهب إلى المدرسة بالأتوبيس كل يوم.</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plays football every morning.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هو يلعب كرة القدم كل صباح.</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She studies English every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هي تذاكر الإنجليزية كل ليلة.</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She cooks breakfast every morning.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هي تطبخ الإفطار كل صباح.</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My friend watches TV every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صديقي يشاهد التلفاز كل ليلة.</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L) Translate into Arabic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Mona always helps her mum in the kitchen.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منى دائماً تساعد أمها في المطبخ.</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She lives in the countryside.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هي تعيش في الريف.</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 study English because I like it.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أذاكر الإنجليزية لأنني أحبها.</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father works in Cairo.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أبي يعمل في القاهرة.</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He doesn't listen to music.</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هو لا يستمع إلى الموسيقى.</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L) Translate into Arabic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 do my homework at night every day.</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أعمل واجبي في الليل كل يوم.</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Good morning, Haneen.</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Good morning, Haneen.</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Good morning, Nada.</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When …… you usually get up?</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When do you usually get up?</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I usually …… at 7 o'clock.</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I usually get up at 7 o'clock.</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 you eat breakfast?</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Do you eat breakfast?</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Yes, I …… breakfast.</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Yes, I eat breakfast.</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Nada: Have a nice time.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Nada: Have a nice time.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Haneen: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Haneen: Thank you.</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circle(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circle(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ircle(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circle(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circle(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circle(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circle(in)">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How are you?</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How are you?</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I'm fine, thank you.</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Where …… you study?</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Where do you study?</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I …… Green Valley School.</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 study at Green Valley School.</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What subject …… you like?</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What subject do you like?</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I …… English and Arabic.</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I like English and Arabic.</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Nice to meet you.</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Nice to meet you.</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Nice to meet you, too.</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Nice to meet you, too.</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box(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ox(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ox(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ox(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ox(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box(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ox(in)">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Good evening.</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Good evening.</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Retaj: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Retaj: Good evening.</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What …… you do in your free time?</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What do you do in your free time?</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Retaj: I …… tennis and watch TV.</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Retaj: I play tennis and watch TV.</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Do you …… tennis every day?</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Do you play tennis every day?</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Retaj: No,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Retaj: No, I don't. I play it twice a week.</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Thank you.</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Thank you.</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Retaj: You are welcome.</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Retaj: You are welcome.</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heel(1)">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heel(1)">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heel(1)">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heel(1)">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heel(1)">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heel(1)">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Mohamed: Hi, Youssef.</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Mohamed: Hi, Youssef.</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Hi, Mohamed.</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Hi, Mohamed.</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Mohamed: …… you have a pet?</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Mohamed: Do you have a pet?</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Yes, I …… a cat.</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Yes, I have a cat.</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Mohamed: What …… it eat?</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Mohamed: What does it eat?</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It …… fish and meat.</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It eats fish and meat.</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Mohamed: Goodbye.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Mohamed: Goodbye.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Goodbye.</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Translate into English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 أختي تذهب إلى المدرسة بالأتوبيس كل يوم.</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goes to school by bus every 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2) أنا ألعب تنس كل صباح.</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play tennis every morning.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3) أنا أذهب إلى الإسكندرية كل عام.</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Alexandria every year.</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4) هي تشرب الحليب كل صباح.</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drinks milk every morning.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5) هو لا يعيش في الإسكندرية.</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doesn't live in Alexandria.</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Translate into English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6) أختي تذاكر إنجليزي كل مساء.</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studies English every evening.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7) نحن لا نذهب إلى المدرسة يوم الجمعة.</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don't go to school on Friday.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8) أنا ألعب كرة القدم مع صديقي في النادي.</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play football with my friend in the club.</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9) أنا أذهب إلى المدرس مع أخي كل يوم.</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go to the teacher with my brother every 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10) هل هم يلعبون كرة القدم كل يوم؟</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Do they play football every day?</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19</a:t>
            </a:r>
          </a:p>
          <a:p>
            <a:pPr algn="ctr" rtl="0"/>
            <a:r>
              <a:rPr sz="4600" b="1" i="0" lang="en-US">
                <a:solidFill>
                  <a:srgbClr val="FFFFFF"/>
                </a:solidFill>
                <a:latin typeface="Segoe UI"/>
              </a:rPr>
              <a:t>The Present Continuous Tense</a:t>
            </a:r>
          </a:p>
          <a:p>
            <a:pPr algn="ctr" rtl="1"/>
            <a:r>
              <a:rPr sz="2900" b="0" i="0" lang="ar-EG" altLang="en-US">
                <a:solidFill>
                  <a:srgbClr val="FFFFFF"/>
                </a:solidFill>
                <a:latin typeface="Traditional Arabic"/>
              </a:rPr>
              <a:t>زمن المضارع المستمر</a:t>
            </a:r>
          </a:p>
        </p:txBody>
      </p:sp>
    </p:spTree>
  </p:cSld>
  <p:clrMapOvr>
    <a:masterClrMapping/>
  </p:clrMapOvr>
  <p:transition spd="med">
    <p:zoom dir="in"/>
  </p:transition>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81"/>
                </a:solidFill>
                <a:latin typeface="Segoe UI"/>
              </a:rPr>
              <a:t>▶ I + am + الفعل + ing</a:t>
            </a:r>
          </a:p>
          <a:p>
            <a:pPr rtl="1" algn="r">
              <a:spcAft>
                <a:spcPts val="600"/>
              </a:spcAft>
            </a:pPr>
            <a:r>
              <a:rPr sz="2100" b="0" i="0" lang="ar-EG" altLang="en-US">
                <a:solidFill>
                  <a:srgbClr val="1C2333"/>
                </a:solidFill>
                <a:latin typeface="Traditional Arabic"/>
              </a:rPr>
              <a:t>التكوين مع I.</a:t>
            </a:r>
          </a:p>
          <a:p>
            <a:pPr rtl="1" algn="r">
              <a:spcAft>
                <a:spcPts val="600"/>
              </a:spcAft>
            </a:pPr>
            <a:r>
              <a:rPr sz="2300" b="1" i="0" lang="ar-EG" altLang="en-US">
                <a:solidFill>
                  <a:srgbClr val="229481"/>
                </a:solidFill>
                <a:latin typeface="Traditional Arabic"/>
              </a:rPr>
              <a:t>▶ He – She – It – الاسم المفرد + is + الفعل + ing</a:t>
            </a:r>
          </a:p>
          <a:p>
            <a:pPr rtl="1" algn="r">
              <a:spcAft>
                <a:spcPts val="600"/>
              </a:spcAft>
            </a:pPr>
            <a:r>
              <a:rPr sz="2100" b="0" i="0" lang="ar-EG" altLang="en-US">
                <a:solidFill>
                  <a:srgbClr val="1C2333"/>
                </a:solidFill>
                <a:latin typeface="Traditional Arabic"/>
              </a:rPr>
              <a:t>التكوين مع المفرد.</a:t>
            </a:r>
          </a:p>
          <a:p>
            <a:pPr rtl="0" algn="l">
              <a:spcAft>
                <a:spcPts val="600"/>
              </a:spcAft>
            </a:pPr>
            <a:r>
              <a:rPr sz="2000" b="1" i="0" lang="en-US">
                <a:solidFill>
                  <a:srgbClr val="229481"/>
                </a:solidFill>
                <a:latin typeface="Segoe UI"/>
              </a:rPr>
              <a:t>▶ They – You – We – الاسم الجمع + are + الفعل + ing</a:t>
            </a:r>
          </a:p>
          <a:p>
            <a:pPr rtl="1" algn="r">
              <a:spcAft>
                <a:spcPts val="600"/>
              </a:spcAft>
            </a:pPr>
            <a:r>
              <a:rPr sz="2100" b="0" i="0" lang="ar-EG" altLang="en-US">
                <a:solidFill>
                  <a:srgbClr val="1C2333"/>
                </a:solidFill>
                <a:latin typeface="Traditional Arabic"/>
              </a:rPr>
              <a:t>التكوين مع الجمع.</a:t>
            </a:r>
          </a:p>
          <a:p>
            <a:pPr rtl="0" algn="l">
              <a:spcAft>
                <a:spcPts val="600"/>
              </a:spcAft>
            </a:pPr>
            <a:r>
              <a:rPr sz="1700" b="0" i="1" lang="en-US">
                <a:solidFill>
                  <a:srgbClr val="5B6478"/>
                </a:solidFill>
                <a:latin typeface="Segoe UI"/>
              </a:rPr>
              <a:t>   e.g. I am reading. – She is cooking. – They are playing.</a:t>
            </a:r>
          </a:p>
        </p:txBody>
      </p:sp>
    </p:spTree>
  </p:cSld>
  <p:clrMapOvr>
    <a:masterClrMapping/>
  </p:clrMapOvr>
  <p:transition spd="med">
    <p:wedge/>
  </p:transition>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81"/>
                </a:solidFill>
                <a:latin typeface="Segoe UI"/>
              </a:rPr>
              <a:t>▶ am not / isn't / aren't + الفعل + ing</a:t>
            </a:r>
          </a:p>
          <a:p>
            <a:pPr rtl="1" algn="r">
              <a:spcAft>
                <a:spcPts val="600"/>
              </a:spcAft>
            </a:pPr>
            <a:r>
              <a:rPr sz="2100" b="0" i="0" lang="ar-EG" altLang="en-US">
                <a:solidFill>
                  <a:srgbClr val="1C2333"/>
                </a:solidFill>
                <a:latin typeface="Traditional Arabic"/>
              </a:rPr>
              <a:t>    نضع not بعد فعل الكون.</a:t>
            </a:r>
          </a:p>
          <a:p>
            <a:pPr rtl="0" algn="l">
              <a:spcAft>
                <a:spcPts val="600"/>
              </a:spcAft>
            </a:pPr>
            <a:r>
              <a:rPr sz="2000" b="1" i="0" lang="en-US">
                <a:solidFill>
                  <a:srgbClr val="229481"/>
                </a:solidFill>
                <a:latin typeface="Segoe UI"/>
              </a:rPr>
              <a:t>▶ Am / Is / Are + فاعل + الفعل + ing … ?</a:t>
            </a:r>
          </a:p>
          <a:p>
            <a:pPr rtl="1" algn="r">
              <a:spcAft>
                <a:spcPts val="600"/>
              </a:spcAft>
            </a:pPr>
            <a:r>
              <a:rPr sz="2100" b="0" i="0" lang="ar-EG" altLang="en-US">
                <a:solidFill>
                  <a:srgbClr val="1C2333"/>
                </a:solidFill>
                <a:latin typeface="Traditional Arabic"/>
              </a:rPr>
              <a:t>نقدّم فعل الكون على الفاعل.</a:t>
            </a:r>
          </a:p>
        </p:txBody>
      </p:sp>
    </p:spTree>
  </p:cSld>
  <p:clrMapOvr>
    <a:masterClrMapping/>
  </p:clrMapOvr>
  <p:transition spd="med">
    <p:zoom dir="in"/>
  </p:transition>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9481"/>
                          </a:solidFill>
                          <a:latin typeface="Segoe UI"/>
                        </a:rPr>
                        <a:t>now</a:t>
                      </a:r>
                    </a:p>
                  </a:txBody>
                  <a:tcPr>
                    <a:solidFill>
                      <a:srgbClr val="FFFFFF"/>
                    </a:solidFill>
                  </a:tcPr>
                </a:tc>
                <a:tc>
                  <a:txBody>
                    <a:bodyPr/>
                    <a:lstStyle/>
                    <a:p>
                      <a:pPr rtl="1" algn="r"/>
                      <a:r>
                        <a:rPr sz="1700" b="0" i="0" lang="ar-EG" altLang="en-US">
                          <a:solidFill>
                            <a:srgbClr val="1C2333"/>
                          </a:solidFill>
                          <a:latin typeface="Traditional Arabic"/>
                        </a:rPr>
                        <a:t>الآن</a:t>
                      </a:r>
                    </a:p>
                  </a:txBody>
                  <a:tcPr>
                    <a:solidFill>
                      <a:srgbClr val="FFFFFF"/>
                    </a:solidFill>
                  </a:tcPr>
                </a:tc>
                <a:tc>
                  <a:txBody>
                    <a:bodyPr/>
                    <a:lstStyle/>
                    <a:p>
                      <a:pPr rtl="0" algn="l"/>
                      <a:r>
                        <a:rPr sz="1500" b="1" i="0" lang="en-US">
                          <a:solidFill>
                            <a:srgbClr val="229481"/>
                          </a:solidFill>
                          <a:latin typeface="Segoe UI"/>
                        </a:rPr>
                        <a:t>Listen!</a:t>
                      </a:r>
                    </a:p>
                  </a:txBody>
                  <a:tcPr>
                    <a:solidFill>
                      <a:srgbClr val="FFFFFF"/>
                    </a:solidFill>
                  </a:tcPr>
                </a:tc>
                <a:tc>
                  <a:txBody>
                    <a:bodyPr/>
                    <a:lstStyle/>
                    <a:p>
                      <a:pPr rtl="1" algn="r"/>
                      <a:r>
                        <a:rPr sz="1700" b="0" i="0" lang="ar-EG" altLang="en-US">
                          <a:solidFill>
                            <a:srgbClr val="1C2333"/>
                          </a:solidFill>
                          <a:latin typeface="Traditional Arabic"/>
                        </a:rPr>
                        <a:t>استمع</a:t>
                      </a:r>
                    </a:p>
                  </a:txBody>
                  <a:tcPr>
                    <a:solidFill>
                      <a:srgbClr val="FFFFFF"/>
                    </a:solidFill>
                  </a:tcPr>
                </a:tc>
                <a:tc>
                  <a:txBody>
                    <a:bodyPr/>
                    <a:lstStyle/>
                    <a:p>
                      <a:pPr rtl="0" algn="l"/>
                      <a:r>
                        <a:rPr sz="1500" b="1" i="0" lang="en-US">
                          <a:solidFill>
                            <a:srgbClr val="229481"/>
                          </a:solidFill>
                          <a:latin typeface="Segoe UI"/>
                        </a:rPr>
                        <a:t>Take care!</a:t>
                      </a:r>
                    </a:p>
                  </a:txBody>
                  <a:tcPr>
                    <a:solidFill>
                      <a:srgbClr val="FFFFFF"/>
                    </a:solidFill>
                  </a:tcPr>
                </a:tc>
                <a:tc>
                  <a:txBody>
                    <a:bodyPr/>
                    <a:lstStyle/>
                    <a:p>
                      <a:pPr rtl="1" algn="r"/>
                      <a:r>
                        <a:rPr sz="1700" b="0" i="0" lang="ar-EG" altLang="en-US">
                          <a:solidFill>
                            <a:srgbClr val="1C2333"/>
                          </a:solidFill>
                          <a:latin typeface="Traditional Arabic"/>
                        </a:rPr>
                        <a:t>احذر</a:t>
                      </a:r>
                    </a:p>
                  </a:txBody>
                  <a:tcPr>
                    <a:solidFill>
                      <a:srgbClr val="FFFFFF"/>
                    </a:solidFill>
                  </a:tcPr>
                </a:tc>
              </a:tr>
              <a:tr h="384048">
                <a:tc>
                  <a:txBody>
                    <a:bodyPr/>
                    <a:lstStyle/>
                    <a:p>
                      <a:pPr rtl="0" algn="l"/>
                      <a:r>
                        <a:rPr sz="1500" b="1" i="0" lang="en-US">
                          <a:solidFill>
                            <a:srgbClr val="229481"/>
                          </a:solidFill>
                          <a:latin typeface="Segoe UI"/>
                        </a:rPr>
                        <a:t>at present</a:t>
                      </a:r>
                    </a:p>
                  </a:txBody>
                  <a:tcPr>
                    <a:solidFill>
                      <a:srgbClr val="EEF3FA"/>
                    </a:solidFill>
                  </a:tcPr>
                </a:tc>
                <a:tc>
                  <a:txBody>
                    <a:bodyPr/>
                    <a:lstStyle/>
                    <a:p>
                      <a:pPr rtl="1" algn="r"/>
                      <a:r>
                        <a:rPr sz="1700" b="0" i="0" lang="ar-EG" altLang="en-US">
                          <a:solidFill>
                            <a:srgbClr val="1C2333"/>
                          </a:solidFill>
                          <a:latin typeface="Traditional Arabic"/>
                        </a:rPr>
                        <a:t>في الوقت الحاضر</a:t>
                      </a:r>
                    </a:p>
                  </a:txBody>
                  <a:tcPr>
                    <a:solidFill>
                      <a:srgbClr val="EEF3FA"/>
                    </a:solidFill>
                  </a:tcPr>
                </a:tc>
                <a:tc>
                  <a:txBody>
                    <a:bodyPr/>
                    <a:lstStyle/>
                    <a:p>
                      <a:pPr rtl="0" algn="l"/>
                      <a:r>
                        <a:rPr sz="1500" b="1" i="0" lang="en-US">
                          <a:solidFill>
                            <a:srgbClr val="229481"/>
                          </a:solidFill>
                          <a:latin typeface="Segoe UI"/>
                        </a:rPr>
                        <a:t>Look!</a:t>
                      </a:r>
                    </a:p>
                  </a:txBody>
                  <a:tcPr>
                    <a:solidFill>
                      <a:srgbClr val="EEF3FA"/>
                    </a:solidFill>
                  </a:tcPr>
                </a:tc>
                <a:tc>
                  <a:txBody>
                    <a:bodyPr/>
                    <a:lstStyle/>
                    <a:p>
                      <a:pPr rtl="1" algn="r"/>
                      <a:r>
                        <a:rPr sz="1700" b="0" i="0" lang="ar-EG" altLang="en-US">
                          <a:solidFill>
                            <a:srgbClr val="1C2333"/>
                          </a:solidFill>
                          <a:latin typeface="Traditional Arabic"/>
                        </a:rPr>
                        <a:t>انظر</a:t>
                      </a:r>
                    </a:p>
                  </a:txBody>
                  <a:tcPr>
                    <a:solidFill>
                      <a:srgbClr val="EEF3FA"/>
                    </a:solidFill>
                  </a:tcPr>
                </a:tc>
                <a:tc>
                  <a:txBody>
                    <a:bodyPr/>
                    <a:lstStyle/>
                    <a:p>
                      <a:pPr rtl="0" algn="l"/>
                      <a:r>
                        <a:rPr sz="1500" b="1" i="0" lang="en-US">
                          <a:solidFill>
                            <a:srgbClr val="229481"/>
                          </a:solidFill>
                          <a:latin typeface="Segoe UI"/>
                        </a:rPr>
                        <a:t>tonight</a:t>
                      </a:r>
                    </a:p>
                  </a:txBody>
                  <a:tcPr>
                    <a:solidFill>
                      <a:srgbClr val="EEF3FA"/>
                    </a:solidFill>
                  </a:tcPr>
                </a:tc>
                <a:tc>
                  <a:txBody>
                    <a:bodyPr/>
                    <a:lstStyle/>
                    <a:p>
                      <a:pPr rtl="1" algn="r"/>
                      <a:r>
                        <a:rPr sz="1700" b="0" i="0" lang="ar-EG" altLang="en-US">
                          <a:solidFill>
                            <a:srgbClr val="1C2333"/>
                          </a:solidFill>
                          <a:latin typeface="Traditional Arabic"/>
                        </a:rPr>
                        <a:t>في هذه الليلة</a:t>
                      </a:r>
                    </a:p>
                  </a:txBody>
                  <a:tcPr>
                    <a:solidFill>
                      <a:srgbClr val="EEF3FA"/>
                    </a:solidFill>
                  </a:tcPr>
                </a:tc>
              </a:tr>
              <a:tr h="384048">
                <a:tc>
                  <a:txBody>
                    <a:bodyPr/>
                    <a:lstStyle/>
                    <a:p>
                      <a:pPr rtl="0" algn="l"/>
                      <a:r>
                        <a:rPr sz="1500" b="1" i="0" lang="en-US">
                          <a:solidFill>
                            <a:srgbClr val="229481"/>
                          </a:solidFill>
                          <a:latin typeface="Segoe UI"/>
                        </a:rPr>
                        <a:t>at the moment</a:t>
                      </a:r>
                    </a:p>
                  </a:txBody>
                  <a:tcPr>
                    <a:solidFill>
                      <a:srgbClr val="FFFFFF"/>
                    </a:solidFill>
                  </a:tcPr>
                </a:tc>
                <a:tc>
                  <a:txBody>
                    <a:bodyPr/>
                    <a:lstStyle/>
                    <a:p>
                      <a:pPr rtl="1" algn="r"/>
                      <a:r>
                        <a:rPr sz="1700" b="0" i="0" lang="ar-EG" altLang="en-US">
                          <a:solidFill>
                            <a:srgbClr val="1C2333"/>
                          </a:solidFill>
                          <a:latin typeface="Traditional Arabic"/>
                        </a:rPr>
                        <a:t>في هذه اللحظة</a:t>
                      </a:r>
                    </a:p>
                  </a:txBody>
                  <a:tcPr>
                    <a:solidFill>
                      <a:srgbClr val="FFFFFF"/>
                    </a:solidFill>
                  </a:tcPr>
                </a:tc>
                <a:tc>
                  <a:txBody>
                    <a:bodyPr/>
                    <a:lstStyle/>
                    <a:p>
                      <a:pPr rtl="0" algn="l"/>
                      <a:r>
                        <a:rPr sz="1500" b="1" i="0" lang="en-US">
                          <a:solidFill>
                            <a:srgbClr val="229481"/>
                          </a:solidFill>
                          <a:latin typeface="Segoe UI"/>
                        </a:rPr>
                        <a:t>Look out!</a:t>
                      </a:r>
                    </a:p>
                  </a:txBody>
                  <a:tcPr>
                    <a:solidFill>
                      <a:srgbClr val="FFFFFF"/>
                    </a:solidFill>
                  </a:tcPr>
                </a:tc>
                <a:tc>
                  <a:txBody>
                    <a:bodyPr/>
                    <a:lstStyle/>
                    <a:p>
                      <a:pPr rtl="1" algn="r"/>
                      <a:r>
                        <a:rPr sz="1700" b="0" i="0" lang="ar-EG" altLang="en-US">
                          <a:solidFill>
                            <a:srgbClr val="1C2333"/>
                          </a:solidFill>
                          <a:latin typeface="Traditional Arabic"/>
                        </a:rPr>
                        <a:t>احترس</a:t>
                      </a:r>
                    </a:p>
                  </a:txBody>
                  <a:tcPr>
                    <a:solidFill>
                      <a:srgbClr val="FFFFFF"/>
                    </a:solidFill>
                  </a:tcPr>
                </a:tc>
                <a:tc>
                  <a:txBody>
                    <a:bodyPr/>
                    <a:lstStyle/>
                    <a:p>
                      <a:pPr rtl="0" algn="l"/>
                    </a:p>
                  </a:txBody>
                  <a:tcPr>
                    <a:solidFill>
                      <a:srgbClr val="FFFFFF"/>
                    </a:solidFill>
                  </a:tcPr>
                </a:tc>
                <a:tc>
                  <a:txBody>
                    <a:bodyPr/>
                    <a:lstStyle/>
                    <a:p>
                      <a:pPr rtl="0" algn="l"/>
                    </a:p>
                  </a:txBody>
                  <a:tcPr>
                    <a:solidFill>
                      <a:srgbClr val="FFFFFF"/>
                    </a:solidFill>
                  </a:tcPr>
                </a:tc>
              </a:tr>
              <a:tr h="384048">
                <a:tc>
                  <a:txBody>
                    <a:bodyPr/>
                    <a:lstStyle/>
                    <a:p>
                      <a:pPr rtl="0" algn="l"/>
                      <a:r>
                        <a:rPr sz="1500" b="1" i="0" lang="en-US">
                          <a:solidFill>
                            <a:srgbClr val="229481"/>
                          </a:solidFill>
                          <a:latin typeface="Segoe UI"/>
                        </a:rPr>
                        <a:t>still</a:t>
                      </a:r>
                    </a:p>
                  </a:txBody>
                  <a:tcPr>
                    <a:solidFill>
                      <a:srgbClr val="EEF3FA"/>
                    </a:solidFill>
                  </a:tcPr>
                </a:tc>
                <a:tc>
                  <a:txBody>
                    <a:bodyPr/>
                    <a:lstStyle/>
                    <a:p>
                      <a:pPr rtl="1" algn="r"/>
                      <a:r>
                        <a:rPr sz="1700" b="0" i="0" lang="ar-EG" altLang="en-US">
                          <a:solidFill>
                            <a:srgbClr val="1C2333"/>
                          </a:solidFill>
                          <a:latin typeface="Traditional Arabic"/>
                        </a:rPr>
                        <a:t>ما زال</a:t>
                      </a:r>
                    </a:p>
                  </a:txBody>
                  <a:tcPr>
                    <a:solidFill>
                      <a:srgbClr val="EEF3FA"/>
                    </a:solidFill>
                  </a:tcPr>
                </a:tc>
                <a:tc>
                  <a:txBody>
                    <a:bodyPr/>
                    <a:lstStyle/>
                    <a:p>
                      <a:pPr rtl="0" algn="l"/>
                      <a:r>
                        <a:rPr sz="1500" b="1" i="0" lang="en-US">
                          <a:solidFill>
                            <a:srgbClr val="229481"/>
                          </a:solidFill>
                          <a:latin typeface="Segoe UI"/>
                        </a:rPr>
                        <a:t>Watch out!</a:t>
                      </a:r>
                    </a:p>
                  </a:txBody>
                  <a:tcPr>
                    <a:solidFill>
                      <a:srgbClr val="EEF3FA"/>
                    </a:solidFill>
                  </a:tcPr>
                </a:tc>
                <a:tc>
                  <a:txBody>
                    <a:bodyPr/>
                    <a:lstStyle/>
                    <a:p>
                      <a:pPr rtl="1" algn="r"/>
                      <a:r>
                        <a:rPr sz="1700" b="0" i="0" lang="ar-EG" altLang="en-US">
                          <a:solidFill>
                            <a:srgbClr val="1C2333"/>
                          </a:solidFill>
                          <a:latin typeface="Traditional Arabic"/>
                        </a:rPr>
                        <a:t>احترس</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transition spd="med">
    <p:comb dir="horz"/>
  </p:transition>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A) Negation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am reading a new book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not reading a new book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are watching TV at the moment.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aren't watching TV at the moment.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is playing football at present.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isn't playing football at present.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aren't having lunch now.</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are having lunch now.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It isn't raining now.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 raining now.</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B)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My mum …… her story at the moment.   (reading – reads – is reading – read)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reading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Watch out, the car is …… fast.   (come – is coming – comes – coming)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coming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Look, they …… football.   (is playing – are playing – am playing – play)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playing</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Take care, it is …… outside.   (rained – raining – rains – rain)</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raining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 …… having a party tonight.   (were – are – is – was)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B)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parents …… watching TV at the moment.   (isn't – weren't – aren't – don't)</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aren't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brother and I …… playing chess now.   (is – are – were – was)</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sister isn't …… a cake at the moment.   (makes – made – making – is making)</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making</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They …… listening to music now.   (isn't – am not – aren't – don't)</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aren't</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It is raining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it raining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are playing football at the moment.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they playing football at the moment?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She is making a cake at present.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she making a cake at present?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am listening to music at the moment.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listening to music at the moment?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He is washing the car now.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he washing the car now?</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 are walking to school at the moment.</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walking to school at the moment?</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parents are having a party at the moment.</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your parents having a party at the moment?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D) Make a question using the question word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He is watching TV at the moment. (When)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is he watching TV?</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They are playing football now. (What)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they playing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am listening to music in my room. (Where)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are you listening to music?</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are travelling to Cairo by plane. (How)</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are you travelling to Cairo?</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is running with her brother. (Who)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is she running with?</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D) Make a question using the question word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 am visiting Alexandria tonight. (When)</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are you visiting Alexandria?</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brother is reading a new story. (What)</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is your brother reading?</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parents are working in Cairo. (Where)</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are your parents working?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Is they reading a new book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they reading a new book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Mona is listen to music at the moment.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Mona is listening to music at the moment.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 is making an apple pie.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are making an apple pie.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What are your mum doing?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is your mum doing?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 am drink coffee at the moment.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drinking coffee at the moment.</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Omar is takes a photo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Omar is taking a photo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He doesn't sending a letter now.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isn't sending a letter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Are you watching TV? No, I am .</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watching TV? No, I am not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don't playing football now.</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not playing football now.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Who are Ali playing with?</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is Ali playing with?</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Are Ali's father reading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Ali's father reading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My sister sleeps at the moment.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is sleeping at the moment.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Do you wearing new shoes?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wearing new shoes?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Mido is still does his homework.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Mido is still doing his homework.</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No , he is playing chess.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 he is playing chess.</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What is you reading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you reading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You are draw a picture now.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are drawing a picture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I don't have lunch now.</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not having lunch now.</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It doesn't raining at the moment.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isn't raining at the moment.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Are she baking a cake now?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she baking a cake now?</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taking – am – I – now – photo – a.</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taking a photo now.</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music – is – the moment – She – listening – at – to.</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is listening to music at the moment.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 moment – mum – making – is – My – cake – a – at.</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is making a cake at the moment.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TV – they – Are – watching – now?</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they watching TV now?</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to – you – Cairo – When – travelling – are?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are you travelling to Cairo?</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now – Ali – What – doing – are – Mona – and?</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Ali and Mona doing now?</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school – are – They – to – walking – now.</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 walking to school now.</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football – brother – My – now – playing – is.</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is playing football now.</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is – The – flying – moment – bird – at – the sky – in – the.</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bird is flying in the sky at the moment.</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The – hopping – is – rabbit – the garden – in.</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rabbit is hopping in the garden.</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in – The – playing – children – are – the park.</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 children are playing in the park.</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G) Rewrite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He is eating dinner now. (not)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isn't eating dinner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It is raining at the moment. (?)</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it raining at the moment?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are playing football now. (He)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playing football now.</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aren't listening to music now. (She)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isn't listening to music now.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What is he doing now? (they)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they doing now?</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G) Rewrite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is reading English at the moment. (I)</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reading English at the moment.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parents are sleeping now. (My mum)</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is sleeping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Are you travelling to Cairo now? (she)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she travelling to Cairo now?</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They are drinking milk now. (not)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aren't drinking milk now.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She is cleaning the room at the moment. (We)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are cleaning the room at the moment.</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G) Rewrite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We are walking in the park now. (?)</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walking in the park now?</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H) Choose the correct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She …… TV now.   (watches – is watching – watch)</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watching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We …… our homework at the moment.   (do – does – are doing)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doing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 to music now.   (listens – am listening – listen)</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am listening</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They …… in the park now.   (are playing – play – plays)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playing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What …… you doing at the moment?   (do – are – have)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H) Choose the correct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My brother …… a book now.   (is reading – reads – read)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reading</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 children …… in the garden.   (is playing – are playing – play)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playing</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 you sleeping at the moment?   (Is – Do – Are)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It …… outside now.   (is raining – rain – rains)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raining</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Listen! The baby …… now.   (cries – cry – is crying)</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crying</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I) Translate into Arabic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am reading a book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أنا أقرأ كتاباً الآن.</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It is raining at the moment.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إنها تمطر في هذه اللحظة.</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My mum is cooking lunch at the moment.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أمي تطبخ الغداء في هذه اللحظة.</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She is playing tennis at the moment.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هي تلعب التنس في هذه اللحظة.</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Are you listening to music at the moment?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هل تستمع إلى الموسيقى في هذه اللحظة؟</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I) Translate into Arabic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They are taking photos now.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هم يلتقطون صوراً الآن.</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We are playing chess now.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نحن نلعب الشطرنج الآن.</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Is he visiting Cairo tomorrow?</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هل سيزور القاهرة غداً؟</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My parents are watching TV at the moment.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والداي يشاهدان التلفاز في هذه اللحظة.</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am walking to school now.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أنا أمشي إلى المدرسة الآن.</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How are you?</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How are you?</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I'm fine, thank you.</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What …… you doing now?</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What are you doing now?</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I am …… football with my friends.</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I am playing football with my friends.</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 they having fun?</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Are they having fun?</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Yes, they …… having fun.</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Yes, they are having fun.</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Have a nice time.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Have a nice time.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Rawan: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Rawan: Thank you.</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Where …… Rody?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Where is Rody?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She is in the kitchen.</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She is in the kitchen.</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What is she doing?</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What is she doing?</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She is …… lunch.</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She is cooking lunch.</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 she good at cooking?</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Is she good at cooking?</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Yes, ……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Yes, she is .</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Thank you.</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Fatima: You are welcome.</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Fatima: You are welcome.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Good morning, Mazen.</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Good morning, Mazen.</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Good morning, Ahmed.</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 are you doing?</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What are you doing?</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I …… English.</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I am studying English.</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 you having a test?</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Are you having a test?</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Yes, ……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Yes, I am .</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Have a nice time.</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Have a nice time.</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Mazen: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Mazen: Thank you.</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left)">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left)">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left)">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4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Nader: Hello, Ahmed. What are you …… ?</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Nader: Hello, Ahmed. What are you doing ?</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Hello, Nader. I …… doing my homework.</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Hello, Nader. I am doing my homework.</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Nader: What …… your brother doing?</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Nader: What is your brother doing?</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He is …… TV in the living room.</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He is watching TV in the living room.</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Nader: Have a nice time.</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Nader: Have a nice time.</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Ahmed: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Ahmed: Thank you.</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circle(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ircle(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circle(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ircle(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circle(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circle(in)">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Lst>
  </p:timing>
</p:sld>
</file>

<file path=ppt/slides/slide4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Translate into English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 أنا أستمع إلى الموسيقى الآن.</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listening to music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2) هل هو يذاكر إنجليزي الآن؟</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Is he studying English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3) هو يشرب شاي في هذه اللحظة.</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drinking tea at the moment.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4) ماذا تفعل الآن؟</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are you doing now?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5) هم يلعبون كرة القدم في الشارع في هذه اللحظة.</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 playing football in the street at the moment.</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Translate into English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6) أنا لا أتناول الغداء الآن.</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am not having lunch now.</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7) هي تلعب تنس الآن.</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is playing tennis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8) هل أنت نائم الآن؟</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Are you sleeping now?</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9) هو يشاهد التلفاز في هذه اللحظة.</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is watching TV at the moment.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10) أختي تقرأ قصة في هذه اللحظة.</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is reading a story at the moment.</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4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Translate into English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11) هم يسبحون في البحر الآن.</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are swimming in the sea now.</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20</a:t>
            </a:r>
          </a:p>
          <a:p>
            <a:pPr algn="ctr" rtl="0"/>
            <a:r>
              <a:rPr sz="4600" b="1" i="0" lang="en-US">
                <a:solidFill>
                  <a:srgbClr val="FFFFFF"/>
                </a:solidFill>
                <a:latin typeface="Segoe UI"/>
              </a:rPr>
              <a:t>Irregular Verbs</a:t>
            </a:r>
          </a:p>
          <a:p>
            <a:pPr algn="ctr" rtl="1"/>
            <a:r>
              <a:rPr sz="2900" b="0" i="0" lang="ar-EG" altLang="en-US">
                <a:solidFill>
                  <a:srgbClr val="FFFFFF"/>
                </a:solidFill>
                <a:latin typeface="Traditional Arabic"/>
              </a:rPr>
              <a:t>الأفعال الشاذة</a:t>
            </a:r>
          </a:p>
        </p:txBody>
      </p:sp>
    </p:spTree>
  </p:cSld>
  <p:clrMapOvr>
    <a:masterClrMapping/>
  </p:clrMapOvr>
  <p:transition spd="med">
    <p:zoom dir="in"/>
  </p:transition>
</p:sld>
</file>

<file path=ppt/slides/slide4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يذهب</a:t>
                      </a:r>
                    </a:p>
                  </a:txBody>
                  <a:tcPr>
                    <a:solidFill>
                      <a:srgbClr val="FFFFFF"/>
                    </a:solidFill>
                  </a:tcPr>
                </a:tc>
                <a:tc>
                  <a:txBody>
                    <a:bodyPr/>
                    <a:lstStyle/>
                    <a:p>
                      <a:pPr rtl="0" algn="l"/>
                      <a:r>
                        <a:rPr sz="1300" b="0" i="0" lang="en-US">
                          <a:solidFill>
                            <a:srgbClr val="1C2333"/>
                          </a:solidFill>
                          <a:latin typeface="Segoe UI"/>
                        </a:rPr>
                        <a:t>go</a:t>
                      </a:r>
                    </a:p>
                  </a:txBody>
                  <a:tcPr>
                    <a:solidFill>
                      <a:srgbClr val="FFFFFF"/>
                    </a:solidFill>
                  </a:tcPr>
                </a:tc>
                <a:tc>
                  <a:txBody>
                    <a:bodyPr/>
                    <a:lstStyle/>
                    <a:p>
                      <a:pPr rtl="0" algn="l"/>
                      <a:r>
                        <a:rPr sz="1300" b="0" i="0" lang="en-US">
                          <a:solidFill>
                            <a:srgbClr val="1C2333"/>
                          </a:solidFill>
                          <a:latin typeface="Segoe UI"/>
                        </a:rPr>
                        <a:t>went</a:t>
                      </a:r>
                    </a:p>
                  </a:txBody>
                  <a:tcPr>
                    <a:solidFill>
                      <a:srgbClr val="FFFFFF"/>
                    </a:solidFill>
                  </a:tcPr>
                </a:tc>
                <a:tc>
                  <a:txBody>
                    <a:bodyPr/>
                    <a:lstStyle/>
                    <a:p>
                      <a:pPr rtl="0" algn="l"/>
                      <a:r>
                        <a:rPr sz="1300" b="0" i="0" lang="en-US">
                          <a:solidFill>
                            <a:srgbClr val="1C2333"/>
                          </a:solidFill>
                          <a:latin typeface="Segoe UI"/>
                        </a:rPr>
                        <a:t>gone</a:t>
                      </a:r>
                    </a:p>
                  </a:txBody>
                  <a:tcPr>
                    <a:solidFill>
                      <a:srgbClr val="FFFFFF"/>
                    </a:solidFill>
                  </a:tcPr>
                </a:tc>
              </a:tr>
              <a:tr h="347472">
                <a:tc>
                  <a:txBody>
                    <a:bodyPr/>
                    <a:lstStyle/>
                    <a:p>
                      <a:pPr rtl="1" algn="r"/>
                      <a:r>
                        <a:rPr sz="1600" b="0" i="0" lang="ar-EG" altLang="en-US">
                          <a:solidFill>
                            <a:srgbClr val="1C2333"/>
                          </a:solidFill>
                          <a:latin typeface="Traditional Arabic"/>
                        </a:rPr>
                        <a:t>يشتري</a:t>
                      </a:r>
                    </a:p>
                  </a:txBody>
                  <a:tcPr>
                    <a:solidFill>
                      <a:srgbClr val="EEF3FA"/>
                    </a:solidFill>
                  </a:tcPr>
                </a:tc>
                <a:tc>
                  <a:txBody>
                    <a:bodyPr/>
                    <a:lstStyle/>
                    <a:p>
                      <a:pPr rtl="0" algn="l"/>
                      <a:r>
                        <a:rPr sz="1300" b="0" i="0" lang="en-US">
                          <a:solidFill>
                            <a:srgbClr val="1C2333"/>
                          </a:solidFill>
                          <a:latin typeface="Segoe UI"/>
                        </a:rPr>
                        <a:t>buy</a:t>
                      </a:r>
                    </a:p>
                  </a:txBody>
                  <a:tcPr>
                    <a:solidFill>
                      <a:srgbClr val="EEF3FA"/>
                    </a:solidFill>
                  </a:tcPr>
                </a:tc>
                <a:tc>
                  <a:txBody>
                    <a:bodyPr/>
                    <a:lstStyle/>
                    <a:p>
                      <a:pPr rtl="0" algn="l"/>
                      <a:r>
                        <a:rPr sz="1300" b="0" i="0" lang="en-US">
                          <a:solidFill>
                            <a:srgbClr val="1C2333"/>
                          </a:solidFill>
                          <a:latin typeface="Segoe UI"/>
                        </a:rPr>
                        <a:t>bought</a:t>
                      </a:r>
                    </a:p>
                  </a:txBody>
                  <a:tcPr>
                    <a:solidFill>
                      <a:srgbClr val="EEF3FA"/>
                    </a:solidFill>
                  </a:tcPr>
                </a:tc>
                <a:tc>
                  <a:txBody>
                    <a:bodyPr/>
                    <a:lstStyle/>
                    <a:p>
                      <a:pPr rtl="0" algn="l"/>
                      <a:r>
                        <a:rPr sz="1300" b="0" i="0" lang="en-US">
                          <a:solidFill>
                            <a:srgbClr val="1C2333"/>
                          </a:solidFill>
                          <a:latin typeface="Segoe UI"/>
                        </a:rPr>
                        <a:t>bought</a:t>
                      </a:r>
                    </a:p>
                  </a:txBody>
                  <a:tcPr>
                    <a:solidFill>
                      <a:srgbClr val="EEF3FA"/>
                    </a:solidFill>
                  </a:tcPr>
                </a:tc>
              </a:tr>
              <a:tr h="347472">
                <a:tc>
                  <a:txBody>
                    <a:bodyPr/>
                    <a:lstStyle/>
                    <a:p>
                      <a:pPr rtl="1" algn="r"/>
                      <a:r>
                        <a:rPr sz="1600" b="0" i="0" lang="ar-EG" altLang="en-US">
                          <a:solidFill>
                            <a:srgbClr val="1C2333"/>
                          </a:solidFill>
                          <a:latin typeface="Traditional Arabic"/>
                        </a:rPr>
                        <a:t>يشرب</a:t>
                      </a:r>
                    </a:p>
                  </a:txBody>
                  <a:tcPr>
                    <a:solidFill>
                      <a:srgbClr val="FFFFFF"/>
                    </a:solidFill>
                  </a:tcPr>
                </a:tc>
                <a:tc>
                  <a:txBody>
                    <a:bodyPr/>
                    <a:lstStyle/>
                    <a:p>
                      <a:pPr rtl="0" algn="l"/>
                      <a:r>
                        <a:rPr sz="1300" b="0" i="0" lang="en-US">
                          <a:solidFill>
                            <a:srgbClr val="1C2333"/>
                          </a:solidFill>
                          <a:latin typeface="Segoe UI"/>
                        </a:rPr>
                        <a:t>drink</a:t>
                      </a:r>
                    </a:p>
                  </a:txBody>
                  <a:tcPr>
                    <a:solidFill>
                      <a:srgbClr val="FFFFFF"/>
                    </a:solidFill>
                  </a:tcPr>
                </a:tc>
                <a:tc>
                  <a:txBody>
                    <a:bodyPr/>
                    <a:lstStyle/>
                    <a:p>
                      <a:pPr rtl="0" algn="l"/>
                      <a:r>
                        <a:rPr sz="1300" b="0" i="0" lang="en-US">
                          <a:solidFill>
                            <a:srgbClr val="1C2333"/>
                          </a:solidFill>
                          <a:latin typeface="Segoe UI"/>
                        </a:rPr>
                        <a:t>drank</a:t>
                      </a:r>
                    </a:p>
                  </a:txBody>
                  <a:tcPr>
                    <a:solidFill>
                      <a:srgbClr val="FFFFFF"/>
                    </a:solidFill>
                  </a:tcPr>
                </a:tc>
                <a:tc>
                  <a:txBody>
                    <a:bodyPr/>
                    <a:lstStyle/>
                    <a:p>
                      <a:pPr rtl="0" algn="l"/>
                      <a:r>
                        <a:rPr sz="1300" b="0" i="0" lang="en-US">
                          <a:solidFill>
                            <a:srgbClr val="1C2333"/>
                          </a:solidFill>
                          <a:latin typeface="Segoe UI"/>
                        </a:rPr>
                        <a:t>drunk</a:t>
                      </a:r>
                    </a:p>
                  </a:txBody>
                  <a:tcPr>
                    <a:solidFill>
                      <a:srgbClr val="FFFFFF"/>
                    </a:solidFill>
                  </a:tcPr>
                </a:tc>
              </a:tr>
              <a:tr h="347472">
                <a:tc>
                  <a:txBody>
                    <a:bodyPr/>
                    <a:lstStyle/>
                    <a:p>
                      <a:pPr rtl="1" algn="r"/>
                      <a:r>
                        <a:rPr sz="1600" b="0" i="0" lang="ar-EG" altLang="en-US">
                          <a:solidFill>
                            <a:srgbClr val="1C2333"/>
                          </a:solidFill>
                          <a:latin typeface="Traditional Arabic"/>
                        </a:rPr>
                        <a:t>يقابل</a:t>
                      </a:r>
                    </a:p>
                  </a:txBody>
                  <a:tcPr>
                    <a:solidFill>
                      <a:srgbClr val="EEF3FA"/>
                    </a:solidFill>
                  </a:tcPr>
                </a:tc>
                <a:tc>
                  <a:txBody>
                    <a:bodyPr/>
                    <a:lstStyle/>
                    <a:p>
                      <a:pPr rtl="0" algn="l"/>
                      <a:r>
                        <a:rPr sz="1300" b="0" i="0" lang="en-US">
                          <a:solidFill>
                            <a:srgbClr val="1C2333"/>
                          </a:solidFill>
                          <a:latin typeface="Segoe UI"/>
                        </a:rPr>
                        <a:t>meet</a:t>
                      </a:r>
                    </a:p>
                  </a:txBody>
                  <a:tcPr>
                    <a:solidFill>
                      <a:srgbClr val="EEF3FA"/>
                    </a:solidFill>
                  </a:tcPr>
                </a:tc>
                <a:tc>
                  <a:txBody>
                    <a:bodyPr/>
                    <a:lstStyle/>
                    <a:p>
                      <a:pPr rtl="0" algn="l"/>
                      <a:r>
                        <a:rPr sz="1300" b="0" i="0" lang="en-US">
                          <a:solidFill>
                            <a:srgbClr val="1C2333"/>
                          </a:solidFill>
                          <a:latin typeface="Segoe UI"/>
                        </a:rPr>
                        <a:t>met</a:t>
                      </a:r>
                    </a:p>
                  </a:txBody>
                  <a:tcPr>
                    <a:solidFill>
                      <a:srgbClr val="EEF3FA"/>
                    </a:solidFill>
                  </a:tcPr>
                </a:tc>
                <a:tc>
                  <a:txBody>
                    <a:bodyPr/>
                    <a:lstStyle/>
                    <a:p>
                      <a:pPr rtl="0" algn="l"/>
                      <a:r>
                        <a:rPr sz="1300" b="0" i="0" lang="en-US">
                          <a:solidFill>
                            <a:srgbClr val="1C2333"/>
                          </a:solidFill>
                          <a:latin typeface="Segoe UI"/>
                        </a:rPr>
                        <a:t>met</a:t>
                      </a:r>
                    </a:p>
                  </a:txBody>
                  <a:tcPr>
                    <a:solidFill>
                      <a:srgbClr val="EEF3FA"/>
                    </a:solidFill>
                  </a:tcPr>
                </a:tc>
              </a:tr>
              <a:tr h="347472">
                <a:tc>
                  <a:txBody>
                    <a:bodyPr/>
                    <a:lstStyle/>
                    <a:p>
                      <a:pPr rtl="1" algn="r"/>
                      <a:r>
                        <a:rPr sz="1600" b="0" i="0" lang="ar-EG" altLang="en-US">
                          <a:solidFill>
                            <a:srgbClr val="1C2333"/>
                          </a:solidFill>
                          <a:latin typeface="Traditional Arabic"/>
                        </a:rPr>
                        <a:t>يسبح</a:t>
                      </a:r>
                    </a:p>
                  </a:txBody>
                  <a:tcPr>
                    <a:solidFill>
                      <a:srgbClr val="FFFFFF"/>
                    </a:solidFill>
                  </a:tcPr>
                </a:tc>
                <a:tc>
                  <a:txBody>
                    <a:bodyPr/>
                    <a:lstStyle/>
                    <a:p>
                      <a:pPr rtl="0" algn="l"/>
                      <a:r>
                        <a:rPr sz="1300" b="0" i="0" lang="en-US">
                          <a:solidFill>
                            <a:srgbClr val="1C2333"/>
                          </a:solidFill>
                          <a:latin typeface="Segoe UI"/>
                        </a:rPr>
                        <a:t>swim</a:t>
                      </a:r>
                    </a:p>
                  </a:txBody>
                  <a:tcPr>
                    <a:solidFill>
                      <a:srgbClr val="FFFFFF"/>
                    </a:solidFill>
                  </a:tcPr>
                </a:tc>
                <a:tc>
                  <a:txBody>
                    <a:bodyPr/>
                    <a:lstStyle/>
                    <a:p>
                      <a:pPr rtl="0" algn="l"/>
                      <a:r>
                        <a:rPr sz="1300" b="0" i="0" lang="en-US">
                          <a:solidFill>
                            <a:srgbClr val="1C2333"/>
                          </a:solidFill>
                          <a:latin typeface="Segoe UI"/>
                        </a:rPr>
                        <a:t>swam</a:t>
                      </a:r>
                    </a:p>
                  </a:txBody>
                  <a:tcPr>
                    <a:solidFill>
                      <a:srgbClr val="FFFFFF"/>
                    </a:solidFill>
                  </a:tcPr>
                </a:tc>
                <a:tc>
                  <a:txBody>
                    <a:bodyPr/>
                    <a:lstStyle/>
                    <a:p>
                      <a:pPr rtl="0" algn="l"/>
                      <a:r>
                        <a:rPr sz="1300" b="0" i="0" lang="en-US">
                          <a:solidFill>
                            <a:srgbClr val="1C2333"/>
                          </a:solidFill>
                          <a:latin typeface="Segoe UI"/>
                        </a:rPr>
                        <a:t>swum</a:t>
                      </a:r>
                    </a:p>
                  </a:txBody>
                  <a:tcPr>
                    <a:solidFill>
                      <a:srgbClr val="FFFFFF"/>
                    </a:solidFill>
                  </a:tcPr>
                </a:tc>
              </a:tr>
              <a:tr h="347472">
                <a:tc>
                  <a:txBody>
                    <a:bodyPr/>
                    <a:lstStyle/>
                    <a:p>
                      <a:pPr rtl="1" algn="r"/>
                      <a:r>
                        <a:rPr sz="1600" b="0" i="0" lang="ar-EG" altLang="en-US">
                          <a:solidFill>
                            <a:srgbClr val="1C2333"/>
                          </a:solidFill>
                          <a:latin typeface="Traditional Arabic"/>
                        </a:rPr>
                        <a:t>يأكل</a:t>
                      </a:r>
                    </a:p>
                  </a:txBody>
                  <a:tcPr>
                    <a:solidFill>
                      <a:srgbClr val="EEF3FA"/>
                    </a:solidFill>
                  </a:tcPr>
                </a:tc>
                <a:tc>
                  <a:txBody>
                    <a:bodyPr/>
                    <a:lstStyle/>
                    <a:p>
                      <a:pPr rtl="0" algn="l"/>
                      <a:r>
                        <a:rPr sz="1300" b="0" i="0" lang="en-US">
                          <a:solidFill>
                            <a:srgbClr val="1C2333"/>
                          </a:solidFill>
                          <a:latin typeface="Segoe UI"/>
                        </a:rPr>
                        <a:t>eat</a:t>
                      </a:r>
                    </a:p>
                  </a:txBody>
                  <a:tcPr>
                    <a:solidFill>
                      <a:srgbClr val="EEF3FA"/>
                    </a:solidFill>
                  </a:tcPr>
                </a:tc>
                <a:tc>
                  <a:txBody>
                    <a:bodyPr/>
                    <a:lstStyle/>
                    <a:p>
                      <a:pPr rtl="0" algn="l"/>
                      <a:r>
                        <a:rPr sz="1300" b="0" i="0" lang="en-US">
                          <a:solidFill>
                            <a:srgbClr val="1C2333"/>
                          </a:solidFill>
                          <a:latin typeface="Segoe UI"/>
                        </a:rPr>
                        <a:t>ate</a:t>
                      </a:r>
                    </a:p>
                  </a:txBody>
                  <a:tcPr>
                    <a:solidFill>
                      <a:srgbClr val="EEF3FA"/>
                    </a:solidFill>
                  </a:tcPr>
                </a:tc>
                <a:tc>
                  <a:txBody>
                    <a:bodyPr/>
                    <a:lstStyle/>
                    <a:p>
                      <a:pPr rtl="0" algn="l"/>
                      <a:r>
                        <a:rPr sz="1300" b="0" i="0" lang="en-US">
                          <a:solidFill>
                            <a:srgbClr val="1C2333"/>
                          </a:solidFill>
                          <a:latin typeface="Segoe UI"/>
                        </a:rPr>
                        <a:t>eaten</a:t>
                      </a:r>
                    </a:p>
                  </a:txBody>
                  <a:tcPr>
                    <a:solidFill>
                      <a:srgbClr val="EEF3FA"/>
                    </a:solidFill>
                  </a:tcPr>
                </a:tc>
              </a:tr>
              <a:tr h="347472">
                <a:tc>
                  <a:txBody>
                    <a:bodyPr/>
                    <a:lstStyle/>
                    <a:p>
                      <a:pPr rtl="1" algn="r"/>
                      <a:r>
                        <a:rPr sz="1600" b="0" i="0" lang="ar-EG" altLang="en-US">
                          <a:solidFill>
                            <a:srgbClr val="1C2333"/>
                          </a:solidFill>
                          <a:latin typeface="Traditional Arabic"/>
                        </a:rPr>
                        <a:t>يبيع</a:t>
                      </a:r>
                    </a:p>
                  </a:txBody>
                  <a:tcPr>
                    <a:solidFill>
                      <a:srgbClr val="FFFFFF"/>
                    </a:solidFill>
                  </a:tcPr>
                </a:tc>
                <a:tc>
                  <a:txBody>
                    <a:bodyPr/>
                    <a:lstStyle/>
                    <a:p>
                      <a:pPr rtl="0" algn="l"/>
                      <a:r>
                        <a:rPr sz="1300" b="0" i="0" lang="en-US">
                          <a:solidFill>
                            <a:srgbClr val="1C2333"/>
                          </a:solidFill>
                          <a:latin typeface="Segoe UI"/>
                        </a:rPr>
                        <a:t>sell</a:t>
                      </a:r>
                    </a:p>
                  </a:txBody>
                  <a:tcPr>
                    <a:solidFill>
                      <a:srgbClr val="FFFFFF"/>
                    </a:solidFill>
                  </a:tcPr>
                </a:tc>
                <a:tc>
                  <a:txBody>
                    <a:bodyPr/>
                    <a:lstStyle/>
                    <a:p>
                      <a:pPr rtl="0" algn="l"/>
                      <a:r>
                        <a:rPr sz="1300" b="0" i="0" lang="en-US">
                          <a:solidFill>
                            <a:srgbClr val="1C2333"/>
                          </a:solidFill>
                          <a:latin typeface="Segoe UI"/>
                        </a:rPr>
                        <a:t>sold</a:t>
                      </a:r>
                    </a:p>
                  </a:txBody>
                  <a:tcPr>
                    <a:solidFill>
                      <a:srgbClr val="FFFFFF"/>
                    </a:solidFill>
                  </a:tcPr>
                </a:tc>
                <a:tc>
                  <a:txBody>
                    <a:bodyPr/>
                    <a:lstStyle/>
                    <a:p>
                      <a:pPr rtl="0" algn="l"/>
                      <a:r>
                        <a:rPr sz="1300" b="0" i="0" lang="en-US">
                          <a:solidFill>
                            <a:srgbClr val="1C2333"/>
                          </a:solidFill>
                          <a:latin typeface="Segoe UI"/>
                        </a:rPr>
                        <a:t>sold</a:t>
                      </a:r>
                    </a:p>
                  </a:txBody>
                  <a:tcPr>
                    <a:solidFill>
                      <a:srgbClr val="FFFFFF"/>
                    </a:solidFill>
                  </a:tcPr>
                </a:tc>
              </a:tr>
              <a:tr h="347472">
                <a:tc>
                  <a:txBody>
                    <a:bodyPr/>
                    <a:lstStyle/>
                    <a:p>
                      <a:pPr rtl="1" algn="r"/>
                      <a:r>
                        <a:rPr sz="1600" b="0" i="0" lang="ar-EG" altLang="en-US">
                          <a:solidFill>
                            <a:srgbClr val="1C2333"/>
                          </a:solidFill>
                          <a:latin typeface="Traditional Arabic"/>
                        </a:rPr>
                        <a:t>يصنع</a:t>
                      </a:r>
                    </a:p>
                  </a:txBody>
                  <a:tcPr>
                    <a:solidFill>
                      <a:srgbClr val="EEF3FA"/>
                    </a:solidFill>
                  </a:tcPr>
                </a:tc>
                <a:tc>
                  <a:txBody>
                    <a:bodyPr/>
                    <a:lstStyle/>
                    <a:p>
                      <a:pPr rtl="0" algn="l"/>
                      <a:r>
                        <a:rPr sz="1300" b="0" i="0" lang="en-US">
                          <a:solidFill>
                            <a:srgbClr val="1C2333"/>
                          </a:solidFill>
                          <a:latin typeface="Segoe UI"/>
                        </a:rPr>
                        <a:t>make</a:t>
                      </a:r>
                    </a:p>
                  </a:txBody>
                  <a:tcPr>
                    <a:solidFill>
                      <a:srgbClr val="EEF3FA"/>
                    </a:solidFill>
                  </a:tcPr>
                </a:tc>
                <a:tc>
                  <a:txBody>
                    <a:bodyPr/>
                    <a:lstStyle/>
                    <a:p>
                      <a:pPr rtl="0" algn="l"/>
                      <a:r>
                        <a:rPr sz="1300" b="0" i="0" lang="en-US">
                          <a:solidFill>
                            <a:srgbClr val="1C2333"/>
                          </a:solidFill>
                          <a:latin typeface="Segoe UI"/>
                        </a:rPr>
                        <a:t>made</a:t>
                      </a:r>
                    </a:p>
                  </a:txBody>
                  <a:tcPr>
                    <a:solidFill>
                      <a:srgbClr val="EEF3FA"/>
                    </a:solidFill>
                  </a:tcPr>
                </a:tc>
                <a:tc>
                  <a:txBody>
                    <a:bodyPr/>
                    <a:lstStyle/>
                    <a:p>
                      <a:pPr rtl="0" algn="l"/>
                      <a:r>
                        <a:rPr sz="1300" b="0" i="0" lang="en-US">
                          <a:solidFill>
                            <a:srgbClr val="1C2333"/>
                          </a:solidFill>
                          <a:latin typeface="Segoe UI"/>
                        </a:rPr>
                        <a:t>made</a:t>
                      </a:r>
                    </a:p>
                  </a:txBody>
                  <a:tcPr>
                    <a:solidFill>
                      <a:srgbClr val="EEF3FA"/>
                    </a:solidFill>
                  </a:tcPr>
                </a:tc>
              </a:tr>
              <a:tr h="347472">
                <a:tc>
                  <a:txBody>
                    <a:bodyPr/>
                    <a:lstStyle/>
                    <a:p>
                      <a:pPr rtl="1" algn="r"/>
                      <a:r>
                        <a:rPr sz="1600" b="0" i="0" lang="ar-EG" altLang="en-US">
                          <a:solidFill>
                            <a:srgbClr val="1C2333"/>
                          </a:solidFill>
                          <a:latin typeface="Traditional Arabic"/>
                        </a:rPr>
                        <a:t>يجري</a:t>
                      </a:r>
                    </a:p>
                  </a:txBody>
                  <a:tcPr>
                    <a:solidFill>
                      <a:srgbClr val="FFFFFF"/>
                    </a:solidFill>
                  </a:tcPr>
                </a:tc>
                <a:tc>
                  <a:txBody>
                    <a:bodyPr/>
                    <a:lstStyle/>
                    <a:p>
                      <a:pPr rtl="0" algn="l"/>
                      <a:r>
                        <a:rPr sz="1300" b="0" i="0" lang="en-US">
                          <a:solidFill>
                            <a:srgbClr val="1C2333"/>
                          </a:solidFill>
                          <a:latin typeface="Segoe UI"/>
                        </a:rPr>
                        <a:t>run</a:t>
                      </a:r>
                    </a:p>
                  </a:txBody>
                  <a:tcPr>
                    <a:solidFill>
                      <a:srgbClr val="FFFFFF"/>
                    </a:solidFill>
                  </a:tcPr>
                </a:tc>
                <a:tc>
                  <a:txBody>
                    <a:bodyPr/>
                    <a:lstStyle/>
                    <a:p>
                      <a:pPr rtl="0" algn="l"/>
                      <a:r>
                        <a:rPr sz="1300" b="0" i="0" lang="en-US">
                          <a:solidFill>
                            <a:srgbClr val="1C2333"/>
                          </a:solidFill>
                          <a:latin typeface="Segoe UI"/>
                        </a:rPr>
                        <a:t>ran</a:t>
                      </a:r>
                    </a:p>
                  </a:txBody>
                  <a:tcPr>
                    <a:solidFill>
                      <a:srgbClr val="FFFFFF"/>
                    </a:solidFill>
                  </a:tcPr>
                </a:tc>
                <a:tc>
                  <a:txBody>
                    <a:bodyPr/>
                    <a:lstStyle/>
                    <a:p>
                      <a:pPr rtl="0" algn="l"/>
                      <a:r>
                        <a:rPr sz="1300" b="0" i="0" lang="en-US">
                          <a:solidFill>
                            <a:srgbClr val="1C2333"/>
                          </a:solidFill>
                          <a:latin typeface="Segoe UI"/>
                        </a:rPr>
                        <a:t>run</a:t>
                      </a:r>
                    </a:p>
                  </a:txBody>
                  <a:tcPr>
                    <a:solidFill>
                      <a:srgbClr val="FFFFFF"/>
                    </a:solidFill>
                  </a:tcPr>
                </a:tc>
              </a:tr>
              <a:tr h="347472">
                <a:tc>
                  <a:txBody>
                    <a:bodyPr/>
                    <a:lstStyle/>
                    <a:p>
                      <a:pPr rtl="1" algn="r"/>
                      <a:r>
                        <a:rPr sz="1600" b="0" i="0" lang="ar-EG" altLang="en-US">
                          <a:solidFill>
                            <a:srgbClr val="1C2333"/>
                          </a:solidFill>
                          <a:latin typeface="Traditional Arabic"/>
                        </a:rPr>
                        <a:t>يمتلك</a:t>
                      </a:r>
                    </a:p>
                  </a:txBody>
                  <a:tcPr>
                    <a:solidFill>
                      <a:srgbClr val="EEF3FA"/>
                    </a:solidFill>
                  </a:tcPr>
                </a:tc>
                <a:tc>
                  <a:txBody>
                    <a:bodyPr/>
                    <a:lstStyle/>
                    <a:p>
                      <a:pPr rtl="0" algn="l"/>
                      <a:r>
                        <a:rPr sz="1300" b="0" i="0" lang="en-US">
                          <a:solidFill>
                            <a:srgbClr val="1C2333"/>
                          </a:solidFill>
                          <a:latin typeface="Segoe UI"/>
                        </a:rPr>
                        <a:t>have / has</a:t>
                      </a:r>
                    </a:p>
                  </a:txBody>
                  <a:tcPr>
                    <a:solidFill>
                      <a:srgbClr val="EEF3FA"/>
                    </a:solidFill>
                  </a:tcPr>
                </a:tc>
                <a:tc>
                  <a:txBody>
                    <a:bodyPr/>
                    <a:lstStyle/>
                    <a:p>
                      <a:pPr rtl="0" algn="l"/>
                      <a:r>
                        <a:rPr sz="1300" b="0" i="0" lang="en-US">
                          <a:solidFill>
                            <a:srgbClr val="1C2333"/>
                          </a:solidFill>
                          <a:latin typeface="Segoe UI"/>
                        </a:rPr>
                        <a:t>had</a:t>
                      </a:r>
                    </a:p>
                  </a:txBody>
                  <a:tcPr>
                    <a:solidFill>
                      <a:srgbClr val="EEF3FA"/>
                    </a:solidFill>
                  </a:tcPr>
                </a:tc>
                <a:tc>
                  <a:txBody>
                    <a:bodyPr/>
                    <a:lstStyle/>
                    <a:p>
                      <a:pPr rtl="0" algn="l"/>
                      <a:r>
                        <a:rPr sz="1300" b="0" i="0" lang="en-US">
                          <a:solidFill>
                            <a:srgbClr val="1C2333"/>
                          </a:solidFill>
                          <a:latin typeface="Segoe UI"/>
                        </a:rPr>
                        <a:t>had</a:t>
                      </a:r>
                    </a:p>
                  </a:txBody>
                  <a:tcPr>
                    <a:solidFill>
                      <a:srgbClr val="EEF3FA"/>
                    </a:solidFill>
                  </a:tcPr>
                </a:tc>
              </a:tr>
              <a:tr h="347472">
                <a:tc>
                  <a:txBody>
                    <a:bodyPr/>
                    <a:lstStyle/>
                    <a:p>
                      <a:pPr rtl="1" algn="r"/>
                      <a:r>
                        <a:rPr sz="1600" b="0" i="0" lang="ar-EG" altLang="en-US">
                          <a:solidFill>
                            <a:srgbClr val="1C2333"/>
                          </a:solidFill>
                          <a:latin typeface="Traditional Arabic"/>
                        </a:rPr>
                        <a:t>يكون</a:t>
                      </a:r>
                    </a:p>
                  </a:txBody>
                  <a:tcPr>
                    <a:solidFill>
                      <a:srgbClr val="FFFFFF"/>
                    </a:solidFill>
                  </a:tcPr>
                </a:tc>
                <a:tc>
                  <a:txBody>
                    <a:bodyPr/>
                    <a:lstStyle/>
                    <a:p>
                      <a:pPr rtl="0" algn="l"/>
                      <a:r>
                        <a:rPr sz="1300" b="0" i="0" lang="en-US">
                          <a:solidFill>
                            <a:srgbClr val="1C2333"/>
                          </a:solidFill>
                          <a:latin typeface="Segoe UI"/>
                        </a:rPr>
                        <a:t>is / am</a:t>
                      </a:r>
                    </a:p>
                  </a:txBody>
                  <a:tcPr>
                    <a:solidFill>
                      <a:srgbClr val="FFFFFF"/>
                    </a:solidFill>
                  </a:tcPr>
                </a:tc>
                <a:tc>
                  <a:txBody>
                    <a:bodyPr/>
                    <a:lstStyle/>
                    <a:p>
                      <a:pPr rtl="0" algn="l"/>
                      <a:r>
                        <a:rPr sz="1300" b="0" i="0" lang="en-US">
                          <a:solidFill>
                            <a:srgbClr val="1C2333"/>
                          </a:solidFill>
                          <a:latin typeface="Segoe UI"/>
                        </a:rPr>
                        <a:t>was</a:t>
                      </a:r>
                    </a:p>
                  </a:txBody>
                  <a:tcPr>
                    <a:solidFill>
                      <a:srgbClr val="FFFFFF"/>
                    </a:solidFill>
                  </a:tcPr>
                </a:tc>
                <a:tc>
                  <a:txBody>
                    <a:bodyPr/>
                    <a:lstStyle/>
                    <a:p>
                      <a:pPr rtl="0" algn="l"/>
                      <a:r>
                        <a:rPr sz="1300" b="0" i="0" lang="en-US">
                          <a:solidFill>
                            <a:srgbClr val="1C2333"/>
                          </a:solidFill>
                          <a:latin typeface="Segoe UI"/>
                        </a:rPr>
                        <a:t>been</a:t>
                      </a:r>
                    </a:p>
                  </a:txBody>
                  <a:tcPr>
                    <a:solidFill>
                      <a:srgbClr val="FFFFFF"/>
                    </a:solidFill>
                  </a:tcPr>
                </a:tc>
              </a:tr>
              <a:tr h="347472">
                <a:tc>
                  <a:txBody>
                    <a:bodyPr/>
                    <a:lstStyle/>
                    <a:p>
                      <a:pPr rtl="1" algn="r"/>
                      <a:r>
                        <a:rPr sz="1600" b="0" i="0" lang="ar-EG" altLang="en-US">
                          <a:solidFill>
                            <a:srgbClr val="1C2333"/>
                          </a:solidFill>
                          <a:latin typeface="Traditional Arabic"/>
                        </a:rPr>
                        <a:t>يكونون</a:t>
                      </a:r>
                    </a:p>
                  </a:txBody>
                  <a:tcPr>
                    <a:solidFill>
                      <a:srgbClr val="EEF3FA"/>
                    </a:solidFill>
                  </a:tcPr>
                </a:tc>
                <a:tc>
                  <a:txBody>
                    <a:bodyPr/>
                    <a:lstStyle/>
                    <a:p>
                      <a:pPr rtl="0" algn="l"/>
                      <a:r>
                        <a:rPr sz="1300" b="0" i="0" lang="en-US">
                          <a:solidFill>
                            <a:srgbClr val="1C2333"/>
                          </a:solidFill>
                          <a:latin typeface="Segoe UI"/>
                        </a:rPr>
                        <a:t>are</a:t>
                      </a:r>
                    </a:p>
                  </a:txBody>
                  <a:tcPr>
                    <a:solidFill>
                      <a:srgbClr val="EEF3FA"/>
                    </a:solidFill>
                  </a:tcPr>
                </a:tc>
                <a:tc>
                  <a:txBody>
                    <a:bodyPr/>
                    <a:lstStyle/>
                    <a:p>
                      <a:pPr rtl="0" algn="l"/>
                      <a:r>
                        <a:rPr sz="1300" b="0" i="0" lang="en-US">
                          <a:solidFill>
                            <a:srgbClr val="1C2333"/>
                          </a:solidFill>
                          <a:latin typeface="Segoe UI"/>
                        </a:rPr>
                        <a:t>were</a:t>
                      </a:r>
                    </a:p>
                  </a:txBody>
                  <a:tcPr>
                    <a:solidFill>
                      <a:srgbClr val="EEF3FA"/>
                    </a:solidFill>
                  </a:tcPr>
                </a:tc>
                <a:tc>
                  <a:txBody>
                    <a:bodyPr/>
                    <a:lstStyle/>
                    <a:p>
                      <a:pPr rtl="0" algn="l"/>
                      <a:r>
                        <a:rPr sz="1300" b="0" i="0" lang="en-US">
                          <a:solidFill>
                            <a:srgbClr val="1C2333"/>
                          </a:solidFill>
                          <a:latin typeface="Segoe UI"/>
                        </a:rPr>
                        <a:t>been</a:t>
                      </a:r>
                    </a:p>
                  </a:txBody>
                  <a:tcPr>
                    <a:solidFill>
                      <a:srgbClr val="EEF3FA"/>
                    </a:solidFill>
                  </a:tcPr>
                </a:tc>
              </a:tr>
            </a:tbl>
          </a:graphicData>
        </a:graphic>
      </p:graphicFrame>
    </p:spTree>
  </p:cSld>
  <p:clrMapOvr>
    <a:masterClrMapping/>
  </p:clrMapOvr>
  <p:transition spd="med">
    <p:diamond/>
  </p:transition>
</p:sld>
</file>

<file path=ppt/slides/slide4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يفعل</a:t>
                      </a:r>
                    </a:p>
                  </a:txBody>
                  <a:tcPr>
                    <a:solidFill>
                      <a:srgbClr val="FFFFFF"/>
                    </a:solidFill>
                  </a:tcPr>
                </a:tc>
                <a:tc>
                  <a:txBody>
                    <a:bodyPr/>
                    <a:lstStyle/>
                    <a:p>
                      <a:pPr rtl="0" algn="l"/>
                      <a:r>
                        <a:rPr sz="1300" b="0" i="0" lang="en-US">
                          <a:solidFill>
                            <a:srgbClr val="1C2333"/>
                          </a:solidFill>
                          <a:latin typeface="Segoe UI"/>
                        </a:rPr>
                        <a:t>do / does</a:t>
                      </a:r>
                    </a:p>
                  </a:txBody>
                  <a:tcPr>
                    <a:solidFill>
                      <a:srgbClr val="FFFFFF"/>
                    </a:solidFill>
                  </a:tcPr>
                </a:tc>
                <a:tc>
                  <a:txBody>
                    <a:bodyPr/>
                    <a:lstStyle/>
                    <a:p>
                      <a:pPr rtl="0" algn="l"/>
                      <a:r>
                        <a:rPr sz="1300" b="0" i="0" lang="en-US">
                          <a:solidFill>
                            <a:srgbClr val="1C2333"/>
                          </a:solidFill>
                          <a:latin typeface="Segoe UI"/>
                        </a:rPr>
                        <a:t>did</a:t>
                      </a:r>
                    </a:p>
                  </a:txBody>
                  <a:tcPr>
                    <a:solidFill>
                      <a:srgbClr val="FFFFFF"/>
                    </a:solidFill>
                  </a:tcPr>
                </a:tc>
                <a:tc>
                  <a:txBody>
                    <a:bodyPr/>
                    <a:lstStyle/>
                    <a:p>
                      <a:pPr rtl="0" algn="l"/>
                      <a:r>
                        <a:rPr sz="1300" b="0" i="0" lang="en-US">
                          <a:solidFill>
                            <a:srgbClr val="1C2333"/>
                          </a:solidFill>
                          <a:latin typeface="Segoe UI"/>
                        </a:rPr>
                        <a:t>done</a:t>
                      </a:r>
                    </a:p>
                  </a:txBody>
                  <a:tcPr>
                    <a:solidFill>
                      <a:srgbClr val="FFFFFF"/>
                    </a:solidFill>
                  </a:tcPr>
                </a:tc>
              </a:tr>
              <a:tr h="347472">
                <a:tc>
                  <a:txBody>
                    <a:bodyPr/>
                    <a:lstStyle/>
                    <a:p>
                      <a:pPr rtl="1" algn="r"/>
                      <a:r>
                        <a:rPr sz="1600" b="0" i="0" lang="ar-EG" altLang="en-US">
                          <a:solidFill>
                            <a:srgbClr val="1C2333"/>
                          </a:solidFill>
                          <a:latin typeface="Traditional Arabic"/>
                        </a:rPr>
                        <a:t>يشعر</a:t>
                      </a:r>
                    </a:p>
                  </a:txBody>
                  <a:tcPr>
                    <a:solidFill>
                      <a:srgbClr val="EEF3FA"/>
                    </a:solidFill>
                  </a:tcPr>
                </a:tc>
                <a:tc>
                  <a:txBody>
                    <a:bodyPr/>
                    <a:lstStyle/>
                    <a:p>
                      <a:pPr rtl="0" algn="l"/>
                      <a:r>
                        <a:rPr sz="1300" b="0" i="0" lang="en-US">
                          <a:solidFill>
                            <a:srgbClr val="1C2333"/>
                          </a:solidFill>
                          <a:latin typeface="Segoe UI"/>
                        </a:rPr>
                        <a:t>feel</a:t>
                      </a:r>
                    </a:p>
                  </a:txBody>
                  <a:tcPr>
                    <a:solidFill>
                      <a:srgbClr val="EEF3FA"/>
                    </a:solidFill>
                  </a:tcPr>
                </a:tc>
                <a:tc>
                  <a:txBody>
                    <a:bodyPr/>
                    <a:lstStyle/>
                    <a:p>
                      <a:pPr rtl="0" algn="l"/>
                      <a:r>
                        <a:rPr sz="1300" b="0" i="0" lang="en-US">
                          <a:solidFill>
                            <a:srgbClr val="1C2333"/>
                          </a:solidFill>
                          <a:latin typeface="Segoe UI"/>
                        </a:rPr>
                        <a:t>felt</a:t>
                      </a:r>
                    </a:p>
                  </a:txBody>
                  <a:tcPr>
                    <a:solidFill>
                      <a:srgbClr val="EEF3FA"/>
                    </a:solidFill>
                  </a:tcPr>
                </a:tc>
                <a:tc>
                  <a:txBody>
                    <a:bodyPr/>
                    <a:lstStyle/>
                    <a:p>
                      <a:pPr rtl="0" algn="l"/>
                      <a:r>
                        <a:rPr sz="1300" b="0" i="0" lang="en-US">
                          <a:solidFill>
                            <a:srgbClr val="1C2333"/>
                          </a:solidFill>
                          <a:latin typeface="Segoe UI"/>
                        </a:rPr>
                        <a:t>felt</a:t>
                      </a:r>
                    </a:p>
                  </a:txBody>
                  <a:tcPr>
                    <a:solidFill>
                      <a:srgbClr val="EEF3FA"/>
                    </a:solidFill>
                  </a:tcPr>
                </a:tc>
              </a:tr>
              <a:tr h="347472">
                <a:tc>
                  <a:txBody>
                    <a:bodyPr/>
                    <a:lstStyle/>
                    <a:p>
                      <a:pPr rtl="1" algn="r"/>
                      <a:r>
                        <a:rPr sz="1600" b="0" i="0" lang="ar-EG" altLang="en-US">
                          <a:solidFill>
                            <a:srgbClr val="1C2333"/>
                          </a:solidFill>
                          <a:latin typeface="Traditional Arabic"/>
                        </a:rPr>
                        <a:t>يسمع</a:t>
                      </a:r>
                    </a:p>
                  </a:txBody>
                  <a:tcPr>
                    <a:solidFill>
                      <a:srgbClr val="FFFFFF"/>
                    </a:solidFill>
                  </a:tcPr>
                </a:tc>
                <a:tc>
                  <a:txBody>
                    <a:bodyPr/>
                    <a:lstStyle/>
                    <a:p>
                      <a:pPr rtl="0" algn="l"/>
                      <a:r>
                        <a:rPr sz="1300" b="0" i="0" lang="en-US">
                          <a:solidFill>
                            <a:srgbClr val="1C2333"/>
                          </a:solidFill>
                          <a:latin typeface="Segoe UI"/>
                        </a:rPr>
                        <a:t>hear</a:t>
                      </a:r>
                    </a:p>
                  </a:txBody>
                  <a:tcPr>
                    <a:solidFill>
                      <a:srgbClr val="FFFFFF"/>
                    </a:solidFill>
                  </a:tcPr>
                </a:tc>
                <a:tc>
                  <a:txBody>
                    <a:bodyPr/>
                    <a:lstStyle/>
                    <a:p>
                      <a:pPr rtl="0" algn="l"/>
                      <a:r>
                        <a:rPr sz="1300" b="0" i="0" lang="en-US">
                          <a:solidFill>
                            <a:srgbClr val="1C2333"/>
                          </a:solidFill>
                          <a:latin typeface="Segoe UI"/>
                        </a:rPr>
                        <a:t>heard</a:t>
                      </a:r>
                    </a:p>
                  </a:txBody>
                  <a:tcPr>
                    <a:solidFill>
                      <a:srgbClr val="FFFFFF"/>
                    </a:solidFill>
                  </a:tcPr>
                </a:tc>
                <a:tc>
                  <a:txBody>
                    <a:bodyPr/>
                    <a:lstStyle/>
                    <a:p>
                      <a:pPr rtl="0" algn="l"/>
                      <a:r>
                        <a:rPr sz="1300" b="0" i="0" lang="en-US">
                          <a:solidFill>
                            <a:srgbClr val="1C2333"/>
                          </a:solidFill>
                          <a:latin typeface="Segoe UI"/>
                        </a:rPr>
                        <a:t>heard</a:t>
                      </a:r>
                    </a:p>
                  </a:txBody>
                  <a:tcPr>
                    <a:solidFill>
                      <a:srgbClr val="FFFFFF"/>
                    </a:solidFill>
                  </a:tcPr>
                </a:tc>
              </a:tr>
              <a:tr h="347472">
                <a:tc>
                  <a:txBody>
                    <a:bodyPr/>
                    <a:lstStyle/>
                    <a:p>
                      <a:pPr rtl="1" algn="r"/>
                      <a:r>
                        <a:rPr sz="1600" b="0" i="0" lang="ar-EG" altLang="en-US">
                          <a:solidFill>
                            <a:srgbClr val="1C2333"/>
                          </a:solidFill>
                          <a:latin typeface="Traditional Arabic"/>
                        </a:rPr>
                        <a:t>يأخذ</a:t>
                      </a:r>
                    </a:p>
                  </a:txBody>
                  <a:tcPr>
                    <a:solidFill>
                      <a:srgbClr val="EEF3FA"/>
                    </a:solidFill>
                  </a:tcPr>
                </a:tc>
                <a:tc>
                  <a:txBody>
                    <a:bodyPr/>
                    <a:lstStyle/>
                    <a:p>
                      <a:pPr rtl="0" algn="l"/>
                      <a:r>
                        <a:rPr sz="1300" b="0" i="0" lang="en-US">
                          <a:solidFill>
                            <a:srgbClr val="1C2333"/>
                          </a:solidFill>
                          <a:latin typeface="Segoe UI"/>
                        </a:rPr>
                        <a:t>take</a:t>
                      </a:r>
                    </a:p>
                  </a:txBody>
                  <a:tcPr>
                    <a:solidFill>
                      <a:srgbClr val="EEF3FA"/>
                    </a:solidFill>
                  </a:tcPr>
                </a:tc>
                <a:tc>
                  <a:txBody>
                    <a:bodyPr/>
                    <a:lstStyle/>
                    <a:p>
                      <a:pPr rtl="0" algn="l"/>
                      <a:r>
                        <a:rPr sz="1300" b="0" i="0" lang="en-US">
                          <a:solidFill>
                            <a:srgbClr val="1C2333"/>
                          </a:solidFill>
                          <a:latin typeface="Segoe UI"/>
                        </a:rPr>
                        <a:t>took</a:t>
                      </a:r>
                    </a:p>
                  </a:txBody>
                  <a:tcPr>
                    <a:solidFill>
                      <a:srgbClr val="EEF3FA"/>
                    </a:solidFill>
                  </a:tcPr>
                </a:tc>
                <a:tc>
                  <a:txBody>
                    <a:bodyPr/>
                    <a:lstStyle/>
                    <a:p>
                      <a:pPr rtl="0" algn="l"/>
                      <a:r>
                        <a:rPr sz="1300" b="0" i="0" lang="en-US">
                          <a:solidFill>
                            <a:srgbClr val="1C2333"/>
                          </a:solidFill>
                          <a:latin typeface="Segoe UI"/>
                        </a:rPr>
                        <a:t>taken</a:t>
                      </a:r>
                    </a:p>
                  </a:txBody>
                  <a:tcPr>
                    <a:solidFill>
                      <a:srgbClr val="EEF3FA"/>
                    </a:solidFill>
                  </a:tcPr>
                </a:tc>
              </a:tr>
              <a:tr h="347472">
                <a:tc>
                  <a:txBody>
                    <a:bodyPr/>
                    <a:lstStyle/>
                    <a:p>
                      <a:pPr rtl="1" algn="r"/>
                      <a:r>
                        <a:rPr sz="1600" b="0" i="0" lang="ar-EG" altLang="en-US">
                          <a:solidFill>
                            <a:srgbClr val="1C2333"/>
                          </a:solidFill>
                          <a:latin typeface="Traditional Arabic"/>
                        </a:rPr>
                        <a:t>يفوز</a:t>
                      </a:r>
                    </a:p>
                  </a:txBody>
                  <a:tcPr>
                    <a:solidFill>
                      <a:srgbClr val="FFFFFF"/>
                    </a:solidFill>
                  </a:tcPr>
                </a:tc>
                <a:tc>
                  <a:txBody>
                    <a:bodyPr/>
                    <a:lstStyle/>
                    <a:p>
                      <a:pPr rtl="0" algn="l"/>
                      <a:r>
                        <a:rPr sz="1300" b="0" i="0" lang="en-US">
                          <a:solidFill>
                            <a:srgbClr val="1C2333"/>
                          </a:solidFill>
                          <a:latin typeface="Segoe UI"/>
                        </a:rPr>
                        <a:t>win</a:t>
                      </a:r>
                    </a:p>
                  </a:txBody>
                  <a:tcPr>
                    <a:solidFill>
                      <a:srgbClr val="FFFFFF"/>
                    </a:solidFill>
                  </a:tcPr>
                </a:tc>
                <a:tc>
                  <a:txBody>
                    <a:bodyPr/>
                    <a:lstStyle/>
                    <a:p>
                      <a:pPr rtl="0" algn="l"/>
                      <a:r>
                        <a:rPr sz="1300" b="0" i="0" lang="en-US">
                          <a:solidFill>
                            <a:srgbClr val="1C2333"/>
                          </a:solidFill>
                          <a:latin typeface="Segoe UI"/>
                        </a:rPr>
                        <a:t>won</a:t>
                      </a:r>
                    </a:p>
                  </a:txBody>
                  <a:tcPr>
                    <a:solidFill>
                      <a:srgbClr val="FFFFFF"/>
                    </a:solidFill>
                  </a:tcPr>
                </a:tc>
                <a:tc>
                  <a:txBody>
                    <a:bodyPr/>
                    <a:lstStyle/>
                    <a:p>
                      <a:pPr rtl="0" algn="l"/>
                      <a:r>
                        <a:rPr sz="1300" b="0" i="0" lang="en-US">
                          <a:solidFill>
                            <a:srgbClr val="1C2333"/>
                          </a:solidFill>
                          <a:latin typeface="Segoe UI"/>
                        </a:rPr>
                        <a:t>won</a:t>
                      </a:r>
                    </a:p>
                  </a:txBody>
                  <a:tcPr>
                    <a:solidFill>
                      <a:srgbClr val="FFFFFF"/>
                    </a:solidFill>
                  </a:tcPr>
                </a:tc>
              </a:tr>
              <a:tr h="347472">
                <a:tc>
                  <a:txBody>
                    <a:bodyPr/>
                    <a:lstStyle/>
                    <a:p>
                      <a:pPr rtl="1" algn="r"/>
                      <a:r>
                        <a:rPr sz="1600" b="0" i="0" lang="ar-EG" altLang="en-US">
                          <a:solidFill>
                            <a:srgbClr val="1C2333"/>
                          </a:solidFill>
                          <a:latin typeface="Traditional Arabic"/>
                        </a:rPr>
                        <a:t>يفكر</a:t>
                      </a:r>
                    </a:p>
                  </a:txBody>
                  <a:tcPr>
                    <a:solidFill>
                      <a:srgbClr val="EEF3FA"/>
                    </a:solidFill>
                  </a:tcPr>
                </a:tc>
                <a:tc>
                  <a:txBody>
                    <a:bodyPr/>
                    <a:lstStyle/>
                    <a:p>
                      <a:pPr rtl="0" algn="l"/>
                      <a:r>
                        <a:rPr sz="1300" b="0" i="0" lang="en-US">
                          <a:solidFill>
                            <a:srgbClr val="1C2333"/>
                          </a:solidFill>
                          <a:latin typeface="Segoe UI"/>
                        </a:rPr>
                        <a:t>think</a:t>
                      </a:r>
                    </a:p>
                  </a:txBody>
                  <a:tcPr>
                    <a:solidFill>
                      <a:srgbClr val="EEF3FA"/>
                    </a:solidFill>
                  </a:tcPr>
                </a:tc>
                <a:tc>
                  <a:txBody>
                    <a:bodyPr/>
                    <a:lstStyle/>
                    <a:p>
                      <a:pPr rtl="0" algn="l"/>
                      <a:r>
                        <a:rPr sz="1300" b="0" i="0" lang="en-US">
                          <a:solidFill>
                            <a:srgbClr val="1C2333"/>
                          </a:solidFill>
                          <a:latin typeface="Segoe UI"/>
                        </a:rPr>
                        <a:t>thought</a:t>
                      </a:r>
                    </a:p>
                  </a:txBody>
                  <a:tcPr>
                    <a:solidFill>
                      <a:srgbClr val="EEF3FA"/>
                    </a:solidFill>
                  </a:tcPr>
                </a:tc>
                <a:tc>
                  <a:txBody>
                    <a:bodyPr/>
                    <a:lstStyle/>
                    <a:p>
                      <a:pPr rtl="0" algn="l"/>
                      <a:r>
                        <a:rPr sz="1300" b="0" i="0" lang="en-US">
                          <a:solidFill>
                            <a:srgbClr val="1C2333"/>
                          </a:solidFill>
                          <a:latin typeface="Segoe UI"/>
                        </a:rPr>
                        <a:t>thought</a:t>
                      </a:r>
                    </a:p>
                  </a:txBody>
                  <a:tcPr>
                    <a:solidFill>
                      <a:srgbClr val="EEF3FA"/>
                    </a:solidFill>
                  </a:tcPr>
                </a:tc>
              </a:tr>
              <a:tr h="347472">
                <a:tc>
                  <a:txBody>
                    <a:bodyPr/>
                    <a:lstStyle/>
                    <a:p>
                      <a:pPr rtl="1" algn="r"/>
                      <a:r>
                        <a:rPr sz="1600" b="0" i="0" lang="ar-EG" altLang="en-US">
                          <a:solidFill>
                            <a:srgbClr val="1C2333"/>
                          </a:solidFill>
                          <a:latin typeface="Traditional Arabic"/>
                        </a:rPr>
                        <a:t>يفقد</a:t>
                      </a:r>
                    </a:p>
                  </a:txBody>
                  <a:tcPr>
                    <a:solidFill>
                      <a:srgbClr val="FFFFFF"/>
                    </a:solidFill>
                  </a:tcPr>
                </a:tc>
                <a:tc>
                  <a:txBody>
                    <a:bodyPr/>
                    <a:lstStyle/>
                    <a:p>
                      <a:pPr rtl="0" algn="l"/>
                      <a:r>
                        <a:rPr sz="1300" b="0" i="0" lang="en-US">
                          <a:solidFill>
                            <a:srgbClr val="1C2333"/>
                          </a:solidFill>
                          <a:latin typeface="Segoe UI"/>
                        </a:rPr>
                        <a:t>lose</a:t>
                      </a:r>
                    </a:p>
                  </a:txBody>
                  <a:tcPr>
                    <a:solidFill>
                      <a:srgbClr val="FFFFFF"/>
                    </a:solidFill>
                  </a:tcPr>
                </a:tc>
                <a:tc>
                  <a:txBody>
                    <a:bodyPr/>
                    <a:lstStyle/>
                    <a:p>
                      <a:pPr rtl="0" algn="l"/>
                      <a:r>
                        <a:rPr sz="1300" b="0" i="0" lang="en-US">
                          <a:solidFill>
                            <a:srgbClr val="1C2333"/>
                          </a:solidFill>
                          <a:latin typeface="Segoe UI"/>
                        </a:rPr>
                        <a:t>lost</a:t>
                      </a:r>
                    </a:p>
                  </a:txBody>
                  <a:tcPr>
                    <a:solidFill>
                      <a:srgbClr val="FFFFFF"/>
                    </a:solidFill>
                  </a:tcPr>
                </a:tc>
                <a:tc>
                  <a:txBody>
                    <a:bodyPr/>
                    <a:lstStyle/>
                    <a:p>
                      <a:pPr rtl="0" algn="l"/>
                      <a:r>
                        <a:rPr sz="1300" b="0" i="0" lang="en-US">
                          <a:solidFill>
                            <a:srgbClr val="1C2333"/>
                          </a:solidFill>
                          <a:latin typeface="Segoe UI"/>
                        </a:rPr>
                        <a:t>lost</a:t>
                      </a:r>
                    </a:p>
                  </a:txBody>
                  <a:tcPr>
                    <a:solidFill>
                      <a:srgbClr val="FFFFFF"/>
                    </a:solidFill>
                  </a:tcPr>
                </a:tc>
              </a:tr>
              <a:tr h="347472">
                <a:tc>
                  <a:txBody>
                    <a:bodyPr/>
                    <a:lstStyle/>
                    <a:p>
                      <a:pPr rtl="1" algn="r"/>
                      <a:r>
                        <a:rPr sz="1600" b="0" i="0" lang="ar-EG" altLang="en-US">
                          <a:solidFill>
                            <a:srgbClr val="1C2333"/>
                          </a:solidFill>
                          <a:latin typeface="Traditional Arabic"/>
                        </a:rPr>
                        <a:t>يستيقظ</a:t>
                      </a:r>
                    </a:p>
                  </a:txBody>
                  <a:tcPr>
                    <a:solidFill>
                      <a:srgbClr val="EEF3FA"/>
                    </a:solidFill>
                  </a:tcPr>
                </a:tc>
                <a:tc>
                  <a:txBody>
                    <a:bodyPr/>
                    <a:lstStyle/>
                    <a:p>
                      <a:pPr rtl="0" algn="l"/>
                      <a:r>
                        <a:rPr sz="1300" b="0" i="0" lang="en-US">
                          <a:solidFill>
                            <a:srgbClr val="1C2333"/>
                          </a:solidFill>
                          <a:latin typeface="Segoe UI"/>
                        </a:rPr>
                        <a:t>get up</a:t>
                      </a:r>
                    </a:p>
                  </a:txBody>
                  <a:tcPr>
                    <a:solidFill>
                      <a:srgbClr val="EEF3FA"/>
                    </a:solidFill>
                  </a:tcPr>
                </a:tc>
                <a:tc>
                  <a:txBody>
                    <a:bodyPr/>
                    <a:lstStyle/>
                    <a:p>
                      <a:pPr rtl="0" algn="l"/>
                      <a:r>
                        <a:rPr sz="1300" b="0" i="0" lang="en-US">
                          <a:solidFill>
                            <a:srgbClr val="1C2333"/>
                          </a:solidFill>
                          <a:latin typeface="Segoe UI"/>
                        </a:rPr>
                        <a:t>got up</a:t>
                      </a:r>
                    </a:p>
                  </a:txBody>
                  <a:tcPr>
                    <a:solidFill>
                      <a:srgbClr val="EEF3FA"/>
                    </a:solidFill>
                  </a:tcPr>
                </a:tc>
                <a:tc>
                  <a:txBody>
                    <a:bodyPr/>
                    <a:lstStyle/>
                    <a:p>
                      <a:pPr rtl="0" algn="l"/>
                      <a:r>
                        <a:rPr sz="1300" b="0" i="0" lang="en-US">
                          <a:solidFill>
                            <a:srgbClr val="1C2333"/>
                          </a:solidFill>
                          <a:latin typeface="Segoe UI"/>
                        </a:rPr>
                        <a:t>got up</a:t>
                      </a:r>
                    </a:p>
                  </a:txBody>
                  <a:tcPr>
                    <a:solidFill>
                      <a:srgbClr val="EEF3FA"/>
                    </a:solidFill>
                  </a:tcPr>
                </a:tc>
              </a:tr>
              <a:tr h="347472">
                <a:tc>
                  <a:txBody>
                    <a:bodyPr/>
                    <a:lstStyle/>
                    <a:p>
                      <a:pPr rtl="1" algn="r"/>
                      <a:r>
                        <a:rPr sz="1600" b="0" i="0" lang="ar-EG" altLang="en-US">
                          <a:solidFill>
                            <a:srgbClr val="1C2333"/>
                          </a:solidFill>
                          <a:latin typeface="Traditional Arabic"/>
                        </a:rPr>
                        <a:t>يرتدي</a:t>
                      </a:r>
                    </a:p>
                  </a:txBody>
                  <a:tcPr>
                    <a:solidFill>
                      <a:srgbClr val="FFFFFF"/>
                    </a:solidFill>
                  </a:tcPr>
                </a:tc>
                <a:tc>
                  <a:txBody>
                    <a:bodyPr/>
                    <a:lstStyle/>
                    <a:p>
                      <a:pPr rtl="0" algn="l"/>
                      <a:r>
                        <a:rPr sz="1300" b="0" i="0" lang="en-US">
                          <a:solidFill>
                            <a:srgbClr val="1C2333"/>
                          </a:solidFill>
                          <a:latin typeface="Segoe UI"/>
                        </a:rPr>
                        <a:t>wear</a:t>
                      </a:r>
                    </a:p>
                  </a:txBody>
                  <a:tcPr>
                    <a:solidFill>
                      <a:srgbClr val="FFFFFF"/>
                    </a:solidFill>
                  </a:tcPr>
                </a:tc>
                <a:tc>
                  <a:txBody>
                    <a:bodyPr/>
                    <a:lstStyle/>
                    <a:p>
                      <a:pPr rtl="0" algn="l"/>
                      <a:r>
                        <a:rPr sz="1300" b="0" i="0" lang="en-US">
                          <a:solidFill>
                            <a:srgbClr val="1C2333"/>
                          </a:solidFill>
                          <a:latin typeface="Segoe UI"/>
                        </a:rPr>
                        <a:t>wore</a:t>
                      </a:r>
                    </a:p>
                  </a:txBody>
                  <a:tcPr>
                    <a:solidFill>
                      <a:srgbClr val="FFFFFF"/>
                    </a:solidFill>
                  </a:tcPr>
                </a:tc>
                <a:tc>
                  <a:txBody>
                    <a:bodyPr/>
                    <a:lstStyle/>
                    <a:p>
                      <a:pPr rtl="0" algn="l"/>
                      <a:r>
                        <a:rPr sz="1300" b="0" i="0" lang="en-US">
                          <a:solidFill>
                            <a:srgbClr val="1C2333"/>
                          </a:solidFill>
                          <a:latin typeface="Segoe UI"/>
                        </a:rPr>
                        <a:t>worn</a:t>
                      </a:r>
                    </a:p>
                  </a:txBody>
                  <a:tcPr>
                    <a:solidFill>
                      <a:srgbClr val="FFFFFF"/>
                    </a:solidFill>
                  </a:tcPr>
                </a:tc>
              </a:tr>
              <a:tr h="347472">
                <a:tc>
                  <a:txBody>
                    <a:bodyPr/>
                    <a:lstStyle/>
                    <a:p>
                      <a:pPr rtl="1" algn="r"/>
                      <a:r>
                        <a:rPr sz="1600" b="0" i="0" lang="ar-EG" altLang="en-US">
                          <a:solidFill>
                            <a:srgbClr val="1C2333"/>
                          </a:solidFill>
                          <a:latin typeface="Traditional Arabic"/>
                        </a:rPr>
                        <a:t>ينسى</a:t>
                      </a:r>
                    </a:p>
                  </a:txBody>
                  <a:tcPr>
                    <a:solidFill>
                      <a:srgbClr val="EEF3FA"/>
                    </a:solidFill>
                  </a:tcPr>
                </a:tc>
                <a:tc>
                  <a:txBody>
                    <a:bodyPr/>
                    <a:lstStyle/>
                    <a:p>
                      <a:pPr rtl="0" algn="l"/>
                      <a:r>
                        <a:rPr sz="1300" b="0" i="0" lang="en-US">
                          <a:solidFill>
                            <a:srgbClr val="1C2333"/>
                          </a:solidFill>
                          <a:latin typeface="Segoe UI"/>
                        </a:rPr>
                        <a:t>forget</a:t>
                      </a:r>
                    </a:p>
                  </a:txBody>
                  <a:tcPr>
                    <a:solidFill>
                      <a:srgbClr val="EEF3FA"/>
                    </a:solidFill>
                  </a:tcPr>
                </a:tc>
                <a:tc>
                  <a:txBody>
                    <a:bodyPr/>
                    <a:lstStyle/>
                    <a:p>
                      <a:pPr rtl="0" algn="l"/>
                      <a:r>
                        <a:rPr sz="1300" b="0" i="0" lang="en-US">
                          <a:solidFill>
                            <a:srgbClr val="1C2333"/>
                          </a:solidFill>
                          <a:latin typeface="Segoe UI"/>
                        </a:rPr>
                        <a:t>forgot</a:t>
                      </a:r>
                    </a:p>
                  </a:txBody>
                  <a:tcPr>
                    <a:solidFill>
                      <a:srgbClr val="EEF3FA"/>
                    </a:solidFill>
                  </a:tcPr>
                </a:tc>
                <a:tc>
                  <a:txBody>
                    <a:bodyPr/>
                    <a:lstStyle/>
                    <a:p>
                      <a:pPr rtl="0" algn="l"/>
                      <a:r>
                        <a:rPr sz="1300" b="0" i="0" lang="en-US">
                          <a:solidFill>
                            <a:srgbClr val="1C2333"/>
                          </a:solidFill>
                          <a:latin typeface="Segoe UI"/>
                        </a:rPr>
                        <a:t>forgotten</a:t>
                      </a:r>
                    </a:p>
                  </a:txBody>
                  <a:tcPr>
                    <a:solidFill>
                      <a:srgbClr val="EEF3FA"/>
                    </a:solidFill>
                  </a:tcPr>
                </a:tc>
              </a:tr>
              <a:tr h="347472">
                <a:tc>
                  <a:txBody>
                    <a:bodyPr/>
                    <a:lstStyle/>
                    <a:p>
                      <a:pPr rtl="1" algn="r"/>
                      <a:r>
                        <a:rPr sz="1600" b="0" i="0" lang="ar-EG" altLang="en-US">
                          <a:solidFill>
                            <a:srgbClr val="1C2333"/>
                          </a:solidFill>
                          <a:latin typeface="Traditional Arabic"/>
                        </a:rPr>
                        <a:t>يقول</a:t>
                      </a:r>
                    </a:p>
                  </a:txBody>
                  <a:tcPr>
                    <a:solidFill>
                      <a:srgbClr val="FFFFFF"/>
                    </a:solidFill>
                  </a:tcPr>
                </a:tc>
                <a:tc>
                  <a:txBody>
                    <a:bodyPr/>
                    <a:lstStyle/>
                    <a:p>
                      <a:pPr rtl="0" algn="l"/>
                      <a:r>
                        <a:rPr sz="1300" b="0" i="0" lang="en-US">
                          <a:solidFill>
                            <a:srgbClr val="1C2333"/>
                          </a:solidFill>
                          <a:latin typeface="Segoe UI"/>
                        </a:rPr>
                        <a:t>say</a:t>
                      </a:r>
                    </a:p>
                  </a:txBody>
                  <a:tcPr>
                    <a:solidFill>
                      <a:srgbClr val="FFFFFF"/>
                    </a:solidFill>
                  </a:tcPr>
                </a:tc>
                <a:tc>
                  <a:txBody>
                    <a:bodyPr/>
                    <a:lstStyle/>
                    <a:p>
                      <a:pPr rtl="0" algn="l"/>
                      <a:r>
                        <a:rPr sz="1300" b="0" i="0" lang="en-US">
                          <a:solidFill>
                            <a:srgbClr val="1C2333"/>
                          </a:solidFill>
                          <a:latin typeface="Segoe UI"/>
                        </a:rPr>
                        <a:t>said</a:t>
                      </a:r>
                    </a:p>
                  </a:txBody>
                  <a:tcPr>
                    <a:solidFill>
                      <a:srgbClr val="FFFFFF"/>
                    </a:solidFill>
                  </a:tcPr>
                </a:tc>
                <a:tc>
                  <a:txBody>
                    <a:bodyPr/>
                    <a:lstStyle/>
                    <a:p>
                      <a:pPr rtl="0" algn="l"/>
                      <a:r>
                        <a:rPr sz="1300" b="0" i="0" lang="en-US">
                          <a:solidFill>
                            <a:srgbClr val="1C2333"/>
                          </a:solidFill>
                          <a:latin typeface="Segoe UI"/>
                        </a:rPr>
                        <a:t>said</a:t>
                      </a:r>
                    </a:p>
                  </a:txBody>
                  <a:tcPr>
                    <a:solidFill>
                      <a:srgbClr val="FFFFFF"/>
                    </a:solidFill>
                  </a:tcPr>
                </a:tc>
              </a:tr>
              <a:tr h="347472">
                <a:tc>
                  <a:txBody>
                    <a:bodyPr/>
                    <a:lstStyle/>
                    <a:p>
                      <a:pPr rtl="1" algn="r"/>
                      <a:r>
                        <a:rPr sz="1600" b="0" i="0" lang="ar-EG" altLang="en-US">
                          <a:solidFill>
                            <a:srgbClr val="1C2333"/>
                          </a:solidFill>
                          <a:latin typeface="Traditional Arabic"/>
                        </a:rPr>
                        <a:t>يعرف</a:t>
                      </a:r>
                    </a:p>
                  </a:txBody>
                  <a:tcPr>
                    <a:solidFill>
                      <a:srgbClr val="EEF3FA"/>
                    </a:solidFill>
                  </a:tcPr>
                </a:tc>
                <a:tc>
                  <a:txBody>
                    <a:bodyPr/>
                    <a:lstStyle/>
                    <a:p>
                      <a:pPr rtl="0" algn="l"/>
                      <a:r>
                        <a:rPr sz="1300" b="0" i="0" lang="en-US">
                          <a:solidFill>
                            <a:srgbClr val="1C2333"/>
                          </a:solidFill>
                          <a:latin typeface="Segoe UI"/>
                        </a:rPr>
                        <a:t>know</a:t>
                      </a:r>
                    </a:p>
                  </a:txBody>
                  <a:tcPr>
                    <a:solidFill>
                      <a:srgbClr val="EEF3FA"/>
                    </a:solidFill>
                  </a:tcPr>
                </a:tc>
                <a:tc>
                  <a:txBody>
                    <a:bodyPr/>
                    <a:lstStyle/>
                    <a:p>
                      <a:pPr rtl="0" algn="l"/>
                      <a:r>
                        <a:rPr sz="1300" b="0" i="0" lang="en-US">
                          <a:solidFill>
                            <a:srgbClr val="1C2333"/>
                          </a:solidFill>
                          <a:latin typeface="Segoe UI"/>
                        </a:rPr>
                        <a:t>knew</a:t>
                      </a:r>
                    </a:p>
                  </a:txBody>
                  <a:tcPr>
                    <a:solidFill>
                      <a:srgbClr val="EEF3FA"/>
                    </a:solidFill>
                  </a:tcPr>
                </a:tc>
                <a:tc>
                  <a:txBody>
                    <a:bodyPr/>
                    <a:lstStyle/>
                    <a:p>
                      <a:pPr rtl="0" algn="l"/>
                      <a:r>
                        <a:rPr sz="1300" b="0" i="0" lang="en-US">
                          <a:solidFill>
                            <a:srgbClr val="1C2333"/>
                          </a:solidFill>
                          <a:latin typeface="Segoe UI"/>
                        </a:rPr>
                        <a:t>known</a:t>
                      </a:r>
                    </a:p>
                  </a:txBody>
                  <a:tcPr>
                    <a:solidFill>
                      <a:srgbClr val="EEF3FA"/>
                    </a:solidFill>
                  </a:tcPr>
                </a:tc>
              </a:tr>
            </a:tbl>
          </a:graphicData>
        </a:graphic>
      </p:graphicFrame>
    </p:spTree>
  </p:cSld>
  <p:clrMapOvr>
    <a:masterClrMapping/>
  </p:clrMapOvr>
  <p:transition spd="med">
    <p:wedge/>
  </p:transition>
</p:sld>
</file>

<file path=ppt/slides/slide4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 (3)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يبني</a:t>
                      </a:r>
                    </a:p>
                  </a:txBody>
                  <a:tcPr>
                    <a:solidFill>
                      <a:srgbClr val="FFFFFF"/>
                    </a:solidFill>
                  </a:tcPr>
                </a:tc>
                <a:tc>
                  <a:txBody>
                    <a:bodyPr/>
                    <a:lstStyle/>
                    <a:p>
                      <a:pPr rtl="0" algn="l"/>
                      <a:r>
                        <a:rPr sz="1300" b="0" i="0" lang="en-US">
                          <a:solidFill>
                            <a:srgbClr val="1C2333"/>
                          </a:solidFill>
                          <a:latin typeface="Segoe UI"/>
                        </a:rPr>
                        <a:t>build</a:t>
                      </a:r>
                    </a:p>
                  </a:txBody>
                  <a:tcPr>
                    <a:solidFill>
                      <a:srgbClr val="FFFFFF"/>
                    </a:solidFill>
                  </a:tcPr>
                </a:tc>
                <a:tc>
                  <a:txBody>
                    <a:bodyPr/>
                    <a:lstStyle/>
                    <a:p>
                      <a:pPr rtl="0" algn="l"/>
                      <a:r>
                        <a:rPr sz="1300" b="0" i="0" lang="en-US">
                          <a:solidFill>
                            <a:srgbClr val="1C2333"/>
                          </a:solidFill>
                          <a:latin typeface="Segoe UI"/>
                        </a:rPr>
                        <a:t>built</a:t>
                      </a:r>
                    </a:p>
                  </a:txBody>
                  <a:tcPr>
                    <a:solidFill>
                      <a:srgbClr val="FFFFFF"/>
                    </a:solidFill>
                  </a:tcPr>
                </a:tc>
                <a:tc>
                  <a:txBody>
                    <a:bodyPr/>
                    <a:lstStyle/>
                    <a:p>
                      <a:pPr rtl="0" algn="l"/>
                      <a:r>
                        <a:rPr sz="1300" b="0" i="0" lang="en-US">
                          <a:solidFill>
                            <a:srgbClr val="1C2333"/>
                          </a:solidFill>
                          <a:latin typeface="Segoe UI"/>
                        </a:rPr>
                        <a:t>built</a:t>
                      </a:r>
                    </a:p>
                  </a:txBody>
                  <a:tcPr>
                    <a:solidFill>
                      <a:srgbClr val="FFFFFF"/>
                    </a:solidFill>
                  </a:tcPr>
                </a:tc>
              </a:tr>
              <a:tr h="347472">
                <a:tc>
                  <a:txBody>
                    <a:bodyPr/>
                    <a:lstStyle/>
                    <a:p>
                      <a:pPr rtl="1" algn="r"/>
                      <a:r>
                        <a:rPr sz="1600" b="0" i="0" lang="ar-EG" altLang="en-US">
                          <a:solidFill>
                            <a:srgbClr val="1C2333"/>
                          </a:solidFill>
                          <a:latin typeface="Traditional Arabic"/>
                        </a:rPr>
                        <a:t>يحفظ</a:t>
                      </a:r>
                    </a:p>
                  </a:txBody>
                  <a:tcPr>
                    <a:solidFill>
                      <a:srgbClr val="EEF3FA"/>
                    </a:solidFill>
                  </a:tcPr>
                </a:tc>
                <a:tc>
                  <a:txBody>
                    <a:bodyPr/>
                    <a:lstStyle/>
                    <a:p>
                      <a:pPr rtl="0" algn="l"/>
                      <a:r>
                        <a:rPr sz="1300" b="0" i="0" lang="en-US">
                          <a:solidFill>
                            <a:srgbClr val="1C2333"/>
                          </a:solidFill>
                          <a:latin typeface="Segoe UI"/>
                        </a:rPr>
                        <a:t>keep</a:t>
                      </a:r>
                    </a:p>
                  </a:txBody>
                  <a:tcPr>
                    <a:solidFill>
                      <a:srgbClr val="EEF3FA"/>
                    </a:solidFill>
                  </a:tcPr>
                </a:tc>
                <a:tc>
                  <a:txBody>
                    <a:bodyPr/>
                    <a:lstStyle/>
                    <a:p>
                      <a:pPr rtl="0" algn="l"/>
                      <a:r>
                        <a:rPr sz="1300" b="0" i="0" lang="en-US">
                          <a:solidFill>
                            <a:srgbClr val="1C2333"/>
                          </a:solidFill>
                          <a:latin typeface="Segoe UI"/>
                        </a:rPr>
                        <a:t>kept</a:t>
                      </a:r>
                    </a:p>
                  </a:txBody>
                  <a:tcPr>
                    <a:solidFill>
                      <a:srgbClr val="EEF3FA"/>
                    </a:solidFill>
                  </a:tcPr>
                </a:tc>
                <a:tc>
                  <a:txBody>
                    <a:bodyPr/>
                    <a:lstStyle/>
                    <a:p>
                      <a:pPr rtl="0" algn="l"/>
                      <a:r>
                        <a:rPr sz="1300" b="0" i="0" lang="en-US">
                          <a:solidFill>
                            <a:srgbClr val="1C2333"/>
                          </a:solidFill>
                          <a:latin typeface="Segoe UI"/>
                        </a:rPr>
                        <a:t>kept</a:t>
                      </a:r>
                    </a:p>
                  </a:txBody>
                  <a:tcPr>
                    <a:solidFill>
                      <a:srgbClr val="EEF3FA"/>
                    </a:solidFill>
                  </a:tcPr>
                </a:tc>
              </a:tr>
              <a:tr h="347472">
                <a:tc>
                  <a:txBody>
                    <a:bodyPr/>
                    <a:lstStyle/>
                    <a:p>
                      <a:pPr rtl="1" algn="r"/>
                      <a:r>
                        <a:rPr sz="1600" b="0" i="0" lang="ar-EG" altLang="en-US">
                          <a:solidFill>
                            <a:srgbClr val="1C2333"/>
                          </a:solidFill>
                          <a:latin typeface="Traditional Arabic"/>
                        </a:rPr>
                        <a:t>ينام</a:t>
                      </a:r>
                    </a:p>
                  </a:txBody>
                  <a:tcPr>
                    <a:solidFill>
                      <a:srgbClr val="FFFFFF"/>
                    </a:solidFill>
                  </a:tcPr>
                </a:tc>
                <a:tc>
                  <a:txBody>
                    <a:bodyPr/>
                    <a:lstStyle/>
                    <a:p>
                      <a:pPr rtl="0" algn="l"/>
                      <a:r>
                        <a:rPr sz="1300" b="0" i="0" lang="en-US">
                          <a:solidFill>
                            <a:srgbClr val="1C2333"/>
                          </a:solidFill>
                          <a:latin typeface="Segoe UI"/>
                        </a:rPr>
                        <a:t>sleep</a:t>
                      </a:r>
                    </a:p>
                  </a:txBody>
                  <a:tcPr>
                    <a:solidFill>
                      <a:srgbClr val="FFFFFF"/>
                    </a:solidFill>
                  </a:tcPr>
                </a:tc>
                <a:tc>
                  <a:txBody>
                    <a:bodyPr/>
                    <a:lstStyle/>
                    <a:p>
                      <a:pPr rtl="0" algn="l"/>
                      <a:r>
                        <a:rPr sz="1300" b="0" i="0" lang="en-US">
                          <a:solidFill>
                            <a:srgbClr val="1C2333"/>
                          </a:solidFill>
                          <a:latin typeface="Segoe UI"/>
                        </a:rPr>
                        <a:t>slept</a:t>
                      </a:r>
                    </a:p>
                  </a:txBody>
                  <a:tcPr>
                    <a:solidFill>
                      <a:srgbClr val="FFFFFF"/>
                    </a:solidFill>
                  </a:tcPr>
                </a:tc>
                <a:tc>
                  <a:txBody>
                    <a:bodyPr/>
                    <a:lstStyle/>
                    <a:p>
                      <a:pPr rtl="0" algn="l"/>
                      <a:r>
                        <a:rPr sz="1300" b="0" i="0" lang="en-US">
                          <a:solidFill>
                            <a:srgbClr val="1C2333"/>
                          </a:solidFill>
                          <a:latin typeface="Segoe UI"/>
                        </a:rPr>
                        <a:t>slept</a:t>
                      </a:r>
                    </a:p>
                  </a:txBody>
                  <a:tcPr>
                    <a:solidFill>
                      <a:srgbClr val="FFFFFF"/>
                    </a:solidFill>
                  </a:tcPr>
                </a:tc>
              </a:tr>
              <a:tr h="347472">
                <a:tc>
                  <a:txBody>
                    <a:bodyPr/>
                    <a:lstStyle/>
                    <a:p>
                      <a:pPr rtl="1" algn="r"/>
                      <a:r>
                        <a:rPr sz="1600" b="0" i="0" lang="ar-EG" altLang="en-US">
                          <a:solidFill>
                            <a:srgbClr val="1C2333"/>
                          </a:solidFill>
                          <a:latin typeface="Traditional Arabic"/>
                        </a:rPr>
                        <a:t>يأتي</a:t>
                      </a:r>
                    </a:p>
                  </a:txBody>
                  <a:tcPr>
                    <a:solidFill>
                      <a:srgbClr val="EEF3FA"/>
                    </a:solidFill>
                  </a:tcPr>
                </a:tc>
                <a:tc>
                  <a:txBody>
                    <a:bodyPr/>
                    <a:lstStyle/>
                    <a:p>
                      <a:pPr rtl="0" algn="l"/>
                      <a:r>
                        <a:rPr sz="1300" b="0" i="0" lang="en-US">
                          <a:solidFill>
                            <a:srgbClr val="1C2333"/>
                          </a:solidFill>
                          <a:latin typeface="Segoe UI"/>
                        </a:rPr>
                        <a:t>come</a:t>
                      </a:r>
                    </a:p>
                  </a:txBody>
                  <a:tcPr>
                    <a:solidFill>
                      <a:srgbClr val="EEF3FA"/>
                    </a:solidFill>
                  </a:tcPr>
                </a:tc>
                <a:tc>
                  <a:txBody>
                    <a:bodyPr/>
                    <a:lstStyle/>
                    <a:p>
                      <a:pPr rtl="0" algn="l"/>
                      <a:r>
                        <a:rPr sz="1300" b="0" i="0" lang="en-US">
                          <a:solidFill>
                            <a:srgbClr val="1C2333"/>
                          </a:solidFill>
                          <a:latin typeface="Segoe UI"/>
                        </a:rPr>
                        <a:t>came</a:t>
                      </a:r>
                    </a:p>
                  </a:txBody>
                  <a:tcPr>
                    <a:solidFill>
                      <a:srgbClr val="EEF3FA"/>
                    </a:solidFill>
                  </a:tcPr>
                </a:tc>
                <a:tc>
                  <a:txBody>
                    <a:bodyPr/>
                    <a:lstStyle/>
                    <a:p>
                      <a:pPr rtl="0" algn="l"/>
                      <a:r>
                        <a:rPr sz="1300" b="0" i="0" lang="en-US">
                          <a:solidFill>
                            <a:srgbClr val="1C2333"/>
                          </a:solidFill>
                          <a:latin typeface="Segoe UI"/>
                        </a:rPr>
                        <a:t>come</a:t>
                      </a:r>
                    </a:p>
                  </a:txBody>
                  <a:tcPr>
                    <a:solidFill>
                      <a:srgbClr val="EEF3FA"/>
                    </a:solidFill>
                  </a:tcPr>
                </a:tc>
              </a:tr>
              <a:tr h="347472">
                <a:tc>
                  <a:txBody>
                    <a:bodyPr/>
                    <a:lstStyle/>
                    <a:p>
                      <a:pPr rtl="1" algn="r"/>
                      <a:r>
                        <a:rPr sz="1600" b="0" i="0" lang="ar-EG" altLang="en-US">
                          <a:solidFill>
                            <a:srgbClr val="1C2333"/>
                          </a:solidFill>
                          <a:latin typeface="Traditional Arabic"/>
                        </a:rPr>
                        <a:t>يلحق</a:t>
                      </a:r>
                    </a:p>
                  </a:txBody>
                  <a:tcPr>
                    <a:solidFill>
                      <a:srgbClr val="FFFFFF"/>
                    </a:solidFill>
                  </a:tcPr>
                </a:tc>
                <a:tc>
                  <a:txBody>
                    <a:bodyPr/>
                    <a:lstStyle/>
                    <a:p>
                      <a:pPr rtl="0" algn="l"/>
                      <a:r>
                        <a:rPr sz="1300" b="0" i="0" lang="en-US">
                          <a:solidFill>
                            <a:srgbClr val="1C2333"/>
                          </a:solidFill>
                          <a:latin typeface="Segoe UI"/>
                        </a:rPr>
                        <a:t>catch</a:t>
                      </a:r>
                    </a:p>
                  </a:txBody>
                  <a:tcPr>
                    <a:solidFill>
                      <a:srgbClr val="FFFFFF"/>
                    </a:solidFill>
                  </a:tcPr>
                </a:tc>
                <a:tc>
                  <a:txBody>
                    <a:bodyPr/>
                    <a:lstStyle/>
                    <a:p>
                      <a:pPr rtl="0" algn="l"/>
                      <a:r>
                        <a:rPr sz="1300" b="0" i="0" lang="en-US">
                          <a:solidFill>
                            <a:srgbClr val="1C2333"/>
                          </a:solidFill>
                          <a:latin typeface="Segoe UI"/>
                        </a:rPr>
                        <a:t>caught</a:t>
                      </a:r>
                    </a:p>
                  </a:txBody>
                  <a:tcPr>
                    <a:solidFill>
                      <a:srgbClr val="FFFFFF"/>
                    </a:solidFill>
                  </a:tcPr>
                </a:tc>
                <a:tc>
                  <a:txBody>
                    <a:bodyPr/>
                    <a:lstStyle/>
                    <a:p>
                      <a:pPr rtl="0" algn="l"/>
                      <a:r>
                        <a:rPr sz="1300" b="0" i="0" lang="en-US">
                          <a:solidFill>
                            <a:srgbClr val="1C2333"/>
                          </a:solidFill>
                          <a:latin typeface="Segoe UI"/>
                        </a:rPr>
                        <a:t>caught</a:t>
                      </a:r>
                    </a:p>
                  </a:txBody>
                  <a:tcPr>
                    <a:solidFill>
                      <a:srgbClr val="FFFFFF"/>
                    </a:solidFill>
                  </a:tcPr>
                </a:tc>
              </a:tr>
              <a:tr h="347472">
                <a:tc>
                  <a:txBody>
                    <a:bodyPr/>
                    <a:lstStyle/>
                    <a:p>
                      <a:pPr rtl="1" algn="r"/>
                      <a:r>
                        <a:rPr sz="1600" b="0" i="0" lang="ar-EG" altLang="en-US">
                          <a:solidFill>
                            <a:srgbClr val="1C2333"/>
                          </a:solidFill>
                          <a:latin typeface="Traditional Arabic"/>
                        </a:rPr>
                        <a:t>ينمو</a:t>
                      </a:r>
                    </a:p>
                  </a:txBody>
                  <a:tcPr>
                    <a:solidFill>
                      <a:srgbClr val="EEF3FA"/>
                    </a:solidFill>
                  </a:tcPr>
                </a:tc>
                <a:tc>
                  <a:txBody>
                    <a:bodyPr/>
                    <a:lstStyle/>
                    <a:p>
                      <a:pPr rtl="0" algn="l"/>
                      <a:r>
                        <a:rPr sz="1300" b="0" i="0" lang="en-US">
                          <a:solidFill>
                            <a:srgbClr val="1C2333"/>
                          </a:solidFill>
                          <a:latin typeface="Segoe UI"/>
                        </a:rPr>
                        <a:t>grow</a:t>
                      </a:r>
                    </a:p>
                  </a:txBody>
                  <a:tcPr>
                    <a:solidFill>
                      <a:srgbClr val="EEF3FA"/>
                    </a:solidFill>
                  </a:tcPr>
                </a:tc>
                <a:tc>
                  <a:txBody>
                    <a:bodyPr/>
                    <a:lstStyle/>
                    <a:p>
                      <a:pPr rtl="0" algn="l"/>
                      <a:r>
                        <a:rPr sz="1300" b="0" i="0" lang="en-US">
                          <a:solidFill>
                            <a:srgbClr val="1C2333"/>
                          </a:solidFill>
                          <a:latin typeface="Segoe UI"/>
                        </a:rPr>
                        <a:t>grew</a:t>
                      </a:r>
                    </a:p>
                  </a:txBody>
                  <a:tcPr>
                    <a:solidFill>
                      <a:srgbClr val="EEF3FA"/>
                    </a:solidFill>
                  </a:tcPr>
                </a:tc>
                <a:tc>
                  <a:txBody>
                    <a:bodyPr/>
                    <a:lstStyle/>
                    <a:p>
                      <a:pPr rtl="0" algn="l"/>
                      <a:r>
                        <a:rPr sz="1300" b="0" i="0" lang="en-US">
                          <a:solidFill>
                            <a:srgbClr val="1C2333"/>
                          </a:solidFill>
                          <a:latin typeface="Segoe UI"/>
                        </a:rPr>
                        <a:t>grown</a:t>
                      </a:r>
                    </a:p>
                  </a:txBody>
                  <a:tcPr>
                    <a:solidFill>
                      <a:srgbClr val="EEF3FA"/>
                    </a:solidFill>
                  </a:tcPr>
                </a:tc>
              </a:tr>
              <a:tr h="347472">
                <a:tc>
                  <a:txBody>
                    <a:bodyPr/>
                    <a:lstStyle/>
                    <a:p>
                      <a:pPr rtl="1" algn="r"/>
                      <a:r>
                        <a:rPr sz="1600" b="0" i="0" lang="ar-EG" altLang="en-US">
                          <a:solidFill>
                            <a:srgbClr val="1C2333"/>
                          </a:solidFill>
                          <a:latin typeface="Traditional Arabic"/>
                        </a:rPr>
                        <a:t>يدفع</a:t>
                      </a:r>
                    </a:p>
                  </a:txBody>
                  <a:tcPr>
                    <a:solidFill>
                      <a:srgbClr val="FFFFFF"/>
                    </a:solidFill>
                  </a:tcPr>
                </a:tc>
                <a:tc>
                  <a:txBody>
                    <a:bodyPr/>
                    <a:lstStyle/>
                    <a:p>
                      <a:pPr rtl="0" algn="l"/>
                      <a:r>
                        <a:rPr sz="1300" b="0" i="0" lang="en-US">
                          <a:solidFill>
                            <a:srgbClr val="1C2333"/>
                          </a:solidFill>
                          <a:latin typeface="Segoe UI"/>
                        </a:rPr>
                        <a:t>pay</a:t>
                      </a:r>
                    </a:p>
                  </a:txBody>
                  <a:tcPr>
                    <a:solidFill>
                      <a:srgbClr val="FFFFFF"/>
                    </a:solidFill>
                  </a:tcPr>
                </a:tc>
                <a:tc>
                  <a:txBody>
                    <a:bodyPr/>
                    <a:lstStyle/>
                    <a:p>
                      <a:pPr rtl="0" algn="l"/>
                      <a:r>
                        <a:rPr sz="1300" b="0" i="0" lang="en-US">
                          <a:solidFill>
                            <a:srgbClr val="1C2333"/>
                          </a:solidFill>
                          <a:latin typeface="Segoe UI"/>
                        </a:rPr>
                        <a:t>paid</a:t>
                      </a:r>
                    </a:p>
                  </a:txBody>
                  <a:tcPr>
                    <a:solidFill>
                      <a:srgbClr val="FFFFFF"/>
                    </a:solidFill>
                  </a:tcPr>
                </a:tc>
                <a:tc>
                  <a:txBody>
                    <a:bodyPr/>
                    <a:lstStyle/>
                    <a:p>
                      <a:pPr rtl="0" algn="l"/>
                      <a:r>
                        <a:rPr sz="1300" b="0" i="0" lang="en-US">
                          <a:solidFill>
                            <a:srgbClr val="1C2333"/>
                          </a:solidFill>
                          <a:latin typeface="Segoe UI"/>
                        </a:rPr>
                        <a:t>paid</a:t>
                      </a:r>
                    </a:p>
                  </a:txBody>
                  <a:tcPr>
                    <a:solidFill>
                      <a:srgbClr val="FFFFFF"/>
                    </a:solidFill>
                  </a:tcPr>
                </a:tc>
              </a:tr>
              <a:tr h="347472">
                <a:tc>
                  <a:txBody>
                    <a:bodyPr/>
                    <a:lstStyle/>
                    <a:p>
                      <a:pPr rtl="1" algn="r"/>
                      <a:r>
                        <a:rPr sz="1600" b="0" i="0" lang="ar-EG" altLang="en-US">
                          <a:solidFill>
                            <a:srgbClr val="1C2333"/>
                          </a:solidFill>
                          <a:latin typeface="Traditional Arabic"/>
                        </a:rPr>
                        <a:t>يجد</a:t>
                      </a:r>
                    </a:p>
                  </a:txBody>
                  <a:tcPr>
                    <a:solidFill>
                      <a:srgbClr val="EEF3FA"/>
                    </a:solidFill>
                  </a:tcPr>
                </a:tc>
                <a:tc>
                  <a:txBody>
                    <a:bodyPr/>
                    <a:lstStyle/>
                    <a:p>
                      <a:pPr rtl="0" algn="l"/>
                      <a:r>
                        <a:rPr sz="1300" b="0" i="0" lang="en-US">
                          <a:solidFill>
                            <a:srgbClr val="1C2333"/>
                          </a:solidFill>
                          <a:latin typeface="Segoe UI"/>
                        </a:rPr>
                        <a:t>find</a:t>
                      </a:r>
                    </a:p>
                  </a:txBody>
                  <a:tcPr>
                    <a:solidFill>
                      <a:srgbClr val="EEF3FA"/>
                    </a:solidFill>
                  </a:tcPr>
                </a:tc>
                <a:tc>
                  <a:txBody>
                    <a:bodyPr/>
                    <a:lstStyle/>
                    <a:p>
                      <a:pPr rtl="0" algn="l"/>
                      <a:r>
                        <a:rPr sz="1300" b="0" i="0" lang="en-US">
                          <a:solidFill>
                            <a:srgbClr val="1C2333"/>
                          </a:solidFill>
                          <a:latin typeface="Segoe UI"/>
                        </a:rPr>
                        <a:t>found</a:t>
                      </a:r>
                    </a:p>
                  </a:txBody>
                  <a:tcPr>
                    <a:solidFill>
                      <a:srgbClr val="EEF3FA"/>
                    </a:solidFill>
                  </a:tcPr>
                </a:tc>
                <a:tc>
                  <a:txBody>
                    <a:bodyPr/>
                    <a:lstStyle/>
                    <a:p>
                      <a:pPr rtl="0" algn="l"/>
                      <a:r>
                        <a:rPr sz="1300" b="0" i="0" lang="en-US">
                          <a:solidFill>
                            <a:srgbClr val="1C2333"/>
                          </a:solidFill>
                          <a:latin typeface="Segoe UI"/>
                        </a:rPr>
                        <a:t>found</a:t>
                      </a:r>
                    </a:p>
                  </a:txBody>
                  <a:tcPr>
                    <a:solidFill>
                      <a:srgbClr val="EEF3FA"/>
                    </a:solidFill>
                  </a:tcPr>
                </a:tc>
              </a:tr>
              <a:tr h="347472">
                <a:tc>
                  <a:txBody>
                    <a:bodyPr/>
                    <a:lstStyle/>
                    <a:p>
                      <a:pPr rtl="1" algn="r"/>
                      <a:r>
                        <a:rPr sz="1600" b="0" i="0" lang="ar-EG" altLang="en-US">
                          <a:solidFill>
                            <a:srgbClr val="1C2333"/>
                          </a:solidFill>
                          <a:latin typeface="Traditional Arabic"/>
                        </a:rPr>
                        <a:t>يقف</a:t>
                      </a:r>
                    </a:p>
                  </a:txBody>
                  <a:tcPr>
                    <a:solidFill>
                      <a:srgbClr val="FFFFFF"/>
                    </a:solidFill>
                  </a:tcPr>
                </a:tc>
                <a:tc>
                  <a:txBody>
                    <a:bodyPr/>
                    <a:lstStyle/>
                    <a:p>
                      <a:pPr rtl="0" algn="l"/>
                      <a:r>
                        <a:rPr sz="1300" b="0" i="0" lang="en-US">
                          <a:solidFill>
                            <a:srgbClr val="1C2333"/>
                          </a:solidFill>
                          <a:latin typeface="Segoe UI"/>
                        </a:rPr>
                        <a:t>stand</a:t>
                      </a:r>
                    </a:p>
                  </a:txBody>
                  <a:tcPr>
                    <a:solidFill>
                      <a:srgbClr val="FFFFFF"/>
                    </a:solidFill>
                  </a:tcPr>
                </a:tc>
                <a:tc>
                  <a:txBody>
                    <a:bodyPr/>
                    <a:lstStyle/>
                    <a:p>
                      <a:pPr rtl="0" algn="l"/>
                      <a:r>
                        <a:rPr sz="1300" b="0" i="0" lang="en-US">
                          <a:solidFill>
                            <a:srgbClr val="1C2333"/>
                          </a:solidFill>
                          <a:latin typeface="Segoe UI"/>
                        </a:rPr>
                        <a:t>stood</a:t>
                      </a:r>
                    </a:p>
                  </a:txBody>
                  <a:tcPr>
                    <a:solidFill>
                      <a:srgbClr val="FFFFFF"/>
                    </a:solidFill>
                  </a:tcPr>
                </a:tc>
                <a:tc>
                  <a:txBody>
                    <a:bodyPr/>
                    <a:lstStyle/>
                    <a:p>
                      <a:pPr rtl="0" algn="l"/>
                      <a:r>
                        <a:rPr sz="1300" b="0" i="0" lang="en-US">
                          <a:solidFill>
                            <a:srgbClr val="1C2333"/>
                          </a:solidFill>
                          <a:latin typeface="Segoe UI"/>
                        </a:rPr>
                        <a:t>stood</a:t>
                      </a:r>
                    </a:p>
                  </a:txBody>
                  <a:tcPr>
                    <a:solidFill>
                      <a:srgbClr val="FFFFFF"/>
                    </a:solidFill>
                  </a:tcPr>
                </a:tc>
              </a:tr>
              <a:tr h="347472">
                <a:tc>
                  <a:txBody>
                    <a:bodyPr/>
                    <a:lstStyle/>
                    <a:p>
                      <a:pPr rtl="1" algn="r"/>
                      <a:r>
                        <a:rPr sz="1600" b="0" i="0" lang="ar-EG" altLang="en-US">
                          <a:solidFill>
                            <a:srgbClr val="1C2333"/>
                          </a:solidFill>
                          <a:latin typeface="Traditional Arabic"/>
                        </a:rPr>
                        <a:t>يغادر</a:t>
                      </a:r>
                    </a:p>
                  </a:txBody>
                  <a:tcPr>
                    <a:solidFill>
                      <a:srgbClr val="EEF3FA"/>
                    </a:solidFill>
                  </a:tcPr>
                </a:tc>
                <a:tc>
                  <a:txBody>
                    <a:bodyPr/>
                    <a:lstStyle/>
                    <a:p>
                      <a:pPr rtl="0" algn="l"/>
                      <a:r>
                        <a:rPr sz="1300" b="0" i="0" lang="en-US">
                          <a:solidFill>
                            <a:srgbClr val="1C2333"/>
                          </a:solidFill>
                          <a:latin typeface="Segoe UI"/>
                        </a:rPr>
                        <a:t>leave</a:t>
                      </a:r>
                    </a:p>
                  </a:txBody>
                  <a:tcPr>
                    <a:solidFill>
                      <a:srgbClr val="EEF3FA"/>
                    </a:solidFill>
                  </a:tcPr>
                </a:tc>
                <a:tc>
                  <a:txBody>
                    <a:bodyPr/>
                    <a:lstStyle/>
                    <a:p>
                      <a:pPr rtl="0" algn="l"/>
                      <a:r>
                        <a:rPr sz="1300" b="0" i="0" lang="en-US">
                          <a:solidFill>
                            <a:srgbClr val="1C2333"/>
                          </a:solidFill>
                          <a:latin typeface="Segoe UI"/>
                        </a:rPr>
                        <a:t>left</a:t>
                      </a:r>
                    </a:p>
                  </a:txBody>
                  <a:tcPr>
                    <a:solidFill>
                      <a:srgbClr val="EEF3FA"/>
                    </a:solidFill>
                  </a:tcPr>
                </a:tc>
                <a:tc>
                  <a:txBody>
                    <a:bodyPr/>
                    <a:lstStyle/>
                    <a:p>
                      <a:pPr rtl="0" algn="l"/>
                      <a:r>
                        <a:rPr sz="1300" b="0" i="0" lang="en-US">
                          <a:solidFill>
                            <a:srgbClr val="1C2333"/>
                          </a:solidFill>
                          <a:latin typeface="Segoe UI"/>
                        </a:rPr>
                        <a:t>left</a:t>
                      </a:r>
                    </a:p>
                  </a:txBody>
                  <a:tcPr>
                    <a:solidFill>
                      <a:srgbClr val="EEF3FA"/>
                    </a:solidFill>
                  </a:tcPr>
                </a:tc>
              </a:tr>
              <a:tr h="347472">
                <a:tc>
                  <a:txBody>
                    <a:bodyPr/>
                    <a:lstStyle/>
                    <a:p>
                      <a:pPr rtl="1" algn="r"/>
                      <a:r>
                        <a:rPr sz="1600" b="0" i="0" lang="ar-EG" altLang="en-US">
                          <a:solidFill>
                            <a:srgbClr val="1C2333"/>
                          </a:solidFill>
                          <a:latin typeface="Traditional Arabic"/>
                        </a:rPr>
                        <a:t>يتحدث</a:t>
                      </a:r>
                    </a:p>
                  </a:txBody>
                  <a:tcPr>
                    <a:solidFill>
                      <a:srgbClr val="FFFFFF"/>
                    </a:solidFill>
                  </a:tcPr>
                </a:tc>
                <a:tc>
                  <a:txBody>
                    <a:bodyPr/>
                    <a:lstStyle/>
                    <a:p>
                      <a:pPr rtl="0" algn="l"/>
                      <a:r>
                        <a:rPr sz="1300" b="0" i="0" lang="en-US">
                          <a:solidFill>
                            <a:srgbClr val="1C2333"/>
                          </a:solidFill>
                          <a:latin typeface="Segoe UI"/>
                        </a:rPr>
                        <a:t>speak</a:t>
                      </a:r>
                    </a:p>
                  </a:txBody>
                  <a:tcPr>
                    <a:solidFill>
                      <a:srgbClr val="FFFFFF"/>
                    </a:solidFill>
                  </a:tcPr>
                </a:tc>
                <a:tc>
                  <a:txBody>
                    <a:bodyPr/>
                    <a:lstStyle/>
                    <a:p>
                      <a:pPr rtl="0" algn="l"/>
                      <a:r>
                        <a:rPr sz="1300" b="0" i="0" lang="en-US">
                          <a:solidFill>
                            <a:srgbClr val="1C2333"/>
                          </a:solidFill>
                          <a:latin typeface="Segoe UI"/>
                        </a:rPr>
                        <a:t>spoke</a:t>
                      </a:r>
                    </a:p>
                  </a:txBody>
                  <a:tcPr>
                    <a:solidFill>
                      <a:srgbClr val="FFFFFF"/>
                    </a:solidFill>
                  </a:tcPr>
                </a:tc>
                <a:tc>
                  <a:txBody>
                    <a:bodyPr/>
                    <a:lstStyle/>
                    <a:p>
                      <a:pPr rtl="0" algn="l"/>
                      <a:r>
                        <a:rPr sz="1300" b="0" i="0" lang="en-US">
                          <a:solidFill>
                            <a:srgbClr val="1C2333"/>
                          </a:solidFill>
                          <a:latin typeface="Segoe UI"/>
                        </a:rPr>
                        <a:t>spoken</a:t>
                      </a:r>
                    </a:p>
                  </a:txBody>
                  <a:tcPr>
                    <a:solidFill>
                      <a:srgbClr val="FFFFFF"/>
                    </a:solidFill>
                  </a:tcPr>
                </a:tc>
              </a:tr>
              <a:tr h="347472">
                <a:tc>
                  <a:txBody>
                    <a:bodyPr/>
                    <a:lstStyle/>
                    <a:p>
                      <a:pPr rtl="1" algn="r"/>
                      <a:r>
                        <a:rPr sz="1600" b="0" i="0" lang="ar-EG" altLang="en-US">
                          <a:solidFill>
                            <a:srgbClr val="1C2333"/>
                          </a:solidFill>
                          <a:latin typeface="Traditional Arabic"/>
                        </a:rPr>
                        <a:t>يعطي</a:t>
                      </a:r>
                    </a:p>
                  </a:txBody>
                  <a:tcPr>
                    <a:solidFill>
                      <a:srgbClr val="EEF3FA"/>
                    </a:solidFill>
                  </a:tcPr>
                </a:tc>
                <a:tc>
                  <a:txBody>
                    <a:bodyPr/>
                    <a:lstStyle/>
                    <a:p>
                      <a:pPr rtl="0" algn="l"/>
                      <a:r>
                        <a:rPr sz="1300" b="0" i="0" lang="en-US">
                          <a:solidFill>
                            <a:srgbClr val="1C2333"/>
                          </a:solidFill>
                          <a:latin typeface="Segoe UI"/>
                        </a:rPr>
                        <a:t>give</a:t>
                      </a:r>
                    </a:p>
                  </a:txBody>
                  <a:tcPr>
                    <a:solidFill>
                      <a:srgbClr val="EEF3FA"/>
                    </a:solidFill>
                  </a:tcPr>
                </a:tc>
                <a:tc>
                  <a:txBody>
                    <a:bodyPr/>
                    <a:lstStyle/>
                    <a:p>
                      <a:pPr rtl="0" algn="l"/>
                      <a:r>
                        <a:rPr sz="1300" b="0" i="0" lang="en-US">
                          <a:solidFill>
                            <a:srgbClr val="1C2333"/>
                          </a:solidFill>
                          <a:latin typeface="Segoe UI"/>
                        </a:rPr>
                        <a:t>gave</a:t>
                      </a:r>
                    </a:p>
                  </a:txBody>
                  <a:tcPr>
                    <a:solidFill>
                      <a:srgbClr val="EEF3FA"/>
                    </a:solidFill>
                  </a:tcPr>
                </a:tc>
                <a:tc>
                  <a:txBody>
                    <a:bodyPr/>
                    <a:lstStyle/>
                    <a:p>
                      <a:pPr rtl="0" algn="l"/>
                      <a:r>
                        <a:rPr sz="1300" b="0" i="0" lang="en-US">
                          <a:solidFill>
                            <a:srgbClr val="1C2333"/>
                          </a:solidFill>
                          <a:latin typeface="Segoe UI"/>
                        </a:rPr>
                        <a:t>given</a:t>
                      </a:r>
                    </a:p>
                  </a:txBody>
                  <a:tcPr>
                    <a:solidFill>
                      <a:srgbClr val="EEF3FA"/>
                    </a:solidFill>
                  </a:tcPr>
                </a:tc>
              </a:tr>
            </a:tbl>
          </a:graphicData>
        </a:graphic>
      </p:graphicFrame>
    </p:spTree>
  </p:cSld>
  <p:clrMapOvr>
    <a:masterClrMapping/>
  </p:clrMapOvr>
  <p:transition spd="med">
    <p:zoom dir="in"/>
  </p:transition>
</p:sld>
</file>

<file path=ppt/slides/slide4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 (4)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822192"/>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يقرأ</a:t>
                      </a:r>
                    </a:p>
                  </a:txBody>
                  <a:tcPr>
                    <a:solidFill>
                      <a:srgbClr val="FFFFFF"/>
                    </a:solidFill>
                  </a:tcPr>
                </a:tc>
                <a:tc>
                  <a:txBody>
                    <a:bodyPr/>
                    <a:lstStyle/>
                    <a:p>
                      <a:pPr rtl="0" algn="l"/>
                      <a:r>
                        <a:rPr sz="1300" b="0" i="0" lang="en-US">
                          <a:solidFill>
                            <a:srgbClr val="1C2333"/>
                          </a:solidFill>
                          <a:latin typeface="Segoe UI"/>
                        </a:rPr>
                        <a:t>read</a:t>
                      </a:r>
                    </a:p>
                  </a:txBody>
                  <a:tcPr>
                    <a:solidFill>
                      <a:srgbClr val="FFFFFF"/>
                    </a:solidFill>
                  </a:tcPr>
                </a:tc>
                <a:tc>
                  <a:txBody>
                    <a:bodyPr/>
                    <a:lstStyle/>
                    <a:p>
                      <a:pPr rtl="0" algn="l"/>
                      <a:r>
                        <a:rPr sz="1300" b="0" i="0" lang="en-US">
                          <a:solidFill>
                            <a:srgbClr val="1C2333"/>
                          </a:solidFill>
                          <a:latin typeface="Segoe UI"/>
                        </a:rPr>
                        <a:t>read</a:t>
                      </a:r>
                    </a:p>
                  </a:txBody>
                  <a:tcPr>
                    <a:solidFill>
                      <a:srgbClr val="FFFFFF"/>
                    </a:solidFill>
                  </a:tcPr>
                </a:tc>
                <a:tc>
                  <a:txBody>
                    <a:bodyPr/>
                    <a:lstStyle/>
                    <a:p>
                      <a:pPr rtl="0" algn="l"/>
                      <a:r>
                        <a:rPr sz="1300" b="0" i="0" lang="en-US">
                          <a:solidFill>
                            <a:srgbClr val="1C2333"/>
                          </a:solidFill>
                          <a:latin typeface="Segoe UI"/>
                        </a:rPr>
                        <a:t>read</a:t>
                      </a:r>
                    </a:p>
                  </a:txBody>
                  <a:tcPr>
                    <a:solidFill>
                      <a:srgbClr val="FFFFFF"/>
                    </a:solidFill>
                  </a:tcPr>
                </a:tc>
              </a:tr>
              <a:tr h="347472">
                <a:tc>
                  <a:txBody>
                    <a:bodyPr/>
                    <a:lstStyle/>
                    <a:p>
                      <a:pPr rtl="1" algn="r"/>
                      <a:r>
                        <a:rPr sz="1600" b="0" i="0" lang="ar-EG" altLang="en-US">
                          <a:solidFill>
                            <a:srgbClr val="1C2333"/>
                          </a:solidFill>
                          <a:latin typeface="Traditional Arabic"/>
                        </a:rPr>
                        <a:t>يركب</a:t>
                      </a:r>
                    </a:p>
                  </a:txBody>
                  <a:tcPr>
                    <a:solidFill>
                      <a:srgbClr val="EEF3FA"/>
                    </a:solidFill>
                  </a:tcPr>
                </a:tc>
                <a:tc>
                  <a:txBody>
                    <a:bodyPr/>
                    <a:lstStyle/>
                    <a:p>
                      <a:pPr rtl="0" algn="l"/>
                      <a:r>
                        <a:rPr sz="1300" b="0" i="0" lang="en-US">
                          <a:solidFill>
                            <a:srgbClr val="1C2333"/>
                          </a:solidFill>
                          <a:latin typeface="Segoe UI"/>
                        </a:rPr>
                        <a:t>ride</a:t>
                      </a:r>
                    </a:p>
                  </a:txBody>
                  <a:tcPr>
                    <a:solidFill>
                      <a:srgbClr val="EEF3FA"/>
                    </a:solidFill>
                  </a:tcPr>
                </a:tc>
                <a:tc>
                  <a:txBody>
                    <a:bodyPr/>
                    <a:lstStyle/>
                    <a:p>
                      <a:pPr rtl="0" algn="l"/>
                      <a:r>
                        <a:rPr sz="1300" b="0" i="0" lang="en-US">
                          <a:solidFill>
                            <a:srgbClr val="1C2333"/>
                          </a:solidFill>
                          <a:latin typeface="Segoe UI"/>
                        </a:rPr>
                        <a:t>rode</a:t>
                      </a:r>
                    </a:p>
                  </a:txBody>
                  <a:tcPr>
                    <a:solidFill>
                      <a:srgbClr val="EEF3FA"/>
                    </a:solidFill>
                  </a:tcPr>
                </a:tc>
                <a:tc>
                  <a:txBody>
                    <a:bodyPr/>
                    <a:lstStyle/>
                    <a:p>
                      <a:pPr rtl="0" algn="l"/>
                      <a:r>
                        <a:rPr sz="1300" b="0" i="0" lang="en-US">
                          <a:solidFill>
                            <a:srgbClr val="1C2333"/>
                          </a:solidFill>
                          <a:latin typeface="Segoe UI"/>
                        </a:rPr>
                        <a:t>ridden</a:t>
                      </a:r>
                    </a:p>
                  </a:txBody>
                  <a:tcPr>
                    <a:solidFill>
                      <a:srgbClr val="EEF3FA"/>
                    </a:solidFill>
                  </a:tcPr>
                </a:tc>
              </a:tr>
              <a:tr h="347472">
                <a:tc>
                  <a:txBody>
                    <a:bodyPr/>
                    <a:lstStyle/>
                    <a:p>
                      <a:pPr rtl="1" algn="r"/>
                      <a:r>
                        <a:rPr sz="1600" b="0" i="0" lang="ar-EG" altLang="en-US">
                          <a:solidFill>
                            <a:srgbClr val="1C2333"/>
                          </a:solidFill>
                          <a:latin typeface="Traditional Arabic"/>
                        </a:rPr>
                        <a:t>يرى</a:t>
                      </a:r>
                    </a:p>
                  </a:txBody>
                  <a:tcPr>
                    <a:solidFill>
                      <a:srgbClr val="FFFFFF"/>
                    </a:solidFill>
                  </a:tcPr>
                </a:tc>
                <a:tc>
                  <a:txBody>
                    <a:bodyPr/>
                    <a:lstStyle/>
                    <a:p>
                      <a:pPr rtl="0" algn="l"/>
                      <a:r>
                        <a:rPr sz="1300" b="0" i="0" lang="en-US">
                          <a:solidFill>
                            <a:srgbClr val="1C2333"/>
                          </a:solidFill>
                          <a:latin typeface="Segoe UI"/>
                        </a:rPr>
                        <a:t>see</a:t>
                      </a:r>
                    </a:p>
                  </a:txBody>
                  <a:tcPr>
                    <a:solidFill>
                      <a:srgbClr val="FFFFFF"/>
                    </a:solidFill>
                  </a:tcPr>
                </a:tc>
                <a:tc>
                  <a:txBody>
                    <a:bodyPr/>
                    <a:lstStyle/>
                    <a:p>
                      <a:pPr rtl="0" algn="l"/>
                      <a:r>
                        <a:rPr sz="1300" b="0" i="0" lang="en-US">
                          <a:solidFill>
                            <a:srgbClr val="1C2333"/>
                          </a:solidFill>
                          <a:latin typeface="Segoe UI"/>
                        </a:rPr>
                        <a:t>saw</a:t>
                      </a:r>
                    </a:p>
                  </a:txBody>
                  <a:tcPr>
                    <a:solidFill>
                      <a:srgbClr val="FFFFFF"/>
                    </a:solidFill>
                  </a:tcPr>
                </a:tc>
                <a:tc>
                  <a:txBody>
                    <a:bodyPr/>
                    <a:lstStyle/>
                    <a:p>
                      <a:pPr rtl="0" algn="l"/>
                      <a:r>
                        <a:rPr sz="1300" b="0" i="0" lang="en-US">
                          <a:solidFill>
                            <a:srgbClr val="1C2333"/>
                          </a:solidFill>
                          <a:latin typeface="Segoe UI"/>
                        </a:rPr>
                        <a:t>seen</a:t>
                      </a:r>
                    </a:p>
                  </a:txBody>
                  <a:tcPr>
                    <a:solidFill>
                      <a:srgbClr val="FFFFFF"/>
                    </a:solidFill>
                  </a:tcPr>
                </a:tc>
              </a:tr>
              <a:tr h="347472">
                <a:tc>
                  <a:txBody>
                    <a:bodyPr/>
                    <a:lstStyle/>
                    <a:p>
                      <a:pPr rtl="1" algn="r"/>
                      <a:r>
                        <a:rPr sz="1600" b="0" i="0" lang="ar-EG" altLang="en-US">
                          <a:solidFill>
                            <a:srgbClr val="1C2333"/>
                          </a:solidFill>
                          <a:latin typeface="Traditional Arabic"/>
                        </a:rPr>
                        <a:t>يطير</a:t>
                      </a:r>
                    </a:p>
                  </a:txBody>
                  <a:tcPr>
                    <a:solidFill>
                      <a:srgbClr val="EEF3FA"/>
                    </a:solidFill>
                  </a:tcPr>
                </a:tc>
                <a:tc>
                  <a:txBody>
                    <a:bodyPr/>
                    <a:lstStyle/>
                    <a:p>
                      <a:pPr rtl="0" algn="l"/>
                      <a:r>
                        <a:rPr sz="1300" b="0" i="0" lang="en-US">
                          <a:solidFill>
                            <a:srgbClr val="1C2333"/>
                          </a:solidFill>
                          <a:latin typeface="Segoe UI"/>
                        </a:rPr>
                        <a:t>fly</a:t>
                      </a:r>
                    </a:p>
                  </a:txBody>
                  <a:tcPr>
                    <a:solidFill>
                      <a:srgbClr val="EEF3FA"/>
                    </a:solidFill>
                  </a:tcPr>
                </a:tc>
                <a:tc>
                  <a:txBody>
                    <a:bodyPr/>
                    <a:lstStyle/>
                    <a:p>
                      <a:pPr rtl="0" algn="l"/>
                      <a:r>
                        <a:rPr sz="1300" b="0" i="0" lang="en-US">
                          <a:solidFill>
                            <a:srgbClr val="1C2333"/>
                          </a:solidFill>
                          <a:latin typeface="Segoe UI"/>
                        </a:rPr>
                        <a:t>flew</a:t>
                      </a:r>
                    </a:p>
                  </a:txBody>
                  <a:tcPr>
                    <a:solidFill>
                      <a:srgbClr val="EEF3FA"/>
                    </a:solidFill>
                  </a:tcPr>
                </a:tc>
                <a:tc>
                  <a:txBody>
                    <a:bodyPr/>
                    <a:lstStyle/>
                    <a:p>
                      <a:pPr rtl="0" algn="l"/>
                      <a:r>
                        <a:rPr sz="1300" b="0" i="0" lang="en-US">
                          <a:solidFill>
                            <a:srgbClr val="1C2333"/>
                          </a:solidFill>
                          <a:latin typeface="Segoe UI"/>
                        </a:rPr>
                        <a:t>flown</a:t>
                      </a:r>
                    </a:p>
                  </a:txBody>
                  <a:tcPr>
                    <a:solidFill>
                      <a:srgbClr val="EEF3FA"/>
                    </a:solidFill>
                  </a:tcPr>
                </a:tc>
              </a:tr>
              <a:tr h="347472">
                <a:tc>
                  <a:txBody>
                    <a:bodyPr/>
                    <a:lstStyle/>
                    <a:p>
                      <a:pPr rtl="1" algn="r"/>
                      <a:r>
                        <a:rPr sz="1600" b="0" i="0" lang="ar-EG" altLang="en-US">
                          <a:solidFill>
                            <a:srgbClr val="1C2333"/>
                          </a:solidFill>
                          <a:latin typeface="Traditional Arabic"/>
                        </a:rPr>
                        <a:t>يرسل</a:t>
                      </a:r>
                    </a:p>
                  </a:txBody>
                  <a:tcPr>
                    <a:solidFill>
                      <a:srgbClr val="FFFFFF"/>
                    </a:solidFill>
                  </a:tcPr>
                </a:tc>
                <a:tc>
                  <a:txBody>
                    <a:bodyPr/>
                    <a:lstStyle/>
                    <a:p>
                      <a:pPr rtl="0" algn="l"/>
                      <a:r>
                        <a:rPr sz="1300" b="0" i="0" lang="en-US">
                          <a:solidFill>
                            <a:srgbClr val="1C2333"/>
                          </a:solidFill>
                          <a:latin typeface="Segoe UI"/>
                        </a:rPr>
                        <a:t>send</a:t>
                      </a:r>
                    </a:p>
                  </a:txBody>
                  <a:tcPr>
                    <a:solidFill>
                      <a:srgbClr val="FFFFFF"/>
                    </a:solidFill>
                  </a:tcPr>
                </a:tc>
                <a:tc>
                  <a:txBody>
                    <a:bodyPr/>
                    <a:lstStyle/>
                    <a:p>
                      <a:pPr rtl="0" algn="l"/>
                      <a:r>
                        <a:rPr sz="1300" b="0" i="0" lang="en-US">
                          <a:solidFill>
                            <a:srgbClr val="1C2333"/>
                          </a:solidFill>
                          <a:latin typeface="Segoe UI"/>
                        </a:rPr>
                        <a:t>sent</a:t>
                      </a:r>
                    </a:p>
                  </a:txBody>
                  <a:tcPr>
                    <a:solidFill>
                      <a:srgbClr val="FFFFFF"/>
                    </a:solidFill>
                  </a:tcPr>
                </a:tc>
                <a:tc>
                  <a:txBody>
                    <a:bodyPr/>
                    <a:lstStyle/>
                    <a:p>
                      <a:pPr rtl="0" algn="l"/>
                      <a:r>
                        <a:rPr sz="1300" b="0" i="0" lang="en-US">
                          <a:solidFill>
                            <a:srgbClr val="1C2333"/>
                          </a:solidFill>
                          <a:latin typeface="Segoe UI"/>
                        </a:rPr>
                        <a:t>sent</a:t>
                      </a:r>
                    </a:p>
                  </a:txBody>
                  <a:tcPr>
                    <a:solidFill>
                      <a:srgbClr val="FFFFFF"/>
                    </a:solidFill>
                  </a:tcPr>
                </a:tc>
              </a:tr>
              <a:tr h="347472">
                <a:tc>
                  <a:txBody>
                    <a:bodyPr/>
                    <a:lstStyle/>
                    <a:p>
                      <a:pPr rtl="1" algn="r"/>
                      <a:r>
                        <a:rPr sz="1600" b="0" i="0" lang="ar-EG" altLang="en-US">
                          <a:solidFill>
                            <a:srgbClr val="1C2333"/>
                          </a:solidFill>
                          <a:latin typeface="Traditional Arabic"/>
                        </a:rPr>
                        <a:t>يحضر</a:t>
                      </a:r>
                    </a:p>
                  </a:txBody>
                  <a:tcPr>
                    <a:solidFill>
                      <a:srgbClr val="EEF3FA"/>
                    </a:solidFill>
                  </a:tcPr>
                </a:tc>
                <a:tc>
                  <a:txBody>
                    <a:bodyPr/>
                    <a:lstStyle/>
                    <a:p>
                      <a:pPr rtl="0" algn="l"/>
                      <a:r>
                        <a:rPr sz="1300" b="0" i="0" lang="en-US">
                          <a:solidFill>
                            <a:srgbClr val="1C2333"/>
                          </a:solidFill>
                          <a:latin typeface="Segoe UI"/>
                        </a:rPr>
                        <a:t>bring</a:t>
                      </a:r>
                    </a:p>
                  </a:txBody>
                  <a:tcPr>
                    <a:solidFill>
                      <a:srgbClr val="EEF3FA"/>
                    </a:solidFill>
                  </a:tcPr>
                </a:tc>
                <a:tc>
                  <a:txBody>
                    <a:bodyPr/>
                    <a:lstStyle/>
                    <a:p>
                      <a:pPr rtl="0" algn="l"/>
                      <a:r>
                        <a:rPr sz="1300" b="0" i="0" lang="en-US">
                          <a:solidFill>
                            <a:srgbClr val="1C2333"/>
                          </a:solidFill>
                          <a:latin typeface="Segoe UI"/>
                        </a:rPr>
                        <a:t>brought</a:t>
                      </a:r>
                    </a:p>
                  </a:txBody>
                  <a:tcPr>
                    <a:solidFill>
                      <a:srgbClr val="EEF3FA"/>
                    </a:solidFill>
                  </a:tcPr>
                </a:tc>
                <a:tc>
                  <a:txBody>
                    <a:bodyPr/>
                    <a:lstStyle/>
                    <a:p>
                      <a:pPr rtl="0" algn="l"/>
                      <a:r>
                        <a:rPr sz="1300" b="0" i="0" lang="en-US">
                          <a:solidFill>
                            <a:srgbClr val="1C2333"/>
                          </a:solidFill>
                          <a:latin typeface="Segoe UI"/>
                        </a:rPr>
                        <a:t>brought</a:t>
                      </a:r>
                    </a:p>
                  </a:txBody>
                  <a:tcPr>
                    <a:solidFill>
                      <a:srgbClr val="EEF3FA"/>
                    </a:solidFill>
                  </a:tcPr>
                </a:tc>
              </a:tr>
              <a:tr h="347472">
                <a:tc>
                  <a:txBody>
                    <a:bodyPr/>
                    <a:lstStyle/>
                    <a:p>
                      <a:pPr rtl="1" algn="r"/>
                      <a:r>
                        <a:rPr sz="1600" b="0" i="0" lang="ar-EG" altLang="en-US">
                          <a:solidFill>
                            <a:srgbClr val="1C2333"/>
                          </a:solidFill>
                          <a:latin typeface="Traditional Arabic"/>
                        </a:rPr>
                        <a:t>يختار</a:t>
                      </a:r>
                    </a:p>
                  </a:txBody>
                  <a:tcPr>
                    <a:solidFill>
                      <a:srgbClr val="FFFFFF"/>
                    </a:solidFill>
                  </a:tcPr>
                </a:tc>
                <a:tc>
                  <a:txBody>
                    <a:bodyPr/>
                    <a:lstStyle/>
                    <a:p>
                      <a:pPr rtl="0" algn="l"/>
                      <a:r>
                        <a:rPr sz="1300" b="0" i="0" lang="en-US">
                          <a:solidFill>
                            <a:srgbClr val="1C2333"/>
                          </a:solidFill>
                          <a:latin typeface="Segoe UI"/>
                        </a:rPr>
                        <a:t>choose</a:t>
                      </a:r>
                    </a:p>
                  </a:txBody>
                  <a:tcPr>
                    <a:solidFill>
                      <a:srgbClr val="FFFFFF"/>
                    </a:solidFill>
                  </a:tcPr>
                </a:tc>
                <a:tc>
                  <a:txBody>
                    <a:bodyPr/>
                    <a:lstStyle/>
                    <a:p>
                      <a:pPr rtl="0" algn="l"/>
                      <a:r>
                        <a:rPr sz="1300" b="0" i="0" lang="en-US">
                          <a:solidFill>
                            <a:srgbClr val="1C2333"/>
                          </a:solidFill>
                          <a:latin typeface="Segoe UI"/>
                        </a:rPr>
                        <a:t>chose</a:t>
                      </a:r>
                    </a:p>
                  </a:txBody>
                  <a:tcPr>
                    <a:solidFill>
                      <a:srgbClr val="FFFFFF"/>
                    </a:solidFill>
                  </a:tcPr>
                </a:tc>
                <a:tc>
                  <a:txBody>
                    <a:bodyPr/>
                    <a:lstStyle/>
                    <a:p>
                      <a:pPr rtl="0" algn="l"/>
                      <a:r>
                        <a:rPr sz="1300" b="0" i="0" lang="en-US">
                          <a:solidFill>
                            <a:srgbClr val="1C2333"/>
                          </a:solidFill>
                          <a:latin typeface="Segoe UI"/>
                        </a:rPr>
                        <a:t>chosen</a:t>
                      </a:r>
                    </a:p>
                  </a:txBody>
                  <a:tcPr>
                    <a:solidFill>
                      <a:srgbClr val="FFFFFF"/>
                    </a:solidFill>
                  </a:tcPr>
                </a:tc>
              </a:tr>
              <a:tr h="347472">
                <a:tc>
                  <a:txBody>
                    <a:bodyPr/>
                    <a:lstStyle/>
                    <a:p>
                      <a:pPr rtl="1" algn="r"/>
                      <a:r>
                        <a:rPr sz="1600" b="0" i="0" lang="ar-EG" altLang="en-US">
                          <a:solidFill>
                            <a:srgbClr val="1C2333"/>
                          </a:solidFill>
                          <a:latin typeface="Traditional Arabic"/>
                        </a:rPr>
                        <a:t>يكنس</a:t>
                      </a:r>
                    </a:p>
                  </a:txBody>
                  <a:tcPr>
                    <a:solidFill>
                      <a:srgbClr val="EEF3FA"/>
                    </a:solidFill>
                  </a:tcPr>
                </a:tc>
                <a:tc>
                  <a:txBody>
                    <a:bodyPr/>
                    <a:lstStyle/>
                    <a:p>
                      <a:pPr rtl="0" algn="l"/>
                      <a:r>
                        <a:rPr sz="1300" b="0" i="0" lang="en-US">
                          <a:solidFill>
                            <a:srgbClr val="1C2333"/>
                          </a:solidFill>
                          <a:latin typeface="Segoe UI"/>
                        </a:rPr>
                        <a:t>sweep</a:t>
                      </a:r>
                    </a:p>
                  </a:txBody>
                  <a:tcPr>
                    <a:solidFill>
                      <a:srgbClr val="EEF3FA"/>
                    </a:solidFill>
                  </a:tcPr>
                </a:tc>
                <a:tc>
                  <a:txBody>
                    <a:bodyPr/>
                    <a:lstStyle/>
                    <a:p>
                      <a:pPr rtl="0" algn="l"/>
                      <a:r>
                        <a:rPr sz="1300" b="0" i="0" lang="en-US">
                          <a:solidFill>
                            <a:srgbClr val="1C2333"/>
                          </a:solidFill>
                          <a:latin typeface="Segoe UI"/>
                        </a:rPr>
                        <a:t>swept</a:t>
                      </a:r>
                    </a:p>
                  </a:txBody>
                  <a:tcPr>
                    <a:solidFill>
                      <a:srgbClr val="EEF3FA"/>
                    </a:solidFill>
                  </a:tcPr>
                </a:tc>
                <a:tc>
                  <a:txBody>
                    <a:bodyPr/>
                    <a:lstStyle/>
                    <a:p>
                      <a:pPr rtl="0" algn="l"/>
                      <a:r>
                        <a:rPr sz="1300" b="0" i="0" lang="en-US">
                          <a:solidFill>
                            <a:srgbClr val="1C2333"/>
                          </a:solidFill>
                          <a:latin typeface="Segoe UI"/>
                        </a:rPr>
                        <a:t>swept</a:t>
                      </a:r>
                    </a:p>
                  </a:txBody>
                  <a:tcPr>
                    <a:solidFill>
                      <a:srgbClr val="EEF3FA"/>
                    </a:solidFill>
                  </a:tcPr>
                </a:tc>
              </a:tr>
              <a:tr h="347472">
                <a:tc>
                  <a:txBody>
                    <a:bodyPr/>
                    <a:lstStyle/>
                    <a:p>
                      <a:pPr rtl="1" algn="r"/>
                      <a:r>
                        <a:rPr sz="1600" b="0" i="0" lang="ar-EG" altLang="en-US">
                          <a:solidFill>
                            <a:srgbClr val="1C2333"/>
                          </a:solidFill>
                          <a:latin typeface="Traditional Arabic"/>
                        </a:rPr>
                        <a:t>يتعلم</a:t>
                      </a:r>
                    </a:p>
                  </a:txBody>
                  <a:tcPr>
                    <a:solidFill>
                      <a:srgbClr val="FFFFFF"/>
                    </a:solidFill>
                  </a:tcPr>
                </a:tc>
                <a:tc>
                  <a:txBody>
                    <a:bodyPr/>
                    <a:lstStyle/>
                    <a:p>
                      <a:pPr rtl="0" algn="l"/>
                      <a:r>
                        <a:rPr sz="1300" b="0" i="0" lang="en-US">
                          <a:solidFill>
                            <a:srgbClr val="1C2333"/>
                          </a:solidFill>
                          <a:latin typeface="Segoe UI"/>
                        </a:rPr>
                        <a:t>learn</a:t>
                      </a:r>
                    </a:p>
                  </a:txBody>
                  <a:tcPr>
                    <a:solidFill>
                      <a:srgbClr val="FFFFFF"/>
                    </a:solidFill>
                  </a:tcPr>
                </a:tc>
                <a:tc>
                  <a:txBody>
                    <a:bodyPr/>
                    <a:lstStyle/>
                    <a:p>
                      <a:pPr rtl="0" algn="l"/>
                      <a:r>
                        <a:rPr sz="1300" b="0" i="0" lang="en-US">
                          <a:solidFill>
                            <a:srgbClr val="1C2333"/>
                          </a:solidFill>
                          <a:latin typeface="Segoe UI"/>
                        </a:rPr>
                        <a:t>learnt</a:t>
                      </a:r>
                    </a:p>
                  </a:txBody>
                  <a:tcPr>
                    <a:solidFill>
                      <a:srgbClr val="FFFFFF"/>
                    </a:solidFill>
                  </a:tcPr>
                </a:tc>
                <a:tc>
                  <a:txBody>
                    <a:bodyPr/>
                    <a:lstStyle/>
                    <a:p>
                      <a:pPr rtl="0" algn="l"/>
                      <a:r>
                        <a:rPr sz="1300" b="0" i="0" lang="en-US">
                          <a:solidFill>
                            <a:srgbClr val="1C2333"/>
                          </a:solidFill>
                          <a:latin typeface="Segoe UI"/>
                        </a:rPr>
                        <a:t>learnt</a:t>
                      </a:r>
                    </a:p>
                  </a:txBody>
                  <a:tcPr>
                    <a:solidFill>
                      <a:srgbClr val="FFFFFF"/>
                    </a:solidFill>
                  </a:tcPr>
                </a:tc>
              </a:tr>
              <a:tr h="347472">
                <a:tc>
                  <a:txBody>
                    <a:bodyPr/>
                    <a:lstStyle/>
                    <a:p>
                      <a:pPr rtl="1" algn="r"/>
                      <a:r>
                        <a:rPr sz="1600" b="0" i="0" lang="ar-EG" altLang="en-US">
                          <a:solidFill>
                            <a:srgbClr val="1C2333"/>
                          </a:solidFill>
                          <a:latin typeface="Traditional Arabic"/>
                        </a:rPr>
                        <a:t>يقود</a:t>
                      </a:r>
                    </a:p>
                  </a:txBody>
                  <a:tcPr>
                    <a:solidFill>
                      <a:srgbClr val="EEF3FA"/>
                    </a:solidFill>
                  </a:tcPr>
                </a:tc>
                <a:tc>
                  <a:txBody>
                    <a:bodyPr/>
                    <a:lstStyle/>
                    <a:p>
                      <a:pPr rtl="0" algn="l"/>
                      <a:r>
                        <a:rPr sz="1300" b="0" i="0" lang="en-US">
                          <a:solidFill>
                            <a:srgbClr val="1C2333"/>
                          </a:solidFill>
                          <a:latin typeface="Segoe UI"/>
                        </a:rPr>
                        <a:t>drive</a:t>
                      </a:r>
                    </a:p>
                  </a:txBody>
                  <a:tcPr>
                    <a:solidFill>
                      <a:srgbClr val="EEF3FA"/>
                    </a:solidFill>
                  </a:tcPr>
                </a:tc>
                <a:tc>
                  <a:txBody>
                    <a:bodyPr/>
                    <a:lstStyle/>
                    <a:p>
                      <a:pPr rtl="0" algn="l"/>
                      <a:r>
                        <a:rPr sz="1300" b="0" i="0" lang="en-US">
                          <a:solidFill>
                            <a:srgbClr val="1C2333"/>
                          </a:solidFill>
                          <a:latin typeface="Segoe UI"/>
                        </a:rPr>
                        <a:t>drove</a:t>
                      </a:r>
                    </a:p>
                  </a:txBody>
                  <a:tcPr>
                    <a:solidFill>
                      <a:srgbClr val="EEF3FA"/>
                    </a:solidFill>
                  </a:tcPr>
                </a:tc>
                <a:tc>
                  <a:txBody>
                    <a:bodyPr/>
                    <a:lstStyle/>
                    <a:p>
                      <a:pPr rtl="0" algn="l"/>
                      <a:r>
                        <a:rPr sz="1300" b="0" i="0" lang="en-US">
                          <a:solidFill>
                            <a:srgbClr val="1C2333"/>
                          </a:solidFill>
                          <a:latin typeface="Segoe UI"/>
                        </a:rPr>
                        <a:t>driven</a:t>
                      </a:r>
                    </a:p>
                  </a:txBody>
                  <a:tcPr>
                    <a:solidFill>
                      <a:srgbClr val="EEF3FA"/>
                    </a:solidFill>
                  </a:tcPr>
                </a:tc>
              </a:tr>
            </a:tbl>
          </a:graphicData>
        </a:graphic>
      </p:graphicFrame>
    </p:spTree>
  </p:cSld>
  <p:clrMapOvr>
    <a:masterClrMapping/>
  </p:clrMapOvr>
  <p:transition spd="med">
    <p:comb dir="horz"/>
  </p:transition>
</p:sld>
</file>

<file path=ppt/slides/slide4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a:t>
                      </a:r>
                    </a:p>
                  </a:txBody>
                  <a:tcPr>
                    <a:solidFill>
                      <a:srgbClr val="945222"/>
                    </a:solidFill>
                  </a:tcPr>
                </a:tc>
                <a:tc>
                  <a:txBody>
                    <a:bodyPr/>
                    <a:lstStyle/>
                    <a:p>
                      <a:pPr rtl="0" algn="l"/>
                      <a:r>
                        <a:rPr sz="1400" b="1" i="0" lang="en-US">
                          <a:solidFill>
                            <a:srgbClr val="FFFFFF"/>
                          </a:solidFill>
                          <a:latin typeface="Segoe UI"/>
                        </a:rPr>
                        <a:t>Past</a:t>
                      </a:r>
                    </a:p>
                  </a:txBody>
                  <a:tcPr>
                    <a:solidFill>
                      <a:srgbClr val="945222"/>
                    </a:solidFill>
                  </a:tcPr>
                </a:tc>
              </a:tr>
              <a:tr h="347472">
                <a:tc>
                  <a:txBody>
                    <a:bodyPr/>
                    <a:lstStyle/>
                    <a:p>
                      <a:pPr rtl="1" algn="r"/>
                      <a:r>
                        <a:rPr sz="1600" b="0" i="0" lang="ar-EG" altLang="en-US">
                          <a:solidFill>
                            <a:srgbClr val="1C2333"/>
                          </a:solidFill>
                          <a:latin typeface="Traditional Arabic"/>
                        </a:rPr>
                        <a:t>يلعب</a:t>
                      </a:r>
                    </a:p>
                  </a:txBody>
                  <a:tcPr>
                    <a:solidFill>
                      <a:srgbClr val="FFFFFF"/>
                    </a:solidFill>
                  </a:tcPr>
                </a:tc>
                <a:tc>
                  <a:txBody>
                    <a:bodyPr/>
                    <a:lstStyle/>
                    <a:p>
                      <a:pPr rtl="0" algn="l"/>
                      <a:r>
                        <a:rPr sz="1300" b="0" i="0" lang="en-US">
                          <a:solidFill>
                            <a:srgbClr val="1C2333"/>
                          </a:solidFill>
                          <a:latin typeface="Segoe UI"/>
                        </a:rPr>
                        <a:t>play</a:t>
                      </a:r>
                    </a:p>
                  </a:txBody>
                  <a:tcPr>
                    <a:solidFill>
                      <a:srgbClr val="FFFFFF"/>
                    </a:solidFill>
                  </a:tcPr>
                </a:tc>
                <a:tc>
                  <a:txBody>
                    <a:bodyPr/>
                    <a:lstStyle/>
                    <a:p>
                      <a:pPr rtl="0" algn="l"/>
                      <a:r>
                        <a:rPr sz="1300" b="0" i="0" lang="en-US">
                          <a:solidFill>
                            <a:srgbClr val="1C2333"/>
                          </a:solidFill>
                          <a:latin typeface="Segoe UI"/>
                        </a:rPr>
                        <a:t>played</a:t>
                      </a:r>
                    </a:p>
                  </a:txBody>
                  <a:tcPr>
                    <a:solidFill>
                      <a:srgbClr val="FFFFFF"/>
                    </a:solidFill>
                  </a:tcPr>
                </a:tc>
              </a:tr>
              <a:tr h="347472">
                <a:tc>
                  <a:txBody>
                    <a:bodyPr/>
                    <a:lstStyle/>
                    <a:p>
                      <a:pPr rtl="1" algn="r"/>
                      <a:r>
                        <a:rPr sz="1600" b="0" i="0" lang="ar-EG" altLang="en-US">
                          <a:solidFill>
                            <a:srgbClr val="1C2333"/>
                          </a:solidFill>
                          <a:latin typeface="Traditional Arabic"/>
                        </a:rPr>
                        <a:t>يغسل</a:t>
                      </a:r>
                    </a:p>
                  </a:txBody>
                  <a:tcPr>
                    <a:solidFill>
                      <a:srgbClr val="EEF3FA"/>
                    </a:solidFill>
                  </a:tcPr>
                </a:tc>
                <a:tc>
                  <a:txBody>
                    <a:bodyPr/>
                    <a:lstStyle/>
                    <a:p>
                      <a:pPr rtl="0" algn="l"/>
                      <a:r>
                        <a:rPr sz="1300" b="0" i="0" lang="en-US">
                          <a:solidFill>
                            <a:srgbClr val="1C2333"/>
                          </a:solidFill>
                          <a:latin typeface="Segoe UI"/>
                        </a:rPr>
                        <a:t>wash</a:t>
                      </a:r>
                    </a:p>
                  </a:txBody>
                  <a:tcPr>
                    <a:solidFill>
                      <a:srgbClr val="EEF3FA"/>
                    </a:solidFill>
                  </a:tcPr>
                </a:tc>
                <a:tc>
                  <a:txBody>
                    <a:bodyPr/>
                    <a:lstStyle/>
                    <a:p>
                      <a:pPr rtl="0" algn="l"/>
                      <a:r>
                        <a:rPr sz="1300" b="0" i="0" lang="en-US">
                          <a:solidFill>
                            <a:srgbClr val="1C2333"/>
                          </a:solidFill>
                          <a:latin typeface="Segoe UI"/>
                        </a:rPr>
                        <a:t>washed</a:t>
                      </a:r>
                    </a:p>
                  </a:txBody>
                  <a:tcPr>
                    <a:solidFill>
                      <a:srgbClr val="EEF3FA"/>
                    </a:solidFill>
                  </a:tcPr>
                </a:tc>
              </a:tr>
              <a:tr h="347472">
                <a:tc>
                  <a:txBody>
                    <a:bodyPr/>
                    <a:lstStyle/>
                    <a:p>
                      <a:pPr rtl="1" algn="r"/>
                      <a:r>
                        <a:rPr sz="1600" b="0" i="0" lang="ar-EG" altLang="en-US">
                          <a:solidFill>
                            <a:srgbClr val="1C2333"/>
                          </a:solidFill>
                          <a:latin typeface="Traditional Arabic"/>
                        </a:rPr>
                        <a:t>يمشي</a:t>
                      </a:r>
                    </a:p>
                  </a:txBody>
                  <a:tcPr>
                    <a:solidFill>
                      <a:srgbClr val="FFFFFF"/>
                    </a:solidFill>
                  </a:tcPr>
                </a:tc>
                <a:tc>
                  <a:txBody>
                    <a:bodyPr/>
                    <a:lstStyle/>
                    <a:p>
                      <a:pPr rtl="0" algn="l"/>
                      <a:r>
                        <a:rPr sz="1300" b="0" i="0" lang="en-US">
                          <a:solidFill>
                            <a:srgbClr val="1C2333"/>
                          </a:solidFill>
                          <a:latin typeface="Segoe UI"/>
                        </a:rPr>
                        <a:t>walk</a:t>
                      </a:r>
                    </a:p>
                  </a:txBody>
                  <a:tcPr>
                    <a:solidFill>
                      <a:srgbClr val="FFFFFF"/>
                    </a:solidFill>
                  </a:tcPr>
                </a:tc>
                <a:tc>
                  <a:txBody>
                    <a:bodyPr/>
                    <a:lstStyle/>
                    <a:p>
                      <a:pPr rtl="0" algn="l"/>
                      <a:r>
                        <a:rPr sz="1300" b="0" i="0" lang="en-US">
                          <a:solidFill>
                            <a:srgbClr val="1C2333"/>
                          </a:solidFill>
                          <a:latin typeface="Segoe UI"/>
                        </a:rPr>
                        <a:t>walked</a:t>
                      </a:r>
                    </a:p>
                  </a:txBody>
                  <a:tcPr>
                    <a:solidFill>
                      <a:srgbClr val="FFFFFF"/>
                    </a:solidFill>
                  </a:tcPr>
                </a:tc>
              </a:tr>
              <a:tr h="347472">
                <a:tc>
                  <a:txBody>
                    <a:bodyPr/>
                    <a:lstStyle/>
                    <a:p>
                      <a:pPr rtl="1" algn="r"/>
                      <a:r>
                        <a:rPr sz="1600" b="0" i="0" lang="ar-EG" altLang="en-US">
                          <a:solidFill>
                            <a:srgbClr val="1C2333"/>
                          </a:solidFill>
                          <a:latin typeface="Traditional Arabic"/>
                        </a:rPr>
                        <a:t>يساعد</a:t>
                      </a:r>
                    </a:p>
                  </a:txBody>
                  <a:tcPr>
                    <a:solidFill>
                      <a:srgbClr val="EEF3FA"/>
                    </a:solidFill>
                  </a:tcPr>
                </a:tc>
                <a:tc>
                  <a:txBody>
                    <a:bodyPr/>
                    <a:lstStyle/>
                    <a:p>
                      <a:pPr rtl="0" algn="l"/>
                      <a:r>
                        <a:rPr sz="1300" b="0" i="0" lang="en-US">
                          <a:solidFill>
                            <a:srgbClr val="1C2333"/>
                          </a:solidFill>
                          <a:latin typeface="Segoe UI"/>
                        </a:rPr>
                        <a:t>help</a:t>
                      </a:r>
                    </a:p>
                  </a:txBody>
                  <a:tcPr>
                    <a:solidFill>
                      <a:srgbClr val="EEF3FA"/>
                    </a:solidFill>
                  </a:tcPr>
                </a:tc>
                <a:tc>
                  <a:txBody>
                    <a:bodyPr/>
                    <a:lstStyle/>
                    <a:p>
                      <a:pPr rtl="0" algn="l"/>
                      <a:r>
                        <a:rPr sz="1300" b="0" i="0" lang="en-US">
                          <a:solidFill>
                            <a:srgbClr val="1C2333"/>
                          </a:solidFill>
                          <a:latin typeface="Segoe UI"/>
                        </a:rPr>
                        <a:t>helped</a:t>
                      </a:r>
                    </a:p>
                  </a:txBody>
                  <a:tcPr>
                    <a:solidFill>
                      <a:srgbClr val="EEF3FA"/>
                    </a:solidFill>
                  </a:tcPr>
                </a:tc>
              </a:tr>
              <a:tr h="347472">
                <a:tc>
                  <a:txBody>
                    <a:bodyPr/>
                    <a:lstStyle/>
                    <a:p>
                      <a:pPr rtl="1" algn="r"/>
                      <a:r>
                        <a:rPr sz="1600" b="0" i="0" lang="ar-EG" altLang="en-US">
                          <a:solidFill>
                            <a:srgbClr val="1C2333"/>
                          </a:solidFill>
                          <a:latin typeface="Traditional Arabic"/>
                        </a:rPr>
                        <a:t>يزور</a:t>
                      </a:r>
                    </a:p>
                  </a:txBody>
                  <a:tcPr>
                    <a:solidFill>
                      <a:srgbClr val="FFFFFF"/>
                    </a:solidFill>
                  </a:tcPr>
                </a:tc>
                <a:tc>
                  <a:txBody>
                    <a:bodyPr/>
                    <a:lstStyle/>
                    <a:p>
                      <a:pPr rtl="0" algn="l"/>
                      <a:r>
                        <a:rPr sz="1300" b="0" i="0" lang="en-US">
                          <a:solidFill>
                            <a:srgbClr val="1C2333"/>
                          </a:solidFill>
                          <a:latin typeface="Segoe UI"/>
                        </a:rPr>
                        <a:t>visit</a:t>
                      </a:r>
                    </a:p>
                  </a:txBody>
                  <a:tcPr>
                    <a:solidFill>
                      <a:srgbClr val="FFFFFF"/>
                    </a:solidFill>
                  </a:tcPr>
                </a:tc>
                <a:tc>
                  <a:txBody>
                    <a:bodyPr/>
                    <a:lstStyle/>
                    <a:p>
                      <a:pPr rtl="0" algn="l"/>
                      <a:r>
                        <a:rPr sz="1300" b="0" i="0" lang="en-US">
                          <a:solidFill>
                            <a:srgbClr val="1C2333"/>
                          </a:solidFill>
                          <a:latin typeface="Segoe UI"/>
                        </a:rPr>
                        <a:t>visited</a:t>
                      </a:r>
                    </a:p>
                  </a:txBody>
                  <a:tcPr>
                    <a:solidFill>
                      <a:srgbClr val="FFFFFF"/>
                    </a:solidFill>
                  </a:tcPr>
                </a:tc>
              </a:tr>
              <a:tr h="347472">
                <a:tc>
                  <a:txBody>
                    <a:bodyPr/>
                    <a:lstStyle/>
                    <a:p>
                      <a:pPr rtl="1" algn="r"/>
                      <a:r>
                        <a:rPr sz="1600" b="0" i="0" lang="ar-EG" altLang="en-US">
                          <a:solidFill>
                            <a:srgbClr val="1C2333"/>
                          </a:solidFill>
                          <a:latin typeface="Traditional Arabic"/>
                        </a:rPr>
                        <a:t>يستمع</a:t>
                      </a:r>
                    </a:p>
                  </a:txBody>
                  <a:tcPr>
                    <a:solidFill>
                      <a:srgbClr val="EEF3FA"/>
                    </a:solidFill>
                  </a:tcPr>
                </a:tc>
                <a:tc>
                  <a:txBody>
                    <a:bodyPr/>
                    <a:lstStyle/>
                    <a:p>
                      <a:pPr rtl="0" algn="l"/>
                      <a:r>
                        <a:rPr sz="1300" b="0" i="0" lang="en-US">
                          <a:solidFill>
                            <a:srgbClr val="1C2333"/>
                          </a:solidFill>
                          <a:latin typeface="Segoe UI"/>
                        </a:rPr>
                        <a:t>listen</a:t>
                      </a:r>
                    </a:p>
                  </a:txBody>
                  <a:tcPr>
                    <a:solidFill>
                      <a:srgbClr val="EEF3FA"/>
                    </a:solidFill>
                  </a:tcPr>
                </a:tc>
                <a:tc>
                  <a:txBody>
                    <a:bodyPr/>
                    <a:lstStyle/>
                    <a:p>
                      <a:pPr rtl="0" algn="l"/>
                      <a:r>
                        <a:rPr sz="1300" b="0" i="0" lang="en-US">
                          <a:solidFill>
                            <a:srgbClr val="1C2333"/>
                          </a:solidFill>
                          <a:latin typeface="Segoe UI"/>
                        </a:rPr>
                        <a:t>listened</a:t>
                      </a:r>
                    </a:p>
                  </a:txBody>
                  <a:tcPr>
                    <a:solidFill>
                      <a:srgbClr val="EEF3FA"/>
                    </a:solidFill>
                  </a:tcPr>
                </a:tc>
              </a:tr>
              <a:tr h="347472">
                <a:tc>
                  <a:txBody>
                    <a:bodyPr/>
                    <a:lstStyle/>
                    <a:p>
                      <a:pPr rtl="1" algn="r"/>
                      <a:r>
                        <a:rPr sz="1600" b="0" i="0" lang="ar-EG" altLang="en-US">
                          <a:solidFill>
                            <a:srgbClr val="1C2333"/>
                          </a:solidFill>
                          <a:latin typeface="Traditional Arabic"/>
                        </a:rPr>
                        <a:t>يحب</a:t>
                      </a:r>
                    </a:p>
                  </a:txBody>
                  <a:tcPr>
                    <a:solidFill>
                      <a:srgbClr val="FFFFFF"/>
                    </a:solidFill>
                  </a:tcPr>
                </a:tc>
                <a:tc>
                  <a:txBody>
                    <a:bodyPr/>
                    <a:lstStyle/>
                    <a:p>
                      <a:pPr rtl="0" algn="l"/>
                      <a:r>
                        <a:rPr sz="1300" b="0" i="0" lang="en-US">
                          <a:solidFill>
                            <a:srgbClr val="1C2333"/>
                          </a:solidFill>
                          <a:latin typeface="Segoe UI"/>
                        </a:rPr>
                        <a:t>like</a:t>
                      </a:r>
                    </a:p>
                  </a:txBody>
                  <a:tcPr>
                    <a:solidFill>
                      <a:srgbClr val="FFFFFF"/>
                    </a:solidFill>
                  </a:tcPr>
                </a:tc>
                <a:tc>
                  <a:txBody>
                    <a:bodyPr/>
                    <a:lstStyle/>
                    <a:p>
                      <a:pPr rtl="0" algn="l"/>
                      <a:r>
                        <a:rPr sz="1300" b="0" i="0" lang="en-US">
                          <a:solidFill>
                            <a:srgbClr val="1C2333"/>
                          </a:solidFill>
                          <a:latin typeface="Segoe UI"/>
                        </a:rPr>
                        <a:t>liked</a:t>
                      </a:r>
                    </a:p>
                  </a:txBody>
                  <a:tcPr>
                    <a:solidFill>
                      <a:srgbClr val="FFFFFF"/>
                    </a:solidFill>
                  </a:tcPr>
                </a:tc>
              </a:tr>
              <a:tr h="347472">
                <a:tc>
                  <a:txBody>
                    <a:bodyPr/>
                    <a:lstStyle/>
                    <a:p>
                      <a:pPr rtl="1" algn="r"/>
                      <a:r>
                        <a:rPr sz="1600" b="0" i="0" lang="ar-EG" altLang="en-US">
                          <a:solidFill>
                            <a:srgbClr val="1C2333"/>
                          </a:solidFill>
                          <a:latin typeface="Traditional Arabic"/>
                        </a:rPr>
                        <a:t>يعمل</a:t>
                      </a:r>
                    </a:p>
                  </a:txBody>
                  <a:tcPr>
                    <a:solidFill>
                      <a:srgbClr val="EEF3FA"/>
                    </a:solidFill>
                  </a:tcPr>
                </a:tc>
                <a:tc>
                  <a:txBody>
                    <a:bodyPr/>
                    <a:lstStyle/>
                    <a:p>
                      <a:pPr rtl="0" algn="l"/>
                      <a:r>
                        <a:rPr sz="1300" b="0" i="0" lang="en-US">
                          <a:solidFill>
                            <a:srgbClr val="1C2333"/>
                          </a:solidFill>
                          <a:latin typeface="Segoe UI"/>
                        </a:rPr>
                        <a:t>work</a:t>
                      </a:r>
                    </a:p>
                  </a:txBody>
                  <a:tcPr>
                    <a:solidFill>
                      <a:srgbClr val="EEF3FA"/>
                    </a:solidFill>
                  </a:tcPr>
                </a:tc>
                <a:tc>
                  <a:txBody>
                    <a:bodyPr/>
                    <a:lstStyle/>
                    <a:p>
                      <a:pPr rtl="0" algn="l"/>
                      <a:r>
                        <a:rPr sz="1300" b="0" i="0" lang="en-US">
                          <a:solidFill>
                            <a:srgbClr val="1C2333"/>
                          </a:solidFill>
                          <a:latin typeface="Segoe UI"/>
                        </a:rPr>
                        <a:t>worked</a:t>
                      </a:r>
                    </a:p>
                  </a:txBody>
                  <a:tcPr>
                    <a:solidFill>
                      <a:srgbClr val="EEF3FA"/>
                    </a:solidFill>
                  </a:tcPr>
                </a:tc>
              </a:tr>
              <a:tr h="347472">
                <a:tc>
                  <a:txBody>
                    <a:bodyPr/>
                    <a:lstStyle/>
                    <a:p>
                      <a:pPr rtl="1" algn="r"/>
                      <a:r>
                        <a:rPr sz="1600" b="0" i="0" lang="ar-EG" altLang="en-US">
                          <a:solidFill>
                            <a:srgbClr val="1C2333"/>
                          </a:solidFill>
                          <a:latin typeface="Traditional Arabic"/>
                        </a:rPr>
                        <a:t>يذاكر</a:t>
                      </a:r>
                    </a:p>
                  </a:txBody>
                  <a:tcPr>
                    <a:solidFill>
                      <a:srgbClr val="FFFFFF"/>
                    </a:solidFill>
                  </a:tcPr>
                </a:tc>
                <a:tc>
                  <a:txBody>
                    <a:bodyPr/>
                    <a:lstStyle/>
                    <a:p>
                      <a:pPr rtl="0" algn="l"/>
                      <a:r>
                        <a:rPr sz="1300" b="0" i="0" lang="en-US">
                          <a:solidFill>
                            <a:srgbClr val="1C2333"/>
                          </a:solidFill>
                          <a:latin typeface="Segoe UI"/>
                        </a:rPr>
                        <a:t>study</a:t>
                      </a:r>
                    </a:p>
                  </a:txBody>
                  <a:tcPr>
                    <a:solidFill>
                      <a:srgbClr val="FFFFFF"/>
                    </a:solidFill>
                  </a:tcPr>
                </a:tc>
                <a:tc>
                  <a:txBody>
                    <a:bodyPr/>
                    <a:lstStyle/>
                    <a:p>
                      <a:pPr rtl="0" algn="l"/>
                      <a:r>
                        <a:rPr sz="1300" b="0" i="0" lang="en-US">
                          <a:solidFill>
                            <a:srgbClr val="1C2333"/>
                          </a:solidFill>
                          <a:latin typeface="Segoe UI"/>
                        </a:rPr>
                        <a:t>studied</a:t>
                      </a:r>
                    </a:p>
                  </a:txBody>
                  <a:tcPr>
                    <a:solidFill>
                      <a:srgbClr val="FFFFFF"/>
                    </a:solidFill>
                  </a:tcPr>
                </a:tc>
              </a:tr>
              <a:tr h="347472">
                <a:tc>
                  <a:txBody>
                    <a:bodyPr/>
                    <a:lstStyle/>
                    <a:p>
                      <a:pPr rtl="1" algn="r"/>
                      <a:r>
                        <a:rPr sz="1600" b="0" i="0" lang="ar-EG" altLang="en-US">
                          <a:solidFill>
                            <a:srgbClr val="1C2333"/>
                          </a:solidFill>
                          <a:latin typeface="Traditional Arabic"/>
                        </a:rPr>
                        <a:t>ينظف</a:t>
                      </a:r>
                    </a:p>
                  </a:txBody>
                  <a:tcPr>
                    <a:solidFill>
                      <a:srgbClr val="EEF3FA"/>
                    </a:solidFill>
                  </a:tcPr>
                </a:tc>
                <a:tc>
                  <a:txBody>
                    <a:bodyPr/>
                    <a:lstStyle/>
                    <a:p>
                      <a:pPr rtl="0" algn="l"/>
                      <a:r>
                        <a:rPr sz="1300" b="0" i="0" lang="en-US">
                          <a:solidFill>
                            <a:srgbClr val="1C2333"/>
                          </a:solidFill>
                          <a:latin typeface="Segoe UI"/>
                        </a:rPr>
                        <a:t>clean</a:t>
                      </a:r>
                    </a:p>
                  </a:txBody>
                  <a:tcPr>
                    <a:solidFill>
                      <a:srgbClr val="EEF3FA"/>
                    </a:solidFill>
                  </a:tcPr>
                </a:tc>
                <a:tc>
                  <a:txBody>
                    <a:bodyPr/>
                    <a:lstStyle/>
                    <a:p>
                      <a:pPr rtl="0" algn="l"/>
                      <a:r>
                        <a:rPr sz="1300" b="0" i="0" lang="en-US">
                          <a:solidFill>
                            <a:srgbClr val="1C2333"/>
                          </a:solidFill>
                          <a:latin typeface="Segoe UI"/>
                        </a:rPr>
                        <a:t>cleaned</a:t>
                      </a:r>
                    </a:p>
                  </a:txBody>
                  <a:tcPr>
                    <a:solidFill>
                      <a:srgbClr val="EEF3FA"/>
                    </a:solidFill>
                  </a:tcPr>
                </a:tc>
              </a:tr>
              <a:tr h="347472">
                <a:tc>
                  <a:txBody>
                    <a:bodyPr/>
                    <a:lstStyle/>
                    <a:p>
                      <a:pPr rtl="1" algn="r"/>
                      <a:r>
                        <a:rPr sz="1600" b="0" i="0" lang="ar-EG" altLang="en-US">
                          <a:solidFill>
                            <a:srgbClr val="1C2333"/>
                          </a:solidFill>
                          <a:latin typeface="Traditional Arabic"/>
                        </a:rPr>
                        <a:t>يشاهد</a:t>
                      </a:r>
                    </a:p>
                  </a:txBody>
                  <a:tcPr>
                    <a:solidFill>
                      <a:srgbClr val="FFFFFF"/>
                    </a:solidFill>
                  </a:tcPr>
                </a:tc>
                <a:tc>
                  <a:txBody>
                    <a:bodyPr/>
                    <a:lstStyle/>
                    <a:p>
                      <a:pPr rtl="0" algn="l"/>
                      <a:r>
                        <a:rPr sz="1300" b="0" i="0" lang="en-US">
                          <a:solidFill>
                            <a:srgbClr val="1C2333"/>
                          </a:solidFill>
                          <a:latin typeface="Segoe UI"/>
                        </a:rPr>
                        <a:t>watch</a:t>
                      </a:r>
                    </a:p>
                  </a:txBody>
                  <a:tcPr>
                    <a:solidFill>
                      <a:srgbClr val="FFFFFF"/>
                    </a:solidFill>
                  </a:tcPr>
                </a:tc>
                <a:tc>
                  <a:txBody>
                    <a:bodyPr/>
                    <a:lstStyle/>
                    <a:p>
                      <a:pPr rtl="0" algn="l"/>
                      <a:r>
                        <a:rPr sz="1300" b="0" i="0" lang="en-US">
                          <a:solidFill>
                            <a:srgbClr val="1C2333"/>
                          </a:solidFill>
                          <a:latin typeface="Segoe UI"/>
                        </a:rPr>
                        <a:t>watched</a:t>
                      </a:r>
                    </a:p>
                  </a:txBody>
                  <a:tcPr>
                    <a:solidFill>
                      <a:srgbClr val="FFFFFF"/>
                    </a:solidFill>
                  </a:tcPr>
                </a:tc>
              </a:tr>
              <a:tr h="347472">
                <a:tc>
                  <a:txBody>
                    <a:bodyPr/>
                    <a:lstStyle/>
                    <a:p>
                      <a:pPr rtl="1" algn="r"/>
                      <a:r>
                        <a:rPr sz="1600" b="0" i="0" lang="ar-EG" altLang="en-US">
                          <a:solidFill>
                            <a:srgbClr val="1C2333"/>
                          </a:solidFill>
                          <a:latin typeface="Traditional Arabic"/>
                        </a:rPr>
                        <a:t>يطبخ</a:t>
                      </a:r>
                    </a:p>
                  </a:txBody>
                  <a:tcPr>
                    <a:solidFill>
                      <a:srgbClr val="EEF3FA"/>
                    </a:solidFill>
                  </a:tcPr>
                </a:tc>
                <a:tc>
                  <a:txBody>
                    <a:bodyPr/>
                    <a:lstStyle/>
                    <a:p>
                      <a:pPr rtl="0" algn="l"/>
                      <a:r>
                        <a:rPr sz="1300" b="0" i="0" lang="en-US">
                          <a:solidFill>
                            <a:srgbClr val="1C2333"/>
                          </a:solidFill>
                          <a:latin typeface="Segoe UI"/>
                        </a:rPr>
                        <a:t>cook</a:t>
                      </a:r>
                    </a:p>
                  </a:txBody>
                  <a:tcPr>
                    <a:solidFill>
                      <a:srgbClr val="EEF3FA"/>
                    </a:solidFill>
                  </a:tcPr>
                </a:tc>
                <a:tc>
                  <a:txBody>
                    <a:bodyPr/>
                    <a:lstStyle/>
                    <a:p>
                      <a:pPr rtl="0" algn="l"/>
                      <a:r>
                        <a:rPr sz="1300" b="0" i="0" lang="en-US">
                          <a:solidFill>
                            <a:srgbClr val="1C2333"/>
                          </a:solidFill>
                          <a:latin typeface="Segoe UI"/>
                        </a:rPr>
                        <a:t>cooked</a:t>
                      </a:r>
                    </a:p>
                  </a:txBody>
                  <a:tcPr>
                    <a:solidFill>
                      <a:srgbClr val="EEF3FA"/>
                    </a:solidFill>
                  </a:tcPr>
                </a:tc>
              </a:tr>
            </a:tbl>
          </a:graphicData>
        </a:graphic>
      </p:graphicFrame>
    </p:spTree>
  </p:cSld>
  <p:clrMapOvr>
    <a:masterClrMapping/>
  </p:clrMapOvr>
  <p:transition spd="med">
    <p:newsflash/>
  </p:transition>
</p:sld>
</file>

<file path=ppt/slides/slide4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5222"/>
                          </a:solidFill>
                          <a:latin typeface="Segoe UI"/>
                        </a:rPr>
                        <a:t>go</a:t>
                      </a:r>
                    </a:p>
                  </a:txBody>
                  <a:tcPr>
                    <a:solidFill>
                      <a:srgbClr val="FFFFFF"/>
                    </a:solidFill>
                  </a:tcPr>
                </a:tc>
                <a:tc>
                  <a:txBody>
                    <a:bodyPr/>
                    <a:lstStyle/>
                    <a:p>
                      <a:pPr rtl="1" algn="r"/>
                      <a:r>
                        <a:rPr sz="1700" b="0" i="0" lang="ar-EG" altLang="en-US">
                          <a:solidFill>
                            <a:srgbClr val="1C2333"/>
                          </a:solidFill>
                          <a:latin typeface="Traditional Arabic"/>
                        </a:rPr>
                        <a:t>يذهب</a:t>
                      </a:r>
                    </a:p>
                  </a:txBody>
                  <a:tcPr>
                    <a:solidFill>
                      <a:srgbClr val="FFFFFF"/>
                    </a:solidFill>
                  </a:tcPr>
                </a:tc>
                <a:tc>
                  <a:txBody>
                    <a:bodyPr/>
                    <a:lstStyle/>
                    <a:p>
                      <a:pPr rtl="0" algn="l"/>
                      <a:r>
                        <a:rPr sz="1500" b="1" i="0" lang="en-US">
                          <a:solidFill>
                            <a:srgbClr val="945222"/>
                          </a:solidFill>
                          <a:latin typeface="Segoe UI"/>
                        </a:rPr>
                        <a:t>run</a:t>
                      </a:r>
                    </a:p>
                  </a:txBody>
                  <a:tcPr>
                    <a:solidFill>
                      <a:srgbClr val="FFFFFF"/>
                    </a:solidFill>
                  </a:tcPr>
                </a:tc>
                <a:tc>
                  <a:txBody>
                    <a:bodyPr/>
                    <a:lstStyle/>
                    <a:p>
                      <a:pPr rtl="1" algn="r"/>
                      <a:r>
                        <a:rPr sz="1700" b="0" i="0" lang="ar-EG" altLang="en-US">
                          <a:solidFill>
                            <a:srgbClr val="1C2333"/>
                          </a:solidFill>
                          <a:latin typeface="Traditional Arabic"/>
                        </a:rPr>
                        <a:t>يجري</a:t>
                      </a:r>
                    </a:p>
                  </a:txBody>
                  <a:tcPr>
                    <a:solidFill>
                      <a:srgbClr val="FFFFFF"/>
                    </a:solidFill>
                  </a:tcPr>
                </a:tc>
                <a:tc>
                  <a:txBody>
                    <a:bodyPr/>
                    <a:lstStyle/>
                    <a:p>
                      <a:pPr rtl="0" algn="l"/>
                      <a:r>
                        <a:rPr sz="1500" b="1" i="0" lang="en-US">
                          <a:solidFill>
                            <a:srgbClr val="945222"/>
                          </a:solidFill>
                          <a:latin typeface="Segoe UI"/>
                        </a:rPr>
                        <a:t>win</a:t>
                      </a:r>
                    </a:p>
                  </a:txBody>
                  <a:tcPr>
                    <a:solidFill>
                      <a:srgbClr val="FFFFFF"/>
                    </a:solidFill>
                  </a:tcPr>
                </a:tc>
                <a:tc>
                  <a:txBody>
                    <a:bodyPr/>
                    <a:lstStyle/>
                    <a:p>
                      <a:pPr rtl="1" algn="r"/>
                      <a:r>
                        <a:rPr sz="1700" b="0" i="0" lang="ar-EG" altLang="en-US">
                          <a:solidFill>
                            <a:srgbClr val="1C2333"/>
                          </a:solidFill>
                          <a:latin typeface="Traditional Arabic"/>
                        </a:rPr>
                        <a:t>يفوز</a:t>
                      </a:r>
                    </a:p>
                  </a:txBody>
                  <a:tcPr>
                    <a:solidFill>
                      <a:srgbClr val="FFFFFF"/>
                    </a:solidFill>
                  </a:tcPr>
                </a:tc>
              </a:tr>
              <a:tr h="384048">
                <a:tc>
                  <a:txBody>
                    <a:bodyPr/>
                    <a:lstStyle/>
                    <a:p>
                      <a:pPr rtl="0" algn="l"/>
                      <a:r>
                        <a:rPr sz="1500" b="1" i="0" lang="en-US">
                          <a:solidFill>
                            <a:srgbClr val="945222"/>
                          </a:solidFill>
                          <a:latin typeface="Segoe UI"/>
                        </a:rPr>
                        <a:t>buy</a:t>
                      </a:r>
                    </a:p>
                  </a:txBody>
                  <a:tcPr>
                    <a:solidFill>
                      <a:srgbClr val="EEF3FA"/>
                    </a:solidFill>
                  </a:tcPr>
                </a:tc>
                <a:tc>
                  <a:txBody>
                    <a:bodyPr/>
                    <a:lstStyle/>
                    <a:p>
                      <a:pPr rtl="1" algn="r"/>
                      <a:r>
                        <a:rPr sz="1700" b="0" i="0" lang="ar-EG" altLang="en-US">
                          <a:solidFill>
                            <a:srgbClr val="1C2333"/>
                          </a:solidFill>
                          <a:latin typeface="Traditional Arabic"/>
                        </a:rPr>
                        <a:t>يشتري</a:t>
                      </a:r>
                    </a:p>
                  </a:txBody>
                  <a:tcPr>
                    <a:solidFill>
                      <a:srgbClr val="EEF3FA"/>
                    </a:solidFill>
                  </a:tcPr>
                </a:tc>
                <a:tc>
                  <a:txBody>
                    <a:bodyPr/>
                    <a:lstStyle/>
                    <a:p>
                      <a:pPr rtl="0" algn="l"/>
                      <a:r>
                        <a:rPr sz="1500" b="1" i="0" lang="en-US">
                          <a:solidFill>
                            <a:srgbClr val="945222"/>
                          </a:solidFill>
                          <a:latin typeface="Segoe UI"/>
                        </a:rPr>
                        <a:t>have / has</a:t>
                      </a:r>
                    </a:p>
                  </a:txBody>
                  <a:tcPr>
                    <a:solidFill>
                      <a:srgbClr val="EEF3FA"/>
                    </a:solidFill>
                  </a:tcPr>
                </a:tc>
                <a:tc>
                  <a:txBody>
                    <a:bodyPr/>
                    <a:lstStyle/>
                    <a:p>
                      <a:pPr rtl="1" algn="r"/>
                      <a:r>
                        <a:rPr sz="1700" b="0" i="0" lang="ar-EG" altLang="en-US">
                          <a:solidFill>
                            <a:srgbClr val="1C2333"/>
                          </a:solidFill>
                          <a:latin typeface="Traditional Arabic"/>
                        </a:rPr>
                        <a:t>يمتلك</a:t>
                      </a:r>
                    </a:p>
                  </a:txBody>
                  <a:tcPr>
                    <a:solidFill>
                      <a:srgbClr val="EEF3FA"/>
                    </a:solidFill>
                  </a:tcPr>
                </a:tc>
                <a:tc>
                  <a:txBody>
                    <a:bodyPr/>
                    <a:lstStyle/>
                    <a:p>
                      <a:pPr rtl="0" algn="l"/>
                      <a:r>
                        <a:rPr sz="1500" b="1" i="0" lang="en-US">
                          <a:solidFill>
                            <a:srgbClr val="945222"/>
                          </a:solidFill>
                          <a:latin typeface="Segoe UI"/>
                        </a:rPr>
                        <a:t>think</a:t>
                      </a:r>
                    </a:p>
                  </a:txBody>
                  <a:tcPr>
                    <a:solidFill>
                      <a:srgbClr val="EEF3FA"/>
                    </a:solidFill>
                  </a:tcPr>
                </a:tc>
                <a:tc>
                  <a:txBody>
                    <a:bodyPr/>
                    <a:lstStyle/>
                    <a:p>
                      <a:pPr rtl="1" algn="r"/>
                      <a:r>
                        <a:rPr sz="1700" b="0" i="0" lang="ar-EG" altLang="en-US">
                          <a:solidFill>
                            <a:srgbClr val="1C2333"/>
                          </a:solidFill>
                          <a:latin typeface="Traditional Arabic"/>
                        </a:rPr>
                        <a:t>يفكر</a:t>
                      </a:r>
                    </a:p>
                  </a:txBody>
                  <a:tcPr>
                    <a:solidFill>
                      <a:srgbClr val="EEF3FA"/>
                    </a:solidFill>
                  </a:tcPr>
                </a:tc>
              </a:tr>
              <a:tr h="384048">
                <a:tc>
                  <a:txBody>
                    <a:bodyPr/>
                    <a:lstStyle/>
                    <a:p>
                      <a:pPr rtl="0" algn="l"/>
                      <a:r>
                        <a:rPr sz="1500" b="1" i="0" lang="en-US">
                          <a:solidFill>
                            <a:srgbClr val="945222"/>
                          </a:solidFill>
                          <a:latin typeface="Segoe UI"/>
                        </a:rPr>
                        <a:t>drink</a:t>
                      </a:r>
                    </a:p>
                  </a:txBody>
                  <a:tcPr>
                    <a:solidFill>
                      <a:srgbClr val="FFFFFF"/>
                    </a:solidFill>
                  </a:tcPr>
                </a:tc>
                <a:tc>
                  <a:txBody>
                    <a:bodyPr/>
                    <a:lstStyle/>
                    <a:p>
                      <a:pPr rtl="1" algn="r"/>
                      <a:r>
                        <a:rPr sz="1700" b="0" i="0" lang="ar-EG" altLang="en-US">
                          <a:solidFill>
                            <a:srgbClr val="1C2333"/>
                          </a:solidFill>
                          <a:latin typeface="Traditional Arabic"/>
                        </a:rPr>
                        <a:t>يشرب</a:t>
                      </a:r>
                    </a:p>
                  </a:txBody>
                  <a:tcPr>
                    <a:solidFill>
                      <a:srgbClr val="FFFFFF"/>
                    </a:solidFill>
                  </a:tcPr>
                </a:tc>
                <a:tc>
                  <a:txBody>
                    <a:bodyPr/>
                    <a:lstStyle/>
                    <a:p>
                      <a:pPr rtl="0" algn="l"/>
                      <a:r>
                        <a:rPr sz="1500" b="1" i="0" lang="en-US">
                          <a:solidFill>
                            <a:srgbClr val="945222"/>
                          </a:solidFill>
                          <a:latin typeface="Segoe UI"/>
                        </a:rPr>
                        <a:t>is / am</a:t>
                      </a:r>
                    </a:p>
                  </a:txBody>
                  <a:tcPr>
                    <a:solidFill>
                      <a:srgbClr val="FFFFFF"/>
                    </a:solidFill>
                  </a:tcPr>
                </a:tc>
                <a:tc>
                  <a:txBody>
                    <a:bodyPr/>
                    <a:lstStyle/>
                    <a:p>
                      <a:pPr rtl="1" algn="r"/>
                      <a:r>
                        <a:rPr sz="1700" b="0" i="0" lang="ar-EG" altLang="en-US">
                          <a:solidFill>
                            <a:srgbClr val="1C2333"/>
                          </a:solidFill>
                          <a:latin typeface="Traditional Arabic"/>
                        </a:rPr>
                        <a:t>يكون</a:t>
                      </a:r>
                    </a:p>
                  </a:txBody>
                  <a:tcPr>
                    <a:solidFill>
                      <a:srgbClr val="FFFFFF"/>
                    </a:solidFill>
                  </a:tcPr>
                </a:tc>
                <a:tc>
                  <a:txBody>
                    <a:bodyPr/>
                    <a:lstStyle/>
                    <a:p>
                      <a:pPr rtl="0" algn="l"/>
                      <a:r>
                        <a:rPr sz="1500" b="1" i="0" lang="en-US">
                          <a:solidFill>
                            <a:srgbClr val="945222"/>
                          </a:solidFill>
                          <a:latin typeface="Segoe UI"/>
                        </a:rPr>
                        <a:t>lose</a:t>
                      </a:r>
                    </a:p>
                  </a:txBody>
                  <a:tcPr>
                    <a:solidFill>
                      <a:srgbClr val="FFFFFF"/>
                    </a:solidFill>
                  </a:tcPr>
                </a:tc>
                <a:tc>
                  <a:txBody>
                    <a:bodyPr/>
                    <a:lstStyle/>
                    <a:p>
                      <a:pPr rtl="1" algn="r"/>
                      <a:r>
                        <a:rPr sz="1700" b="0" i="0" lang="ar-EG" altLang="en-US">
                          <a:solidFill>
                            <a:srgbClr val="1C2333"/>
                          </a:solidFill>
                          <a:latin typeface="Traditional Arabic"/>
                        </a:rPr>
                        <a:t>يفقد</a:t>
                      </a:r>
                    </a:p>
                  </a:txBody>
                  <a:tcPr>
                    <a:solidFill>
                      <a:srgbClr val="FFFFFF"/>
                    </a:solidFill>
                  </a:tcPr>
                </a:tc>
              </a:tr>
              <a:tr h="384048">
                <a:tc>
                  <a:txBody>
                    <a:bodyPr/>
                    <a:lstStyle/>
                    <a:p>
                      <a:pPr rtl="0" algn="l"/>
                      <a:r>
                        <a:rPr sz="1500" b="1" i="0" lang="en-US">
                          <a:solidFill>
                            <a:srgbClr val="945222"/>
                          </a:solidFill>
                          <a:latin typeface="Segoe UI"/>
                        </a:rPr>
                        <a:t>meet</a:t>
                      </a:r>
                    </a:p>
                  </a:txBody>
                  <a:tcPr>
                    <a:solidFill>
                      <a:srgbClr val="EEF3FA"/>
                    </a:solidFill>
                  </a:tcPr>
                </a:tc>
                <a:tc>
                  <a:txBody>
                    <a:bodyPr/>
                    <a:lstStyle/>
                    <a:p>
                      <a:pPr rtl="1" algn="r"/>
                      <a:r>
                        <a:rPr sz="1700" b="0" i="0" lang="ar-EG" altLang="en-US">
                          <a:solidFill>
                            <a:srgbClr val="1C2333"/>
                          </a:solidFill>
                          <a:latin typeface="Traditional Arabic"/>
                        </a:rPr>
                        <a:t>يقابل</a:t>
                      </a:r>
                    </a:p>
                  </a:txBody>
                  <a:tcPr>
                    <a:solidFill>
                      <a:srgbClr val="EEF3FA"/>
                    </a:solidFill>
                  </a:tcPr>
                </a:tc>
                <a:tc>
                  <a:txBody>
                    <a:bodyPr/>
                    <a:lstStyle/>
                    <a:p>
                      <a:pPr rtl="0" algn="l"/>
                      <a:r>
                        <a:rPr sz="1500" b="1" i="0" lang="en-US">
                          <a:solidFill>
                            <a:srgbClr val="945222"/>
                          </a:solidFill>
                          <a:latin typeface="Segoe UI"/>
                        </a:rPr>
                        <a:t>are</a:t>
                      </a:r>
                    </a:p>
                  </a:txBody>
                  <a:tcPr>
                    <a:solidFill>
                      <a:srgbClr val="EEF3FA"/>
                    </a:solidFill>
                  </a:tcPr>
                </a:tc>
                <a:tc>
                  <a:txBody>
                    <a:bodyPr/>
                    <a:lstStyle/>
                    <a:p>
                      <a:pPr rtl="1" algn="r"/>
                      <a:r>
                        <a:rPr sz="1700" b="0" i="0" lang="ar-EG" altLang="en-US">
                          <a:solidFill>
                            <a:srgbClr val="1C2333"/>
                          </a:solidFill>
                          <a:latin typeface="Traditional Arabic"/>
                        </a:rPr>
                        <a:t>يكونون</a:t>
                      </a:r>
                    </a:p>
                  </a:txBody>
                  <a:tcPr>
                    <a:solidFill>
                      <a:srgbClr val="EEF3FA"/>
                    </a:solidFill>
                  </a:tcPr>
                </a:tc>
                <a:tc>
                  <a:txBody>
                    <a:bodyPr/>
                    <a:lstStyle/>
                    <a:p>
                      <a:pPr rtl="0" algn="l"/>
                      <a:r>
                        <a:rPr sz="1500" b="1" i="0" lang="en-US">
                          <a:solidFill>
                            <a:srgbClr val="945222"/>
                          </a:solidFill>
                          <a:latin typeface="Segoe UI"/>
                        </a:rPr>
                        <a:t>get up</a:t>
                      </a:r>
                    </a:p>
                  </a:txBody>
                  <a:tcPr>
                    <a:solidFill>
                      <a:srgbClr val="EEF3FA"/>
                    </a:solidFill>
                  </a:tcPr>
                </a:tc>
                <a:tc>
                  <a:txBody>
                    <a:bodyPr/>
                    <a:lstStyle/>
                    <a:p>
                      <a:pPr rtl="1" algn="r"/>
                      <a:r>
                        <a:rPr sz="1700" b="0" i="0" lang="ar-EG" altLang="en-US">
                          <a:solidFill>
                            <a:srgbClr val="1C2333"/>
                          </a:solidFill>
                          <a:latin typeface="Traditional Arabic"/>
                        </a:rPr>
                        <a:t>يستيقظ</a:t>
                      </a:r>
                    </a:p>
                  </a:txBody>
                  <a:tcPr>
                    <a:solidFill>
                      <a:srgbClr val="EEF3FA"/>
                    </a:solidFill>
                  </a:tcPr>
                </a:tc>
              </a:tr>
              <a:tr h="384048">
                <a:tc>
                  <a:txBody>
                    <a:bodyPr/>
                    <a:lstStyle/>
                    <a:p>
                      <a:pPr rtl="0" algn="l"/>
                      <a:r>
                        <a:rPr sz="1500" b="1" i="0" lang="en-US">
                          <a:solidFill>
                            <a:srgbClr val="945222"/>
                          </a:solidFill>
                          <a:latin typeface="Segoe UI"/>
                        </a:rPr>
                        <a:t>swim</a:t>
                      </a:r>
                    </a:p>
                  </a:txBody>
                  <a:tcPr>
                    <a:solidFill>
                      <a:srgbClr val="FFFFFF"/>
                    </a:solidFill>
                  </a:tcPr>
                </a:tc>
                <a:tc>
                  <a:txBody>
                    <a:bodyPr/>
                    <a:lstStyle/>
                    <a:p>
                      <a:pPr rtl="1" algn="r"/>
                      <a:r>
                        <a:rPr sz="1700" b="0" i="0" lang="ar-EG" altLang="en-US">
                          <a:solidFill>
                            <a:srgbClr val="1C2333"/>
                          </a:solidFill>
                          <a:latin typeface="Traditional Arabic"/>
                        </a:rPr>
                        <a:t>يسبح</a:t>
                      </a:r>
                    </a:p>
                  </a:txBody>
                  <a:tcPr>
                    <a:solidFill>
                      <a:srgbClr val="FFFFFF"/>
                    </a:solidFill>
                  </a:tcPr>
                </a:tc>
                <a:tc>
                  <a:txBody>
                    <a:bodyPr/>
                    <a:lstStyle/>
                    <a:p>
                      <a:pPr rtl="0" algn="l"/>
                      <a:r>
                        <a:rPr sz="1500" b="1" i="0" lang="en-US">
                          <a:solidFill>
                            <a:srgbClr val="945222"/>
                          </a:solidFill>
                          <a:latin typeface="Segoe UI"/>
                        </a:rPr>
                        <a:t>do / does</a:t>
                      </a:r>
                    </a:p>
                  </a:txBody>
                  <a:tcPr>
                    <a:solidFill>
                      <a:srgbClr val="FFFFFF"/>
                    </a:solidFill>
                  </a:tcPr>
                </a:tc>
                <a:tc>
                  <a:txBody>
                    <a:bodyPr/>
                    <a:lstStyle/>
                    <a:p>
                      <a:pPr rtl="1" algn="r"/>
                      <a:r>
                        <a:rPr sz="1700" b="0" i="0" lang="ar-EG" altLang="en-US">
                          <a:solidFill>
                            <a:srgbClr val="1C2333"/>
                          </a:solidFill>
                          <a:latin typeface="Traditional Arabic"/>
                        </a:rPr>
                        <a:t>يفعل</a:t>
                      </a:r>
                    </a:p>
                  </a:txBody>
                  <a:tcPr>
                    <a:solidFill>
                      <a:srgbClr val="FFFFFF"/>
                    </a:solidFill>
                  </a:tcPr>
                </a:tc>
                <a:tc>
                  <a:txBody>
                    <a:bodyPr/>
                    <a:lstStyle/>
                    <a:p>
                      <a:pPr rtl="0" algn="l"/>
                      <a:r>
                        <a:rPr sz="1500" b="1" i="0" lang="en-US">
                          <a:solidFill>
                            <a:srgbClr val="945222"/>
                          </a:solidFill>
                          <a:latin typeface="Segoe UI"/>
                        </a:rPr>
                        <a:t>wear</a:t>
                      </a:r>
                    </a:p>
                  </a:txBody>
                  <a:tcPr>
                    <a:solidFill>
                      <a:srgbClr val="FFFFFF"/>
                    </a:solidFill>
                  </a:tcPr>
                </a:tc>
                <a:tc>
                  <a:txBody>
                    <a:bodyPr/>
                    <a:lstStyle/>
                    <a:p>
                      <a:pPr rtl="1" algn="r"/>
                      <a:r>
                        <a:rPr sz="1700" b="0" i="0" lang="ar-EG" altLang="en-US">
                          <a:solidFill>
                            <a:srgbClr val="1C2333"/>
                          </a:solidFill>
                          <a:latin typeface="Traditional Arabic"/>
                        </a:rPr>
                        <a:t>يرتدي</a:t>
                      </a:r>
                    </a:p>
                  </a:txBody>
                  <a:tcPr>
                    <a:solidFill>
                      <a:srgbClr val="FFFFFF"/>
                    </a:solidFill>
                  </a:tcPr>
                </a:tc>
              </a:tr>
              <a:tr h="384048">
                <a:tc>
                  <a:txBody>
                    <a:bodyPr/>
                    <a:lstStyle/>
                    <a:p>
                      <a:pPr rtl="0" algn="l"/>
                      <a:r>
                        <a:rPr sz="1500" b="1" i="0" lang="en-US">
                          <a:solidFill>
                            <a:srgbClr val="945222"/>
                          </a:solidFill>
                          <a:latin typeface="Segoe UI"/>
                        </a:rPr>
                        <a:t>eat</a:t>
                      </a:r>
                    </a:p>
                  </a:txBody>
                  <a:tcPr>
                    <a:solidFill>
                      <a:srgbClr val="EEF3FA"/>
                    </a:solidFill>
                  </a:tcPr>
                </a:tc>
                <a:tc>
                  <a:txBody>
                    <a:bodyPr/>
                    <a:lstStyle/>
                    <a:p>
                      <a:pPr rtl="1" algn="r"/>
                      <a:r>
                        <a:rPr sz="1700" b="0" i="0" lang="ar-EG" altLang="en-US">
                          <a:solidFill>
                            <a:srgbClr val="1C2333"/>
                          </a:solidFill>
                          <a:latin typeface="Traditional Arabic"/>
                        </a:rPr>
                        <a:t>يأكل</a:t>
                      </a:r>
                    </a:p>
                  </a:txBody>
                  <a:tcPr>
                    <a:solidFill>
                      <a:srgbClr val="EEF3FA"/>
                    </a:solidFill>
                  </a:tcPr>
                </a:tc>
                <a:tc>
                  <a:txBody>
                    <a:bodyPr/>
                    <a:lstStyle/>
                    <a:p>
                      <a:pPr rtl="0" algn="l"/>
                      <a:r>
                        <a:rPr sz="1500" b="1" i="0" lang="en-US">
                          <a:solidFill>
                            <a:srgbClr val="945222"/>
                          </a:solidFill>
                          <a:latin typeface="Segoe UI"/>
                        </a:rPr>
                        <a:t>feel</a:t>
                      </a:r>
                    </a:p>
                  </a:txBody>
                  <a:tcPr>
                    <a:solidFill>
                      <a:srgbClr val="EEF3FA"/>
                    </a:solidFill>
                  </a:tcPr>
                </a:tc>
                <a:tc>
                  <a:txBody>
                    <a:bodyPr/>
                    <a:lstStyle/>
                    <a:p>
                      <a:pPr rtl="1" algn="r"/>
                      <a:r>
                        <a:rPr sz="1700" b="0" i="0" lang="ar-EG" altLang="en-US">
                          <a:solidFill>
                            <a:srgbClr val="1C2333"/>
                          </a:solidFill>
                          <a:latin typeface="Traditional Arabic"/>
                        </a:rPr>
                        <a:t>يشعر</a:t>
                      </a:r>
                    </a:p>
                  </a:txBody>
                  <a:tcPr>
                    <a:solidFill>
                      <a:srgbClr val="EEF3FA"/>
                    </a:solidFill>
                  </a:tcPr>
                </a:tc>
                <a:tc>
                  <a:txBody>
                    <a:bodyPr/>
                    <a:lstStyle/>
                    <a:p>
                      <a:pPr rtl="0" algn="l"/>
                      <a:r>
                        <a:rPr sz="1500" b="1" i="0" lang="en-US">
                          <a:solidFill>
                            <a:srgbClr val="945222"/>
                          </a:solidFill>
                          <a:latin typeface="Segoe UI"/>
                        </a:rPr>
                        <a:t>forget</a:t>
                      </a:r>
                    </a:p>
                  </a:txBody>
                  <a:tcPr>
                    <a:solidFill>
                      <a:srgbClr val="EEF3FA"/>
                    </a:solidFill>
                  </a:tcPr>
                </a:tc>
                <a:tc>
                  <a:txBody>
                    <a:bodyPr/>
                    <a:lstStyle/>
                    <a:p>
                      <a:pPr rtl="1" algn="r"/>
                      <a:r>
                        <a:rPr sz="1700" b="0" i="0" lang="ar-EG" altLang="en-US">
                          <a:solidFill>
                            <a:srgbClr val="1C2333"/>
                          </a:solidFill>
                          <a:latin typeface="Traditional Arabic"/>
                        </a:rPr>
                        <a:t>ينسى</a:t>
                      </a:r>
                    </a:p>
                  </a:txBody>
                  <a:tcPr>
                    <a:solidFill>
                      <a:srgbClr val="EEF3FA"/>
                    </a:solidFill>
                  </a:tcPr>
                </a:tc>
              </a:tr>
              <a:tr h="384048">
                <a:tc>
                  <a:txBody>
                    <a:bodyPr/>
                    <a:lstStyle/>
                    <a:p>
                      <a:pPr rtl="0" algn="l"/>
                      <a:r>
                        <a:rPr sz="1500" b="1" i="0" lang="en-US">
                          <a:solidFill>
                            <a:srgbClr val="945222"/>
                          </a:solidFill>
                          <a:latin typeface="Segoe UI"/>
                        </a:rPr>
                        <a:t>sell</a:t>
                      </a:r>
                    </a:p>
                  </a:txBody>
                  <a:tcPr>
                    <a:solidFill>
                      <a:srgbClr val="FFFFFF"/>
                    </a:solidFill>
                  </a:tcPr>
                </a:tc>
                <a:tc>
                  <a:txBody>
                    <a:bodyPr/>
                    <a:lstStyle/>
                    <a:p>
                      <a:pPr rtl="1" algn="r"/>
                      <a:r>
                        <a:rPr sz="1700" b="0" i="0" lang="ar-EG" altLang="en-US">
                          <a:solidFill>
                            <a:srgbClr val="1C2333"/>
                          </a:solidFill>
                          <a:latin typeface="Traditional Arabic"/>
                        </a:rPr>
                        <a:t>يبيع</a:t>
                      </a:r>
                    </a:p>
                  </a:txBody>
                  <a:tcPr>
                    <a:solidFill>
                      <a:srgbClr val="FFFFFF"/>
                    </a:solidFill>
                  </a:tcPr>
                </a:tc>
                <a:tc>
                  <a:txBody>
                    <a:bodyPr/>
                    <a:lstStyle/>
                    <a:p>
                      <a:pPr rtl="0" algn="l"/>
                      <a:r>
                        <a:rPr sz="1500" b="1" i="0" lang="en-US">
                          <a:solidFill>
                            <a:srgbClr val="945222"/>
                          </a:solidFill>
                          <a:latin typeface="Segoe UI"/>
                        </a:rPr>
                        <a:t>hear</a:t>
                      </a:r>
                    </a:p>
                  </a:txBody>
                  <a:tcPr>
                    <a:solidFill>
                      <a:srgbClr val="FFFFFF"/>
                    </a:solidFill>
                  </a:tcPr>
                </a:tc>
                <a:tc>
                  <a:txBody>
                    <a:bodyPr/>
                    <a:lstStyle/>
                    <a:p>
                      <a:pPr rtl="1" algn="r"/>
                      <a:r>
                        <a:rPr sz="1700" b="0" i="0" lang="ar-EG" altLang="en-US">
                          <a:solidFill>
                            <a:srgbClr val="1C2333"/>
                          </a:solidFill>
                          <a:latin typeface="Traditional Arabic"/>
                        </a:rPr>
                        <a:t>يسمع</a:t>
                      </a:r>
                    </a:p>
                  </a:txBody>
                  <a:tcPr>
                    <a:solidFill>
                      <a:srgbClr val="FFFFFF"/>
                    </a:solidFill>
                  </a:tcPr>
                </a:tc>
                <a:tc>
                  <a:txBody>
                    <a:bodyPr/>
                    <a:lstStyle/>
                    <a:p>
                      <a:pPr rtl="0" algn="l"/>
                      <a:r>
                        <a:rPr sz="1500" b="1" i="0" lang="en-US">
                          <a:solidFill>
                            <a:srgbClr val="945222"/>
                          </a:solidFill>
                          <a:latin typeface="Segoe UI"/>
                        </a:rPr>
                        <a:t>say</a:t>
                      </a:r>
                    </a:p>
                  </a:txBody>
                  <a:tcPr>
                    <a:solidFill>
                      <a:srgbClr val="FFFFFF"/>
                    </a:solidFill>
                  </a:tcPr>
                </a:tc>
                <a:tc>
                  <a:txBody>
                    <a:bodyPr/>
                    <a:lstStyle/>
                    <a:p>
                      <a:pPr rtl="1" algn="r"/>
                      <a:r>
                        <a:rPr sz="1700" b="0" i="0" lang="ar-EG" altLang="en-US">
                          <a:solidFill>
                            <a:srgbClr val="1C2333"/>
                          </a:solidFill>
                          <a:latin typeface="Traditional Arabic"/>
                        </a:rPr>
                        <a:t>يقول</a:t>
                      </a:r>
                    </a:p>
                  </a:txBody>
                  <a:tcPr>
                    <a:solidFill>
                      <a:srgbClr val="FFFFFF"/>
                    </a:solidFill>
                  </a:tcPr>
                </a:tc>
              </a:tr>
              <a:tr h="384048">
                <a:tc>
                  <a:txBody>
                    <a:bodyPr/>
                    <a:lstStyle/>
                    <a:p>
                      <a:pPr rtl="0" algn="l"/>
                      <a:r>
                        <a:rPr sz="1500" b="1" i="0" lang="en-US">
                          <a:solidFill>
                            <a:srgbClr val="945222"/>
                          </a:solidFill>
                          <a:latin typeface="Segoe UI"/>
                        </a:rPr>
                        <a:t>make</a:t>
                      </a:r>
                    </a:p>
                  </a:txBody>
                  <a:tcPr>
                    <a:solidFill>
                      <a:srgbClr val="EEF3FA"/>
                    </a:solidFill>
                  </a:tcPr>
                </a:tc>
                <a:tc>
                  <a:txBody>
                    <a:bodyPr/>
                    <a:lstStyle/>
                    <a:p>
                      <a:pPr rtl="1" algn="r"/>
                      <a:r>
                        <a:rPr sz="1700" b="0" i="0" lang="ar-EG" altLang="en-US">
                          <a:solidFill>
                            <a:srgbClr val="1C2333"/>
                          </a:solidFill>
                          <a:latin typeface="Traditional Arabic"/>
                        </a:rPr>
                        <a:t>يصنع</a:t>
                      </a:r>
                    </a:p>
                  </a:txBody>
                  <a:tcPr>
                    <a:solidFill>
                      <a:srgbClr val="EEF3FA"/>
                    </a:solidFill>
                  </a:tcPr>
                </a:tc>
                <a:tc>
                  <a:txBody>
                    <a:bodyPr/>
                    <a:lstStyle/>
                    <a:p>
                      <a:pPr rtl="0" algn="l"/>
                      <a:r>
                        <a:rPr sz="1500" b="1" i="0" lang="en-US">
                          <a:solidFill>
                            <a:srgbClr val="945222"/>
                          </a:solidFill>
                          <a:latin typeface="Segoe UI"/>
                        </a:rPr>
                        <a:t>take</a:t>
                      </a:r>
                    </a:p>
                  </a:txBody>
                  <a:tcPr>
                    <a:solidFill>
                      <a:srgbClr val="EEF3FA"/>
                    </a:solidFill>
                  </a:tcPr>
                </a:tc>
                <a:tc>
                  <a:txBody>
                    <a:bodyPr/>
                    <a:lstStyle/>
                    <a:p>
                      <a:pPr rtl="1" algn="r"/>
                      <a:r>
                        <a:rPr sz="1700" b="0" i="0" lang="ar-EG" altLang="en-US">
                          <a:solidFill>
                            <a:srgbClr val="1C2333"/>
                          </a:solidFill>
                          <a:latin typeface="Traditional Arabic"/>
                        </a:rPr>
                        <a:t>يأخذ</a:t>
                      </a:r>
                    </a:p>
                  </a:txBody>
                  <a:tcPr>
                    <a:solidFill>
                      <a:srgbClr val="EEF3FA"/>
                    </a:solidFill>
                  </a:tcPr>
                </a:tc>
                <a:tc>
                  <a:txBody>
                    <a:bodyPr/>
                    <a:lstStyle/>
                    <a:p>
                      <a:pPr rtl="0" algn="l"/>
                      <a:r>
                        <a:rPr sz="1500" b="1" i="0" lang="en-US">
                          <a:solidFill>
                            <a:srgbClr val="945222"/>
                          </a:solidFill>
                          <a:latin typeface="Segoe UI"/>
                        </a:rPr>
                        <a:t>know</a:t>
                      </a:r>
                    </a:p>
                  </a:txBody>
                  <a:tcPr>
                    <a:solidFill>
                      <a:srgbClr val="EEF3FA"/>
                    </a:solidFill>
                  </a:tcPr>
                </a:tc>
                <a:tc>
                  <a:txBody>
                    <a:bodyPr/>
                    <a:lstStyle/>
                    <a:p>
                      <a:pPr rtl="1" algn="r"/>
                      <a:r>
                        <a:rPr sz="1700" b="0" i="0" lang="ar-EG" altLang="en-US">
                          <a:solidFill>
                            <a:srgbClr val="1C2333"/>
                          </a:solidFill>
                          <a:latin typeface="Traditional Arabic"/>
                        </a:rPr>
                        <a:t>يعرف</a:t>
                      </a:r>
                    </a:p>
                  </a:txBody>
                  <a:tcPr>
                    <a:solidFill>
                      <a:srgbClr val="EEF3FA"/>
                    </a:solidFill>
                  </a:tcPr>
                </a:tc>
              </a:tr>
            </a:tbl>
          </a:graphicData>
        </a:graphic>
      </p:graphicFrame>
    </p:spTree>
  </p:cSld>
  <p:clrMapOvr>
    <a:masterClrMapping/>
  </p:clrMapOvr>
  <p:transition spd="med">
    <p:plus/>
  </p:transition>
</p:sld>
</file>

<file path=ppt/slides/slide4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5222"/>
                          </a:solidFill>
                          <a:latin typeface="Segoe UI"/>
                        </a:rPr>
                        <a:t>build</a:t>
                      </a:r>
                    </a:p>
                  </a:txBody>
                  <a:tcPr>
                    <a:solidFill>
                      <a:srgbClr val="FFFFFF"/>
                    </a:solidFill>
                  </a:tcPr>
                </a:tc>
                <a:tc>
                  <a:txBody>
                    <a:bodyPr/>
                    <a:lstStyle/>
                    <a:p>
                      <a:pPr rtl="1" algn="r"/>
                      <a:r>
                        <a:rPr sz="1700" b="0" i="0" lang="ar-EG" altLang="en-US">
                          <a:solidFill>
                            <a:srgbClr val="1C2333"/>
                          </a:solidFill>
                          <a:latin typeface="Traditional Arabic"/>
                        </a:rPr>
                        <a:t>يبني</a:t>
                      </a:r>
                    </a:p>
                  </a:txBody>
                  <a:tcPr>
                    <a:solidFill>
                      <a:srgbClr val="FFFFFF"/>
                    </a:solidFill>
                  </a:tcPr>
                </a:tc>
                <a:tc>
                  <a:txBody>
                    <a:bodyPr/>
                    <a:lstStyle/>
                    <a:p>
                      <a:pPr rtl="0" algn="l"/>
                      <a:r>
                        <a:rPr sz="1500" b="1" i="0" lang="en-US">
                          <a:solidFill>
                            <a:srgbClr val="945222"/>
                          </a:solidFill>
                          <a:latin typeface="Segoe UI"/>
                        </a:rPr>
                        <a:t>stand</a:t>
                      </a:r>
                    </a:p>
                  </a:txBody>
                  <a:tcPr>
                    <a:solidFill>
                      <a:srgbClr val="FFFFFF"/>
                    </a:solidFill>
                  </a:tcPr>
                </a:tc>
                <a:tc>
                  <a:txBody>
                    <a:bodyPr/>
                    <a:lstStyle/>
                    <a:p>
                      <a:pPr rtl="1" algn="r"/>
                      <a:r>
                        <a:rPr sz="1700" b="0" i="0" lang="ar-EG" altLang="en-US">
                          <a:solidFill>
                            <a:srgbClr val="1C2333"/>
                          </a:solidFill>
                          <a:latin typeface="Traditional Arabic"/>
                        </a:rPr>
                        <a:t>يقف</a:t>
                      </a:r>
                    </a:p>
                  </a:txBody>
                  <a:tcPr>
                    <a:solidFill>
                      <a:srgbClr val="FFFFFF"/>
                    </a:solidFill>
                  </a:tcPr>
                </a:tc>
                <a:tc>
                  <a:txBody>
                    <a:bodyPr/>
                    <a:lstStyle/>
                    <a:p>
                      <a:pPr rtl="0" algn="l"/>
                      <a:r>
                        <a:rPr sz="1500" b="1" i="0" lang="en-US">
                          <a:solidFill>
                            <a:srgbClr val="945222"/>
                          </a:solidFill>
                          <a:latin typeface="Segoe UI"/>
                        </a:rPr>
                        <a:t>send</a:t>
                      </a:r>
                    </a:p>
                  </a:txBody>
                  <a:tcPr>
                    <a:solidFill>
                      <a:srgbClr val="FFFFFF"/>
                    </a:solidFill>
                  </a:tcPr>
                </a:tc>
                <a:tc>
                  <a:txBody>
                    <a:bodyPr/>
                    <a:lstStyle/>
                    <a:p>
                      <a:pPr rtl="1" algn="r"/>
                      <a:r>
                        <a:rPr sz="1700" b="0" i="0" lang="ar-EG" altLang="en-US">
                          <a:solidFill>
                            <a:srgbClr val="1C2333"/>
                          </a:solidFill>
                          <a:latin typeface="Traditional Arabic"/>
                        </a:rPr>
                        <a:t>يرسل</a:t>
                      </a:r>
                    </a:p>
                  </a:txBody>
                  <a:tcPr>
                    <a:solidFill>
                      <a:srgbClr val="FFFFFF"/>
                    </a:solidFill>
                  </a:tcPr>
                </a:tc>
              </a:tr>
              <a:tr h="384048">
                <a:tc>
                  <a:txBody>
                    <a:bodyPr/>
                    <a:lstStyle/>
                    <a:p>
                      <a:pPr rtl="0" algn="l"/>
                      <a:r>
                        <a:rPr sz="1500" b="1" i="0" lang="en-US">
                          <a:solidFill>
                            <a:srgbClr val="945222"/>
                          </a:solidFill>
                          <a:latin typeface="Segoe UI"/>
                        </a:rPr>
                        <a:t>keep</a:t>
                      </a:r>
                    </a:p>
                  </a:txBody>
                  <a:tcPr>
                    <a:solidFill>
                      <a:srgbClr val="EEF3FA"/>
                    </a:solidFill>
                  </a:tcPr>
                </a:tc>
                <a:tc>
                  <a:txBody>
                    <a:bodyPr/>
                    <a:lstStyle/>
                    <a:p>
                      <a:pPr rtl="1" algn="r"/>
                      <a:r>
                        <a:rPr sz="1700" b="0" i="0" lang="ar-EG" altLang="en-US">
                          <a:solidFill>
                            <a:srgbClr val="1C2333"/>
                          </a:solidFill>
                          <a:latin typeface="Traditional Arabic"/>
                        </a:rPr>
                        <a:t>يحفظ</a:t>
                      </a:r>
                    </a:p>
                  </a:txBody>
                  <a:tcPr>
                    <a:solidFill>
                      <a:srgbClr val="EEF3FA"/>
                    </a:solidFill>
                  </a:tcPr>
                </a:tc>
                <a:tc>
                  <a:txBody>
                    <a:bodyPr/>
                    <a:lstStyle/>
                    <a:p>
                      <a:pPr rtl="0" algn="l"/>
                      <a:r>
                        <a:rPr sz="1500" b="1" i="0" lang="en-US">
                          <a:solidFill>
                            <a:srgbClr val="945222"/>
                          </a:solidFill>
                          <a:latin typeface="Segoe UI"/>
                        </a:rPr>
                        <a:t>leave</a:t>
                      </a:r>
                    </a:p>
                  </a:txBody>
                  <a:tcPr>
                    <a:solidFill>
                      <a:srgbClr val="EEF3FA"/>
                    </a:solidFill>
                  </a:tcPr>
                </a:tc>
                <a:tc>
                  <a:txBody>
                    <a:bodyPr/>
                    <a:lstStyle/>
                    <a:p>
                      <a:pPr rtl="1" algn="r"/>
                      <a:r>
                        <a:rPr sz="1700" b="0" i="0" lang="ar-EG" altLang="en-US">
                          <a:solidFill>
                            <a:srgbClr val="1C2333"/>
                          </a:solidFill>
                          <a:latin typeface="Traditional Arabic"/>
                        </a:rPr>
                        <a:t>يغادر</a:t>
                      </a:r>
                    </a:p>
                  </a:txBody>
                  <a:tcPr>
                    <a:solidFill>
                      <a:srgbClr val="EEF3FA"/>
                    </a:solidFill>
                  </a:tcPr>
                </a:tc>
                <a:tc>
                  <a:txBody>
                    <a:bodyPr/>
                    <a:lstStyle/>
                    <a:p>
                      <a:pPr rtl="0" algn="l"/>
                      <a:r>
                        <a:rPr sz="1500" b="1" i="0" lang="en-US">
                          <a:solidFill>
                            <a:srgbClr val="945222"/>
                          </a:solidFill>
                          <a:latin typeface="Segoe UI"/>
                        </a:rPr>
                        <a:t>bring</a:t>
                      </a:r>
                    </a:p>
                  </a:txBody>
                  <a:tcPr>
                    <a:solidFill>
                      <a:srgbClr val="EEF3FA"/>
                    </a:solidFill>
                  </a:tcPr>
                </a:tc>
                <a:tc>
                  <a:txBody>
                    <a:bodyPr/>
                    <a:lstStyle/>
                    <a:p>
                      <a:pPr rtl="1" algn="r"/>
                      <a:r>
                        <a:rPr sz="1700" b="0" i="0" lang="ar-EG" altLang="en-US">
                          <a:solidFill>
                            <a:srgbClr val="1C2333"/>
                          </a:solidFill>
                          <a:latin typeface="Traditional Arabic"/>
                        </a:rPr>
                        <a:t>يحضر</a:t>
                      </a:r>
                    </a:p>
                  </a:txBody>
                  <a:tcPr>
                    <a:solidFill>
                      <a:srgbClr val="EEF3FA"/>
                    </a:solidFill>
                  </a:tcPr>
                </a:tc>
              </a:tr>
              <a:tr h="384048">
                <a:tc>
                  <a:txBody>
                    <a:bodyPr/>
                    <a:lstStyle/>
                    <a:p>
                      <a:pPr rtl="0" algn="l"/>
                      <a:r>
                        <a:rPr sz="1500" b="1" i="0" lang="en-US">
                          <a:solidFill>
                            <a:srgbClr val="945222"/>
                          </a:solidFill>
                          <a:latin typeface="Segoe UI"/>
                        </a:rPr>
                        <a:t>sleep</a:t>
                      </a:r>
                    </a:p>
                  </a:txBody>
                  <a:tcPr>
                    <a:solidFill>
                      <a:srgbClr val="FFFFFF"/>
                    </a:solidFill>
                  </a:tcPr>
                </a:tc>
                <a:tc>
                  <a:txBody>
                    <a:bodyPr/>
                    <a:lstStyle/>
                    <a:p>
                      <a:pPr rtl="1" algn="r"/>
                      <a:r>
                        <a:rPr sz="1700" b="0" i="0" lang="ar-EG" altLang="en-US">
                          <a:solidFill>
                            <a:srgbClr val="1C2333"/>
                          </a:solidFill>
                          <a:latin typeface="Traditional Arabic"/>
                        </a:rPr>
                        <a:t>ينام</a:t>
                      </a:r>
                    </a:p>
                  </a:txBody>
                  <a:tcPr>
                    <a:solidFill>
                      <a:srgbClr val="FFFFFF"/>
                    </a:solidFill>
                  </a:tcPr>
                </a:tc>
                <a:tc>
                  <a:txBody>
                    <a:bodyPr/>
                    <a:lstStyle/>
                    <a:p>
                      <a:pPr rtl="0" algn="l"/>
                      <a:r>
                        <a:rPr sz="1500" b="1" i="0" lang="en-US">
                          <a:solidFill>
                            <a:srgbClr val="945222"/>
                          </a:solidFill>
                          <a:latin typeface="Segoe UI"/>
                        </a:rPr>
                        <a:t>speak</a:t>
                      </a:r>
                    </a:p>
                  </a:txBody>
                  <a:tcPr>
                    <a:solidFill>
                      <a:srgbClr val="FFFFFF"/>
                    </a:solidFill>
                  </a:tcPr>
                </a:tc>
                <a:tc>
                  <a:txBody>
                    <a:bodyPr/>
                    <a:lstStyle/>
                    <a:p>
                      <a:pPr rtl="1" algn="r"/>
                      <a:r>
                        <a:rPr sz="1700" b="0" i="0" lang="ar-EG" altLang="en-US">
                          <a:solidFill>
                            <a:srgbClr val="1C2333"/>
                          </a:solidFill>
                          <a:latin typeface="Traditional Arabic"/>
                        </a:rPr>
                        <a:t>يتحدث</a:t>
                      </a:r>
                    </a:p>
                  </a:txBody>
                  <a:tcPr>
                    <a:solidFill>
                      <a:srgbClr val="FFFFFF"/>
                    </a:solidFill>
                  </a:tcPr>
                </a:tc>
                <a:tc>
                  <a:txBody>
                    <a:bodyPr/>
                    <a:lstStyle/>
                    <a:p>
                      <a:pPr rtl="0" algn="l"/>
                      <a:r>
                        <a:rPr sz="1500" b="1" i="0" lang="en-US">
                          <a:solidFill>
                            <a:srgbClr val="945222"/>
                          </a:solidFill>
                          <a:latin typeface="Segoe UI"/>
                        </a:rPr>
                        <a:t>choose</a:t>
                      </a:r>
                    </a:p>
                  </a:txBody>
                  <a:tcPr>
                    <a:solidFill>
                      <a:srgbClr val="FFFFFF"/>
                    </a:solidFill>
                  </a:tcPr>
                </a:tc>
                <a:tc>
                  <a:txBody>
                    <a:bodyPr/>
                    <a:lstStyle/>
                    <a:p>
                      <a:pPr rtl="1" algn="r"/>
                      <a:r>
                        <a:rPr sz="1700" b="0" i="0" lang="ar-EG" altLang="en-US">
                          <a:solidFill>
                            <a:srgbClr val="1C2333"/>
                          </a:solidFill>
                          <a:latin typeface="Traditional Arabic"/>
                        </a:rPr>
                        <a:t>يختار</a:t>
                      </a:r>
                    </a:p>
                  </a:txBody>
                  <a:tcPr>
                    <a:solidFill>
                      <a:srgbClr val="FFFFFF"/>
                    </a:solidFill>
                  </a:tcPr>
                </a:tc>
              </a:tr>
              <a:tr h="384048">
                <a:tc>
                  <a:txBody>
                    <a:bodyPr/>
                    <a:lstStyle/>
                    <a:p>
                      <a:pPr rtl="0" algn="l"/>
                      <a:r>
                        <a:rPr sz="1500" b="1" i="0" lang="en-US">
                          <a:solidFill>
                            <a:srgbClr val="945222"/>
                          </a:solidFill>
                          <a:latin typeface="Segoe UI"/>
                        </a:rPr>
                        <a:t>come</a:t>
                      </a:r>
                    </a:p>
                  </a:txBody>
                  <a:tcPr>
                    <a:solidFill>
                      <a:srgbClr val="EEF3FA"/>
                    </a:solidFill>
                  </a:tcPr>
                </a:tc>
                <a:tc>
                  <a:txBody>
                    <a:bodyPr/>
                    <a:lstStyle/>
                    <a:p>
                      <a:pPr rtl="1" algn="r"/>
                      <a:r>
                        <a:rPr sz="1700" b="0" i="0" lang="ar-EG" altLang="en-US">
                          <a:solidFill>
                            <a:srgbClr val="1C2333"/>
                          </a:solidFill>
                          <a:latin typeface="Traditional Arabic"/>
                        </a:rPr>
                        <a:t>يأتي</a:t>
                      </a:r>
                    </a:p>
                  </a:txBody>
                  <a:tcPr>
                    <a:solidFill>
                      <a:srgbClr val="EEF3FA"/>
                    </a:solidFill>
                  </a:tcPr>
                </a:tc>
                <a:tc>
                  <a:txBody>
                    <a:bodyPr/>
                    <a:lstStyle/>
                    <a:p>
                      <a:pPr rtl="0" algn="l"/>
                      <a:r>
                        <a:rPr sz="1500" b="1" i="0" lang="en-US">
                          <a:solidFill>
                            <a:srgbClr val="945222"/>
                          </a:solidFill>
                          <a:latin typeface="Segoe UI"/>
                        </a:rPr>
                        <a:t>give</a:t>
                      </a:r>
                    </a:p>
                  </a:txBody>
                  <a:tcPr>
                    <a:solidFill>
                      <a:srgbClr val="EEF3FA"/>
                    </a:solidFill>
                  </a:tcPr>
                </a:tc>
                <a:tc>
                  <a:txBody>
                    <a:bodyPr/>
                    <a:lstStyle/>
                    <a:p>
                      <a:pPr rtl="1" algn="r"/>
                      <a:r>
                        <a:rPr sz="1700" b="0" i="0" lang="ar-EG" altLang="en-US">
                          <a:solidFill>
                            <a:srgbClr val="1C2333"/>
                          </a:solidFill>
                          <a:latin typeface="Traditional Arabic"/>
                        </a:rPr>
                        <a:t>يعطي</a:t>
                      </a:r>
                    </a:p>
                  </a:txBody>
                  <a:tcPr>
                    <a:solidFill>
                      <a:srgbClr val="EEF3FA"/>
                    </a:solidFill>
                  </a:tcPr>
                </a:tc>
                <a:tc>
                  <a:txBody>
                    <a:bodyPr/>
                    <a:lstStyle/>
                    <a:p>
                      <a:pPr rtl="0" algn="l"/>
                      <a:r>
                        <a:rPr sz="1500" b="1" i="0" lang="en-US">
                          <a:solidFill>
                            <a:srgbClr val="945222"/>
                          </a:solidFill>
                          <a:latin typeface="Segoe UI"/>
                        </a:rPr>
                        <a:t>sweep</a:t>
                      </a:r>
                    </a:p>
                  </a:txBody>
                  <a:tcPr>
                    <a:solidFill>
                      <a:srgbClr val="EEF3FA"/>
                    </a:solidFill>
                  </a:tcPr>
                </a:tc>
                <a:tc>
                  <a:txBody>
                    <a:bodyPr/>
                    <a:lstStyle/>
                    <a:p>
                      <a:pPr rtl="1" algn="r"/>
                      <a:r>
                        <a:rPr sz="1700" b="0" i="0" lang="ar-EG" altLang="en-US">
                          <a:solidFill>
                            <a:srgbClr val="1C2333"/>
                          </a:solidFill>
                          <a:latin typeface="Traditional Arabic"/>
                        </a:rPr>
                        <a:t>يكنس</a:t>
                      </a:r>
                    </a:p>
                  </a:txBody>
                  <a:tcPr>
                    <a:solidFill>
                      <a:srgbClr val="EEF3FA"/>
                    </a:solidFill>
                  </a:tcPr>
                </a:tc>
              </a:tr>
              <a:tr h="384048">
                <a:tc>
                  <a:txBody>
                    <a:bodyPr/>
                    <a:lstStyle/>
                    <a:p>
                      <a:pPr rtl="0" algn="l"/>
                      <a:r>
                        <a:rPr sz="1500" b="1" i="0" lang="en-US">
                          <a:solidFill>
                            <a:srgbClr val="945222"/>
                          </a:solidFill>
                          <a:latin typeface="Segoe UI"/>
                        </a:rPr>
                        <a:t>catch</a:t>
                      </a:r>
                    </a:p>
                  </a:txBody>
                  <a:tcPr>
                    <a:solidFill>
                      <a:srgbClr val="FFFFFF"/>
                    </a:solidFill>
                  </a:tcPr>
                </a:tc>
                <a:tc>
                  <a:txBody>
                    <a:bodyPr/>
                    <a:lstStyle/>
                    <a:p>
                      <a:pPr rtl="1" algn="r"/>
                      <a:r>
                        <a:rPr sz="1700" b="0" i="0" lang="ar-EG" altLang="en-US">
                          <a:solidFill>
                            <a:srgbClr val="1C2333"/>
                          </a:solidFill>
                          <a:latin typeface="Traditional Arabic"/>
                        </a:rPr>
                        <a:t>يلحق</a:t>
                      </a:r>
                    </a:p>
                  </a:txBody>
                  <a:tcPr>
                    <a:solidFill>
                      <a:srgbClr val="FFFFFF"/>
                    </a:solidFill>
                  </a:tcPr>
                </a:tc>
                <a:tc>
                  <a:txBody>
                    <a:bodyPr/>
                    <a:lstStyle/>
                    <a:p>
                      <a:pPr rtl="0" algn="l"/>
                      <a:r>
                        <a:rPr sz="1500" b="1" i="0" lang="en-US">
                          <a:solidFill>
                            <a:srgbClr val="945222"/>
                          </a:solidFill>
                          <a:latin typeface="Segoe UI"/>
                        </a:rPr>
                        <a:t>read</a:t>
                      </a:r>
                    </a:p>
                  </a:txBody>
                  <a:tcPr>
                    <a:solidFill>
                      <a:srgbClr val="FFFFFF"/>
                    </a:solidFill>
                  </a:tcPr>
                </a:tc>
                <a:tc>
                  <a:txBody>
                    <a:bodyPr/>
                    <a:lstStyle/>
                    <a:p>
                      <a:pPr rtl="1" algn="r"/>
                      <a:r>
                        <a:rPr sz="1700" b="0" i="0" lang="ar-EG" altLang="en-US">
                          <a:solidFill>
                            <a:srgbClr val="1C2333"/>
                          </a:solidFill>
                          <a:latin typeface="Traditional Arabic"/>
                        </a:rPr>
                        <a:t>يقرأ</a:t>
                      </a:r>
                    </a:p>
                  </a:txBody>
                  <a:tcPr>
                    <a:solidFill>
                      <a:srgbClr val="FFFFFF"/>
                    </a:solidFill>
                  </a:tcPr>
                </a:tc>
                <a:tc>
                  <a:txBody>
                    <a:bodyPr/>
                    <a:lstStyle/>
                    <a:p>
                      <a:pPr rtl="0" algn="l"/>
                      <a:r>
                        <a:rPr sz="1500" b="1" i="0" lang="en-US">
                          <a:solidFill>
                            <a:srgbClr val="945222"/>
                          </a:solidFill>
                          <a:latin typeface="Segoe UI"/>
                        </a:rPr>
                        <a:t>learn</a:t>
                      </a:r>
                    </a:p>
                  </a:txBody>
                  <a:tcPr>
                    <a:solidFill>
                      <a:srgbClr val="FFFFFF"/>
                    </a:solidFill>
                  </a:tcPr>
                </a:tc>
                <a:tc>
                  <a:txBody>
                    <a:bodyPr/>
                    <a:lstStyle/>
                    <a:p>
                      <a:pPr rtl="1" algn="r"/>
                      <a:r>
                        <a:rPr sz="1700" b="0" i="0" lang="ar-EG" altLang="en-US">
                          <a:solidFill>
                            <a:srgbClr val="1C2333"/>
                          </a:solidFill>
                          <a:latin typeface="Traditional Arabic"/>
                        </a:rPr>
                        <a:t>يتعلم</a:t>
                      </a:r>
                    </a:p>
                  </a:txBody>
                  <a:tcPr>
                    <a:solidFill>
                      <a:srgbClr val="FFFFFF"/>
                    </a:solidFill>
                  </a:tcPr>
                </a:tc>
              </a:tr>
              <a:tr h="384048">
                <a:tc>
                  <a:txBody>
                    <a:bodyPr/>
                    <a:lstStyle/>
                    <a:p>
                      <a:pPr rtl="0" algn="l"/>
                      <a:r>
                        <a:rPr sz="1500" b="1" i="0" lang="en-US">
                          <a:solidFill>
                            <a:srgbClr val="945222"/>
                          </a:solidFill>
                          <a:latin typeface="Segoe UI"/>
                        </a:rPr>
                        <a:t>grow</a:t>
                      </a:r>
                    </a:p>
                  </a:txBody>
                  <a:tcPr>
                    <a:solidFill>
                      <a:srgbClr val="EEF3FA"/>
                    </a:solidFill>
                  </a:tcPr>
                </a:tc>
                <a:tc>
                  <a:txBody>
                    <a:bodyPr/>
                    <a:lstStyle/>
                    <a:p>
                      <a:pPr rtl="1" algn="r"/>
                      <a:r>
                        <a:rPr sz="1700" b="0" i="0" lang="ar-EG" altLang="en-US">
                          <a:solidFill>
                            <a:srgbClr val="1C2333"/>
                          </a:solidFill>
                          <a:latin typeface="Traditional Arabic"/>
                        </a:rPr>
                        <a:t>ينمو</a:t>
                      </a:r>
                    </a:p>
                  </a:txBody>
                  <a:tcPr>
                    <a:solidFill>
                      <a:srgbClr val="EEF3FA"/>
                    </a:solidFill>
                  </a:tcPr>
                </a:tc>
                <a:tc>
                  <a:txBody>
                    <a:bodyPr/>
                    <a:lstStyle/>
                    <a:p>
                      <a:pPr rtl="0" algn="l"/>
                      <a:r>
                        <a:rPr sz="1500" b="1" i="0" lang="en-US">
                          <a:solidFill>
                            <a:srgbClr val="945222"/>
                          </a:solidFill>
                          <a:latin typeface="Segoe UI"/>
                        </a:rPr>
                        <a:t>ride</a:t>
                      </a:r>
                    </a:p>
                  </a:txBody>
                  <a:tcPr>
                    <a:solidFill>
                      <a:srgbClr val="EEF3FA"/>
                    </a:solidFill>
                  </a:tcPr>
                </a:tc>
                <a:tc>
                  <a:txBody>
                    <a:bodyPr/>
                    <a:lstStyle/>
                    <a:p>
                      <a:pPr rtl="1" algn="r"/>
                      <a:r>
                        <a:rPr sz="1700" b="0" i="0" lang="ar-EG" altLang="en-US">
                          <a:solidFill>
                            <a:srgbClr val="1C2333"/>
                          </a:solidFill>
                          <a:latin typeface="Traditional Arabic"/>
                        </a:rPr>
                        <a:t>يركب</a:t>
                      </a:r>
                    </a:p>
                  </a:txBody>
                  <a:tcPr>
                    <a:solidFill>
                      <a:srgbClr val="EEF3FA"/>
                    </a:solidFill>
                  </a:tcPr>
                </a:tc>
                <a:tc>
                  <a:txBody>
                    <a:bodyPr/>
                    <a:lstStyle/>
                    <a:p>
                      <a:pPr rtl="0" algn="l"/>
                      <a:r>
                        <a:rPr sz="1500" b="1" i="0" lang="en-US">
                          <a:solidFill>
                            <a:srgbClr val="945222"/>
                          </a:solidFill>
                          <a:latin typeface="Segoe UI"/>
                        </a:rPr>
                        <a:t>drive</a:t>
                      </a:r>
                    </a:p>
                  </a:txBody>
                  <a:tcPr>
                    <a:solidFill>
                      <a:srgbClr val="EEF3FA"/>
                    </a:solidFill>
                  </a:tcPr>
                </a:tc>
                <a:tc>
                  <a:txBody>
                    <a:bodyPr/>
                    <a:lstStyle/>
                    <a:p>
                      <a:pPr rtl="1" algn="r"/>
                      <a:r>
                        <a:rPr sz="1700" b="0" i="0" lang="ar-EG" altLang="en-US">
                          <a:solidFill>
                            <a:srgbClr val="1C2333"/>
                          </a:solidFill>
                          <a:latin typeface="Traditional Arabic"/>
                        </a:rPr>
                        <a:t>يقود</a:t>
                      </a:r>
                    </a:p>
                  </a:txBody>
                  <a:tcPr>
                    <a:solidFill>
                      <a:srgbClr val="EEF3FA"/>
                    </a:solidFill>
                  </a:tcPr>
                </a:tc>
              </a:tr>
              <a:tr h="384048">
                <a:tc>
                  <a:txBody>
                    <a:bodyPr/>
                    <a:lstStyle/>
                    <a:p>
                      <a:pPr rtl="0" algn="l"/>
                      <a:r>
                        <a:rPr sz="1500" b="1" i="0" lang="en-US">
                          <a:solidFill>
                            <a:srgbClr val="945222"/>
                          </a:solidFill>
                          <a:latin typeface="Segoe UI"/>
                        </a:rPr>
                        <a:t>pay</a:t>
                      </a:r>
                    </a:p>
                  </a:txBody>
                  <a:tcPr>
                    <a:solidFill>
                      <a:srgbClr val="FFFFFF"/>
                    </a:solidFill>
                  </a:tcPr>
                </a:tc>
                <a:tc>
                  <a:txBody>
                    <a:bodyPr/>
                    <a:lstStyle/>
                    <a:p>
                      <a:pPr rtl="1" algn="r"/>
                      <a:r>
                        <a:rPr sz="1700" b="0" i="0" lang="ar-EG" altLang="en-US">
                          <a:solidFill>
                            <a:srgbClr val="1C2333"/>
                          </a:solidFill>
                          <a:latin typeface="Traditional Arabic"/>
                        </a:rPr>
                        <a:t>يدفع</a:t>
                      </a:r>
                    </a:p>
                  </a:txBody>
                  <a:tcPr>
                    <a:solidFill>
                      <a:srgbClr val="FFFFFF"/>
                    </a:solidFill>
                  </a:tcPr>
                </a:tc>
                <a:tc>
                  <a:txBody>
                    <a:bodyPr/>
                    <a:lstStyle/>
                    <a:p>
                      <a:pPr rtl="0" algn="l"/>
                      <a:r>
                        <a:rPr sz="1500" b="1" i="0" lang="en-US">
                          <a:solidFill>
                            <a:srgbClr val="945222"/>
                          </a:solidFill>
                          <a:latin typeface="Segoe UI"/>
                        </a:rPr>
                        <a:t>see</a:t>
                      </a:r>
                    </a:p>
                  </a:txBody>
                  <a:tcPr>
                    <a:solidFill>
                      <a:srgbClr val="FFFFFF"/>
                    </a:solidFill>
                  </a:tcPr>
                </a:tc>
                <a:tc>
                  <a:txBody>
                    <a:bodyPr/>
                    <a:lstStyle/>
                    <a:p>
                      <a:pPr rtl="1" algn="r"/>
                      <a:r>
                        <a:rPr sz="1700" b="0" i="0" lang="ar-EG" altLang="en-US">
                          <a:solidFill>
                            <a:srgbClr val="1C2333"/>
                          </a:solidFill>
                          <a:latin typeface="Traditional Arabic"/>
                        </a:rPr>
                        <a:t>يرى</a:t>
                      </a:r>
                    </a:p>
                  </a:txBody>
                  <a:tcPr>
                    <a:solidFill>
                      <a:srgbClr val="FFFFFF"/>
                    </a:solidFill>
                  </a:tcPr>
                </a:tc>
                <a:tc>
                  <a:txBody>
                    <a:bodyPr/>
                    <a:lstStyle/>
                    <a:p>
                      <a:pPr rtl="0" algn="l"/>
                    </a:p>
                  </a:txBody>
                  <a:tcPr>
                    <a:solidFill>
                      <a:srgbClr val="FFFFFF"/>
                    </a:solidFill>
                  </a:tcPr>
                </a:tc>
                <a:tc>
                  <a:txBody>
                    <a:bodyPr/>
                    <a:lstStyle/>
                    <a:p>
                      <a:pPr rtl="0" algn="l"/>
                    </a:p>
                  </a:txBody>
                  <a:tcPr>
                    <a:solidFill>
                      <a:srgbClr val="FFFFFF"/>
                    </a:solidFill>
                  </a:tcPr>
                </a:tc>
              </a:tr>
              <a:tr h="384048">
                <a:tc>
                  <a:txBody>
                    <a:bodyPr/>
                    <a:lstStyle/>
                    <a:p>
                      <a:pPr rtl="0" algn="l"/>
                      <a:r>
                        <a:rPr sz="1500" b="1" i="0" lang="en-US">
                          <a:solidFill>
                            <a:srgbClr val="945222"/>
                          </a:solidFill>
                          <a:latin typeface="Segoe UI"/>
                        </a:rPr>
                        <a:t>find</a:t>
                      </a:r>
                    </a:p>
                  </a:txBody>
                  <a:tcPr>
                    <a:solidFill>
                      <a:srgbClr val="EEF3FA"/>
                    </a:solidFill>
                  </a:tcPr>
                </a:tc>
                <a:tc>
                  <a:txBody>
                    <a:bodyPr/>
                    <a:lstStyle/>
                    <a:p>
                      <a:pPr rtl="1" algn="r"/>
                      <a:r>
                        <a:rPr sz="1700" b="0" i="0" lang="ar-EG" altLang="en-US">
                          <a:solidFill>
                            <a:srgbClr val="1C2333"/>
                          </a:solidFill>
                          <a:latin typeface="Traditional Arabic"/>
                        </a:rPr>
                        <a:t>يجد</a:t>
                      </a:r>
                    </a:p>
                  </a:txBody>
                  <a:tcPr>
                    <a:solidFill>
                      <a:srgbClr val="EEF3FA"/>
                    </a:solidFill>
                  </a:tcPr>
                </a:tc>
                <a:tc>
                  <a:txBody>
                    <a:bodyPr/>
                    <a:lstStyle/>
                    <a:p>
                      <a:pPr rtl="0" algn="l"/>
                      <a:r>
                        <a:rPr sz="1500" b="1" i="0" lang="en-US">
                          <a:solidFill>
                            <a:srgbClr val="945222"/>
                          </a:solidFill>
                          <a:latin typeface="Segoe UI"/>
                        </a:rPr>
                        <a:t>fly</a:t>
                      </a:r>
                    </a:p>
                  </a:txBody>
                  <a:tcPr>
                    <a:solidFill>
                      <a:srgbClr val="EEF3FA"/>
                    </a:solidFill>
                  </a:tcPr>
                </a:tc>
                <a:tc>
                  <a:txBody>
                    <a:bodyPr/>
                    <a:lstStyle/>
                    <a:p>
                      <a:pPr rtl="1" algn="r"/>
                      <a:r>
                        <a:rPr sz="1700" b="0" i="0" lang="ar-EG" altLang="en-US">
                          <a:solidFill>
                            <a:srgbClr val="1C2333"/>
                          </a:solidFill>
                          <a:latin typeface="Traditional Arabic"/>
                        </a:rPr>
                        <a:t>يطير</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transition spd="med">
    <p:strips dir="ld"/>
  </p:transition>
</p:sld>
</file>

<file path=ppt/slides/slide4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(1/6)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 past of go (يذهب) is ……   (stood – went – said)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The past of buy (يشتري) is ……   (bought – left – drove)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bought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 past of drink (يشرب) is ……   (built – heard – drank)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drank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 past of meet (يقابل) is ……   (sold – caught – met)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met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 past of swim (يسبح) is ……   (swam – felt – flew)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swam</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(2/6)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The past of eat (يأكل) is ……   (learnt – ate – flew)</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ate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 past of sell (يبيع) is ……   (met – sold – was)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sold</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 past of make (يصنع) is ……   (built – made – learnt)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made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 past of run (يجري) is ……   (ran – went – did)</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ran</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The past of have / has (يمتلك) is ……   (had – won – spoke)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had</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(3/6)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 past of is / am (يكون) is ……   (sold – felt – was)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The past of are (يكونون) is ……   (met – paid – were)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The past of do / does (يفعل) is ……   (did – swam – met)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The past of feel (يشعر) is ……   (wore – felt – ate)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felt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 past of hear (يسمع) is ……   (flew – caught – heard)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heard</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(4/6)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The past of take (يأخذ) is ……   (learnt – took – had)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took</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The past of win (يفوز) is ……   (won – grew – paid)</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won</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The past of think (يفكر) is ……   (felt – thought – swam)</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thought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The past of lose (يفقد) is ……   (caught – ate – lost)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lost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The past of get up (يستيقظ) is ……   (came – got up – was)</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got 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(5/6)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21) The past of wear (يرتدي) is ……   (lost – grew – wore)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wore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22) The past of forget (ينسى) is ……   (kept – swam – forgot)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forgot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23) The past of say (يقول) is ……   (drove – lost – said)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said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24) The past of know (يعرف) is ……   (wore – had – knew)</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knew</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25) The past of build (يبني) is ……   (got up – drank – built)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built</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(6/6)</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26) The past of keep (يحفظ) is ……   (paid – came – kept)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kept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27) The past of sleep (ينام) is ……   (brought – spoke – slept)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slept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28) The past of come (يأتي) is ……   (flew – came – paid)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came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29) The past of catch (يلحق) is ……   (kept – came – caught)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caught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30) The past of grow (ينمو) is ……   (found – felt – grew)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grew</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Give the past simple of: pay</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paid</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Give the past simple of: find</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found</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Give the past simple of: stand</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stood</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Give the past simple of: leave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left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Give the past simple of: speak</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spoke</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Give the past simple of: give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gave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Give the past simple of: read</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read</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8) Give the past simple of: ride</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rode</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9) Give the past simple of: see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saw</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10) Give the past simple of: fly</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flew</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11) Give the past simple of: send</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sent</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12) Give the past simple of: bring</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brought</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13) Give the past simple of: choose</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chose</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14) Give the past simple of: sweep</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swept</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15) Give the past simple of: learn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learnt</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16) Give the past simple of: drive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drove</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17) Give the past simple of: play</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played</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18) Give the past simple of: wash</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washed</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19) Give the past simple of: walk</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walked</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20) Give the past simple of: help</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helped</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21) Give the past simple of: visit</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visited</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22) Give the past simple of: listen</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listened</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23) Give the past simple of: like</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liked</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24) Give the past simple of: work</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worked</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25) Give the past simple of: study</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studied</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26) Give the past simple of: clean</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cleaned</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27) Give the past simple of: watch</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watched</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28) Give the past simple of: cook</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500" b="1" i="0" lang="en-US">
                <a:solidFill>
                  <a:srgbClr val="0F7A3D"/>
                </a:solidFill>
                <a:latin typeface="Segoe UI"/>
              </a:rPr>
              <a:t>✔ cooked</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21</a:t>
            </a:r>
          </a:p>
          <a:p>
            <a:pPr algn="ctr" rtl="0"/>
            <a:r>
              <a:rPr sz="4600" b="1" i="0" lang="en-US">
                <a:solidFill>
                  <a:srgbClr val="FFFFFF"/>
                </a:solidFill>
                <a:latin typeface="Segoe UI"/>
              </a:rPr>
              <a:t>The Past Simple Tense</a:t>
            </a:r>
          </a:p>
          <a:p>
            <a:pPr algn="ctr" rtl="1"/>
            <a:r>
              <a:rPr sz="2900" b="0" i="0" lang="ar-EG" altLang="en-US">
                <a:solidFill>
                  <a:srgbClr val="FFFFFF"/>
                </a:solidFill>
                <a:latin typeface="Traditional Arabic"/>
              </a:rPr>
              <a:t>زمن الماضي البسيط</a:t>
            </a:r>
          </a:p>
        </p:txBody>
      </p:sp>
    </p:spTree>
  </p:cSld>
  <p:clrMapOvr>
    <a:masterClrMapping/>
  </p:clrMapOvr>
  <p:transition spd="med">
    <p:zoom dir="in"/>
  </p:transition>
</p:sld>
</file>

<file path=ppt/slides/slide5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2C"/>
                </a:solidFill>
                <a:latin typeface="Traditional Arabic"/>
              </a:rPr>
              <a:t>▶ فاعل + التصريف الثاني للفعل + باقي الجملة .</a:t>
            </a:r>
          </a:p>
          <a:p>
            <a:pPr rtl="1" algn="r">
              <a:spcAft>
                <a:spcPts val="600"/>
              </a:spcAft>
            </a:pPr>
            <a:r>
              <a:rPr sz="2100" b="0" i="0" lang="ar-EG" altLang="en-US">
                <a:solidFill>
                  <a:srgbClr val="1C2333"/>
                </a:solidFill>
                <a:latin typeface="Traditional Arabic"/>
              </a:rPr>
              <a:t>يُستخدم للتعبير عن شيء حدث في الماضي وانتهى.</a:t>
            </a:r>
          </a:p>
          <a:p>
            <a:pPr rtl="1" algn="r">
              <a:spcAft>
                <a:spcPts val="600"/>
              </a:spcAft>
            </a:pPr>
            <a:r>
              <a:rPr sz="2100" b="0" i="0" lang="ar-EG" altLang="en-US">
                <a:solidFill>
                  <a:srgbClr val="1C2333"/>
                </a:solidFill>
                <a:latin typeface="Traditional Arabic"/>
              </a:rPr>
              <a:t>• live → live d — يضاف للفعل d إذا كان آخره e.</a:t>
            </a:r>
          </a:p>
          <a:p>
            <a:pPr rtl="1" algn="r">
              <a:spcAft>
                <a:spcPts val="600"/>
              </a:spcAft>
            </a:pPr>
            <a:r>
              <a:rPr sz="2100" b="0" i="0" lang="ar-EG" altLang="en-US">
                <a:solidFill>
                  <a:srgbClr val="1C2333"/>
                </a:solidFill>
                <a:latin typeface="Traditional Arabic"/>
              </a:rPr>
              <a:t>• study → stud ied — إذا انتهى الفعل بـ y وقبلها ساكن نحذفها ونضيف ied.</a:t>
            </a:r>
          </a:p>
          <a:p>
            <a:pPr rtl="1" algn="r">
              <a:spcAft>
                <a:spcPts val="600"/>
              </a:spcAft>
            </a:pPr>
            <a:r>
              <a:rPr sz="2100" b="0" i="0" lang="ar-EG" altLang="en-US">
                <a:solidFill>
                  <a:srgbClr val="1C2333"/>
                </a:solidFill>
                <a:latin typeface="Traditional Arabic"/>
              </a:rPr>
              <a:t>• play → play ed — إذا انتهى الفعل بـ y وقبلها متحرك نضيف ed.</a:t>
            </a:r>
          </a:p>
          <a:p>
            <a:pPr rtl="1" algn="r">
              <a:spcAft>
                <a:spcPts val="600"/>
              </a:spcAft>
            </a:pPr>
            <a:r>
              <a:rPr sz="2100" b="0" i="0" lang="ar-EG" altLang="en-US">
                <a:solidFill>
                  <a:srgbClr val="1C2333"/>
                </a:solidFill>
                <a:latin typeface="Traditional Arabic"/>
              </a:rPr>
              <a:t>• watch → watch ed — باقي الأفعال المنتظمة يضاف لها ed.</a:t>
            </a:r>
          </a:p>
        </p:txBody>
      </p:sp>
    </p:spTree>
  </p:cSld>
  <p:clrMapOvr>
    <a:masterClrMapping/>
  </p:clrMapOvr>
  <p:transition spd="med">
    <p:wedge/>
  </p:transition>
</p:sld>
</file>

<file path=ppt/slides/slide5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1" algn="r"/>
            <a:r>
              <a:rPr sz="1700" b="0" i="0" lang="ar-EG" altLang="en-US">
                <a:solidFill>
                  <a:srgbClr val="DDE6F3"/>
                </a:solidFill>
                <a:latin typeface="Traditional Arabic"/>
              </a:rPr>
              <a:t>Keywords — الكلمات الدالة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Keyword | المعنى | ملاحظة</a:t>
            </a:r>
          </a:p>
          <a:p>
            <a:pPr rtl="1" algn="r">
              <a:spcAft>
                <a:spcPts val="600"/>
              </a:spcAft>
            </a:pPr>
            <a:r>
              <a:rPr sz="2100" b="0" i="0" lang="ar-EG" altLang="en-US">
                <a:solidFill>
                  <a:srgbClr val="1C2333"/>
                </a:solidFill>
                <a:latin typeface="Traditional Arabic"/>
              </a:rPr>
              <a:t>yesterday | أمس | تأتي في آخر الكلام</a:t>
            </a:r>
          </a:p>
          <a:p>
            <a:pPr rtl="1" algn="r">
              <a:spcAft>
                <a:spcPts val="600"/>
              </a:spcAft>
            </a:pPr>
            <a:r>
              <a:rPr sz="2100" b="0" i="0" lang="ar-EG" altLang="en-US">
                <a:solidFill>
                  <a:srgbClr val="1C2333"/>
                </a:solidFill>
                <a:latin typeface="Traditional Arabic"/>
              </a:rPr>
              <a:t>ago | منذ | يأتي قبلها مدة زمنية</a:t>
            </a:r>
          </a:p>
          <a:p>
            <a:pPr rtl="1" algn="r">
              <a:spcAft>
                <a:spcPts val="600"/>
              </a:spcAft>
            </a:pPr>
            <a:r>
              <a:rPr sz="2100" b="0" i="0" lang="ar-EG" altLang="en-US">
                <a:solidFill>
                  <a:srgbClr val="1C2333"/>
                </a:solidFill>
                <a:latin typeface="Traditional Arabic"/>
              </a:rPr>
              <a:t>last … | الماضي | يأتي بعدها فترة زمنية: last night / last week</a:t>
            </a:r>
          </a:p>
          <a:p>
            <a:pPr rtl="1" algn="r">
              <a:spcAft>
                <a:spcPts val="600"/>
              </a:spcAft>
            </a:pPr>
            <a:r>
              <a:rPr sz="2100" b="0" i="0" lang="ar-EG" altLang="en-US">
                <a:solidFill>
                  <a:srgbClr val="1C2333"/>
                </a:solidFill>
                <a:latin typeface="Traditional Arabic"/>
              </a:rPr>
              <a:t>in + سنة | في عام | يأتي بعدها سنة: in 2005</a:t>
            </a:r>
          </a:p>
          <a:p>
            <a:pPr rtl="1" algn="r">
              <a:spcAft>
                <a:spcPts val="600"/>
              </a:spcAft>
            </a:pPr>
            <a:r>
              <a:rPr sz="2100" b="0" i="0" lang="ar-EG" altLang="en-US">
                <a:solidFill>
                  <a:srgbClr val="1C2333"/>
                </a:solidFill>
                <a:latin typeface="Traditional Arabic"/>
              </a:rPr>
              <a:t>once / one day | ذات مرة / يوم ما | </a:t>
            </a:r>
          </a:p>
          <a:p>
            <a:pPr rtl="0" algn="l">
              <a:spcAft>
                <a:spcPts val="600"/>
              </a:spcAft>
            </a:pPr>
            <a:r>
              <a:rPr sz="1800" b="0" i="0" lang="en-US">
                <a:solidFill>
                  <a:srgbClr val="1C2333"/>
                </a:solidFill>
                <a:latin typeface="Segoe UI"/>
              </a:rPr>
              <a:t>in the past | في الماضي | </a:t>
            </a:r>
          </a:p>
          <a:p>
            <a:pPr rtl="0" algn="l">
              <a:spcAft>
                <a:spcPts val="600"/>
              </a:spcAft>
            </a:pPr>
            <a:r>
              <a:rPr sz="1800" b="0" i="0" lang="en-US">
                <a:solidFill>
                  <a:srgbClr val="1C2333"/>
                </a:solidFill>
                <a:latin typeface="Segoe UI"/>
              </a:rPr>
              <a:t>When I was … | عندما كنت | </a:t>
            </a:r>
          </a:p>
        </p:txBody>
      </p:sp>
    </p:spTree>
  </p:cSld>
  <p:clrMapOvr>
    <a:masterClrMapping/>
  </p:clrMapOvr>
  <p:transition spd="med">
    <p:zoom dir="in"/>
  </p:transition>
</p:sld>
</file>

<file path=ppt/slides/slide5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2C"/>
                </a:solidFill>
                <a:latin typeface="Traditional Arabic"/>
              </a:rPr>
              <a:t>▶ فاعل + didn't + مصدر + باقي الجملة .</a:t>
            </a:r>
          </a:p>
          <a:p>
            <a:pPr rtl="1" algn="r">
              <a:spcAft>
                <a:spcPts val="600"/>
              </a:spcAft>
            </a:pPr>
            <a:r>
              <a:rPr sz="2100" b="0" i="0" lang="ar-EG" altLang="en-US">
                <a:solidFill>
                  <a:srgbClr val="1C2333"/>
                </a:solidFill>
                <a:latin typeface="Traditional Arabic"/>
              </a:rPr>
              <a:t>النفي مع جميع الضمائر، ويعود الفعل للمصدر.</a:t>
            </a:r>
          </a:p>
          <a:p>
            <a:pPr rtl="1" algn="r">
              <a:spcAft>
                <a:spcPts val="600"/>
              </a:spcAft>
            </a:pPr>
            <a:r>
              <a:rPr sz="2300" b="1" i="0" lang="ar-EG" altLang="en-US">
                <a:solidFill>
                  <a:srgbClr val="94222C"/>
                </a:solidFill>
                <a:latin typeface="Traditional Arabic"/>
              </a:rPr>
              <a:t>▶ Did + فاعل + مصدر + باقي الجملة ?</a:t>
            </a:r>
          </a:p>
          <a:p>
            <a:pPr rtl="1" algn="r">
              <a:spcAft>
                <a:spcPts val="600"/>
              </a:spcAft>
            </a:pPr>
            <a:r>
              <a:rPr sz="2100" b="0" i="0" lang="ar-EG" altLang="en-US">
                <a:solidFill>
                  <a:srgbClr val="1C2333"/>
                </a:solidFill>
                <a:latin typeface="Traditional Arabic"/>
              </a:rPr>
              <a:t>    السؤال بـ Did ويعود الفعل للمصدر.</a:t>
            </a:r>
          </a:p>
          <a:p>
            <a:pPr rtl="1" algn="r">
              <a:spcAft>
                <a:spcPts val="600"/>
              </a:spcAft>
            </a:pPr>
            <a:r>
              <a:rPr sz="2300" b="1" i="0" lang="ar-EG" altLang="en-US">
                <a:solidFill>
                  <a:srgbClr val="94222C"/>
                </a:solidFill>
                <a:latin typeface="Traditional Arabic"/>
              </a:rPr>
              <a:t>▶ أداة استفهام + did + فاعل + مصدر … ?</a:t>
            </a:r>
          </a:p>
          <a:p>
            <a:pPr rtl="1" algn="r">
              <a:spcAft>
                <a:spcPts val="600"/>
              </a:spcAft>
            </a:pPr>
            <a:r>
              <a:rPr sz="2100" b="0" i="0" lang="ar-EG" altLang="en-US">
                <a:solidFill>
                  <a:srgbClr val="1C2333"/>
                </a:solidFill>
                <a:latin typeface="Traditional Arabic"/>
              </a:rPr>
              <a:t>السؤال بأداة استفهام.</a:t>
            </a:r>
          </a:p>
        </p:txBody>
      </p:sp>
    </p:spTree>
  </p:cSld>
  <p:clrMapOvr>
    <a:masterClrMapping/>
  </p:clrMapOvr>
  <p:transition spd="med">
    <p:comb dir="horz"/>
  </p:transition>
</p:sld>
</file>

<file path=ppt/slides/slide5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A) Translate into Arabic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played football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لعبت كرة القدم أمس.</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He visited Cairo last week.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زار القاهرة الأسبوع الماضي.</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 studied English three days ago.</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ذاكرنا الإنجليزية منذ ثلاثة أيام.</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swam in the Red Sea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سبحت في البحر الأحمر أمس.</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My mum baked a cake last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خبزت أمي كعكة الليلة الماضية.</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walked to school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didn't walk to school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visited Cairo last year.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didn't visit Cairo last year.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studied English last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didn't study English last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My mum baked a cake last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didn't bake a cake last night.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We washed our car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didn't wash our car yesterday.</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played football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didn't play football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They went to Alexandria last week.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didn't go to Alexandria last week.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sister watched TV last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sister didn't watch TV last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It rained a lot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It didn't rain a lot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went to the club with my friends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didn't go to the club with my friends yesterday.</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met my friend last week.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meet your friend last week?</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My sister played tennis yesterday.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your sister play tennis yesterday?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studied Arabic last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he study Arabic last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They cleaned the house three hours ago.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they clean the house three hours ago?</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She went to the museum last weekend.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she go to the museum last weekend?</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Omar met his friend last year.</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Omar meet his friend last year?</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We visited London in 2015.</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visit London in 2015?</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parents had a nice weekend last week.</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your parents have a nice weekend last week?</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I climbed the mountain yesterday.</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climb the mountain yesterday?</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5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D) Answer with Yes or No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Did you watch TV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did. / No, I didn't.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Did she listen to music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did. / No, she didn't.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Did they play football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did. / No, they didn't.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Did he visit the zoo last week?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did. / No, he didn't.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Did Rody study English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did. / No, she didn't.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D) Answer with Yes or No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Did your parents travel to Cairo last week?</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did. / No, they didn't.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Did he plant a tree yesterday?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he did. / No, he didn't.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Did your mother bake a cake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she did. / No, she didn't.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Did you walk to school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 did. / No, I didn't.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Did it rain a lot last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it did. / No, it didn't.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D) Answer with Yes or No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Did they listen to music yesterday?</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did. / No, they didn't.</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E) Make a question for these answers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No, she didn't like milk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she like milk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Yes, I went to school last week.</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go to school last week?</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No, he didn't visit Cairo last month.</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he visit Cairo last month?</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Yes, I studied English last year.</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study English last year?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Yes, they played football last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they play football last night?</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E) Make a question for these answers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No, we didn't see the lion in the zoo.</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see the lion in the zoo?</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Yes, my mum drove the car yesterday.</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your mum drive the car yesterday?</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No, students didn't play football yesterday.</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students play football yesterday?</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F) Make a question using the question word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went to Alexandria yesterday. (When)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did you go to Alexandria?</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My father travelled to Paris by plane. (How)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your father travel to Paris?</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They studied English last night. (What)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they study last night?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I went to school with my friend. (Who)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did you go to school with?</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They had a new house last year. (What)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they have last year?</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F) Make a question using the question word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played football in the club. (Where)</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did he play football?</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She didn't go to school because she was ill. (Why)</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Why didn't she go to school?</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parents went to Cairo by car. (How)</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your parents go to Cairo?</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They went to school to learn. (Why)</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Why did they go to school?</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5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G) Ask or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I visited London last year.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visit London last year? / Where did you visit last year?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Where did you play tennis?</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played tennis in the club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Did they visit the pyramids?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Yes, they did. / No, they didn't.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What did your mum bake?</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baked a cake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I met my friend last year.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did you meet your friend?</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G) Ask or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 climbed a mountain.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you climb?</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father bought a new car.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your father buy?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He built a new house.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he build?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Did you saw the pyramids? (correct)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see the pyramids?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We didn't go to school late.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go to school late?</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How did you go to school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went to school by bus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What did you study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studied English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Where did they play football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played football in the club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Who did you watch TV with last night?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watched TV with my family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What did they buy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bought a new car .</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How did she travel to Paris?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travelled by plane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Who did he play tennis with?</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played tennis with his brother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When did they study Arabic?</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studied Arabic last night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Where did your father travel last week?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travelled to Alexandria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What did your mother bake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baked a cake .</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Where did you go yesterday? (Cairo)</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went to Cairo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What did your friends play last night? (football)</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played football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How did they go to work yesterday? (by bus)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went to work by bus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Why didn't she go to school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didn't go to school because she was ill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Who did you study English with last night?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studied English with my mum .</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When did you meet your friend?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met my friend yesterday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Where did he travel last year?</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travelled to London .</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What did she bake last night?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baked a pie .</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When did your father go to work?</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went to work at 8 o'clock .</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How did your mother go to hospital?</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went to hospital by taxi .</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 TV at home last night.   (watch – watched – watching)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watched</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 visit Cairo last year.   (don't – doesn't – didn't)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 you see the accident yesterday?   (Did – Do – Does)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He …… in the sea last week.   (swam – swim – swimming)</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swam</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Where …… you go yesterday?   (does – did – do)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What did you …… last night?   (eat – ate – eating)</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eat</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Last summer my family …… a nice holiday.   (has – had – have)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had</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My father …… a new car last week.   (buys – bought – buy)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bought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She …… to the market yesterday.   (go – went – goes)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went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 a great movie last night.   (saw – see – seen)</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saw</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Where …… they play football after school yesterday?   (do – did – does)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We …… a big meal on Friday.   (has – had – having)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had</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He …… to school late yesterday.   (came – come – comes)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came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My brother …… a new bike last week.   (buy – buys – bought)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bought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They …… in Paris in 2010.   (live – lives – lived)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lived</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I …… in London two years ago.   (am – was – were)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was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She …… a cake for her birthday yesterday.   (make – made – making)</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made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They …… to the museum yesterday.   (goes – go – went)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19) …… he watch TV last night?   (Does – Did – Do)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20) It …… rain a lot last night.   (don't – doesn't – didn't)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didn't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yesterday – She – English – study – didn't.</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didn't study English yesterday.</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do – you – What – week – did – last?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did you do last week?</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went – summer – family – to – Alexandria – last – My.</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family went to Alexandria last summer.</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football – night – He – in – played – the club – last.</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played football in the club last night.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5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didn't – school – you – Why – to – go – yesterday?</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Why didn't you go to school yesterday?</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mum – baked – night – cake – last – a – My.</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baked a cake last night.</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parents – did – to – How – travel – your – Cairo?</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your parents travel to Cairo?</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in – visited – I – Paris – 2010 – my family – and.</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family and I visited Paris in 2010.</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5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month – We – last – visited – uncle – our.</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visited our uncle last month.</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Where do you go yesterday?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did you go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She didn't bought a new dress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didn't buy a new dress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I meet my friend last week.</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met my friend last week.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Do you go to the cinema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go to the cinema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How did your parents travelled to Cairo?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your parents travel to Cairo?</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He didn't built a new house last year.</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didn't build a new house last year.</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My brother has a new baby yesterday.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brother had a new baby yesterday.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Where did you go to school? By bus.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you go to school? By bus.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Did you saw the pyramids yesterday?</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see the pyramids yesterday?</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Where did you get up? At 7 o'clock.</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did you get up? At 7 o'clock.</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When did you live with? With my parents.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did you live with? With my parents.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My friend come early last night.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friend came early last night.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She study English yesterday.</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studied English yesterday.</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How did Ali went to school?</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did Ali go to school?</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My mum make a nice pie yesterday.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made a nice pie yesterday.</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She isn't at school yesterday.</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wasn't at school yesterday.</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We didn't sad last night.</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weren't sad last night.</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Did you at home yesterday?</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Were you at home yesterday?</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Where …… you go last Friday?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Where did you go last Friday?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Mahmoud: I …… to the zoo with my family.</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Mahmoud: I went to the zoo with my family.</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 animals did you see?</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What animals did you see?</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Mahmoud: I …… lions, elephants, and tigers.</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Mahmoud: I saw lions, elephants, and tigers.</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Did you enjoy the trip?</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Did you enjoy the trip?</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Mahmoud: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Mahmoud: Yes, I did. It was great.</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Youssef: Have a nice day.</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Youssef: Have a nice day.</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Mahmoud: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Mahmoud: Thank you.</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box(i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ox(in)">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ox(i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ox(i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ox(i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box(i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ox(in)">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5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When …… you arrive at the museum yesterday?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When did you arrive at the museum yesterday?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We …… there at 10 a.m.</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We arrived there at 10 a.m.</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 you take any photos?</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Did you take any photos?</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Yes, I …… many photos.</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Yes, I took many photos.</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How was it?</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How was it?</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It …… amazing.</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It was amazing.</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heel(1)">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heel(1)">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heel(1)">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heel(1)">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heel(1)">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Lst>
  </p:timing>
</p:sld>
</file>

<file path=ppt/slides/slide5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Where …… you go yesterday?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Where did you go yesterday?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I …… to the supermarket.</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I went to the supermarket.</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What did you …… ?</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What did you buy ?</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I bought milk, rice, and bread.</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I bought milk, rice, and bread.</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 you buy anything else?</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Did you buy anything else?</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No, …… .'</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No, I didn't .'</a:t>
            </a:r>
          </a:p>
        </p:txBody>
      </p:sp>
      <p:sp>
        <p:nvSpPr>
          <p:cNvPr id="22" name="TextBox 21"/>
          <p:cNvSpPr txBox="1"/>
          <p:nvPr/>
        </p:nvSpPr>
        <p:spPr>
          <a:xfrm>
            <a:off x="411480" y="486460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Rody: Have a nice day.</a:t>
            </a:r>
          </a:p>
        </p:txBody>
      </p:sp>
      <p:sp>
        <p:nvSpPr>
          <p:cNvPr id="23" name="TextBox 22"/>
          <p:cNvSpPr txBox="1"/>
          <p:nvPr/>
        </p:nvSpPr>
        <p:spPr>
          <a:xfrm>
            <a:off x="6217920" y="486460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Rody: Have a nice day.</a:t>
            </a:r>
          </a:p>
        </p:txBody>
      </p:sp>
      <p:sp>
        <p:nvSpPr>
          <p:cNvPr id="24" name="TextBox 23"/>
          <p:cNvSpPr txBox="1"/>
          <p:nvPr/>
        </p:nvSpPr>
        <p:spPr>
          <a:xfrm>
            <a:off x="411480" y="543153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Sara: Thank you.</a:t>
            </a:r>
          </a:p>
        </p:txBody>
      </p:sp>
      <p:sp>
        <p:nvSpPr>
          <p:cNvPr id="25" name="TextBox 24"/>
          <p:cNvSpPr txBox="1"/>
          <p:nvPr/>
        </p:nvSpPr>
        <p:spPr>
          <a:xfrm>
            <a:off x="6217920" y="543153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Sara: Thank you.</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5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097280"/>
            <a:ext cx="5577840" cy="36576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p:txBody>
      </p:sp>
      <p:sp>
        <p:nvSpPr>
          <p:cNvPr id="9" name="TextBox 8"/>
          <p:cNvSpPr txBox="1"/>
          <p:nvPr/>
        </p:nvSpPr>
        <p:spPr>
          <a:xfrm>
            <a:off x="6217920" y="1097280"/>
            <a:ext cx="5577840" cy="36576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  (click to reveal)</a:t>
            </a:r>
          </a:p>
        </p:txBody>
      </p:sp>
      <p:sp>
        <p:nvSpPr>
          <p:cNvPr id="10" name="TextBox 9"/>
          <p:cNvSpPr txBox="1"/>
          <p:nvPr/>
        </p:nvSpPr>
        <p:spPr>
          <a:xfrm>
            <a:off x="411480" y="146304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Where …… you go after school yesterday?</a:t>
            </a:r>
          </a:p>
        </p:txBody>
      </p:sp>
      <p:sp>
        <p:nvSpPr>
          <p:cNvPr id="11" name="TextBox 10"/>
          <p:cNvSpPr txBox="1"/>
          <p:nvPr/>
        </p:nvSpPr>
        <p:spPr>
          <a:xfrm>
            <a:off x="6217920" y="146304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Where did you go after school yesterday?</a:t>
            </a:r>
          </a:p>
        </p:txBody>
      </p:sp>
      <p:sp>
        <p:nvSpPr>
          <p:cNvPr id="12" name="TextBox 11"/>
          <p:cNvSpPr txBox="1"/>
          <p:nvPr/>
        </p:nvSpPr>
        <p:spPr>
          <a:xfrm>
            <a:off x="411480" y="2029968"/>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I …… to the library.</a:t>
            </a:r>
          </a:p>
        </p:txBody>
      </p:sp>
      <p:sp>
        <p:nvSpPr>
          <p:cNvPr id="13" name="TextBox 12"/>
          <p:cNvSpPr txBox="1"/>
          <p:nvPr/>
        </p:nvSpPr>
        <p:spPr>
          <a:xfrm>
            <a:off x="6217920" y="2029968"/>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I went to the library.</a:t>
            </a:r>
          </a:p>
        </p:txBody>
      </p:sp>
      <p:sp>
        <p:nvSpPr>
          <p:cNvPr id="14" name="TextBox 13"/>
          <p:cNvSpPr txBox="1"/>
          <p:nvPr/>
        </p:nvSpPr>
        <p:spPr>
          <a:xfrm>
            <a:off x="411480" y="2596896"/>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 did you read?</a:t>
            </a:r>
          </a:p>
        </p:txBody>
      </p:sp>
      <p:sp>
        <p:nvSpPr>
          <p:cNvPr id="15" name="TextBox 14"/>
          <p:cNvSpPr txBox="1"/>
          <p:nvPr/>
        </p:nvSpPr>
        <p:spPr>
          <a:xfrm>
            <a:off x="6217920" y="2596896"/>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What did you read?</a:t>
            </a:r>
          </a:p>
        </p:txBody>
      </p:sp>
      <p:sp>
        <p:nvSpPr>
          <p:cNvPr id="16" name="TextBox 15"/>
          <p:cNvSpPr txBox="1"/>
          <p:nvPr/>
        </p:nvSpPr>
        <p:spPr>
          <a:xfrm>
            <a:off x="411480" y="3163824"/>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I …… a book about animals.</a:t>
            </a:r>
          </a:p>
        </p:txBody>
      </p:sp>
      <p:sp>
        <p:nvSpPr>
          <p:cNvPr id="17" name="TextBox 16"/>
          <p:cNvSpPr txBox="1"/>
          <p:nvPr/>
        </p:nvSpPr>
        <p:spPr>
          <a:xfrm>
            <a:off x="6217920" y="3163824"/>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I read a book about animals.</a:t>
            </a:r>
          </a:p>
        </p:txBody>
      </p:sp>
      <p:sp>
        <p:nvSpPr>
          <p:cNvPr id="18" name="TextBox 17"/>
          <p:cNvSpPr txBox="1"/>
          <p:nvPr/>
        </p:nvSpPr>
        <p:spPr>
          <a:xfrm>
            <a:off x="411480" y="3730752"/>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Teacher: Who did you go with?</a:t>
            </a:r>
          </a:p>
        </p:txBody>
      </p:sp>
      <p:sp>
        <p:nvSpPr>
          <p:cNvPr id="19" name="TextBox 18"/>
          <p:cNvSpPr txBox="1"/>
          <p:nvPr/>
        </p:nvSpPr>
        <p:spPr>
          <a:xfrm>
            <a:off x="6217920" y="3730752"/>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Teacher: Who did you go with?</a:t>
            </a:r>
          </a:p>
        </p:txBody>
      </p:sp>
      <p:sp>
        <p:nvSpPr>
          <p:cNvPr id="20" name="TextBox 19"/>
          <p:cNvSpPr txBox="1"/>
          <p:nvPr/>
        </p:nvSpPr>
        <p:spPr>
          <a:xfrm>
            <a:off x="411480" y="4297680"/>
            <a:ext cx="5577840" cy="566928"/>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Student: I …… with my friend Ali.</a:t>
            </a:r>
          </a:p>
        </p:txBody>
      </p:sp>
      <p:sp>
        <p:nvSpPr>
          <p:cNvPr id="21" name="TextBox 20"/>
          <p:cNvSpPr txBox="1"/>
          <p:nvPr/>
        </p:nvSpPr>
        <p:spPr>
          <a:xfrm>
            <a:off x="6217920" y="4297680"/>
            <a:ext cx="5577840" cy="566928"/>
          </a:xfrm>
          <a:prstGeom prst="rect">
            <a:avLst/>
          </a:prstGeom>
          <a:noFill/>
        </p:spPr>
        <p:txBody>
          <a:bodyPr wrap="square" lIns="109728" rIns="109728" tIns="54864" bIns="54864" anchor="ctr">
            <a:spAutoFit/>
          </a:bodyPr>
          <a:lstStyle/>
          <a:p>
            <a:pPr rtl="0" algn="l"/>
            <a:r>
              <a:rPr sz="1600" b="1" i="0" lang="en-US">
                <a:solidFill>
                  <a:srgbClr val="0F7A3D"/>
                </a:solidFill>
                <a:latin typeface="Segoe UI"/>
              </a:rPr>
              <a:t>Student: I went with my friend Ali.</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Lst>
  </p:timing>
</p:sld>
</file>

<file path=ppt/slides/slide5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Translate into English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 أنا لم أذهب إلى المدرسة أمس.</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didn't go to school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2) أنا لعبت كرة القدم في النادي.</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played football in the club.</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3) هل أنت زرت القاهرة الأسبوع الماضي؟</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Did you visit Cairo last week?</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4) هم امتلكوا بيتًا جديدًا العام الماضي.</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had a new house last year.</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5) نحن ذاكرنا إنجليزي الليلة الماضية.</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studied English last night.</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Translate into English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6) أمي صنعت بيتزا أمس.</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My mum made pizza yesterday.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7) أين سافرت العام الماضي؟</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did you travel last year?</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8) متى زرت الإسكندرية؟</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did you visit Alexandria?</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9) أنا زرت فرنسا في 2010.</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visited France in 2010.</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1" algn="r"/>
            <a:r>
              <a:rPr sz="2100" b="0" i="0" lang="ar-EG" altLang="en-US">
                <a:solidFill>
                  <a:srgbClr val="1C2333"/>
                </a:solidFill>
                <a:latin typeface="Traditional Arabic"/>
              </a:rPr>
              <a:t>10) نحن ذهبنا إلى المدرسة بالأتوبيس.</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We went to school by bus.</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Translate into Arabic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1) I visited London last year.</a:t>
            </a:r>
          </a:p>
        </p:txBody>
      </p:sp>
      <p:sp>
        <p:nvSpPr>
          <p:cNvPr id="9" name="Rounded Rectangle 8"/>
          <p:cNvSpPr/>
          <p:nvPr/>
        </p:nvSpPr>
        <p:spPr>
          <a:xfrm>
            <a:off x="822960" y="1515291"/>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زرت لندن العام الماضي.</a:t>
            </a:r>
          </a:p>
        </p:txBody>
      </p:sp>
      <p:sp>
        <p:nvSpPr>
          <p:cNvPr id="10" name="TextBox 9"/>
          <p:cNvSpPr txBox="1"/>
          <p:nvPr/>
        </p:nvSpPr>
        <p:spPr>
          <a:xfrm>
            <a:off x="411480" y="1887582"/>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2) Where did you play tennis?</a:t>
            </a:r>
          </a:p>
        </p:txBody>
      </p:sp>
      <p:sp>
        <p:nvSpPr>
          <p:cNvPr id="11" name="Rounded Rectangle 10"/>
          <p:cNvSpPr/>
          <p:nvPr/>
        </p:nvSpPr>
        <p:spPr>
          <a:xfrm>
            <a:off x="822960" y="2259874"/>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أين لعبت التنس؟</a:t>
            </a:r>
          </a:p>
        </p:txBody>
      </p:sp>
      <p:sp>
        <p:nvSpPr>
          <p:cNvPr id="12" name="TextBox 11"/>
          <p:cNvSpPr txBox="1"/>
          <p:nvPr/>
        </p:nvSpPr>
        <p:spPr>
          <a:xfrm>
            <a:off x="411480" y="2632165"/>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3) Did they visit the pyramids?</a:t>
            </a:r>
          </a:p>
        </p:txBody>
      </p:sp>
      <p:sp>
        <p:nvSpPr>
          <p:cNvPr id="13" name="Rounded Rectangle 12"/>
          <p:cNvSpPr/>
          <p:nvPr/>
        </p:nvSpPr>
        <p:spPr>
          <a:xfrm>
            <a:off x="822960" y="3004457"/>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هل زاروا الأهرامات؟</a:t>
            </a:r>
          </a:p>
        </p:txBody>
      </p:sp>
      <p:sp>
        <p:nvSpPr>
          <p:cNvPr id="14" name="TextBox 13"/>
          <p:cNvSpPr txBox="1"/>
          <p:nvPr/>
        </p:nvSpPr>
        <p:spPr>
          <a:xfrm>
            <a:off x="411480" y="3376748"/>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4) What did your mum bake?</a:t>
            </a:r>
          </a:p>
        </p:txBody>
      </p:sp>
      <p:sp>
        <p:nvSpPr>
          <p:cNvPr id="15" name="Rounded Rectangle 14"/>
          <p:cNvSpPr/>
          <p:nvPr/>
        </p:nvSpPr>
        <p:spPr>
          <a:xfrm>
            <a:off x="822960" y="3749040"/>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ماذا خبزت أمك؟</a:t>
            </a:r>
          </a:p>
        </p:txBody>
      </p:sp>
      <p:sp>
        <p:nvSpPr>
          <p:cNvPr id="16" name="TextBox 15"/>
          <p:cNvSpPr txBox="1"/>
          <p:nvPr/>
        </p:nvSpPr>
        <p:spPr>
          <a:xfrm>
            <a:off x="411480" y="4121331"/>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5) I met my friend last year.</a:t>
            </a:r>
          </a:p>
        </p:txBody>
      </p:sp>
      <p:sp>
        <p:nvSpPr>
          <p:cNvPr id="17" name="Rounded Rectangle 16"/>
          <p:cNvSpPr/>
          <p:nvPr/>
        </p:nvSpPr>
        <p:spPr>
          <a:xfrm>
            <a:off x="822960" y="4493622"/>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قابلت صديقي العام الماضي.</a:t>
            </a:r>
          </a:p>
        </p:txBody>
      </p:sp>
      <p:sp>
        <p:nvSpPr>
          <p:cNvPr id="18" name="TextBox 17"/>
          <p:cNvSpPr txBox="1"/>
          <p:nvPr/>
        </p:nvSpPr>
        <p:spPr>
          <a:xfrm>
            <a:off x="411480" y="4865914"/>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6) We climbed a mountain.</a:t>
            </a:r>
          </a:p>
        </p:txBody>
      </p:sp>
      <p:sp>
        <p:nvSpPr>
          <p:cNvPr id="19" name="Rounded Rectangle 18"/>
          <p:cNvSpPr/>
          <p:nvPr/>
        </p:nvSpPr>
        <p:spPr>
          <a:xfrm>
            <a:off x="822960" y="5238205"/>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تسلقنا جبلًا.</a:t>
            </a:r>
          </a:p>
        </p:txBody>
      </p:sp>
      <p:sp>
        <p:nvSpPr>
          <p:cNvPr id="20" name="TextBox 19"/>
          <p:cNvSpPr txBox="1"/>
          <p:nvPr/>
        </p:nvSpPr>
        <p:spPr>
          <a:xfrm>
            <a:off x="411480" y="5610497"/>
            <a:ext cx="11368735" cy="372291"/>
          </a:xfrm>
          <a:prstGeom prst="rect">
            <a:avLst/>
          </a:prstGeom>
          <a:noFill/>
        </p:spPr>
        <p:txBody>
          <a:bodyPr wrap="square" lIns="109728" rIns="109728" tIns="54864" bIns="54864" anchor="ctr">
            <a:spAutoFit/>
          </a:bodyPr>
          <a:lstStyle/>
          <a:p>
            <a:pPr rtl="0" algn="l"/>
            <a:r>
              <a:rPr sz="1600" b="0" i="0" lang="en-US">
                <a:solidFill>
                  <a:srgbClr val="1C2333"/>
                </a:solidFill>
                <a:latin typeface="Segoe UI"/>
              </a:rPr>
              <a:t>7) My father bought a new car.</a:t>
            </a:r>
          </a:p>
        </p:txBody>
      </p:sp>
      <p:sp>
        <p:nvSpPr>
          <p:cNvPr id="21" name="Rounded Rectangle 20"/>
          <p:cNvSpPr/>
          <p:nvPr/>
        </p:nvSpPr>
        <p:spPr>
          <a:xfrm>
            <a:off x="822960" y="5982788"/>
            <a:ext cx="10545775" cy="34250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1800" b="1" i="0" lang="ar-EG" altLang="en-US">
                <a:solidFill>
                  <a:srgbClr val="0F7A3D"/>
                </a:solidFill>
                <a:latin typeface="Traditional Arabic"/>
              </a:rPr>
              <a:t>✔ اشترى أبي سيارة جديدة.</a:t>
            </a:r>
          </a:p>
        </p:txBody>
      </p:sp>
    </p:spTree>
  </p:cSld>
  <p:clrMapOvr>
    <a:masterClrMapping/>
  </p:clrMapOvr>
  <p:transition spd="med">
    <p:wheel spokes="4"/>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ox(in)">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Lst>
  </p:timing>
</p:sld>
</file>

<file path=ppt/slides/slide5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Translate into Arabic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He built a new house.</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بنى بيتًا جديدًا.</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Did you see the pyramids?</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هل رأيت الأهرامات؟</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We didn't go to school late.</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r" rtl="1"/>
            <a:r>
              <a:rPr sz="2000" b="1" i="0" lang="ar-EG" altLang="en-US">
                <a:solidFill>
                  <a:srgbClr val="0F7A3D"/>
                </a:solidFill>
                <a:latin typeface="Traditional Arabic"/>
              </a:rPr>
              <a:t>✔ لم نذهب إلى المدرسة متأخرين.</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22</a:t>
            </a:r>
          </a:p>
          <a:p>
            <a:pPr algn="ctr" rtl="0"/>
            <a:r>
              <a:rPr sz="4600" b="1" i="0" lang="en-US">
                <a:solidFill>
                  <a:srgbClr val="FFFFFF"/>
                </a:solidFill>
                <a:latin typeface="Segoe UI"/>
              </a:rPr>
              <a:t>Should</a:t>
            </a:r>
          </a:p>
          <a:p>
            <a:pPr algn="ctr" rtl="1"/>
            <a:r>
              <a:rPr sz="2900" b="0" i="0" lang="ar-EG" altLang="en-US">
                <a:solidFill>
                  <a:srgbClr val="FFFFFF"/>
                </a:solidFill>
                <a:latin typeface="Traditional Arabic"/>
              </a:rPr>
              <a:t>فعل النصيحة</a:t>
            </a:r>
          </a:p>
        </p:txBody>
      </p:sp>
    </p:spTree>
  </p:cSld>
  <p:clrMapOvr>
    <a:masterClrMapping/>
  </p:clrMapOvr>
  <p:transition spd="med">
    <p:zoom dir="in"/>
  </p:transition>
</p:sld>
</file>

<file path=ppt/slides/slide5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9435"/>
                </a:solidFill>
                <a:latin typeface="Traditional Arabic"/>
              </a:rPr>
              <a:t>▶ فاعل + should + مصدر + باقي الجملة .</a:t>
            </a:r>
          </a:p>
          <a:p>
            <a:pPr rtl="1" algn="r">
              <a:spcAft>
                <a:spcPts val="600"/>
              </a:spcAft>
            </a:pPr>
            <a:r>
              <a:rPr sz="2100" b="0" i="0" lang="ar-EG" altLang="en-US">
                <a:solidFill>
                  <a:srgbClr val="1C2333"/>
                </a:solidFill>
                <a:latin typeface="Traditional Arabic"/>
              </a:rPr>
              <a:t>    تُستخدم should لإعطاء النصيحة، ويأتي بعدها الفعل في المصدر بدون to.</a:t>
            </a:r>
          </a:p>
          <a:p>
            <a:pPr rtl="0" algn="l">
              <a:spcAft>
                <a:spcPts val="600"/>
              </a:spcAft>
            </a:pPr>
            <a:r>
              <a:rPr sz="2000" b="1" i="0" lang="en-US">
                <a:solidFill>
                  <a:srgbClr val="229435"/>
                </a:solidFill>
                <a:latin typeface="Segoe UI"/>
              </a:rPr>
              <a:t>▶ should not = shouldn't</a:t>
            </a:r>
          </a:p>
          <a:p>
            <a:pPr rtl="1" algn="r">
              <a:spcAft>
                <a:spcPts val="600"/>
              </a:spcAft>
            </a:pPr>
            <a:r>
              <a:rPr sz="2100" b="0" i="0" lang="ar-EG" altLang="en-US">
                <a:solidFill>
                  <a:srgbClr val="1C2333"/>
                </a:solidFill>
                <a:latin typeface="Traditional Arabic"/>
              </a:rPr>
              <a:t>    النفي بإضافة not بعد should.</a:t>
            </a:r>
          </a:p>
          <a:p>
            <a:pPr rtl="1" algn="r">
              <a:spcAft>
                <a:spcPts val="600"/>
              </a:spcAft>
            </a:pPr>
            <a:r>
              <a:rPr sz="2300" b="1" i="0" lang="ar-EG" altLang="en-US">
                <a:solidFill>
                  <a:srgbClr val="229435"/>
                </a:solidFill>
                <a:latin typeface="Traditional Arabic"/>
              </a:rPr>
              <a:t>▶ Should + فاعل + مصدر … ?</a:t>
            </a:r>
          </a:p>
          <a:p>
            <a:pPr rtl="1" algn="r">
              <a:spcAft>
                <a:spcPts val="600"/>
              </a:spcAft>
            </a:pPr>
            <a:r>
              <a:rPr sz="2100" b="0" i="0" lang="ar-EG" altLang="en-US">
                <a:solidFill>
                  <a:srgbClr val="1C2333"/>
                </a:solidFill>
                <a:latin typeface="Traditional Arabic"/>
              </a:rPr>
              <a:t>    السؤال بتقديم should على الفاعل.</a:t>
            </a:r>
          </a:p>
          <a:p>
            <a:pPr rtl="1" algn="r">
              <a:spcAft>
                <a:spcPts val="600"/>
              </a:spcAft>
            </a:pPr>
            <a:r>
              <a:rPr sz="2300" b="1" i="0" lang="ar-EG" altLang="en-US">
                <a:solidFill>
                  <a:srgbClr val="229435"/>
                </a:solidFill>
                <a:latin typeface="Traditional Arabic"/>
              </a:rPr>
              <a:t>▶ أداة استفهام + should + فاعل + مصدر … ?</a:t>
            </a:r>
          </a:p>
          <a:p>
            <a:pPr rtl="1" algn="r">
              <a:spcAft>
                <a:spcPts val="600"/>
              </a:spcAft>
            </a:pPr>
            <a:r>
              <a:rPr sz="2100" b="0" i="0" lang="ar-EG" altLang="en-US">
                <a:solidFill>
                  <a:srgbClr val="1C2333"/>
                </a:solidFill>
                <a:latin typeface="Traditional Arabic"/>
              </a:rPr>
              <a:t>السؤال بأداة استفهام.</a:t>
            </a:r>
          </a:p>
          <a:p>
            <a:pPr rtl="0" algn="l">
              <a:spcAft>
                <a:spcPts val="600"/>
              </a:spcAft>
            </a:pPr>
            <a:r>
              <a:rPr sz="1700" b="0" i="1" lang="en-US">
                <a:solidFill>
                  <a:srgbClr val="5B6478"/>
                </a:solidFill>
                <a:latin typeface="Segoe UI"/>
              </a:rPr>
              <a:t>   e.g. You should eat healthy food. – You shouldn't lie. – Should he take medicine?</a:t>
            </a:r>
          </a:p>
        </p:txBody>
      </p:sp>
    </p:spTree>
  </p:cSld>
  <p:clrMapOvr>
    <a:masterClrMapping/>
  </p:clrMapOvr>
  <p:transition spd="med">
    <p:random/>
  </p:transition>
</p:sld>
</file>

<file path=ppt/slides/slide5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A) Put (should – shouldn't)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You …… eat healthy food.   (should – shouldn't)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You …… lie.   (should – shouldn't)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shouldn't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You …… drive fast.   (should – shouldn't)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shouldn't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You …… be on time.   (should – shouldn't)</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You …… help your parents.   (should – shouldn't)</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A) Put (should – shouldn't)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You …… stay up late.   (should – shouldn't)</a:t>
            </a:r>
          </a:p>
        </p:txBody>
      </p:sp>
      <p:sp>
        <p:nvSpPr>
          <p:cNvPr id="9" name="Rounded Rectangle 8"/>
          <p:cNvSpPr/>
          <p:nvPr/>
        </p:nvSpPr>
        <p:spPr>
          <a:xfrm>
            <a:off x="822960" y="179451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shouldn't</a:t>
            </a:r>
          </a:p>
        </p:txBody>
      </p:sp>
      <p:sp>
        <p:nvSpPr>
          <p:cNvPr id="10" name="TextBox 9"/>
          <p:cNvSpPr txBox="1"/>
          <p:nvPr/>
        </p:nvSpPr>
        <p:spPr>
          <a:xfrm>
            <a:off x="411480" y="244602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You …… help the poor.   (should – shouldn't)</a:t>
            </a:r>
          </a:p>
        </p:txBody>
      </p:sp>
      <p:sp>
        <p:nvSpPr>
          <p:cNvPr id="11" name="Rounded Rectangle 10"/>
          <p:cNvSpPr/>
          <p:nvPr/>
        </p:nvSpPr>
        <p:spPr>
          <a:xfrm>
            <a:off x="822960" y="309753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a:t>
            </a:r>
          </a:p>
        </p:txBody>
      </p:sp>
      <p:sp>
        <p:nvSpPr>
          <p:cNvPr id="12" name="TextBox 11"/>
          <p:cNvSpPr txBox="1"/>
          <p:nvPr/>
        </p:nvSpPr>
        <p:spPr>
          <a:xfrm>
            <a:off x="411480" y="374904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You …… be lazy.   (should – shouldn't)</a:t>
            </a:r>
          </a:p>
        </p:txBody>
      </p:sp>
      <p:sp>
        <p:nvSpPr>
          <p:cNvPr id="13" name="Rounded Rectangle 12"/>
          <p:cNvSpPr/>
          <p:nvPr/>
        </p:nvSpPr>
        <p:spPr>
          <a:xfrm>
            <a:off x="822960" y="440055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shouldn't</a:t>
            </a:r>
          </a:p>
        </p:txBody>
      </p:sp>
      <p:sp>
        <p:nvSpPr>
          <p:cNvPr id="14" name="TextBox 13"/>
          <p:cNvSpPr txBox="1"/>
          <p:nvPr/>
        </p:nvSpPr>
        <p:spPr>
          <a:xfrm>
            <a:off x="411480" y="5052060"/>
            <a:ext cx="11368735" cy="65151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You …… waste your time.   (should – shouldn't)</a:t>
            </a:r>
          </a:p>
        </p:txBody>
      </p:sp>
      <p:sp>
        <p:nvSpPr>
          <p:cNvPr id="15" name="Rounded Rectangle 14"/>
          <p:cNvSpPr/>
          <p:nvPr/>
        </p:nvSpPr>
        <p:spPr>
          <a:xfrm>
            <a:off x="822960" y="5703570"/>
            <a:ext cx="10545775" cy="599389"/>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shouldn't</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Lst>
  </p:timing>
</p:sld>
</file>

<file path=ppt/slides/slide5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B)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should join us.</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they join us?</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should stay at home.</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I stay at home?</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She should wear a coat.</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she wear a coat?</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We should play sports.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we play sports?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He should take medicine.</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he take medicine?</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B)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We should leave early.</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we leave early?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She should study hard.</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she study hard?</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You should follow the school rules.</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I follow the school rules?</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He should help his parents.</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he help his parents?</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should go to bed early.</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I go to bed early?</a:t>
            </a:r>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B)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They should eat healthy food.</a:t>
            </a:r>
          </a:p>
        </p:txBody>
      </p:sp>
      <p:sp>
        <p:nvSpPr>
          <p:cNvPr id="9" name="Rounded Rectangle 8"/>
          <p:cNvSpPr/>
          <p:nvPr/>
        </p:nvSpPr>
        <p:spPr>
          <a:xfrm>
            <a:off x="822960" y="244602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they eat healthy food?</a:t>
            </a:r>
          </a:p>
        </p:txBody>
      </p:sp>
      <p:sp>
        <p:nvSpPr>
          <p:cNvPr id="10" name="TextBox 9"/>
          <p:cNvSpPr txBox="1"/>
          <p:nvPr/>
        </p:nvSpPr>
        <p:spPr>
          <a:xfrm>
            <a:off x="411480" y="3749040"/>
            <a:ext cx="11368735" cy="130302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You should leave early.</a:t>
            </a:r>
          </a:p>
        </p:txBody>
      </p:sp>
      <p:sp>
        <p:nvSpPr>
          <p:cNvPr id="11" name="Rounded Rectangle 10"/>
          <p:cNvSpPr/>
          <p:nvPr/>
        </p:nvSpPr>
        <p:spPr>
          <a:xfrm>
            <a:off x="822960" y="5052060"/>
            <a:ext cx="10545775" cy="1198778"/>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I leave early?</a:t>
            </a:r>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5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C) Make a question using the question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They should go to school early. (When)</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should they go to school?</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I should study English. (What)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should you study?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He should arrive on time. (When)</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should he arrive?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She should go to school on foot. (How)</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should she go to school?</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You should help your parents. (Who)</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should I help?</a:t>
            </a:r>
          </a:p>
        </p:txBody>
      </p:sp>
    </p:spTree>
  </p:cSld>
  <p:clrMapOvr>
    <a:masterClrMapping/>
  </p:clrMapOvr>
  <p:transition spd="med">
    <p:circl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1)">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C) Make a question using the question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I should play football. (What)</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should you play?</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You should eat healthy food. (What)</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should I eat?</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They should travel to Cairo. (Where)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should they travel?</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The movie should start at 7 o'clock. (When)</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should the movie start?</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He should go to work by train. (How)</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should he go to work?</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C) Make a question using the question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260604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She should help her mom. (Who)</a:t>
            </a:r>
          </a:p>
        </p:txBody>
      </p:sp>
      <p:sp>
        <p:nvSpPr>
          <p:cNvPr id="9" name="Rounded Rectangle 8"/>
          <p:cNvSpPr/>
          <p:nvPr/>
        </p:nvSpPr>
        <p:spPr>
          <a:xfrm>
            <a:off x="822960" y="3749040"/>
            <a:ext cx="10545775" cy="2397556"/>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Who should she help?</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 You should to study hard.</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should study hard.</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2) You should not to go to school.</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should not go to school.</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3) Should he studies hard?</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he study hard?</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4) You should eats healthy food.</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should eat healthy food.</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5) They should working hard.</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should work hard.</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left)">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6) She shouldn't is late.</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shouldn't be late.</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7) He shouldn't to leave now.</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He shouldn't leave now.</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8) I should practicing more.</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should practise more.</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9) What they should do?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should they do?</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10) I should clean the room ?</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I should clean the room . / Should I clean the room?</a:t>
            </a:r>
          </a:p>
        </p:txBody>
      </p:sp>
    </p:spTree>
  </p:cSld>
  <p:clrMapOvr>
    <a:masterClrMapping/>
  </p:clrMapOvr>
  <p:transition spd="med">
    <p:comb dir="horz"/>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6"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circle(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circle(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11) She shouldn't cries .</a:t>
            </a:r>
          </a:p>
        </p:txBody>
      </p:sp>
      <p:sp>
        <p:nvSpPr>
          <p:cNvPr id="9" name="Rounded Rectangle 8"/>
          <p:cNvSpPr/>
          <p:nvPr/>
        </p:nvSpPr>
        <p:spPr>
          <a:xfrm>
            <a:off x="822960" y="1664208"/>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She shouldn't cry .</a:t>
            </a:r>
          </a:p>
        </p:txBody>
      </p:sp>
      <p:sp>
        <p:nvSpPr>
          <p:cNvPr id="10" name="TextBox 9"/>
          <p:cNvSpPr txBox="1"/>
          <p:nvPr/>
        </p:nvSpPr>
        <p:spPr>
          <a:xfrm>
            <a:off x="411480" y="2185416"/>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12) They should are calm at the library.</a:t>
            </a:r>
          </a:p>
        </p:txBody>
      </p:sp>
      <p:sp>
        <p:nvSpPr>
          <p:cNvPr id="11" name="Rounded Rectangle 10"/>
          <p:cNvSpPr/>
          <p:nvPr/>
        </p:nvSpPr>
        <p:spPr>
          <a:xfrm>
            <a:off x="822960" y="2706624"/>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They should be calm at the library.</a:t>
            </a:r>
          </a:p>
        </p:txBody>
      </p:sp>
      <p:sp>
        <p:nvSpPr>
          <p:cNvPr id="12" name="TextBox 11"/>
          <p:cNvSpPr txBox="1"/>
          <p:nvPr/>
        </p:nvSpPr>
        <p:spPr>
          <a:xfrm>
            <a:off x="411480" y="3227832"/>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13) How you should go to school?</a:t>
            </a:r>
          </a:p>
        </p:txBody>
      </p:sp>
      <p:sp>
        <p:nvSpPr>
          <p:cNvPr id="13" name="Rounded Rectangle 12"/>
          <p:cNvSpPr/>
          <p:nvPr/>
        </p:nvSpPr>
        <p:spPr>
          <a:xfrm>
            <a:off x="822960" y="3749040"/>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How should you go to school?</a:t>
            </a:r>
          </a:p>
        </p:txBody>
      </p:sp>
      <p:sp>
        <p:nvSpPr>
          <p:cNvPr id="14" name="TextBox 13"/>
          <p:cNvSpPr txBox="1"/>
          <p:nvPr/>
        </p:nvSpPr>
        <p:spPr>
          <a:xfrm>
            <a:off x="411480" y="4270248"/>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14) What Mona should do?</a:t>
            </a:r>
          </a:p>
        </p:txBody>
      </p:sp>
      <p:sp>
        <p:nvSpPr>
          <p:cNvPr id="15" name="Rounded Rectangle 14"/>
          <p:cNvSpPr/>
          <p:nvPr/>
        </p:nvSpPr>
        <p:spPr>
          <a:xfrm>
            <a:off x="822960" y="4791456"/>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What should Mona do?</a:t>
            </a:r>
          </a:p>
        </p:txBody>
      </p:sp>
      <p:sp>
        <p:nvSpPr>
          <p:cNvPr id="16" name="TextBox 15"/>
          <p:cNvSpPr txBox="1"/>
          <p:nvPr/>
        </p:nvSpPr>
        <p:spPr>
          <a:xfrm>
            <a:off x="411480" y="5312664"/>
            <a:ext cx="11368735" cy="521208"/>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15) Should he drinks fresh water?</a:t>
            </a:r>
          </a:p>
        </p:txBody>
      </p:sp>
      <p:sp>
        <p:nvSpPr>
          <p:cNvPr id="17" name="Rounded Rectangle 16"/>
          <p:cNvSpPr/>
          <p:nvPr/>
        </p:nvSpPr>
        <p:spPr>
          <a:xfrm>
            <a:off x="822960" y="5833872"/>
            <a:ext cx="10545775" cy="479511"/>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Should he drink fresh water?</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4" presetClass="entr" presetSubtype="16"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box(i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ox(i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5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Series · Grammar for Kids · Mr. Youssef Osman · 01000679764</a:t>
            </a:r>
          </a:p>
        </p:txBody>
      </p:sp>
      <p:sp>
        <p:nvSpPr>
          <p:cNvPr id="8" name="TextBox 7"/>
          <p:cNvSpPr txBox="1"/>
          <p:nvPr/>
        </p:nvSpPr>
        <p:spPr>
          <a:xfrm>
            <a:off x="411480" y="114300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16) You should waste your time.</a:t>
            </a:r>
          </a:p>
        </p:txBody>
      </p:sp>
      <p:sp>
        <p:nvSpPr>
          <p:cNvPr id="9" name="Rounded Rectangle 8"/>
          <p:cNvSpPr/>
          <p:nvPr/>
        </p:nvSpPr>
        <p:spPr>
          <a:xfrm>
            <a:off x="822960" y="201168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You shouldn't waste your time.</a:t>
            </a:r>
          </a:p>
        </p:txBody>
      </p:sp>
      <p:sp>
        <p:nvSpPr>
          <p:cNvPr id="10" name="TextBox 9"/>
          <p:cNvSpPr txBox="1"/>
          <p:nvPr/>
        </p:nvSpPr>
        <p:spPr>
          <a:xfrm>
            <a:off x="411480" y="288036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17) When should it starts ?</a:t>
            </a:r>
          </a:p>
        </p:txBody>
      </p:sp>
      <p:sp>
        <p:nvSpPr>
          <p:cNvPr id="11" name="Rounded Rectangle 10"/>
          <p:cNvSpPr/>
          <p:nvPr/>
        </p:nvSpPr>
        <p:spPr>
          <a:xfrm>
            <a:off x="822960" y="374904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When should it start ?</a:t>
            </a:r>
          </a:p>
        </p:txBody>
      </p:sp>
      <p:sp>
        <p:nvSpPr>
          <p:cNvPr id="12" name="TextBox 11"/>
          <p:cNvSpPr txBox="1"/>
          <p:nvPr/>
        </p:nvSpPr>
        <p:spPr>
          <a:xfrm>
            <a:off x="411480" y="4617720"/>
            <a:ext cx="11368735" cy="868680"/>
          </a:xfrm>
          <a:prstGeom prst="rect">
            <a:avLst/>
          </a:prstGeom>
          <a:noFill/>
        </p:spPr>
        <p:txBody>
          <a:bodyPr wrap="square" lIns="109728" rIns="109728" tIns="54864" bIns="54864" anchor="ctr">
            <a:spAutoFit/>
          </a:bodyPr>
          <a:lstStyle/>
          <a:p>
            <a:pPr rtl="0" algn="l"/>
            <a:r>
              <a:rPr sz="1800" b="0" i="0" lang="en-US">
                <a:solidFill>
                  <a:srgbClr val="1C2333"/>
                </a:solidFill>
                <a:latin typeface="Segoe UI"/>
              </a:rPr>
              <a:t>18) Where should I sitting ?</a:t>
            </a:r>
          </a:p>
        </p:txBody>
      </p:sp>
      <p:sp>
        <p:nvSpPr>
          <p:cNvPr id="13" name="Rounded Rectangle 12"/>
          <p:cNvSpPr/>
          <p:nvPr/>
        </p:nvSpPr>
        <p:spPr>
          <a:xfrm>
            <a:off x="822960" y="5486400"/>
            <a:ext cx="10545775" cy="799185"/>
          </a:xfrm>
          <a:prstGeom prst="roundRect">
            <a:avLst>
              <a:gd name="adj" fmla="val 30000"/>
            </a:avLst>
          </a:prstGeom>
          <a:solidFill>
            <a:srgbClr val="E8F5F0"/>
          </a:solidFill>
          <a:ln w="15875">
            <a:solidFill>
              <a:srgbClr val="0F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lstStyle/>
          <a:p>
            <a:pPr algn="l" rtl="0"/>
            <a:r>
              <a:rPr sz="1700" b="1" i="0" lang="en-US">
                <a:solidFill>
                  <a:srgbClr val="0F7A3D"/>
                </a:solidFill>
                <a:latin typeface="Segoe UI"/>
              </a:rPr>
              <a:t>✔ Where should I sit ?</a:t>
            </a:r>
          </a:p>
        </p:txBody>
      </p:sp>
    </p:spTree>
  </p:cSld>
  <p:clrMapOvr>
    <a:masterClrMapping/>
  </p:clrMapOvr>
  <p:transition spd="med">
    <p:plus/>
  </p:transition>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21" presetClass="entr" presetSubtype="1"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heel(1)">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heel(1)">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