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4754880"/>
            <a:ext cx="12191695" cy="73152"/>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pic>
        <p:nvPicPr>
          <p:cNvPr id="4" name="Picture 3" descr="tmpvmhifx06.jpg"/>
          <p:cNvPicPr>
            <a:picLocks noChangeAspect="1"/>
          </p:cNvPicPr>
          <p:nvPr/>
        </p:nvPicPr>
        <p:blipFill>
          <a:blip r:embed="rId2"/>
          <a:stretch>
            <a:fillRect/>
          </a:stretch>
        </p:blipFill>
        <p:spPr>
          <a:xfrm>
            <a:off x="5227167" y="411480"/>
            <a:ext cx="1737360" cy="1737360"/>
          </a:xfrm>
          <a:prstGeom prst="ellipse">
            <a:avLst/>
          </a:prstGeom>
          <a:ln w="50800">
            <a:solidFill>
              <a:srgbClr val="FFFFFF"/>
            </a:solidFill>
          </a:ln>
        </p:spPr>
      </p:pic>
      <p:sp>
        <p:nvSpPr>
          <p:cNvPr id="5" name="TextBox 4"/>
          <p:cNvSpPr txBox="1"/>
          <p:nvPr/>
        </p:nvSpPr>
        <p:spPr>
          <a:xfrm>
            <a:off x="914400" y="2240280"/>
            <a:ext cx="10332720" cy="2468880"/>
          </a:xfrm>
          <a:prstGeom prst="rect">
            <a:avLst/>
          </a:prstGeom>
          <a:noFill/>
        </p:spPr>
        <p:txBody>
          <a:bodyPr wrap="square" lIns="109728" rIns="109728" tIns="54864" bIns="54864" anchor="ctr">
            <a:spAutoFit/>
          </a:bodyPr>
          <a:lstStyle/>
          <a:p>
            <a:pPr algn="ctr" rtl="0"/>
            <a:r>
              <a:rPr sz="1600" b="1" i="0" lang="en-US">
                <a:solidFill>
                  <a:srgbClr val="C8922A"/>
                </a:solidFill>
                <a:latin typeface="Segoe UI"/>
              </a:rPr>
              <a:t>THE PEARL SERIES  ·  GRAMMAR</a:t>
            </a:r>
          </a:p>
          <a:p>
            <a:pPr algn="ctr" rtl="0"/>
            <a:r>
              <a:rPr sz="5000" b="1" i="0" lang="en-US">
                <a:solidFill>
                  <a:srgbClr val="FFFFFF"/>
                </a:solidFill>
                <a:latin typeface="Segoe UI"/>
              </a:rPr>
              <a:t>The Best Start Grammar</a:t>
            </a:r>
          </a:p>
          <a:p>
            <a:pPr algn="ctr" rtl="0"/>
            <a:r>
              <a:rPr sz="2200" b="0" i="0" lang="en-US">
                <a:solidFill>
                  <a:srgbClr val="DDE6F3"/>
                </a:solidFill>
                <a:latin typeface="Segoe UI"/>
              </a:rPr>
              <a:t>A Complete Grammar Foundation Course</a:t>
            </a:r>
          </a:p>
          <a:p>
            <a:pPr algn="ctr" rtl="1"/>
            <a:r>
              <a:rPr sz="2100" b="0" i="0" lang="ar-EG" altLang="en-US">
                <a:solidFill>
                  <a:srgbClr val="FFFFFF"/>
                </a:solidFill>
                <a:latin typeface="Traditional Arabic"/>
              </a:rPr>
              <a:t>مذكرة شاملة في قواعد اللغة الإنجليزية — شرح مبسّط · أمثلة محلولة · تدريبات متنوعة بالإجابات</a:t>
            </a:r>
          </a:p>
        </p:txBody>
      </p:sp>
      <p:sp>
        <p:nvSpPr>
          <p:cNvPr id="6" name="TextBox 5"/>
          <p:cNvSpPr txBox="1"/>
          <p:nvPr/>
        </p:nvSpPr>
        <p:spPr>
          <a:xfrm>
            <a:off x="914400" y="5029200"/>
            <a:ext cx="10332720" cy="1097280"/>
          </a:xfrm>
          <a:prstGeom prst="rect">
            <a:avLst/>
          </a:prstGeom>
          <a:noFill/>
        </p:spPr>
        <p:txBody>
          <a:bodyPr wrap="square" lIns="109728" rIns="109728" tIns="54864" bIns="54864" anchor="ctr">
            <a:spAutoFit/>
          </a:bodyPr>
          <a:lstStyle/>
          <a:p>
            <a:pPr algn="ctr" rtl="0"/>
            <a:r>
              <a:rPr sz="2200" b="1" i="0" lang="en-US">
                <a:solidFill>
                  <a:srgbClr val="FFFFFF"/>
                </a:solidFill>
                <a:latin typeface="Segoe UI"/>
              </a:rPr>
              <a:t>Prepared by  Mr. Youssef Osman</a:t>
            </a:r>
          </a:p>
          <a:p>
            <a:pPr algn="ctr" rtl="0"/>
            <a:r>
              <a:rPr sz="1800" b="0" i="0" lang="en-US">
                <a:solidFill>
                  <a:srgbClr val="C8922A"/>
                </a:solidFill>
                <a:latin typeface="Segoe UI"/>
              </a:rPr>
              <a:t>01000679764</a:t>
            </a:r>
          </a:p>
        </p:txBody>
      </p:sp>
    </p:spTree>
  </p:cSld>
  <p:clrMapOvr>
    <a:masterClrMapping/>
  </p:clrMapOvr>
  <p:transition spd="med">
    <p:zoom dir="in"/>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TextBox 3"/>
          <p:cNvSpPr txBox="1"/>
          <p:nvPr/>
        </p:nvSpPr>
        <p:spPr>
          <a:xfrm>
            <a:off x="365760" y="73152"/>
            <a:ext cx="8412480" cy="822960"/>
          </a:xfrm>
          <a:prstGeom prst="rect">
            <a:avLst/>
          </a:prstGeom>
          <a:noFill/>
        </p:spPr>
        <p:txBody>
          <a:bodyPr wrap="square" lIns="109728" rIns="109728" tIns="54864" bIns="54864" anchor="ctr">
            <a:spAutoFit/>
          </a:bodyPr>
          <a:lstStyle/>
          <a:p>
            <a:pPr rtl="1" algn="r"/>
            <a:r>
              <a:rPr sz="2900" b="1" i="0" lang="ar-EG" altLang="en-US">
                <a:solidFill>
                  <a:srgbClr val="FFFFFF"/>
                </a:solidFill>
                <a:latin typeface="Traditional Arabic"/>
              </a:rPr>
              <a:t>CONTENTS — المحتويات</a:t>
            </a:r>
          </a:p>
          <a:p>
            <a:pPr rtl="0" algn="l"/>
            <a:r>
              <a:rPr sz="1400" b="0" i="0" lang="en-US">
                <a:solidFill>
                  <a:srgbClr val="DDE6F3"/>
                </a:solidFill>
                <a:latin typeface="Segoe UI"/>
              </a:rPr>
              <a:t>22 Units</a:t>
            </a:r>
          </a:p>
        </p:txBody>
      </p:sp>
      <p:sp>
        <p:nvSpPr>
          <p:cNvPr id="5" name="TextBox 4"/>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6" name="TextBox 5"/>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7" name="TextBox 6"/>
          <p:cNvSpPr txBox="1"/>
          <p:nvPr/>
        </p:nvSpPr>
        <p:spPr>
          <a:xfrm>
            <a:off x="457200" y="1188720"/>
            <a:ext cx="5577840" cy="5120640"/>
          </a:xfrm>
          <a:prstGeom prst="rect">
            <a:avLst/>
          </a:prstGeom>
          <a:noFill/>
        </p:spPr>
        <p:txBody>
          <a:bodyPr wrap="square" lIns="109728" rIns="109728" tIns="54864" bIns="54864" anchor="t">
            <a:spAutoFit/>
          </a:bodyPr>
          <a:lstStyle/>
          <a:p>
            <a:pPr rtl="0" algn="l">
              <a:spcAft>
                <a:spcPts val="400"/>
              </a:spcAft>
            </a:pPr>
            <a:r>
              <a:rPr sz="1600" b="1" i="0" lang="en-US">
                <a:solidFill>
                  <a:srgbClr val="24609C"/>
                </a:solidFill>
                <a:latin typeface="Segoe UI"/>
              </a:rPr>
              <a:t>1.  </a:t>
            </a:r>
            <a:r>
              <a:rPr sz="1600" b="1" i="0" lang="en-US">
                <a:solidFill>
                  <a:srgbClr val="1C2333"/>
                </a:solidFill>
                <a:latin typeface="Segoe UI"/>
              </a:rPr>
              <a:t>The Articles: a / an</a:t>
            </a:r>
            <a:r>
              <a:rPr sz="1700" b="0" i="0" lang="ar-EG" altLang="en-US">
                <a:solidFill>
                  <a:srgbClr val="5B6478"/>
                </a:solidFill>
                <a:latin typeface="Traditional Arabic"/>
              </a:rPr>
              <a:t>   أدوات النكرة</a:t>
            </a:r>
          </a:p>
          <a:p>
            <a:pPr rtl="0" algn="l">
              <a:spcAft>
                <a:spcPts val="400"/>
              </a:spcAft>
            </a:pPr>
            <a:r>
              <a:rPr sz="1600" b="1" i="0" lang="en-US">
                <a:solidFill>
                  <a:srgbClr val="249C60"/>
                </a:solidFill>
                <a:latin typeface="Segoe UI"/>
              </a:rPr>
              <a:t>2.  </a:t>
            </a:r>
            <a:r>
              <a:rPr sz="1600" b="1" i="0" lang="en-US">
                <a:solidFill>
                  <a:srgbClr val="1C2333"/>
                </a:solidFill>
                <a:latin typeface="Segoe UI"/>
              </a:rPr>
              <a:t>The Plural</a:t>
            </a:r>
            <a:r>
              <a:rPr sz="1700" b="0" i="0" lang="ar-EG" altLang="en-US">
                <a:solidFill>
                  <a:srgbClr val="5B6478"/>
                </a:solidFill>
                <a:latin typeface="Traditional Arabic"/>
              </a:rPr>
              <a:t>   الجمع</a:t>
            </a:r>
          </a:p>
          <a:p>
            <a:pPr rtl="0" algn="l">
              <a:spcAft>
                <a:spcPts val="400"/>
              </a:spcAft>
            </a:pPr>
            <a:r>
              <a:rPr sz="1600" b="1" i="0" lang="en-US">
                <a:solidFill>
                  <a:srgbClr val="6A249C"/>
                </a:solidFill>
                <a:latin typeface="Segoe UI"/>
              </a:rPr>
              <a:t>3.  </a:t>
            </a:r>
            <a:r>
              <a:rPr sz="1600" b="1" i="0" lang="en-US">
                <a:solidFill>
                  <a:srgbClr val="1C2333"/>
                </a:solidFill>
                <a:latin typeface="Segoe UI"/>
              </a:rPr>
              <a:t>Punctuation Marks</a:t>
            </a:r>
            <a:r>
              <a:rPr sz="1700" b="0" i="0" lang="ar-EG" altLang="en-US">
                <a:solidFill>
                  <a:srgbClr val="5B6478"/>
                </a:solidFill>
                <a:latin typeface="Traditional Arabic"/>
              </a:rPr>
              <a:t>   علامات الترقيم</a:t>
            </a:r>
          </a:p>
          <a:p>
            <a:pPr rtl="0" algn="l">
              <a:spcAft>
                <a:spcPts val="400"/>
              </a:spcAft>
            </a:pPr>
            <a:r>
              <a:rPr sz="1600" b="1" i="0" lang="en-US">
                <a:solidFill>
                  <a:srgbClr val="9C244C"/>
                </a:solidFill>
                <a:latin typeface="Segoe UI"/>
              </a:rPr>
              <a:t>4.  </a:t>
            </a:r>
            <a:r>
              <a:rPr sz="1600" b="1" i="0" lang="en-US">
                <a:solidFill>
                  <a:srgbClr val="1C2333"/>
                </a:solidFill>
                <a:latin typeface="Segoe UI"/>
              </a:rPr>
              <a:t>Subject Pronouns &amp; Verb to be</a:t>
            </a:r>
            <a:r>
              <a:rPr sz="1700" b="0" i="0" lang="ar-EG" altLang="en-US">
                <a:solidFill>
                  <a:srgbClr val="5B6478"/>
                </a:solidFill>
                <a:latin typeface="Traditional Arabic"/>
              </a:rPr>
              <a:t>   ضمائر الفاعل وفعل الكون</a:t>
            </a:r>
          </a:p>
          <a:p>
            <a:pPr rtl="0" algn="l">
              <a:spcAft>
                <a:spcPts val="400"/>
              </a:spcAft>
            </a:pPr>
            <a:r>
              <a:rPr sz="1600" b="1" i="0" lang="en-US">
                <a:solidFill>
                  <a:srgbClr val="9C6024"/>
                </a:solidFill>
                <a:latin typeface="Segoe UI"/>
              </a:rPr>
              <a:t>5.  </a:t>
            </a:r>
            <a:r>
              <a:rPr sz="1600" b="1" i="0" lang="en-US">
                <a:solidFill>
                  <a:srgbClr val="1C2333"/>
                </a:solidFill>
                <a:latin typeface="Segoe UI"/>
              </a:rPr>
              <a:t>Greetings &amp; Personal Information</a:t>
            </a:r>
            <a:r>
              <a:rPr sz="1700" b="0" i="0" lang="ar-EG" altLang="en-US">
                <a:solidFill>
                  <a:srgbClr val="5B6478"/>
                </a:solidFill>
                <a:latin typeface="Traditional Arabic"/>
              </a:rPr>
              <a:t>   التحيات والمعلومات الشخصية</a:t>
            </a:r>
          </a:p>
          <a:p>
            <a:pPr rtl="0" algn="l">
              <a:spcAft>
                <a:spcPts val="400"/>
              </a:spcAft>
            </a:pPr>
            <a:r>
              <a:rPr sz="1600" b="1" i="0" lang="en-US">
                <a:solidFill>
                  <a:srgbClr val="249C24"/>
                </a:solidFill>
                <a:latin typeface="Segoe UI"/>
              </a:rPr>
              <a:t>6.  </a:t>
            </a:r>
            <a:r>
              <a:rPr sz="1600" b="1" i="0" lang="en-US">
                <a:solidFill>
                  <a:srgbClr val="1C2333"/>
                </a:solidFill>
                <a:latin typeface="Segoe UI"/>
              </a:rPr>
              <a:t>There is / There are</a:t>
            </a:r>
            <a:r>
              <a:rPr sz="1700" b="0" i="0" lang="ar-EG" altLang="en-US">
                <a:solidFill>
                  <a:srgbClr val="5B6478"/>
                </a:solidFill>
                <a:latin typeface="Traditional Arabic"/>
              </a:rPr>
              <a:t>   يوجد</a:t>
            </a:r>
          </a:p>
          <a:p>
            <a:pPr rtl="1" algn="r">
              <a:spcAft>
                <a:spcPts val="400"/>
              </a:spcAft>
            </a:pPr>
            <a:r>
              <a:rPr sz="1600" b="1" i="0" lang="en-US">
                <a:solidFill>
                  <a:srgbClr val="9C4224"/>
                </a:solidFill>
                <a:latin typeface="Segoe UI"/>
              </a:rPr>
              <a:t>7.  </a:t>
            </a:r>
            <a:r>
              <a:rPr sz="1600" b="1" i="0" lang="en-US">
                <a:solidFill>
                  <a:srgbClr val="1C2333"/>
                </a:solidFill>
                <a:latin typeface="Segoe UI"/>
              </a:rPr>
              <a:t>This / That</a:t>
            </a:r>
            <a:r>
              <a:rPr sz="1700" b="0" i="0" lang="ar-EG" altLang="en-US">
                <a:solidFill>
                  <a:srgbClr val="5B6478"/>
                </a:solidFill>
                <a:latin typeface="Traditional Arabic"/>
              </a:rPr>
              <a:t>   أسماء الإشارة للمفرد</a:t>
            </a:r>
          </a:p>
          <a:p>
            <a:pPr rtl="1" algn="r">
              <a:spcAft>
                <a:spcPts val="400"/>
              </a:spcAft>
            </a:pPr>
            <a:r>
              <a:rPr sz="1600" b="1" i="0" lang="en-US">
                <a:solidFill>
                  <a:srgbClr val="247E9C"/>
                </a:solidFill>
                <a:latin typeface="Segoe UI"/>
              </a:rPr>
              <a:t>8.  </a:t>
            </a:r>
            <a:r>
              <a:rPr sz="1600" b="1" i="0" lang="en-US">
                <a:solidFill>
                  <a:srgbClr val="1C2333"/>
                </a:solidFill>
                <a:latin typeface="Segoe UI"/>
              </a:rPr>
              <a:t>These / Those</a:t>
            </a:r>
            <a:r>
              <a:rPr sz="1700" b="0" i="0" lang="ar-EG" altLang="en-US">
                <a:solidFill>
                  <a:srgbClr val="5B6478"/>
                </a:solidFill>
                <a:latin typeface="Traditional Arabic"/>
              </a:rPr>
              <a:t>   أسماء الإشارة للجمع</a:t>
            </a:r>
          </a:p>
          <a:p>
            <a:pPr rtl="0" algn="l">
              <a:spcAft>
                <a:spcPts val="400"/>
              </a:spcAft>
            </a:pPr>
            <a:r>
              <a:rPr sz="1600" b="1" i="0" lang="en-US">
                <a:solidFill>
                  <a:srgbClr val="9C7E24"/>
                </a:solidFill>
                <a:latin typeface="Segoe UI"/>
              </a:rPr>
              <a:t>9.  </a:t>
            </a:r>
            <a:r>
              <a:rPr sz="1600" b="1" i="0" lang="en-US">
                <a:solidFill>
                  <a:srgbClr val="1C2333"/>
                </a:solidFill>
                <a:latin typeface="Segoe UI"/>
              </a:rPr>
              <a:t>Prepositions of Time (in – on – at)</a:t>
            </a:r>
            <a:r>
              <a:rPr sz="1700" b="0" i="0" lang="ar-EG" altLang="en-US">
                <a:solidFill>
                  <a:srgbClr val="5B6478"/>
                </a:solidFill>
                <a:latin typeface="Traditional Arabic"/>
              </a:rPr>
              <a:t>   حروف جر الزمان</a:t>
            </a:r>
          </a:p>
          <a:p>
            <a:pPr rtl="0" algn="l">
              <a:spcAft>
                <a:spcPts val="400"/>
              </a:spcAft>
            </a:pPr>
            <a:r>
              <a:rPr sz="1600" b="1" i="0" lang="en-US">
                <a:solidFill>
                  <a:srgbClr val="4C249C"/>
                </a:solidFill>
                <a:latin typeface="Segoe UI"/>
              </a:rPr>
              <a:t>10.  </a:t>
            </a:r>
            <a:r>
              <a:rPr sz="1600" b="1" i="0" lang="en-US">
                <a:solidFill>
                  <a:srgbClr val="1C2333"/>
                </a:solidFill>
                <a:latin typeface="Segoe UI"/>
              </a:rPr>
              <a:t>Verb to have (have / has)</a:t>
            </a:r>
            <a:r>
              <a:rPr sz="1700" b="0" i="0" lang="ar-EG" altLang="en-US">
                <a:solidFill>
                  <a:srgbClr val="5B6478"/>
                </a:solidFill>
                <a:latin typeface="Traditional Arabic"/>
              </a:rPr>
              <a:t>   فعل الامتلاك</a:t>
            </a:r>
          </a:p>
          <a:p>
            <a:pPr rtl="0" algn="l">
              <a:spcAft>
                <a:spcPts val="400"/>
              </a:spcAft>
            </a:pPr>
            <a:r>
              <a:rPr sz="1600" b="1" i="0" lang="en-US">
                <a:solidFill>
                  <a:srgbClr val="9C249C"/>
                </a:solidFill>
                <a:latin typeface="Segoe UI"/>
              </a:rPr>
              <a:t>11.  </a:t>
            </a:r>
            <a:r>
              <a:rPr sz="1600" b="1" i="0" lang="en-US">
                <a:solidFill>
                  <a:srgbClr val="1C2333"/>
                </a:solidFill>
                <a:latin typeface="Segoe UI"/>
              </a:rPr>
              <a:t>Pronouns</a:t>
            </a:r>
            <a:r>
              <a:rPr sz="1700" b="0" i="0" lang="ar-EG" altLang="en-US">
                <a:solidFill>
                  <a:srgbClr val="5B6478"/>
                </a:solidFill>
                <a:latin typeface="Traditional Arabic"/>
              </a:rPr>
              <a:t>   الضمائر</a:t>
            </a:r>
          </a:p>
        </p:txBody>
      </p:sp>
      <p:sp>
        <p:nvSpPr>
          <p:cNvPr id="8" name="TextBox 7"/>
          <p:cNvSpPr txBox="1"/>
          <p:nvPr/>
        </p:nvSpPr>
        <p:spPr>
          <a:xfrm>
            <a:off x="6217920" y="1188720"/>
            <a:ext cx="5577840" cy="5120640"/>
          </a:xfrm>
          <a:prstGeom prst="rect">
            <a:avLst/>
          </a:prstGeom>
          <a:noFill/>
        </p:spPr>
        <p:txBody>
          <a:bodyPr wrap="square" lIns="109728" rIns="109728" tIns="54864" bIns="54864" anchor="t">
            <a:spAutoFit/>
          </a:bodyPr>
          <a:lstStyle/>
          <a:p>
            <a:pPr rtl="0" algn="l">
              <a:spcAft>
                <a:spcPts val="400"/>
              </a:spcAft>
            </a:pPr>
            <a:r>
              <a:rPr sz="1600" b="1" i="0" lang="en-US">
                <a:solidFill>
                  <a:srgbClr val="9C2460"/>
                </a:solidFill>
                <a:latin typeface="Segoe UI"/>
              </a:rPr>
              <a:t>12.  </a:t>
            </a:r>
            <a:r>
              <a:rPr sz="1600" b="1" i="0" lang="en-US">
                <a:solidFill>
                  <a:srgbClr val="1C2333"/>
                </a:solidFill>
                <a:latin typeface="Segoe UI"/>
              </a:rPr>
              <a:t>Like + v-ing / to + inf.</a:t>
            </a:r>
            <a:r>
              <a:rPr sz="1700" b="0" i="0" lang="ar-EG" altLang="en-US">
                <a:solidFill>
                  <a:srgbClr val="5B6478"/>
                </a:solidFill>
                <a:latin typeface="Traditional Arabic"/>
              </a:rPr>
              <a:t>   فعل الإعجاب</a:t>
            </a:r>
          </a:p>
          <a:p>
            <a:pPr rtl="1" algn="r">
              <a:spcAft>
                <a:spcPts val="400"/>
              </a:spcAft>
            </a:pPr>
            <a:r>
              <a:rPr sz="1600" b="1" i="0" lang="en-US">
                <a:solidFill>
                  <a:srgbClr val="249C9C"/>
                </a:solidFill>
                <a:latin typeface="Segoe UI"/>
              </a:rPr>
              <a:t>13.  </a:t>
            </a:r>
            <a:r>
              <a:rPr sz="1600" b="1" i="0" lang="en-US">
                <a:solidFill>
                  <a:srgbClr val="1C2333"/>
                </a:solidFill>
                <a:latin typeface="Segoe UI"/>
              </a:rPr>
              <a:t>How much / How many</a:t>
            </a:r>
            <a:r>
              <a:rPr sz="1700" b="0" i="0" lang="ar-EG" altLang="en-US">
                <a:solidFill>
                  <a:srgbClr val="5B6478"/>
                </a:solidFill>
                <a:latin typeface="Traditional Arabic"/>
              </a:rPr>
              <a:t>   السؤال عن العدد والثمن</a:t>
            </a:r>
          </a:p>
          <a:p>
            <a:pPr rtl="0" algn="l">
              <a:spcAft>
                <a:spcPts val="400"/>
              </a:spcAft>
            </a:pPr>
            <a:r>
              <a:rPr sz="1600" b="1" i="0" lang="en-US">
                <a:solidFill>
                  <a:srgbClr val="9C2424"/>
                </a:solidFill>
                <a:latin typeface="Segoe UI"/>
              </a:rPr>
              <a:t>14.  </a:t>
            </a:r>
            <a:r>
              <a:rPr sz="1600" b="1" i="0" lang="en-US">
                <a:solidFill>
                  <a:srgbClr val="1C2333"/>
                </a:solidFill>
                <a:latin typeface="Segoe UI"/>
              </a:rPr>
              <a:t>Verb to be in the past (was / were)</a:t>
            </a:r>
            <a:r>
              <a:rPr sz="1700" b="0" i="0" lang="ar-EG" altLang="en-US">
                <a:solidFill>
                  <a:srgbClr val="5B6478"/>
                </a:solidFill>
                <a:latin typeface="Traditional Arabic"/>
              </a:rPr>
              <a:t>   فعل الكون في الماضي</a:t>
            </a:r>
          </a:p>
          <a:p>
            <a:pPr rtl="0" algn="l">
              <a:spcAft>
                <a:spcPts val="400"/>
              </a:spcAft>
            </a:pPr>
            <a:r>
              <a:rPr sz="1600" b="1" i="0" lang="en-US">
                <a:solidFill>
                  <a:srgbClr val="4C9C24"/>
                </a:solidFill>
                <a:latin typeface="Segoe UI"/>
              </a:rPr>
              <a:t>15.  </a:t>
            </a:r>
            <a:r>
              <a:rPr sz="1600" b="1" i="0" lang="en-US">
                <a:solidFill>
                  <a:srgbClr val="1C2333"/>
                </a:solidFill>
                <a:latin typeface="Segoe UI"/>
              </a:rPr>
              <a:t>Writing: A paragraph about an animal or a bird</a:t>
            </a:r>
            <a:r>
              <a:rPr sz="1700" b="0" i="0" lang="ar-EG" altLang="en-US">
                <a:solidFill>
                  <a:srgbClr val="5B6478"/>
                </a:solidFill>
                <a:latin typeface="Traditional Arabic"/>
              </a:rPr>
              <a:t>   كيف تكتب براجراف عن حيوان أو طائر</a:t>
            </a:r>
          </a:p>
          <a:p>
            <a:pPr rtl="0" algn="l">
              <a:spcAft>
                <a:spcPts val="400"/>
              </a:spcAft>
            </a:pPr>
            <a:r>
              <a:rPr sz="1600" b="1" i="0" lang="en-US">
                <a:solidFill>
                  <a:srgbClr val="7E249C"/>
                </a:solidFill>
                <a:latin typeface="Segoe UI"/>
              </a:rPr>
              <a:t>16.  </a:t>
            </a:r>
            <a:r>
              <a:rPr sz="1600" b="1" i="0" lang="en-US">
                <a:solidFill>
                  <a:srgbClr val="1C2333"/>
                </a:solidFill>
                <a:latin typeface="Segoe UI"/>
              </a:rPr>
              <a:t>Comparative &amp; Superlative Adjectives</a:t>
            </a:r>
            <a:r>
              <a:rPr sz="1700" b="0" i="0" lang="ar-EG" altLang="en-US">
                <a:solidFill>
                  <a:srgbClr val="5B6478"/>
                </a:solidFill>
                <a:latin typeface="Traditional Arabic"/>
              </a:rPr>
              <a:t>   صفات المقارنة والتفضيل</a:t>
            </a:r>
          </a:p>
          <a:p>
            <a:pPr rtl="1" algn="r">
              <a:spcAft>
                <a:spcPts val="400"/>
              </a:spcAft>
            </a:pPr>
            <a:r>
              <a:rPr sz="1600" b="1" i="0" lang="en-US">
                <a:solidFill>
                  <a:srgbClr val="249C7E"/>
                </a:solidFill>
                <a:latin typeface="Segoe UI"/>
              </a:rPr>
              <a:t>17.  </a:t>
            </a:r>
            <a:r>
              <a:rPr sz="1600" b="1" i="0" lang="en-US">
                <a:solidFill>
                  <a:srgbClr val="1C2333"/>
                </a:solidFill>
                <a:latin typeface="Segoe UI"/>
              </a:rPr>
              <a:t>Can</a:t>
            </a:r>
            <a:r>
              <a:rPr sz="1700" b="0" i="0" lang="ar-EG" altLang="en-US">
                <a:solidFill>
                  <a:srgbClr val="5B6478"/>
                </a:solidFill>
                <a:latin typeface="Traditional Arabic"/>
              </a:rPr>
              <a:t>   فعل الاستطاعة</a:t>
            </a:r>
          </a:p>
          <a:p>
            <a:pPr rtl="0" algn="l">
              <a:spcAft>
                <a:spcPts val="400"/>
              </a:spcAft>
            </a:pPr>
            <a:r>
              <a:rPr sz="1600" b="1" i="0" lang="en-US">
                <a:solidFill>
                  <a:srgbClr val="24749C"/>
                </a:solidFill>
                <a:latin typeface="Segoe UI"/>
              </a:rPr>
              <a:t>18.  </a:t>
            </a:r>
            <a:r>
              <a:rPr sz="1600" b="1" i="0" lang="en-US">
                <a:solidFill>
                  <a:srgbClr val="1C2333"/>
                </a:solidFill>
                <a:latin typeface="Segoe UI"/>
              </a:rPr>
              <a:t>The Present Simple Tense</a:t>
            </a:r>
            <a:r>
              <a:rPr sz="1700" b="0" i="0" lang="ar-EG" altLang="en-US">
                <a:solidFill>
                  <a:srgbClr val="5B6478"/>
                </a:solidFill>
                <a:latin typeface="Traditional Arabic"/>
              </a:rPr>
              <a:t>   زمن المضارع البسيط</a:t>
            </a:r>
          </a:p>
          <a:p>
            <a:pPr rtl="0" algn="l">
              <a:spcAft>
                <a:spcPts val="400"/>
              </a:spcAft>
            </a:pPr>
            <a:r>
              <a:rPr sz="1600" b="1" i="0" lang="en-US">
                <a:solidFill>
                  <a:srgbClr val="249C88"/>
                </a:solidFill>
                <a:latin typeface="Segoe UI"/>
              </a:rPr>
              <a:t>19.  </a:t>
            </a:r>
            <a:r>
              <a:rPr sz="1600" b="1" i="0" lang="en-US">
                <a:solidFill>
                  <a:srgbClr val="1C2333"/>
                </a:solidFill>
                <a:latin typeface="Segoe UI"/>
              </a:rPr>
              <a:t>The Present Continuous Tense</a:t>
            </a:r>
            <a:r>
              <a:rPr sz="1700" b="0" i="0" lang="ar-EG" altLang="en-US">
                <a:solidFill>
                  <a:srgbClr val="5B6478"/>
                </a:solidFill>
                <a:latin typeface="Traditional Arabic"/>
              </a:rPr>
              <a:t>   زمن المضارع المستمر</a:t>
            </a:r>
          </a:p>
          <a:p>
            <a:pPr rtl="0" algn="l">
              <a:spcAft>
                <a:spcPts val="400"/>
              </a:spcAft>
            </a:pPr>
            <a:r>
              <a:rPr sz="1600" b="1" i="0" lang="en-US">
                <a:solidFill>
                  <a:srgbClr val="9C5624"/>
                </a:solidFill>
                <a:latin typeface="Segoe UI"/>
              </a:rPr>
              <a:t>20.  </a:t>
            </a:r>
            <a:r>
              <a:rPr sz="1600" b="1" i="0" lang="en-US">
                <a:solidFill>
                  <a:srgbClr val="1C2333"/>
                </a:solidFill>
                <a:latin typeface="Segoe UI"/>
              </a:rPr>
              <a:t>Irregular Verbs</a:t>
            </a:r>
            <a:r>
              <a:rPr sz="1700" b="0" i="0" lang="ar-EG" altLang="en-US">
                <a:solidFill>
                  <a:srgbClr val="5B6478"/>
                </a:solidFill>
                <a:latin typeface="Traditional Arabic"/>
              </a:rPr>
              <a:t>   الأفعال الشاذة</a:t>
            </a:r>
          </a:p>
          <a:p>
            <a:pPr rtl="0" algn="l">
              <a:spcAft>
                <a:spcPts val="400"/>
              </a:spcAft>
            </a:pPr>
            <a:r>
              <a:rPr sz="1600" b="1" i="0" lang="en-US">
                <a:solidFill>
                  <a:srgbClr val="9C242E"/>
                </a:solidFill>
                <a:latin typeface="Segoe UI"/>
              </a:rPr>
              <a:t>21.  </a:t>
            </a:r>
            <a:r>
              <a:rPr sz="1600" b="1" i="0" lang="en-US">
                <a:solidFill>
                  <a:srgbClr val="1C2333"/>
                </a:solidFill>
                <a:latin typeface="Segoe UI"/>
              </a:rPr>
              <a:t>The Past Simple Tense</a:t>
            </a:r>
            <a:r>
              <a:rPr sz="1700" b="0" i="0" lang="ar-EG" altLang="en-US">
                <a:solidFill>
                  <a:srgbClr val="5B6478"/>
                </a:solidFill>
                <a:latin typeface="Traditional Arabic"/>
              </a:rPr>
              <a:t>   زمن الماضي البسيط</a:t>
            </a:r>
          </a:p>
          <a:p>
            <a:pPr rtl="1" algn="r">
              <a:spcAft>
                <a:spcPts val="400"/>
              </a:spcAft>
            </a:pPr>
            <a:r>
              <a:rPr sz="1600" b="1" i="0" lang="en-US">
                <a:solidFill>
                  <a:srgbClr val="249C38"/>
                </a:solidFill>
                <a:latin typeface="Segoe UI"/>
              </a:rPr>
              <a:t>22.  </a:t>
            </a:r>
            <a:r>
              <a:rPr sz="1600" b="1" i="0" lang="en-US">
                <a:solidFill>
                  <a:srgbClr val="1C2333"/>
                </a:solidFill>
                <a:latin typeface="Segoe UI"/>
              </a:rPr>
              <a:t>Should</a:t>
            </a:r>
            <a:r>
              <a:rPr sz="1700" b="0" i="0" lang="ar-EG" altLang="en-US">
                <a:solidFill>
                  <a:srgbClr val="5B6478"/>
                </a:solidFill>
                <a:latin typeface="Traditional Arabic"/>
              </a:rPr>
              <a:t>   فعل النصيحة</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a:t>
            </a:r>
          </a:p>
          <a:p>
            <a:pPr algn="ctr" rtl="0"/>
            <a:r>
              <a:rPr sz="4600" b="1" i="0" lang="en-US">
                <a:solidFill>
                  <a:srgbClr val="FFFFFF"/>
                </a:solidFill>
                <a:latin typeface="Segoe UI"/>
              </a:rPr>
              <a:t>The Articles: a / an</a:t>
            </a:r>
          </a:p>
          <a:p>
            <a:pPr algn="ctr" rtl="1"/>
            <a:r>
              <a:rPr sz="2900" b="0" i="0" lang="ar-EG" altLang="en-US">
                <a:solidFill>
                  <a:srgbClr val="FFFFFF"/>
                </a:solidFill>
                <a:latin typeface="Traditional Arabic"/>
              </a:rPr>
              <a:t>أدوات النكرة</a:t>
            </a:r>
          </a:p>
        </p:txBody>
      </p:sp>
    </p:spTree>
  </p:cSld>
  <p:clrMapOvr>
    <a:masterClrMapping/>
  </p:clrMapOvr>
  <p:transition spd="med">
    <p:zoom dir="in"/>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5B94"/>
                </a:solidFill>
                <a:latin typeface="Segoe UI"/>
              </a:rPr>
              <a:t>▶ a + consonant sound</a:t>
            </a:r>
          </a:p>
          <a:p>
            <a:pPr rtl="1" algn="r">
              <a:spcAft>
                <a:spcPts val="600"/>
              </a:spcAft>
            </a:pPr>
            <a:r>
              <a:rPr sz="2100" b="0" i="0" lang="ar-EG" altLang="en-US">
                <a:solidFill>
                  <a:srgbClr val="1C2333"/>
                </a:solidFill>
                <a:latin typeface="Traditional Arabic"/>
              </a:rPr>
              <a:t>تأتي (a) قبل الاسم المفرد الذي يبدأ بصوت ساكن (حرف غير متحرك).</a:t>
            </a:r>
          </a:p>
          <a:p>
            <a:pPr rtl="0" algn="l">
              <a:spcAft>
                <a:spcPts val="600"/>
              </a:spcAft>
            </a:pPr>
            <a:r>
              <a:rPr sz="2000" b="1" i="0" lang="en-US">
                <a:solidFill>
                  <a:srgbClr val="225B94"/>
                </a:solidFill>
                <a:latin typeface="Segoe UI"/>
              </a:rPr>
              <a:t>▶ an + vowel sound (a - e - i - o - u)</a:t>
            </a:r>
          </a:p>
          <a:p>
            <a:pPr rtl="1" algn="r">
              <a:spcAft>
                <a:spcPts val="600"/>
              </a:spcAft>
            </a:pPr>
            <a:r>
              <a:rPr sz="2100" b="0" i="0" lang="ar-EG" altLang="en-US">
                <a:solidFill>
                  <a:srgbClr val="1C2333"/>
                </a:solidFill>
                <a:latin typeface="Traditional Arabic"/>
              </a:rPr>
              <a:t>    تأتي (an) قبل الاسم المفرد الذي يبدأ بصوت متحرك، والحروف المتحركة هي: a - e - i - o - u</a:t>
            </a:r>
          </a:p>
          <a:p>
            <a:pPr rtl="0" algn="l">
              <a:spcAft>
                <a:spcPts val="600"/>
              </a:spcAft>
            </a:pPr>
            <a:r>
              <a:rPr sz="1700" b="0" i="1" lang="en-US">
                <a:solidFill>
                  <a:srgbClr val="5B6478"/>
                </a:solidFill>
                <a:latin typeface="Segoe UI"/>
              </a:rPr>
              <a:t>   e.g. a horse – a doctor – a pen | an orange – an egg – an umbrella</a:t>
            </a:r>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5B94"/>
                          </a:solidFill>
                          <a:latin typeface="Segoe UI"/>
                        </a:rPr>
                        <a:t>a horse</a:t>
                      </a:r>
                    </a:p>
                  </a:txBody>
                  <a:tcPr>
                    <a:solidFill>
                      <a:srgbClr val="FFFFFF"/>
                    </a:solidFill>
                  </a:tcPr>
                </a:tc>
                <a:tc>
                  <a:txBody>
                    <a:bodyPr/>
                    <a:lstStyle/>
                    <a:p>
                      <a:pPr rtl="1" algn="r"/>
                      <a:r>
                        <a:rPr sz="1700" b="0" i="0" lang="ar-EG" altLang="en-US">
                          <a:solidFill>
                            <a:srgbClr val="1C2333"/>
                          </a:solidFill>
                          <a:latin typeface="Traditional Arabic"/>
                        </a:rPr>
                        <a:t>حصان</a:t>
                      </a:r>
                    </a:p>
                  </a:txBody>
                  <a:tcPr>
                    <a:solidFill>
                      <a:srgbClr val="FFFFFF"/>
                    </a:solidFill>
                  </a:tcPr>
                </a:tc>
                <a:tc>
                  <a:txBody>
                    <a:bodyPr/>
                    <a:lstStyle/>
                    <a:p>
                      <a:pPr rtl="0" algn="l"/>
                      <a:r>
                        <a:rPr sz="1500" b="1" i="0" lang="en-US">
                          <a:solidFill>
                            <a:srgbClr val="225B94"/>
                          </a:solidFill>
                          <a:latin typeface="Segoe UI"/>
                        </a:rPr>
                        <a:t>a pen</a:t>
                      </a:r>
                    </a:p>
                  </a:txBody>
                  <a:tcPr>
                    <a:solidFill>
                      <a:srgbClr val="FFFFFF"/>
                    </a:solidFill>
                  </a:tcPr>
                </a:tc>
                <a:tc>
                  <a:txBody>
                    <a:bodyPr/>
                    <a:lstStyle/>
                    <a:p>
                      <a:pPr rtl="1" algn="r"/>
                      <a:r>
                        <a:rPr sz="1700" b="0" i="0" lang="ar-EG" altLang="en-US">
                          <a:solidFill>
                            <a:srgbClr val="1C2333"/>
                          </a:solidFill>
                          <a:latin typeface="Traditional Arabic"/>
                        </a:rPr>
                        <a:t>قلم جاف</a:t>
                      </a:r>
                    </a:p>
                  </a:txBody>
                  <a:tcPr>
                    <a:solidFill>
                      <a:srgbClr val="FFFFFF"/>
                    </a:solidFill>
                  </a:tcPr>
                </a:tc>
                <a:tc>
                  <a:txBody>
                    <a:bodyPr/>
                    <a:lstStyle/>
                    <a:p>
                      <a:pPr rtl="0" algn="l"/>
                      <a:r>
                        <a:rPr sz="1500" b="1" i="0" lang="en-US">
                          <a:solidFill>
                            <a:srgbClr val="225B94"/>
                          </a:solidFill>
                          <a:latin typeface="Segoe UI"/>
                        </a:rPr>
                        <a:t>a table</a:t>
                      </a:r>
                    </a:p>
                  </a:txBody>
                  <a:tcPr>
                    <a:solidFill>
                      <a:srgbClr val="FFFFFF"/>
                    </a:solidFill>
                  </a:tcPr>
                </a:tc>
                <a:tc>
                  <a:txBody>
                    <a:bodyPr/>
                    <a:lstStyle/>
                    <a:p>
                      <a:pPr rtl="1" algn="r"/>
                      <a:r>
                        <a:rPr sz="1700" b="0" i="0" lang="ar-EG" altLang="en-US">
                          <a:solidFill>
                            <a:srgbClr val="1C2333"/>
                          </a:solidFill>
                          <a:latin typeface="Traditional Arabic"/>
                        </a:rPr>
                        <a:t>منضدة</a:t>
                      </a:r>
                    </a:p>
                  </a:txBody>
                  <a:tcPr>
                    <a:solidFill>
                      <a:srgbClr val="FFFFFF"/>
                    </a:solidFill>
                  </a:tcPr>
                </a:tc>
              </a:tr>
              <a:tr h="384048">
                <a:tc>
                  <a:txBody>
                    <a:bodyPr/>
                    <a:lstStyle/>
                    <a:p>
                      <a:pPr rtl="0" algn="l"/>
                      <a:r>
                        <a:rPr sz="1500" b="1" i="0" lang="en-US">
                          <a:solidFill>
                            <a:srgbClr val="225B94"/>
                          </a:solidFill>
                          <a:latin typeface="Segoe UI"/>
                        </a:rPr>
                        <a:t>an orange</a:t>
                      </a:r>
                    </a:p>
                  </a:txBody>
                  <a:tcPr>
                    <a:solidFill>
                      <a:srgbClr val="EEF3FA"/>
                    </a:solidFill>
                  </a:tcPr>
                </a:tc>
                <a:tc>
                  <a:txBody>
                    <a:bodyPr/>
                    <a:lstStyle/>
                    <a:p>
                      <a:pPr rtl="1" algn="r"/>
                      <a:r>
                        <a:rPr sz="1700" b="0" i="0" lang="ar-EG" altLang="en-US">
                          <a:solidFill>
                            <a:srgbClr val="1C2333"/>
                          </a:solidFill>
                          <a:latin typeface="Traditional Arabic"/>
                        </a:rPr>
                        <a:t>برتقالة</a:t>
                      </a:r>
                    </a:p>
                  </a:txBody>
                  <a:tcPr>
                    <a:solidFill>
                      <a:srgbClr val="EEF3FA"/>
                    </a:solidFill>
                  </a:tcPr>
                </a:tc>
                <a:tc>
                  <a:txBody>
                    <a:bodyPr/>
                    <a:lstStyle/>
                    <a:p>
                      <a:pPr rtl="0" algn="l"/>
                      <a:r>
                        <a:rPr sz="1500" b="1" i="0" lang="en-US">
                          <a:solidFill>
                            <a:srgbClr val="225B94"/>
                          </a:solidFill>
                          <a:latin typeface="Segoe UI"/>
                        </a:rPr>
                        <a:t>an egg</a:t>
                      </a:r>
                    </a:p>
                  </a:txBody>
                  <a:tcPr>
                    <a:solidFill>
                      <a:srgbClr val="EEF3FA"/>
                    </a:solidFill>
                  </a:tcPr>
                </a:tc>
                <a:tc>
                  <a:txBody>
                    <a:bodyPr/>
                    <a:lstStyle/>
                    <a:p>
                      <a:pPr rtl="1" algn="r"/>
                      <a:r>
                        <a:rPr sz="1700" b="0" i="0" lang="ar-EG" altLang="en-US">
                          <a:solidFill>
                            <a:srgbClr val="1C2333"/>
                          </a:solidFill>
                          <a:latin typeface="Traditional Arabic"/>
                        </a:rPr>
                        <a:t>بيضة</a:t>
                      </a:r>
                    </a:p>
                  </a:txBody>
                  <a:tcPr>
                    <a:solidFill>
                      <a:srgbClr val="EEF3FA"/>
                    </a:solidFill>
                  </a:tcPr>
                </a:tc>
                <a:tc>
                  <a:txBody>
                    <a:bodyPr/>
                    <a:lstStyle/>
                    <a:p>
                      <a:pPr rtl="0" algn="l"/>
                      <a:r>
                        <a:rPr sz="1500" b="1" i="0" lang="en-US">
                          <a:solidFill>
                            <a:srgbClr val="225B94"/>
                          </a:solidFill>
                          <a:latin typeface="Segoe UI"/>
                        </a:rPr>
                        <a:t>an engineer</a:t>
                      </a:r>
                    </a:p>
                  </a:txBody>
                  <a:tcPr>
                    <a:solidFill>
                      <a:srgbClr val="EEF3FA"/>
                    </a:solidFill>
                  </a:tcPr>
                </a:tc>
                <a:tc>
                  <a:txBody>
                    <a:bodyPr/>
                    <a:lstStyle/>
                    <a:p>
                      <a:pPr rtl="1" algn="r"/>
                      <a:r>
                        <a:rPr sz="1700" b="0" i="0" lang="ar-EG" altLang="en-US">
                          <a:solidFill>
                            <a:srgbClr val="1C2333"/>
                          </a:solidFill>
                          <a:latin typeface="Traditional Arabic"/>
                        </a:rPr>
                        <a:t>مهندس</a:t>
                      </a:r>
                    </a:p>
                  </a:txBody>
                  <a:tcPr>
                    <a:solidFill>
                      <a:srgbClr val="EEF3FA"/>
                    </a:solidFill>
                  </a:tcPr>
                </a:tc>
              </a:tr>
              <a:tr h="384048">
                <a:tc>
                  <a:txBody>
                    <a:bodyPr/>
                    <a:lstStyle/>
                    <a:p>
                      <a:pPr rtl="0" algn="l"/>
                      <a:r>
                        <a:rPr sz="1500" b="1" i="0" lang="en-US">
                          <a:solidFill>
                            <a:srgbClr val="225B94"/>
                          </a:solidFill>
                          <a:latin typeface="Segoe UI"/>
                        </a:rPr>
                        <a:t>a doctor</a:t>
                      </a:r>
                    </a:p>
                  </a:txBody>
                  <a:tcPr>
                    <a:solidFill>
                      <a:srgbClr val="FFFFFF"/>
                    </a:solidFill>
                  </a:tcPr>
                </a:tc>
                <a:tc>
                  <a:txBody>
                    <a:bodyPr/>
                    <a:lstStyle/>
                    <a:p>
                      <a:pPr rtl="1" algn="r"/>
                      <a:r>
                        <a:rPr sz="1700" b="0" i="0" lang="ar-EG" altLang="en-US">
                          <a:solidFill>
                            <a:srgbClr val="1C2333"/>
                          </a:solidFill>
                          <a:latin typeface="Traditional Arabic"/>
                        </a:rPr>
                        <a:t>طبيب</a:t>
                      </a:r>
                    </a:p>
                  </a:txBody>
                  <a:tcPr>
                    <a:solidFill>
                      <a:srgbClr val="FFFFFF"/>
                    </a:solidFill>
                  </a:tcPr>
                </a:tc>
                <a:tc>
                  <a:txBody>
                    <a:bodyPr/>
                    <a:lstStyle/>
                    <a:p>
                      <a:pPr rtl="0" algn="l"/>
                      <a:r>
                        <a:rPr sz="1500" b="1" i="0" lang="en-US">
                          <a:solidFill>
                            <a:srgbClr val="225B94"/>
                          </a:solidFill>
                          <a:latin typeface="Segoe UI"/>
                        </a:rPr>
                        <a:t>a teacher</a:t>
                      </a:r>
                    </a:p>
                  </a:txBody>
                  <a:tcPr>
                    <a:solidFill>
                      <a:srgbClr val="FFFFFF"/>
                    </a:solidFill>
                  </a:tcPr>
                </a:tc>
                <a:tc>
                  <a:txBody>
                    <a:bodyPr/>
                    <a:lstStyle/>
                    <a:p>
                      <a:pPr rtl="1" algn="r"/>
                      <a:r>
                        <a:rPr sz="1700" b="0" i="0" lang="ar-EG" altLang="en-US">
                          <a:solidFill>
                            <a:srgbClr val="1C2333"/>
                          </a:solidFill>
                          <a:latin typeface="Traditional Arabic"/>
                        </a:rPr>
                        <a:t>معلم</a:t>
                      </a:r>
                    </a:p>
                  </a:txBody>
                  <a:tcPr>
                    <a:solidFill>
                      <a:srgbClr val="FFFFFF"/>
                    </a:solidFill>
                  </a:tcPr>
                </a:tc>
                <a:tc>
                  <a:txBody>
                    <a:bodyPr/>
                    <a:lstStyle/>
                    <a:p>
                      <a:pPr rtl="0" algn="l"/>
                      <a:r>
                        <a:rPr sz="1500" b="1" i="0" lang="en-US">
                          <a:solidFill>
                            <a:srgbClr val="225B94"/>
                          </a:solidFill>
                          <a:latin typeface="Segoe UI"/>
                        </a:rPr>
                        <a:t>a nurse</a:t>
                      </a:r>
                    </a:p>
                  </a:txBody>
                  <a:tcPr>
                    <a:solidFill>
                      <a:srgbClr val="FFFFFF"/>
                    </a:solidFill>
                  </a:tcPr>
                </a:tc>
                <a:tc>
                  <a:txBody>
                    <a:bodyPr/>
                    <a:lstStyle/>
                    <a:p>
                      <a:pPr rtl="1" algn="r"/>
                      <a:r>
                        <a:rPr sz="1700" b="0" i="0" lang="ar-EG" altLang="en-US">
                          <a:solidFill>
                            <a:srgbClr val="1C2333"/>
                          </a:solidFill>
                          <a:latin typeface="Traditional Arabic"/>
                        </a:rPr>
                        <a:t>ممرضة</a:t>
                      </a:r>
                    </a:p>
                  </a:txBody>
                  <a:tcPr>
                    <a:solidFill>
                      <a:srgbClr val="FFFFFF"/>
                    </a:solidFill>
                  </a:tcPr>
                </a:tc>
              </a:tr>
              <a:tr h="384048">
                <a:tc>
                  <a:txBody>
                    <a:bodyPr/>
                    <a:lstStyle/>
                    <a:p>
                      <a:pPr rtl="0" algn="l"/>
                      <a:r>
                        <a:rPr sz="1500" b="1" i="0" lang="en-US">
                          <a:solidFill>
                            <a:srgbClr val="225B94"/>
                          </a:solidFill>
                          <a:latin typeface="Segoe UI"/>
                        </a:rPr>
                        <a:t>an ant</a:t>
                      </a:r>
                    </a:p>
                  </a:txBody>
                  <a:tcPr>
                    <a:solidFill>
                      <a:srgbClr val="EEF3FA"/>
                    </a:solidFill>
                  </a:tcPr>
                </a:tc>
                <a:tc>
                  <a:txBody>
                    <a:bodyPr/>
                    <a:lstStyle/>
                    <a:p>
                      <a:pPr rtl="1" algn="r"/>
                      <a:r>
                        <a:rPr sz="1700" b="0" i="0" lang="ar-EG" altLang="en-US">
                          <a:solidFill>
                            <a:srgbClr val="1C2333"/>
                          </a:solidFill>
                          <a:latin typeface="Traditional Arabic"/>
                        </a:rPr>
                        <a:t>نملة</a:t>
                      </a:r>
                    </a:p>
                  </a:txBody>
                  <a:tcPr>
                    <a:solidFill>
                      <a:srgbClr val="EEF3FA"/>
                    </a:solidFill>
                  </a:tcPr>
                </a:tc>
                <a:tc>
                  <a:txBody>
                    <a:bodyPr/>
                    <a:lstStyle/>
                    <a:p>
                      <a:pPr rtl="0" algn="l"/>
                      <a:r>
                        <a:rPr sz="1500" b="1" i="0" lang="en-US">
                          <a:solidFill>
                            <a:srgbClr val="225B94"/>
                          </a:solidFill>
                          <a:latin typeface="Segoe UI"/>
                        </a:rPr>
                        <a:t>an umbrella</a:t>
                      </a:r>
                    </a:p>
                  </a:txBody>
                  <a:tcPr>
                    <a:solidFill>
                      <a:srgbClr val="EEF3FA"/>
                    </a:solidFill>
                  </a:tcPr>
                </a:tc>
                <a:tc>
                  <a:txBody>
                    <a:bodyPr/>
                    <a:lstStyle/>
                    <a:p>
                      <a:pPr rtl="1" algn="r"/>
                      <a:r>
                        <a:rPr sz="1700" b="0" i="0" lang="ar-EG" altLang="en-US">
                          <a:solidFill>
                            <a:srgbClr val="1C2333"/>
                          </a:solidFill>
                          <a:latin typeface="Traditional Arabic"/>
                        </a:rPr>
                        <a:t>شمسية</a:t>
                      </a:r>
                    </a:p>
                  </a:txBody>
                  <a:tcPr>
                    <a:solidFill>
                      <a:srgbClr val="EEF3FA"/>
                    </a:solidFill>
                  </a:tcPr>
                </a:tc>
                <a:tc>
                  <a:txBody>
                    <a:bodyPr/>
                    <a:lstStyle/>
                    <a:p>
                      <a:pPr rtl="0" algn="l"/>
                      <a:r>
                        <a:rPr sz="1500" b="1" i="0" lang="en-US">
                          <a:solidFill>
                            <a:srgbClr val="225B94"/>
                          </a:solidFill>
                          <a:latin typeface="Segoe UI"/>
                        </a:rPr>
                        <a:t>an animal</a:t>
                      </a:r>
                    </a:p>
                  </a:txBody>
                  <a:tcPr>
                    <a:solidFill>
                      <a:srgbClr val="EEF3FA"/>
                    </a:solidFill>
                  </a:tcPr>
                </a:tc>
                <a:tc>
                  <a:txBody>
                    <a:bodyPr/>
                    <a:lstStyle/>
                    <a:p>
                      <a:pPr rtl="1" algn="r"/>
                      <a:r>
                        <a:rPr sz="1700" b="0" i="0" lang="ar-EG" altLang="en-US">
                          <a:solidFill>
                            <a:srgbClr val="1C2333"/>
                          </a:solidFill>
                          <a:latin typeface="Traditional Arabic"/>
                        </a:rPr>
                        <a:t>حيوان</a:t>
                      </a:r>
                    </a:p>
                  </a:txBody>
                  <a:tcPr>
                    <a:solidFill>
                      <a:srgbClr val="EEF3FA"/>
                    </a:solidFill>
                  </a:tcPr>
                </a:tc>
              </a:tr>
              <a:tr h="384048">
                <a:tc>
                  <a:txBody>
                    <a:bodyPr/>
                    <a:lstStyle/>
                    <a:p>
                      <a:pPr rtl="0" algn="l"/>
                      <a:r>
                        <a:rPr sz="1500" b="1" i="0" lang="en-US">
                          <a:solidFill>
                            <a:srgbClr val="225B94"/>
                          </a:solidFill>
                          <a:latin typeface="Segoe UI"/>
                        </a:rPr>
                        <a:t>a snake</a:t>
                      </a:r>
                    </a:p>
                  </a:txBody>
                  <a:tcPr>
                    <a:solidFill>
                      <a:srgbClr val="FFFFFF"/>
                    </a:solidFill>
                  </a:tcPr>
                </a:tc>
                <a:tc>
                  <a:txBody>
                    <a:bodyPr/>
                    <a:lstStyle/>
                    <a:p>
                      <a:pPr rtl="1" algn="r"/>
                      <a:r>
                        <a:rPr sz="1700" b="0" i="0" lang="ar-EG" altLang="en-US">
                          <a:solidFill>
                            <a:srgbClr val="1C2333"/>
                          </a:solidFill>
                          <a:latin typeface="Traditional Arabic"/>
                        </a:rPr>
                        <a:t>ثعبان</a:t>
                      </a:r>
                    </a:p>
                  </a:txBody>
                  <a:tcPr>
                    <a:solidFill>
                      <a:srgbClr val="FFFFFF"/>
                    </a:solidFill>
                  </a:tcPr>
                </a:tc>
                <a:tc>
                  <a:txBody>
                    <a:bodyPr/>
                    <a:lstStyle/>
                    <a:p>
                      <a:pPr rtl="0" algn="l"/>
                      <a:r>
                        <a:rPr sz="1500" b="1" i="0" lang="en-US">
                          <a:solidFill>
                            <a:srgbClr val="225B94"/>
                          </a:solidFill>
                          <a:latin typeface="Segoe UI"/>
                        </a:rPr>
                        <a:t>a camel</a:t>
                      </a:r>
                    </a:p>
                  </a:txBody>
                  <a:tcPr>
                    <a:solidFill>
                      <a:srgbClr val="FFFFFF"/>
                    </a:solidFill>
                  </a:tcPr>
                </a:tc>
                <a:tc>
                  <a:txBody>
                    <a:bodyPr/>
                    <a:lstStyle/>
                    <a:p>
                      <a:pPr rtl="1" algn="r"/>
                      <a:r>
                        <a:rPr sz="1700" b="0" i="0" lang="ar-EG" altLang="en-US">
                          <a:solidFill>
                            <a:srgbClr val="1C2333"/>
                          </a:solidFill>
                          <a:latin typeface="Traditional Arabic"/>
                        </a:rPr>
                        <a:t>جمل</a:t>
                      </a:r>
                    </a:p>
                  </a:txBody>
                  <a:tcPr>
                    <a:solidFill>
                      <a:srgbClr val="FFFFFF"/>
                    </a:solidFill>
                  </a:tcPr>
                </a:tc>
                <a:tc>
                  <a:txBody>
                    <a:bodyPr/>
                    <a:lstStyle/>
                    <a:p>
                      <a:pPr rtl="0" algn="l"/>
                      <a:r>
                        <a:rPr sz="1500" b="1" i="0" lang="en-US">
                          <a:solidFill>
                            <a:srgbClr val="225B94"/>
                          </a:solidFill>
                          <a:latin typeface="Segoe UI"/>
                        </a:rPr>
                        <a:t>a farmer</a:t>
                      </a:r>
                    </a:p>
                  </a:txBody>
                  <a:tcPr>
                    <a:solidFill>
                      <a:srgbClr val="FFFFFF"/>
                    </a:solidFill>
                  </a:tcPr>
                </a:tc>
                <a:tc>
                  <a:txBody>
                    <a:bodyPr/>
                    <a:lstStyle/>
                    <a:p>
                      <a:pPr rtl="1" algn="r"/>
                      <a:r>
                        <a:rPr sz="1700" b="0" i="0" lang="ar-EG" altLang="en-US">
                          <a:solidFill>
                            <a:srgbClr val="1C2333"/>
                          </a:solidFill>
                          <a:latin typeface="Traditional Arabic"/>
                        </a:rPr>
                        <a:t>فلاح</a:t>
                      </a:r>
                    </a:p>
                  </a:txBody>
                  <a:tcPr>
                    <a:solidFill>
                      <a:srgbClr val="FFFFFF"/>
                    </a:solidFill>
                  </a:tcPr>
                </a:tc>
              </a:tr>
              <a:tr h="384048">
                <a:tc>
                  <a:txBody>
                    <a:bodyPr/>
                    <a:lstStyle/>
                    <a:p>
                      <a:pPr rtl="0" algn="l"/>
                      <a:r>
                        <a:rPr sz="1500" b="1" i="0" lang="en-US">
                          <a:solidFill>
                            <a:srgbClr val="225B94"/>
                          </a:solidFill>
                          <a:latin typeface="Segoe UI"/>
                        </a:rPr>
                        <a:t>an elephant</a:t>
                      </a:r>
                    </a:p>
                  </a:txBody>
                  <a:tcPr>
                    <a:solidFill>
                      <a:srgbClr val="EEF3FA"/>
                    </a:solidFill>
                  </a:tcPr>
                </a:tc>
                <a:tc>
                  <a:txBody>
                    <a:bodyPr/>
                    <a:lstStyle/>
                    <a:p>
                      <a:pPr rtl="1" algn="r"/>
                      <a:r>
                        <a:rPr sz="1700" b="0" i="0" lang="ar-EG" altLang="en-US">
                          <a:solidFill>
                            <a:srgbClr val="1C2333"/>
                          </a:solidFill>
                          <a:latin typeface="Traditional Arabic"/>
                        </a:rPr>
                        <a:t>فيل</a:t>
                      </a:r>
                    </a:p>
                  </a:txBody>
                  <a:tcPr>
                    <a:solidFill>
                      <a:srgbClr val="EEF3FA"/>
                    </a:solidFill>
                  </a:tcPr>
                </a:tc>
                <a:tc>
                  <a:txBody>
                    <a:bodyPr/>
                    <a:lstStyle/>
                    <a:p>
                      <a:pPr rtl="0" algn="l"/>
                      <a:r>
                        <a:rPr sz="1500" b="1" i="0" lang="en-US">
                          <a:solidFill>
                            <a:srgbClr val="225B94"/>
                          </a:solidFill>
                          <a:latin typeface="Segoe UI"/>
                        </a:rPr>
                        <a:t>an arm</a:t>
                      </a:r>
                    </a:p>
                  </a:txBody>
                  <a:tcPr>
                    <a:solidFill>
                      <a:srgbClr val="EEF3FA"/>
                    </a:solidFill>
                  </a:tcPr>
                </a:tc>
                <a:tc>
                  <a:txBody>
                    <a:bodyPr/>
                    <a:lstStyle/>
                    <a:p>
                      <a:pPr rtl="1" algn="r"/>
                      <a:r>
                        <a:rPr sz="1700" b="0" i="0" lang="ar-EG" altLang="en-US">
                          <a:solidFill>
                            <a:srgbClr val="1C2333"/>
                          </a:solidFill>
                          <a:latin typeface="Traditional Arabic"/>
                        </a:rPr>
                        <a:t>ذراع</a:t>
                      </a:r>
                    </a:p>
                  </a:txBody>
                  <a:tcPr>
                    <a:solidFill>
                      <a:srgbClr val="EEF3FA"/>
                    </a:solidFill>
                  </a:tcPr>
                </a:tc>
                <a:tc>
                  <a:txBody>
                    <a:bodyPr/>
                    <a:lstStyle/>
                    <a:p>
                      <a:pPr rtl="0" algn="l"/>
                      <a:r>
                        <a:rPr sz="1500" b="1" i="0" lang="en-US">
                          <a:solidFill>
                            <a:srgbClr val="225B94"/>
                          </a:solidFill>
                          <a:latin typeface="Segoe UI"/>
                        </a:rPr>
                        <a:t>an ear</a:t>
                      </a:r>
                    </a:p>
                  </a:txBody>
                  <a:tcPr>
                    <a:solidFill>
                      <a:srgbClr val="EEF3FA"/>
                    </a:solidFill>
                  </a:tcPr>
                </a:tc>
                <a:tc>
                  <a:txBody>
                    <a:bodyPr/>
                    <a:lstStyle/>
                    <a:p>
                      <a:pPr rtl="1" algn="r"/>
                      <a:r>
                        <a:rPr sz="1700" b="0" i="0" lang="ar-EG" altLang="en-US">
                          <a:solidFill>
                            <a:srgbClr val="1C2333"/>
                          </a:solidFill>
                          <a:latin typeface="Traditional Arabic"/>
                        </a:rPr>
                        <a:t>أذن</a:t>
                      </a:r>
                    </a:p>
                  </a:txBody>
                  <a:tcPr>
                    <a:solidFill>
                      <a:srgbClr val="EEF3FA"/>
                    </a:solidFill>
                  </a:tcPr>
                </a:tc>
              </a:tr>
              <a:tr h="384048">
                <a:tc>
                  <a:txBody>
                    <a:bodyPr/>
                    <a:lstStyle/>
                    <a:p>
                      <a:pPr rtl="0" algn="l"/>
                      <a:r>
                        <a:rPr sz="1500" b="1" i="0" lang="en-US">
                          <a:solidFill>
                            <a:srgbClr val="225B94"/>
                          </a:solidFill>
                          <a:latin typeface="Segoe UI"/>
                        </a:rPr>
                        <a:t>a dog</a:t>
                      </a:r>
                    </a:p>
                  </a:txBody>
                  <a:tcPr>
                    <a:solidFill>
                      <a:srgbClr val="FFFFFF"/>
                    </a:solidFill>
                  </a:tcPr>
                </a:tc>
                <a:tc>
                  <a:txBody>
                    <a:bodyPr/>
                    <a:lstStyle/>
                    <a:p>
                      <a:pPr rtl="1" algn="r"/>
                      <a:r>
                        <a:rPr sz="1700" b="0" i="0" lang="ar-EG" altLang="en-US">
                          <a:solidFill>
                            <a:srgbClr val="1C2333"/>
                          </a:solidFill>
                          <a:latin typeface="Traditional Arabic"/>
                        </a:rPr>
                        <a:t>كلب</a:t>
                      </a:r>
                    </a:p>
                  </a:txBody>
                  <a:tcPr>
                    <a:solidFill>
                      <a:srgbClr val="FFFFFF"/>
                    </a:solidFill>
                  </a:tcPr>
                </a:tc>
                <a:tc>
                  <a:txBody>
                    <a:bodyPr/>
                    <a:lstStyle/>
                    <a:p>
                      <a:pPr rtl="0" algn="l"/>
                      <a:r>
                        <a:rPr sz="1500" b="1" i="0" lang="en-US">
                          <a:solidFill>
                            <a:srgbClr val="225B94"/>
                          </a:solidFill>
                          <a:latin typeface="Segoe UI"/>
                        </a:rPr>
                        <a:t>a goat</a:t>
                      </a:r>
                    </a:p>
                  </a:txBody>
                  <a:tcPr>
                    <a:solidFill>
                      <a:srgbClr val="FFFFFF"/>
                    </a:solidFill>
                  </a:tcPr>
                </a:tc>
                <a:tc>
                  <a:txBody>
                    <a:bodyPr/>
                    <a:lstStyle/>
                    <a:p>
                      <a:pPr rtl="1" algn="r"/>
                      <a:r>
                        <a:rPr sz="1700" b="0" i="0" lang="ar-EG" altLang="en-US">
                          <a:solidFill>
                            <a:srgbClr val="1C2333"/>
                          </a:solidFill>
                          <a:latin typeface="Traditional Arabic"/>
                        </a:rPr>
                        <a:t>عنزة</a:t>
                      </a:r>
                    </a:p>
                  </a:txBody>
                  <a:tcPr>
                    <a:solidFill>
                      <a:srgbClr val="FFFFFF"/>
                    </a:solidFill>
                  </a:tcPr>
                </a:tc>
                <a:tc>
                  <a:txBody>
                    <a:bodyPr/>
                    <a:lstStyle/>
                    <a:p>
                      <a:pPr rtl="0" algn="l"/>
                      <a:r>
                        <a:rPr sz="1500" b="1" i="0" lang="en-US">
                          <a:solidFill>
                            <a:srgbClr val="225B94"/>
                          </a:solidFill>
                          <a:latin typeface="Segoe UI"/>
                        </a:rPr>
                        <a:t>a carpenter</a:t>
                      </a:r>
                    </a:p>
                  </a:txBody>
                  <a:tcPr>
                    <a:solidFill>
                      <a:srgbClr val="FFFFFF"/>
                    </a:solidFill>
                  </a:tcPr>
                </a:tc>
                <a:tc>
                  <a:txBody>
                    <a:bodyPr/>
                    <a:lstStyle/>
                    <a:p>
                      <a:pPr rtl="1" algn="r"/>
                      <a:r>
                        <a:rPr sz="1700" b="0" i="0" lang="ar-EG" altLang="en-US">
                          <a:solidFill>
                            <a:srgbClr val="1C2333"/>
                          </a:solidFill>
                          <a:latin typeface="Traditional Arabic"/>
                        </a:rPr>
                        <a:t>نجار</a:t>
                      </a:r>
                    </a:p>
                  </a:txBody>
                  <a:tcPr>
                    <a:solidFill>
                      <a:srgbClr val="FFFFFF"/>
                    </a:solidFill>
                  </a:tcPr>
                </a:tc>
              </a:tr>
              <a:tr h="384048">
                <a:tc>
                  <a:txBody>
                    <a:bodyPr/>
                    <a:lstStyle/>
                    <a:p>
                      <a:pPr rtl="0" algn="l"/>
                      <a:r>
                        <a:rPr sz="1500" b="1" i="0" lang="en-US">
                          <a:solidFill>
                            <a:srgbClr val="225B94"/>
                          </a:solidFill>
                          <a:latin typeface="Segoe UI"/>
                        </a:rPr>
                        <a:t>an apple</a:t>
                      </a:r>
                    </a:p>
                  </a:txBody>
                  <a:tcPr>
                    <a:solidFill>
                      <a:srgbClr val="EEF3FA"/>
                    </a:solidFill>
                  </a:tcPr>
                </a:tc>
                <a:tc>
                  <a:txBody>
                    <a:bodyPr/>
                    <a:lstStyle/>
                    <a:p>
                      <a:pPr rtl="1" algn="r"/>
                      <a:r>
                        <a:rPr sz="1700" b="0" i="0" lang="ar-EG" altLang="en-US">
                          <a:solidFill>
                            <a:srgbClr val="1C2333"/>
                          </a:solidFill>
                          <a:latin typeface="Traditional Arabic"/>
                        </a:rPr>
                        <a:t>تفاحة</a:t>
                      </a:r>
                    </a:p>
                  </a:txBody>
                  <a:tcPr>
                    <a:solidFill>
                      <a:srgbClr val="EEF3FA"/>
                    </a:solidFill>
                  </a:tcPr>
                </a:tc>
                <a:tc>
                  <a:txBody>
                    <a:bodyPr/>
                    <a:lstStyle/>
                    <a:p>
                      <a:pPr rtl="0" algn="l"/>
                      <a:r>
                        <a:rPr sz="1500" b="1" i="0" lang="en-US">
                          <a:solidFill>
                            <a:srgbClr val="225B94"/>
                          </a:solidFill>
                          <a:latin typeface="Segoe UI"/>
                        </a:rPr>
                        <a:t>an insect</a:t>
                      </a:r>
                    </a:p>
                  </a:txBody>
                  <a:tcPr>
                    <a:solidFill>
                      <a:srgbClr val="EEF3FA"/>
                    </a:solidFill>
                  </a:tcPr>
                </a:tc>
                <a:tc>
                  <a:txBody>
                    <a:bodyPr/>
                    <a:lstStyle/>
                    <a:p>
                      <a:pPr rtl="1" algn="r"/>
                      <a:r>
                        <a:rPr sz="1700" b="0" i="0" lang="ar-EG" altLang="en-US">
                          <a:solidFill>
                            <a:srgbClr val="1C2333"/>
                          </a:solidFill>
                          <a:latin typeface="Traditional Arabic"/>
                        </a:rPr>
                        <a:t>حشرة</a:t>
                      </a:r>
                    </a:p>
                  </a:txBody>
                  <a:tcPr>
                    <a:solidFill>
                      <a:srgbClr val="EEF3FA"/>
                    </a:solidFill>
                  </a:tcPr>
                </a:tc>
                <a:tc>
                  <a:txBody>
                    <a:bodyPr/>
                    <a:lstStyle/>
                    <a:p>
                      <a:pPr rtl="0" algn="l"/>
                      <a:r>
                        <a:rPr sz="1500" b="1" i="0" lang="en-US">
                          <a:solidFill>
                            <a:srgbClr val="225B94"/>
                          </a:solidFill>
                          <a:latin typeface="Segoe UI"/>
                        </a:rPr>
                        <a:t>an ox</a:t>
                      </a:r>
                    </a:p>
                  </a:txBody>
                  <a:tcPr>
                    <a:solidFill>
                      <a:srgbClr val="EEF3FA"/>
                    </a:solidFill>
                  </a:tcPr>
                </a:tc>
                <a:tc>
                  <a:txBody>
                    <a:bodyPr/>
                    <a:lstStyle/>
                    <a:p>
                      <a:pPr rtl="1" algn="r"/>
                      <a:r>
                        <a:rPr sz="1700" b="0" i="0" lang="ar-EG" altLang="en-US">
                          <a:solidFill>
                            <a:srgbClr val="1C2333"/>
                          </a:solidFill>
                          <a:latin typeface="Traditional Arabic"/>
                        </a:rPr>
                        <a:t>ثور</a:t>
                      </a:r>
                    </a:p>
                  </a:txBody>
                  <a:tcPr>
                    <a:solidFill>
                      <a:srgbClr val="EEF3FA"/>
                    </a:solidFill>
                  </a:tcPr>
                </a:tc>
              </a:tr>
            </a:tbl>
          </a:graphicData>
        </a:graphic>
      </p:graphicFrame>
    </p:spTree>
  </p:cSld>
  <p:clrMapOvr>
    <a:masterClrMapping/>
  </p:clrMapOvr>
  <p:transition spd="med">
    <p:wipe dir="r"/>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 arm.   (a – an)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have …… camera.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She has …… cat.   (a – an)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is …… elephant.   (a – an)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 egg.   (a – an)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It is …… tree.   (a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She has …… orange.   (a – an)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is …… umbrella.   (a – an)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have …… book.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She bought …… bird.   (a – an)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It is …… ear.   (a – an)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It is …… phone.   (a – an)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He is …… doctor.   (a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It is …… ox.   (a – an)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is …… box.   (a – an)</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 saw …… animal.   (a – an)</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He is …… engineer.   (a – an)</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It is …… dog.   (a – an)</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Make a sentence with: horse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 horse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Make a sentence with: orange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 eating an orange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Make a sentence with: engineer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father is an engineer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Make a sentence with: table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table in the room.</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Make a sentence with: umbrella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an umbrella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Make a sentence with: camel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camel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Make a sentence with: apple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This is an apple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Make a sentence with: nurse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mother is a nurse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Make a sentence with: insect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 ant is an insect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Make a sentence with: dog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 dog .</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Make a sentence with: egg</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an egg on the table.</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Make a sentence with: farmer</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uncle is a farmer .</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a:t>
            </a:r>
          </a:p>
          <a:p>
            <a:pPr algn="ctr" rtl="0"/>
            <a:r>
              <a:rPr sz="4600" b="1" i="0" lang="en-US">
                <a:solidFill>
                  <a:srgbClr val="FFFFFF"/>
                </a:solidFill>
                <a:latin typeface="Segoe UI"/>
              </a:rPr>
              <a:t>The Plural</a:t>
            </a:r>
          </a:p>
          <a:p>
            <a:pPr algn="ctr" rtl="1"/>
            <a:r>
              <a:rPr sz="2900" b="0" i="0" lang="ar-EG" altLang="en-US">
                <a:solidFill>
                  <a:srgbClr val="FFFFFF"/>
                </a:solidFill>
                <a:latin typeface="Traditional Arabic"/>
              </a:rPr>
              <a:t>الجمع</a:t>
            </a:r>
          </a:p>
        </p:txBody>
      </p:sp>
    </p:spTree>
  </p:cSld>
  <p:clrMapOvr>
    <a:masterClrMapping/>
  </p:clrMapOvr>
  <p:transition spd="med">
    <p:zoom dir="in"/>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5B"/>
                </a:solidFill>
                <a:latin typeface="Segoe UI"/>
              </a:rPr>
              <a:t>▶ noun + s</a:t>
            </a:r>
          </a:p>
          <a:p>
            <a:pPr rtl="1" algn="r">
              <a:spcAft>
                <a:spcPts val="600"/>
              </a:spcAft>
            </a:pPr>
            <a:r>
              <a:rPr sz="2100" b="0" i="0" lang="ar-EG" altLang="en-US">
                <a:solidFill>
                  <a:srgbClr val="1C2333"/>
                </a:solidFill>
                <a:latin typeface="Traditional Arabic"/>
              </a:rPr>
              <a:t>معظم الأسماء يضاف لها (s) في حالة الجمع.</a:t>
            </a:r>
          </a:p>
          <a:p>
            <a:pPr rtl="0" algn="l">
              <a:spcAft>
                <a:spcPts val="600"/>
              </a:spcAft>
            </a:pPr>
            <a:r>
              <a:rPr sz="2000" b="1" i="0" lang="en-US">
                <a:solidFill>
                  <a:srgbClr val="22945B"/>
                </a:solidFill>
                <a:latin typeface="Segoe UI"/>
              </a:rPr>
              <a:t>▶ noun + es → o - s - sh - ch - x</a:t>
            </a:r>
          </a:p>
          <a:p>
            <a:pPr rtl="1" algn="r">
              <a:spcAft>
                <a:spcPts val="600"/>
              </a:spcAft>
            </a:pPr>
            <a:r>
              <a:rPr sz="2100" b="0" i="0" lang="ar-EG" altLang="en-US">
                <a:solidFill>
                  <a:srgbClr val="1C2333"/>
                </a:solidFill>
                <a:latin typeface="Traditional Arabic"/>
              </a:rPr>
              <a:t>    تضاف (es) إذا كان آخر الاسم: o - s - sh - ch - x</a:t>
            </a:r>
          </a:p>
          <a:p>
            <a:pPr rtl="0" algn="l">
              <a:spcAft>
                <a:spcPts val="600"/>
              </a:spcAft>
            </a:pPr>
            <a:r>
              <a:rPr sz="2000" b="1" i="0" lang="en-US">
                <a:solidFill>
                  <a:srgbClr val="22945B"/>
                </a:solidFill>
                <a:latin typeface="Segoe UI"/>
              </a:rPr>
              <a:t>▶ consonant + y → ies</a:t>
            </a:r>
          </a:p>
          <a:p>
            <a:pPr rtl="1" algn="r">
              <a:spcAft>
                <a:spcPts val="600"/>
              </a:spcAft>
            </a:pPr>
            <a:r>
              <a:rPr sz="2100" b="0" i="0" lang="ar-EG" altLang="en-US">
                <a:solidFill>
                  <a:srgbClr val="1C2333"/>
                </a:solidFill>
                <a:latin typeface="Traditional Arabic"/>
              </a:rPr>
              <a:t>    إذا انتهى الاسم بـ (y) وقبلها حرف ساكن، نحذف الـ (y) ونضيف (ies).</a:t>
            </a:r>
          </a:p>
          <a:p>
            <a:pPr rtl="0" algn="l">
              <a:spcAft>
                <a:spcPts val="600"/>
              </a:spcAft>
            </a:pPr>
            <a:r>
              <a:rPr sz="2000" b="1" i="0" lang="en-US">
                <a:solidFill>
                  <a:srgbClr val="22945B"/>
                </a:solidFill>
                <a:latin typeface="Segoe UI"/>
              </a:rPr>
              <a:t>▶ f / fe → ves</a:t>
            </a:r>
          </a:p>
          <a:p>
            <a:pPr rtl="1" algn="r">
              <a:spcAft>
                <a:spcPts val="600"/>
              </a:spcAft>
            </a:pPr>
            <a:r>
              <a:rPr sz="2100" b="0" i="0" lang="ar-EG" altLang="en-US">
                <a:solidFill>
                  <a:srgbClr val="1C2333"/>
                </a:solidFill>
                <a:latin typeface="Traditional Arabic"/>
              </a:rPr>
              <a:t>    إذا انتهى الاسم بـ (f) أو (fe) تُحذف ونضيف (ves).</a:t>
            </a:r>
          </a:p>
          <a:p>
            <a:pPr rtl="0" algn="l">
              <a:spcAft>
                <a:spcPts val="600"/>
              </a:spcAft>
            </a:pPr>
            <a:r>
              <a:rPr sz="2000" b="1" i="0" lang="en-US">
                <a:solidFill>
                  <a:srgbClr val="22945B"/>
                </a:solidFill>
                <a:latin typeface="Segoe UI"/>
              </a:rPr>
              <a:t>▶ irregular plurals</a:t>
            </a:r>
          </a:p>
        </p:txBody>
      </p:sp>
    </p:spTree>
  </p:cSld>
  <p:clrMapOvr>
    <a:masterClrMapping/>
  </p:clrMapOvr>
  <p:transition spd="med">
    <p:comb dir="horz"/>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The Rule — القاعدة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    هناك أسماء شاذة تُحفظ كما هي: man → men, child → children …</a:t>
            </a:r>
          </a:p>
        </p:txBody>
      </p:sp>
    </p:spTree>
  </p:cSld>
  <p:clrMapOvr>
    <a:masterClrMapping/>
  </p:clrMapOvr>
  <p:transition spd="med">
    <p:newsflash/>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r>
              <a:tr h="347472">
                <a:tc>
                  <a:txBody>
                    <a:bodyPr/>
                    <a:lstStyle/>
                    <a:p>
                      <a:pPr rtl="0" algn="l"/>
                      <a:r>
                        <a:rPr sz="1300" b="0" i="0" lang="en-US">
                          <a:solidFill>
                            <a:srgbClr val="1C2333"/>
                          </a:solidFill>
                          <a:latin typeface="Segoe UI"/>
                        </a:rPr>
                        <a:t>a girl</a:t>
                      </a:r>
                    </a:p>
                  </a:txBody>
                  <a:tcPr>
                    <a:solidFill>
                      <a:srgbClr val="FFFFFF"/>
                    </a:solidFill>
                  </a:tcPr>
                </a:tc>
                <a:tc>
                  <a:txBody>
                    <a:bodyPr/>
                    <a:lstStyle/>
                    <a:p>
                      <a:pPr rtl="0" algn="l"/>
                      <a:r>
                        <a:rPr sz="1300" b="0" i="0" lang="en-US">
                          <a:solidFill>
                            <a:srgbClr val="1C2333"/>
                          </a:solidFill>
                          <a:latin typeface="Segoe UI"/>
                        </a:rPr>
                        <a:t>girls</a:t>
                      </a:r>
                    </a:p>
                  </a:txBody>
                  <a:tcPr>
                    <a:solidFill>
                      <a:srgbClr val="FFFFFF"/>
                    </a:solidFill>
                  </a:tcPr>
                </a:tc>
                <a:tc>
                  <a:txBody>
                    <a:bodyPr/>
                    <a:lstStyle/>
                    <a:p>
                      <a:pPr rtl="0" algn="l"/>
                      <a:r>
                        <a:rPr sz="1300" b="0" i="0" lang="en-US">
                          <a:solidFill>
                            <a:srgbClr val="1C2333"/>
                          </a:solidFill>
                          <a:latin typeface="Segoe UI"/>
                        </a:rPr>
                        <a:t>an apple</a:t>
                      </a:r>
                    </a:p>
                  </a:txBody>
                  <a:tcPr>
                    <a:solidFill>
                      <a:srgbClr val="FFFFFF"/>
                    </a:solidFill>
                  </a:tcPr>
                </a:tc>
                <a:tc>
                  <a:txBody>
                    <a:bodyPr/>
                    <a:lstStyle/>
                    <a:p>
                      <a:pPr rtl="0" algn="l"/>
                      <a:r>
                        <a:rPr sz="1300" b="0" i="0" lang="en-US">
                          <a:solidFill>
                            <a:srgbClr val="1C2333"/>
                          </a:solidFill>
                          <a:latin typeface="Segoe UI"/>
                        </a:rPr>
                        <a:t>apples</a:t>
                      </a:r>
                    </a:p>
                  </a:txBody>
                  <a:tcPr>
                    <a:solidFill>
                      <a:srgbClr val="FFFFFF"/>
                    </a:solidFill>
                  </a:tcPr>
                </a:tc>
              </a:tr>
              <a:tr h="347472">
                <a:tc>
                  <a:txBody>
                    <a:bodyPr/>
                    <a:lstStyle/>
                    <a:p>
                      <a:pPr rtl="0" algn="l"/>
                      <a:r>
                        <a:rPr sz="1300" b="0" i="0" lang="en-US">
                          <a:solidFill>
                            <a:srgbClr val="1C2333"/>
                          </a:solidFill>
                          <a:latin typeface="Segoe UI"/>
                        </a:rPr>
                        <a:t>a boy</a:t>
                      </a:r>
                    </a:p>
                  </a:txBody>
                  <a:tcPr>
                    <a:solidFill>
                      <a:srgbClr val="EEF3FA"/>
                    </a:solidFill>
                  </a:tcPr>
                </a:tc>
                <a:tc>
                  <a:txBody>
                    <a:bodyPr/>
                    <a:lstStyle/>
                    <a:p>
                      <a:pPr rtl="0" algn="l"/>
                      <a:r>
                        <a:rPr sz="1300" b="0" i="0" lang="en-US">
                          <a:solidFill>
                            <a:srgbClr val="1C2333"/>
                          </a:solidFill>
                          <a:latin typeface="Segoe UI"/>
                        </a:rPr>
                        <a:t>boys</a:t>
                      </a:r>
                    </a:p>
                  </a:txBody>
                  <a:tcPr>
                    <a:solidFill>
                      <a:srgbClr val="EEF3FA"/>
                    </a:solidFill>
                  </a:tcPr>
                </a:tc>
                <a:tc>
                  <a:txBody>
                    <a:bodyPr/>
                    <a:lstStyle/>
                    <a:p>
                      <a:pPr rtl="0" algn="l"/>
                      <a:r>
                        <a:rPr sz="1300" b="0" i="0" lang="en-US">
                          <a:solidFill>
                            <a:srgbClr val="1C2333"/>
                          </a:solidFill>
                          <a:latin typeface="Segoe UI"/>
                        </a:rPr>
                        <a:t>an orange</a:t>
                      </a:r>
                    </a:p>
                  </a:txBody>
                  <a:tcPr>
                    <a:solidFill>
                      <a:srgbClr val="EEF3FA"/>
                    </a:solidFill>
                  </a:tcPr>
                </a:tc>
                <a:tc>
                  <a:txBody>
                    <a:bodyPr/>
                    <a:lstStyle/>
                    <a:p>
                      <a:pPr rtl="0" algn="l"/>
                      <a:r>
                        <a:rPr sz="1300" b="0" i="0" lang="en-US">
                          <a:solidFill>
                            <a:srgbClr val="1C2333"/>
                          </a:solidFill>
                          <a:latin typeface="Segoe UI"/>
                        </a:rPr>
                        <a:t>oranges</a:t>
                      </a:r>
                    </a:p>
                  </a:txBody>
                  <a:tcPr>
                    <a:solidFill>
                      <a:srgbClr val="EEF3FA"/>
                    </a:solidFill>
                  </a:tcPr>
                </a:tc>
              </a:tr>
              <a:tr h="347472">
                <a:tc>
                  <a:txBody>
                    <a:bodyPr/>
                    <a:lstStyle/>
                    <a:p>
                      <a:pPr rtl="0" algn="l"/>
                      <a:r>
                        <a:rPr sz="1300" b="0" i="0" lang="en-US">
                          <a:solidFill>
                            <a:srgbClr val="1C2333"/>
                          </a:solidFill>
                          <a:latin typeface="Segoe UI"/>
                        </a:rPr>
                        <a:t>a bird</a:t>
                      </a:r>
                    </a:p>
                  </a:txBody>
                  <a:tcPr>
                    <a:solidFill>
                      <a:srgbClr val="FFFFFF"/>
                    </a:solidFill>
                  </a:tcPr>
                </a:tc>
                <a:tc>
                  <a:txBody>
                    <a:bodyPr/>
                    <a:lstStyle/>
                    <a:p>
                      <a:pPr rtl="0" algn="l"/>
                      <a:r>
                        <a:rPr sz="1300" b="0" i="0" lang="en-US">
                          <a:solidFill>
                            <a:srgbClr val="1C2333"/>
                          </a:solidFill>
                          <a:latin typeface="Segoe UI"/>
                        </a:rPr>
                        <a:t>birds</a:t>
                      </a:r>
                    </a:p>
                  </a:txBody>
                  <a:tcPr>
                    <a:solidFill>
                      <a:srgbClr val="FFFFFF"/>
                    </a:solidFill>
                  </a:tcPr>
                </a:tc>
                <a:tc>
                  <a:txBody>
                    <a:bodyPr/>
                    <a:lstStyle/>
                    <a:p>
                      <a:pPr rtl="0" algn="l"/>
                      <a:r>
                        <a:rPr sz="1300" b="0" i="0" lang="en-US">
                          <a:solidFill>
                            <a:srgbClr val="1C2333"/>
                          </a:solidFill>
                          <a:latin typeface="Segoe UI"/>
                        </a:rPr>
                        <a:t>a book</a:t>
                      </a:r>
                    </a:p>
                  </a:txBody>
                  <a:tcPr>
                    <a:solidFill>
                      <a:srgbClr val="FFFFFF"/>
                    </a:solidFill>
                  </a:tcPr>
                </a:tc>
                <a:tc>
                  <a:txBody>
                    <a:bodyPr/>
                    <a:lstStyle/>
                    <a:p>
                      <a:pPr rtl="0" algn="l"/>
                      <a:r>
                        <a:rPr sz="1300" b="0" i="0" lang="en-US">
                          <a:solidFill>
                            <a:srgbClr val="1C2333"/>
                          </a:solidFill>
                          <a:latin typeface="Segoe UI"/>
                        </a:rPr>
                        <a:t>books</a:t>
                      </a:r>
                    </a:p>
                  </a:txBody>
                  <a:tcPr>
                    <a:solidFill>
                      <a:srgbClr val="FFFFFF"/>
                    </a:solidFill>
                  </a:tcPr>
                </a:tc>
              </a:tr>
              <a:tr h="347472">
                <a:tc>
                  <a:txBody>
                    <a:bodyPr/>
                    <a:lstStyle/>
                    <a:p>
                      <a:pPr rtl="0" algn="l"/>
                      <a:r>
                        <a:rPr sz="1300" b="0" i="0" lang="en-US">
                          <a:solidFill>
                            <a:srgbClr val="1C2333"/>
                          </a:solidFill>
                          <a:latin typeface="Segoe UI"/>
                        </a:rPr>
                        <a:t>a cat</a:t>
                      </a:r>
                    </a:p>
                  </a:txBody>
                  <a:tcPr>
                    <a:solidFill>
                      <a:srgbClr val="EEF3FA"/>
                    </a:solidFill>
                  </a:tcPr>
                </a:tc>
                <a:tc>
                  <a:txBody>
                    <a:bodyPr/>
                    <a:lstStyle/>
                    <a:p>
                      <a:pPr rtl="0" algn="l"/>
                      <a:r>
                        <a:rPr sz="1300" b="0" i="0" lang="en-US">
                          <a:solidFill>
                            <a:srgbClr val="1C2333"/>
                          </a:solidFill>
                          <a:latin typeface="Segoe UI"/>
                        </a:rPr>
                        <a:t>cats</a:t>
                      </a:r>
                    </a:p>
                  </a:txBody>
                  <a:tcPr>
                    <a:solidFill>
                      <a:srgbClr val="EEF3FA"/>
                    </a:solidFill>
                  </a:tcPr>
                </a:tc>
                <a:tc>
                  <a:txBody>
                    <a:bodyPr/>
                    <a:lstStyle/>
                    <a:p>
                      <a:pPr rtl="0" algn="l"/>
                      <a:r>
                        <a:rPr sz="1300" b="0" i="0" lang="en-US">
                          <a:solidFill>
                            <a:srgbClr val="1C2333"/>
                          </a:solidFill>
                          <a:latin typeface="Segoe UI"/>
                        </a:rPr>
                        <a:t>an ant</a:t>
                      </a:r>
                    </a:p>
                  </a:txBody>
                  <a:tcPr>
                    <a:solidFill>
                      <a:srgbClr val="EEF3FA"/>
                    </a:solidFill>
                  </a:tcPr>
                </a:tc>
                <a:tc>
                  <a:txBody>
                    <a:bodyPr/>
                    <a:lstStyle/>
                    <a:p>
                      <a:pPr rtl="0" algn="l"/>
                      <a:r>
                        <a:rPr sz="1300" b="0" i="0" lang="en-US">
                          <a:solidFill>
                            <a:srgbClr val="1C2333"/>
                          </a:solidFill>
                          <a:latin typeface="Segoe UI"/>
                        </a:rPr>
                        <a:t>ants</a:t>
                      </a:r>
                    </a:p>
                  </a:txBody>
                  <a:tcPr>
                    <a:solidFill>
                      <a:srgbClr val="EEF3FA"/>
                    </a:solidFill>
                  </a:tcPr>
                </a:tc>
              </a:tr>
              <a:tr h="347472">
                <a:tc>
                  <a:txBody>
                    <a:bodyPr/>
                    <a:lstStyle/>
                    <a:p>
                      <a:pPr rtl="0" algn="l"/>
                      <a:r>
                        <a:rPr sz="1300" b="0" i="0" lang="en-US">
                          <a:solidFill>
                            <a:srgbClr val="1C2333"/>
                          </a:solidFill>
                          <a:latin typeface="Segoe UI"/>
                        </a:rPr>
                        <a:t>a bee</a:t>
                      </a:r>
                    </a:p>
                  </a:txBody>
                  <a:tcPr>
                    <a:solidFill>
                      <a:srgbClr val="FFFFFF"/>
                    </a:solidFill>
                  </a:tcPr>
                </a:tc>
                <a:tc>
                  <a:txBody>
                    <a:bodyPr/>
                    <a:lstStyle/>
                    <a:p>
                      <a:pPr rtl="0" algn="l"/>
                      <a:r>
                        <a:rPr sz="1300" b="0" i="0" lang="en-US">
                          <a:solidFill>
                            <a:srgbClr val="1C2333"/>
                          </a:solidFill>
                          <a:latin typeface="Segoe UI"/>
                        </a:rPr>
                        <a:t>bees</a:t>
                      </a:r>
                    </a:p>
                  </a:txBody>
                  <a:tcPr>
                    <a:solidFill>
                      <a:srgbClr val="FFFFFF"/>
                    </a:solidFill>
                  </a:tcPr>
                </a:tc>
                <a:tc>
                  <a:txBody>
                    <a:bodyPr/>
                    <a:lstStyle/>
                    <a:p>
                      <a:pPr rtl="0" algn="l"/>
                      <a:r>
                        <a:rPr sz="1300" b="0" i="0" lang="en-US">
                          <a:solidFill>
                            <a:srgbClr val="1C2333"/>
                          </a:solidFill>
                          <a:latin typeface="Segoe UI"/>
                        </a:rPr>
                        <a:t>a pen</a:t>
                      </a:r>
                    </a:p>
                  </a:txBody>
                  <a:tcPr>
                    <a:solidFill>
                      <a:srgbClr val="FFFFFF"/>
                    </a:solidFill>
                  </a:tcPr>
                </a:tc>
                <a:tc>
                  <a:txBody>
                    <a:bodyPr/>
                    <a:lstStyle/>
                    <a:p>
                      <a:pPr rtl="0" algn="l"/>
                      <a:r>
                        <a:rPr sz="1300" b="0" i="0" lang="en-US">
                          <a:solidFill>
                            <a:srgbClr val="1C2333"/>
                          </a:solidFill>
                          <a:latin typeface="Segoe UI"/>
                        </a:rPr>
                        <a:t>pens</a:t>
                      </a:r>
                    </a:p>
                  </a:txBody>
                  <a:tcPr>
                    <a:solidFill>
                      <a:srgbClr val="FFFFFF"/>
                    </a:solidFill>
                  </a:tcPr>
                </a:tc>
              </a:tr>
              <a:tr h="347472">
                <a:tc>
                  <a:txBody>
                    <a:bodyPr/>
                    <a:lstStyle/>
                    <a:p>
                      <a:pPr rtl="0" algn="l"/>
                      <a:r>
                        <a:rPr sz="1300" b="0" i="0" lang="en-US">
                          <a:solidFill>
                            <a:srgbClr val="1C2333"/>
                          </a:solidFill>
                          <a:latin typeface="Segoe UI"/>
                        </a:rPr>
                        <a:t>a fox</a:t>
                      </a:r>
                    </a:p>
                  </a:txBody>
                  <a:tcPr>
                    <a:solidFill>
                      <a:srgbClr val="EEF3FA"/>
                    </a:solidFill>
                  </a:tcPr>
                </a:tc>
                <a:tc>
                  <a:txBody>
                    <a:bodyPr/>
                    <a:lstStyle/>
                    <a:p>
                      <a:pPr rtl="0" algn="l"/>
                      <a:r>
                        <a:rPr sz="1300" b="0" i="0" lang="en-US">
                          <a:solidFill>
                            <a:srgbClr val="1C2333"/>
                          </a:solidFill>
                          <a:latin typeface="Segoe UI"/>
                        </a:rPr>
                        <a:t>fox es</a:t>
                      </a:r>
                    </a:p>
                  </a:txBody>
                  <a:tcPr>
                    <a:solidFill>
                      <a:srgbClr val="EEF3FA"/>
                    </a:solidFill>
                  </a:tcPr>
                </a:tc>
                <a:tc>
                  <a:txBody>
                    <a:bodyPr/>
                    <a:lstStyle/>
                    <a:p>
                      <a:pPr rtl="0" algn="l"/>
                      <a:r>
                        <a:rPr sz="1300" b="0" i="0" lang="en-US">
                          <a:solidFill>
                            <a:srgbClr val="1C2333"/>
                          </a:solidFill>
                          <a:latin typeface="Segoe UI"/>
                        </a:rPr>
                        <a:t>a tomato</a:t>
                      </a:r>
                    </a:p>
                  </a:txBody>
                  <a:tcPr>
                    <a:solidFill>
                      <a:srgbClr val="EEF3FA"/>
                    </a:solidFill>
                  </a:tcPr>
                </a:tc>
                <a:tc>
                  <a:txBody>
                    <a:bodyPr/>
                    <a:lstStyle/>
                    <a:p>
                      <a:pPr rtl="0" algn="l"/>
                      <a:r>
                        <a:rPr sz="1300" b="0" i="0" lang="en-US">
                          <a:solidFill>
                            <a:srgbClr val="1C2333"/>
                          </a:solidFill>
                          <a:latin typeface="Segoe UI"/>
                        </a:rPr>
                        <a:t>tomato es</a:t>
                      </a:r>
                    </a:p>
                  </a:txBody>
                  <a:tcPr>
                    <a:solidFill>
                      <a:srgbClr val="EEF3FA"/>
                    </a:solidFill>
                  </a:tcPr>
                </a:tc>
              </a:tr>
              <a:tr h="347472">
                <a:tc>
                  <a:txBody>
                    <a:bodyPr/>
                    <a:lstStyle/>
                    <a:p>
                      <a:pPr rtl="0" algn="l"/>
                      <a:r>
                        <a:rPr sz="1300" b="0" i="0" lang="en-US">
                          <a:solidFill>
                            <a:srgbClr val="1C2333"/>
                          </a:solidFill>
                          <a:latin typeface="Segoe UI"/>
                        </a:rPr>
                        <a:t>a dish</a:t>
                      </a:r>
                    </a:p>
                  </a:txBody>
                  <a:tcPr>
                    <a:solidFill>
                      <a:srgbClr val="FFFFFF"/>
                    </a:solidFill>
                  </a:tcPr>
                </a:tc>
                <a:tc>
                  <a:txBody>
                    <a:bodyPr/>
                    <a:lstStyle/>
                    <a:p>
                      <a:pPr rtl="0" algn="l"/>
                      <a:r>
                        <a:rPr sz="1300" b="0" i="0" lang="en-US">
                          <a:solidFill>
                            <a:srgbClr val="1C2333"/>
                          </a:solidFill>
                          <a:latin typeface="Segoe UI"/>
                        </a:rPr>
                        <a:t>dish es</a:t>
                      </a:r>
                    </a:p>
                  </a:txBody>
                  <a:tcPr>
                    <a:solidFill>
                      <a:srgbClr val="FFFFFF"/>
                    </a:solidFill>
                  </a:tcPr>
                </a:tc>
                <a:tc>
                  <a:txBody>
                    <a:bodyPr/>
                    <a:lstStyle/>
                    <a:p>
                      <a:pPr rtl="0" algn="l"/>
                      <a:r>
                        <a:rPr sz="1300" b="0" i="0" lang="en-US">
                          <a:solidFill>
                            <a:srgbClr val="1C2333"/>
                          </a:solidFill>
                          <a:latin typeface="Segoe UI"/>
                        </a:rPr>
                        <a:t>a box</a:t>
                      </a:r>
                    </a:p>
                  </a:txBody>
                  <a:tcPr>
                    <a:solidFill>
                      <a:srgbClr val="FFFFFF"/>
                    </a:solidFill>
                  </a:tcPr>
                </a:tc>
                <a:tc>
                  <a:txBody>
                    <a:bodyPr/>
                    <a:lstStyle/>
                    <a:p>
                      <a:pPr rtl="0" algn="l"/>
                      <a:r>
                        <a:rPr sz="1300" b="0" i="0" lang="en-US">
                          <a:solidFill>
                            <a:srgbClr val="1C2333"/>
                          </a:solidFill>
                          <a:latin typeface="Segoe UI"/>
                        </a:rPr>
                        <a:t>box es</a:t>
                      </a:r>
                    </a:p>
                  </a:txBody>
                  <a:tcPr>
                    <a:solidFill>
                      <a:srgbClr val="FFFFFF"/>
                    </a:solidFill>
                  </a:tcPr>
                </a:tc>
              </a:tr>
              <a:tr h="347472">
                <a:tc>
                  <a:txBody>
                    <a:bodyPr/>
                    <a:lstStyle/>
                    <a:p>
                      <a:pPr rtl="0" algn="l"/>
                      <a:r>
                        <a:rPr sz="1300" b="0" i="0" lang="en-US">
                          <a:solidFill>
                            <a:srgbClr val="1C2333"/>
                          </a:solidFill>
                          <a:latin typeface="Segoe UI"/>
                        </a:rPr>
                        <a:t>a watch</a:t>
                      </a:r>
                    </a:p>
                  </a:txBody>
                  <a:tcPr>
                    <a:solidFill>
                      <a:srgbClr val="EEF3FA"/>
                    </a:solidFill>
                  </a:tcPr>
                </a:tc>
                <a:tc>
                  <a:txBody>
                    <a:bodyPr/>
                    <a:lstStyle/>
                    <a:p>
                      <a:pPr rtl="0" algn="l"/>
                      <a:r>
                        <a:rPr sz="1300" b="0" i="0" lang="en-US">
                          <a:solidFill>
                            <a:srgbClr val="1C2333"/>
                          </a:solidFill>
                          <a:latin typeface="Segoe UI"/>
                        </a:rPr>
                        <a:t>watch es</a:t>
                      </a:r>
                    </a:p>
                  </a:txBody>
                  <a:tcPr>
                    <a:solidFill>
                      <a:srgbClr val="EEF3FA"/>
                    </a:solidFill>
                  </a:tcPr>
                </a:tc>
                <a:tc>
                  <a:txBody>
                    <a:bodyPr/>
                    <a:lstStyle/>
                    <a:p>
                      <a:pPr rtl="0" algn="l"/>
                      <a:r>
                        <a:rPr sz="1300" b="0" i="0" lang="en-US">
                          <a:solidFill>
                            <a:srgbClr val="1C2333"/>
                          </a:solidFill>
                          <a:latin typeface="Segoe UI"/>
                        </a:rPr>
                        <a:t>a bus</a:t>
                      </a:r>
                    </a:p>
                  </a:txBody>
                  <a:tcPr>
                    <a:solidFill>
                      <a:srgbClr val="EEF3FA"/>
                    </a:solidFill>
                  </a:tcPr>
                </a:tc>
                <a:tc>
                  <a:txBody>
                    <a:bodyPr/>
                    <a:lstStyle/>
                    <a:p>
                      <a:pPr rtl="0" algn="l"/>
                      <a:r>
                        <a:rPr sz="1300" b="0" i="0" lang="en-US">
                          <a:solidFill>
                            <a:srgbClr val="1C2333"/>
                          </a:solidFill>
                          <a:latin typeface="Segoe UI"/>
                        </a:rPr>
                        <a:t>bus es</a:t>
                      </a:r>
                    </a:p>
                  </a:txBody>
                  <a:tcPr>
                    <a:solidFill>
                      <a:srgbClr val="EEF3FA"/>
                    </a:solidFill>
                  </a:tcPr>
                </a:tc>
              </a:tr>
              <a:tr h="347472">
                <a:tc>
                  <a:txBody>
                    <a:bodyPr/>
                    <a:lstStyle/>
                    <a:p>
                      <a:pPr rtl="0" algn="l"/>
                      <a:r>
                        <a:rPr sz="1300" b="0" i="0" lang="en-US">
                          <a:solidFill>
                            <a:srgbClr val="1C2333"/>
                          </a:solidFill>
                          <a:latin typeface="Segoe UI"/>
                        </a:rPr>
                        <a:t>a baby</a:t>
                      </a:r>
                    </a:p>
                  </a:txBody>
                  <a:tcPr>
                    <a:solidFill>
                      <a:srgbClr val="FFFFFF"/>
                    </a:solidFill>
                  </a:tcPr>
                </a:tc>
                <a:tc>
                  <a:txBody>
                    <a:bodyPr/>
                    <a:lstStyle/>
                    <a:p>
                      <a:pPr rtl="0" algn="l"/>
                      <a:r>
                        <a:rPr sz="1300" b="0" i="0" lang="en-US">
                          <a:solidFill>
                            <a:srgbClr val="1C2333"/>
                          </a:solidFill>
                          <a:latin typeface="Segoe UI"/>
                        </a:rPr>
                        <a:t>bab ies</a:t>
                      </a:r>
                    </a:p>
                  </a:txBody>
                  <a:tcPr>
                    <a:solidFill>
                      <a:srgbClr val="FFFFFF"/>
                    </a:solidFill>
                  </a:tcPr>
                </a:tc>
                <a:tc>
                  <a:txBody>
                    <a:bodyPr/>
                    <a:lstStyle/>
                    <a:p>
                      <a:pPr rtl="0" algn="l"/>
                      <a:r>
                        <a:rPr sz="1300" b="0" i="0" lang="en-US">
                          <a:solidFill>
                            <a:srgbClr val="1C2333"/>
                          </a:solidFill>
                          <a:latin typeface="Segoe UI"/>
                        </a:rPr>
                        <a:t>a city</a:t>
                      </a:r>
                    </a:p>
                  </a:txBody>
                  <a:tcPr>
                    <a:solidFill>
                      <a:srgbClr val="FFFFFF"/>
                    </a:solidFill>
                  </a:tcPr>
                </a:tc>
                <a:tc>
                  <a:txBody>
                    <a:bodyPr/>
                    <a:lstStyle/>
                    <a:p>
                      <a:pPr rtl="0" algn="l"/>
                      <a:r>
                        <a:rPr sz="1300" b="0" i="0" lang="en-US">
                          <a:solidFill>
                            <a:srgbClr val="1C2333"/>
                          </a:solidFill>
                          <a:latin typeface="Segoe UI"/>
                        </a:rPr>
                        <a:t>cit ies</a:t>
                      </a:r>
                    </a:p>
                  </a:txBody>
                  <a:tcPr>
                    <a:solidFill>
                      <a:srgbClr val="FFFFFF"/>
                    </a:solidFill>
                  </a:tcPr>
                </a:tc>
              </a:tr>
              <a:tr h="347472">
                <a:tc>
                  <a:txBody>
                    <a:bodyPr/>
                    <a:lstStyle/>
                    <a:p>
                      <a:pPr rtl="0" algn="l"/>
                      <a:r>
                        <a:rPr sz="1300" b="0" i="0" lang="en-US">
                          <a:solidFill>
                            <a:srgbClr val="1C2333"/>
                          </a:solidFill>
                          <a:latin typeface="Segoe UI"/>
                        </a:rPr>
                        <a:t>a lorry</a:t>
                      </a:r>
                    </a:p>
                  </a:txBody>
                  <a:tcPr>
                    <a:solidFill>
                      <a:srgbClr val="EEF3FA"/>
                    </a:solidFill>
                  </a:tcPr>
                </a:tc>
                <a:tc>
                  <a:txBody>
                    <a:bodyPr/>
                    <a:lstStyle/>
                    <a:p>
                      <a:pPr rtl="0" algn="l"/>
                      <a:r>
                        <a:rPr sz="1300" b="0" i="0" lang="en-US">
                          <a:solidFill>
                            <a:srgbClr val="1C2333"/>
                          </a:solidFill>
                          <a:latin typeface="Segoe UI"/>
                        </a:rPr>
                        <a:t>lorr ies</a:t>
                      </a:r>
                    </a:p>
                  </a:txBody>
                  <a:tcPr>
                    <a:solidFill>
                      <a:srgbClr val="EEF3FA"/>
                    </a:solidFill>
                  </a:tcPr>
                </a:tc>
                <a:tc>
                  <a:txBody>
                    <a:bodyPr/>
                    <a:lstStyle/>
                    <a:p>
                      <a:pPr rtl="0" algn="l"/>
                      <a:r>
                        <a:rPr sz="1300" b="0" i="0" lang="en-US">
                          <a:solidFill>
                            <a:srgbClr val="1C2333"/>
                          </a:solidFill>
                          <a:latin typeface="Segoe UI"/>
                        </a:rPr>
                        <a:t>a family</a:t>
                      </a:r>
                    </a:p>
                  </a:txBody>
                  <a:tcPr>
                    <a:solidFill>
                      <a:srgbClr val="EEF3FA"/>
                    </a:solidFill>
                  </a:tcPr>
                </a:tc>
                <a:tc>
                  <a:txBody>
                    <a:bodyPr/>
                    <a:lstStyle/>
                    <a:p>
                      <a:pPr rtl="0" algn="l"/>
                      <a:r>
                        <a:rPr sz="1300" b="0" i="0" lang="en-US">
                          <a:solidFill>
                            <a:srgbClr val="1C2333"/>
                          </a:solidFill>
                          <a:latin typeface="Segoe UI"/>
                        </a:rPr>
                        <a:t>famil ies</a:t>
                      </a:r>
                    </a:p>
                  </a:txBody>
                  <a:tcPr>
                    <a:solidFill>
                      <a:srgbClr val="EEF3FA"/>
                    </a:solidFill>
                  </a:tcPr>
                </a:tc>
              </a:tr>
              <a:tr h="347472">
                <a:tc>
                  <a:txBody>
                    <a:bodyPr/>
                    <a:lstStyle/>
                    <a:p>
                      <a:pPr rtl="0" algn="l"/>
                      <a:r>
                        <a:rPr sz="1300" b="0" i="0" lang="en-US">
                          <a:solidFill>
                            <a:srgbClr val="1C2333"/>
                          </a:solidFill>
                          <a:latin typeface="Segoe UI"/>
                        </a:rPr>
                        <a:t>a wife</a:t>
                      </a:r>
                    </a:p>
                  </a:txBody>
                  <a:tcPr>
                    <a:solidFill>
                      <a:srgbClr val="FFFFFF"/>
                    </a:solidFill>
                  </a:tcPr>
                </a:tc>
                <a:tc>
                  <a:txBody>
                    <a:bodyPr/>
                    <a:lstStyle/>
                    <a:p>
                      <a:pPr rtl="0" algn="l"/>
                      <a:r>
                        <a:rPr sz="1300" b="0" i="0" lang="en-US">
                          <a:solidFill>
                            <a:srgbClr val="1C2333"/>
                          </a:solidFill>
                          <a:latin typeface="Segoe UI"/>
                        </a:rPr>
                        <a:t>wi ves</a:t>
                      </a:r>
                    </a:p>
                  </a:txBody>
                  <a:tcPr>
                    <a:solidFill>
                      <a:srgbClr val="FFFFFF"/>
                    </a:solidFill>
                  </a:tcPr>
                </a:tc>
                <a:tc>
                  <a:txBody>
                    <a:bodyPr/>
                    <a:lstStyle/>
                    <a:p>
                      <a:pPr rtl="0" algn="l"/>
                      <a:r>
                        <a:rPr sz="1300" b="0" i="0" lang="en-US">
                          <a:solidFill>
                            <a:srgbClr val="1C2333"/>
                          </a:solidFill>
                          <a:latin typeface="Segoe UI"/>
                        </a:rPr>
                        <a:t>a knife</a:t>
                      </a:r>
                    </a:p>
                  </a:txBody>
                  <a:tcPr>
                    <a:solidFill>
                      <a:srgbClr val="FFFFFF"/>
                    </a:solidFill>
                  </a:tcPr>
                </a:tc>
                <a:tc>
                  <a:txBody>
                    <a:bodyPr/>
                    <a:lstStyle/>
                    <a:p>
                      <a:pPr rtl="0" algn="l"/>
                      <a:r>
                        <a:rPr sz="1300" b="0" i="0" lang="en-US">
                          <a:solidFill>
                            <a:srgbClr val="1C2333"/>
                          </a:solidFill>
                          <a:latin typeface="Segoe UI"/>
                        </a:rPr>
                        <a:t>kni ves</a:t>
                      </a:r>
                    </a:p>
                  </a:txBody>
                  <a:tcPr>
                    <a:solidFill>
                      <a:srgbClr val="FFFFFF"/>
                    </a:solidFill>
                  </a:tcPr>
                </a:tc>
              </a:tr>
              <a:tr h="347472">
                <a:tc>
                  <a:txBody>
                    <a:bodyPr/>
                    <a:lstStyle/>
                    <a:p>
                      <a:pPr rtl="0" algn="l"/>
                      <a:r>
                        <a:rPr sz="1300" b="0" i="0" lang="en-US">
                          <a:solidFill>
                            <a:srgbClr val="1C2333"/>
                          </a:solidFill>
                          <a:latin typeface="Segoe UI"/>
                        </a:rPr>
                        <a:t>a self</a:t>
                      </a:r>
                    </a:p>
                  </a:txBody>
                  <a:tcPr>
                    <a:solidFill>
                      <a:srgbClr val="EEF3FA"/>
                    </a:solidFill>
                  </a:tcPr>
                </a:tc>
                <a:tc>
                  <a:txBody>
                    <a:bodyPr/>
                    <a:lstStyle/>
                    <a:p>
                      <a:pPr rtl="0" algn="l"/>
                      <a:r>
                        <a:rPr sz="1300" b="0" i="0" lang="en-US">
                          <a:solidFill>
                            <a:srgbClr val="1C2333"/>
                          </a:solidFill>
                          <a:latin typeface="Segoe UI"/>
                        </a:rPr>
                        <a:t>sel ves</a:t>
                      </a:r>
                    </a:p>
                  </a:txBody>
                  <a:tcPr>
                    <a:solidFill>
                      <a:srgbClr val="EEF3FA"/>
                    </a:solidFill>
                  </a:tcPr>
                </a:tc>
                <a:tc>
                  <a:txBody>
                    <a:bodyPr/>
                    <a:lstStyle/>
                    <a:p>
                      <a:pPr rtl="0" algn="l"/>
                      <a:r>
                        <a:rPr sz="1300" b="0" i="0" lang="en-US">
                          <a:solidFill>
                            <a:srgbClr val="1C2333"/>
                          </a:solidFill>
                          <a:latin typeface="Segoe UI"/>
                        </a:rPr>
                        <a:t>a leaf</a:t>
                      </a:r>
                    </a:p>
                  </a:txBody>
                  <a:tcPr>
                    <a:solidFill>
                      <a:srgbClr val="EEF3FA"/>
                    </a:solidFill>
                  </a:tcPr>
                </a:tc>
                <a:tc>
                  <a:txBody>
                    <a:bodyPr/>
                    <a:lstStyle/>
                    <a:p>
                      <a:pPr rtl="0" algn="l"/>
                      <a:r>
                        <a:rPr sz="1300" b="0" i="0" lang="en-US">
                          <a:solidFill>
                            <a:srgbClr val="1C2333"/>
                          </a:solidFill>
                          <a:latin typeface="Segoe UI"/>
                        </a:rPr>
                        <a:t>lea ves</a:t>
                      </a:r>
                    </a:p>
                  </a:txBody>
                  <a:tcPr>
                    <a:solidFill>
                      <a:srgbClr val="EEF3FA"/>
                    </a:solidFill>
                  </a:tcPr>
                </a:tc>
              </a:tr>
            </a:tbl>
          </a:graphicData>
        </a:graphic>
      </p:graphicFrame>
    </p:spTree>
  </p:cSld>
  <p:clrMapOvr>
    <a:masterClrMapping/>
  </p:clrMapOvr>
  <p:transition spd="med">
    <p:plus/>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Table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389888"/>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r>
              <a:tr h="347472">
                <a:tc>
                  <a:txBody>
                    <a:bodyPr/>
                    <a:lstStyle/>
                    <a:p>
                      <a:pPr rtl="0" algn="l"/>
                      <a:r>
                        <a:rPr sz="1300" b="0" i="0" lang="en-US">
                          <a:solidFill>
                            <a:srgbClr val="1C2333"/>
                          </a:solidFill>
                          <a:latin typeface="Segoe UI"/>
                        </a:rPr>
                        <a:t>an ox</a:t>
                      </a:r>
                    </a:p>
                  </a:txBody>
                  <a:tcPr>
                    <a:solidFill>
                      <a:srgbClr val="FFFFFF"/>
                    </a:solidFill>
                  </a:tcPr>
                </a:tc>
                <a:tc>
                  <a:txBody>
                    <a:bodyPr/>
                    <a:lstStyle/>
                    <a:p>
                      <a:pPr rtl="0" algn="l"/>
                      <a:r>
                        <a:rPr sz="1300" b="0" i="0" lang="en-US">
                          <a:solidFill>
                            <a:srgbClr val="1C2333"/>
                          </a:solidFill>
                          <a:latin typeface="Segoe UI"/>
                        </a:rPr>
                        <a:t>oxen</a:t>
                      </a:r>
                    </a:p>
                  </a:txBody>
                  <a:tcPr>
                    <a:solidFill>
                      <a:srgbClr val="FFFFFF"/>
                    </a:solidFill>
                  </a:tcPr>
                </a:tc>
                <a:tc>
                  <a:txBody>
                    <a:bodyPr/>
                    <a:lstStyle/>
                    <a:p>
                      <a:pPr rtl="0" algn="l"/>
                      <a:r>
                        <a:rPr sz="1300" b="0" i="0" lang="en-US">
                          <a:solidFill>
                            <a:srgbClr val="1C2333"/>
                          </a:solidFill>
                          <a:latin typeface="Segoe UI"/>
                        </a:rPr>
                        <a:t>a child</a:t>
                      </a:r>
                    </a:p>
                  </a:txBody>
                  <a:tcPr>
                    <a:solidFill>
                      <a:srgbClr val="FFFFFF"/>
                    </a:solidFill>
                  </a:tcPr>
                </a:tc>
                <a:tc>
                  <a:txBody>
                    <a:bodyPr/>
                    <a:lstStyle/>
                    <a:p>
                      <a:pPr rtl="0" algn="l"/>
                      <a:r>
                        <a:rPr sz="1300" b="0" i="0" lang="en-US">
                          <a:solidFill>
                            <a:srgbClr val="1C2333"/>
                          </a:solidFill>
                          <a:latin typeface="Segoe UI"/>
                        </a:rPr>
                        <a:t>children</a:t>
                      </a:r>
                    </a:p>
                  </a:txBody>
                  <a:tcPr>
                    <a:solidFill>
                      <a:srgbClr val="FFFFFF"/>
                    </a:solidFill>
                  </a:tcPr>
                </a:tc>
              </a:tr>
              <a:tr h="347472">
                <a:tc>
                  <a:txBody>
                    <a:bodyPr/>
                    <a:lstStyle/>
                    <a:p>
                      <a:pPr rtl="0" algn="l"/>
                      <a:r>
                        <a:rPr sz="1300" b="0" i="0" lang="en-US">
                          <a:solidFill>
                            <a:srgbClr val="1C2333"/>
                          </a:solidFill>
                          <a:latin typeface="Segoe UI"/>
                        </a:rPr>
                        <a:t>a man</a:t>
                      </a:r>
                    </a:p>
                  </a:txBody>
                  <a:tcPr>
                    <a:solidFill>
                      <a:srgbClr val="EEF3FA"/>
                    </a:solidFill>
                  </a:tcPr>
                </a:tc>
                <a:tc>
                  <a:txBody>
                    <a:bodyPr/>
                    <a:lstStyle/>
                    <a:p>
                      <a:pPr rtl="0" algn="l"/>
                      <a:r>
                        <a:rPr sz="1300" b="0" i="0" lang="en-US">
                          <a:solidFill>
                            <a:srgbClr val="1C2333"/>
                          </a:solidFill>
                          <a:latin typeface="Segoe UI"/>
                        </a:rPr>
                        <a:t>men</a:t>
                      </a:r>
                    </a:p>
                  </a:txBody>
                  <a:tcPr>
                    <a:solidFill>
                      <a:srgbClr val="EEF3FA"/>
                    </a:solidFill>
                  </a:tcPr>
                </a:tc>
                <a:tc>
                  <a:txBody>
                    <a:bodyPr/>
                    <a:lstStyle/>
                    <a:p>
                      <a:pPr rtl="0" algn="l"/>
                      <a:r>
                        <a:rPr sz="1300" b="0" i="0" lang="en-US">
                          <a:solidFill>
                            <a:srgbClr val="1C2333"/>
                          </a:solidFill>
                          <a:latin typeface="Segoe UI"/>
                        </a:rPr>
                        <a:t>a woman</a:t>
                      </a:r>
                    </a:p>
                  </a:txBody>
                  <a:tcPr>
                    <a:solidFill>
                      <a:srgbClr val="EEF3FA"/>
                    </a:solidFill>
                  </a:tcPr>
                </a:tc>
                <a:tc>
                  <a:txBody>
                    <a:bodyPr/>
                    <a:lstStyle/>
                    <a:p>
                      <a:pPr rtl="0" algn="l"/>
                      <a:r>
                        <a:rPr sz="1300" b="0" i="0" lang="en-US">
                          <a:solidFill>
                            <a:srgbClr val="1C2333"/>
                          </a:solidFill>
                          <a:latin typeface="Segoe UI"/>
                        </a:rPr>
                        <a:t>women</a:t>
                      </a:r>
                    </a:p>
                  </a:txBody>
                  <a:tcPr>
                    <a:solidFill>
                      <a:srgbClr val="EEF3FA"/>
                    </a:solidFill>
                  </a:tcPr>
                </a:tc>
              </a:tr>
              <a:tr h="347472">
                <a:tc>
                  <a:txBody>
                    <a:bodyPr/>
                    <a:lstStyle/>
                    <a:p>
                      <a:pPr rtl="0" algn="l"/>
                      <a:r>
                        <a:rPr sz="1300" b="0" i="0" lang="en-US">
                          <a:solidFill>
                            <a:srgbClr val="1C2333"/>
                          </a:solidFill>
                          <a:latin typeface="Segoe UI"/>
                        </a:rPr>
                        <a:t>a foot</a:t>
                      </a:r>
                    </a:p>
                  </a:txBody>
                  <a:tcPr>
                    <a:solidFill>
                      <a:srgbClr val="FFFFFF"/>
                    </a:solidFill>
                  </a:tcPr>
                </a:tc>
                <a:tc>
                  <a:txBody>
                    <a:bodyPr/>
                    <a:lstStyle/>
                    <a:p>
                      <a:pPr rtl="0" algn="l"/>
                      <a:r>
                        <a:rPr sz="1300" b="0" i="0" lang="en-US">
                          <a:solidFill>
                            <a:srgbClr val="1C2333"/>
                          </a:solidFill>
                          <a:latin typeface="Segoe UI"/>
                        </a:rPr>
                        <a:t>feet</a:t>
                      </a:r>
                    </a:p>
                  </a:txBody>
                  <a:tcPr>
                    <a:solidFill>
                      <a:srgbClr val="FFFFFF"/>
                    </a:solidFill>
                  </a:tcPr>
                </a:tc>
                <a:tc>
                  <a:txBody>
                    <a:bodyPr/>
                    <a:lstStyle/>
                    <a:p>
                      <a:pPr rtl="0" algn="l"/>
                      <a:r>
                        <a:rPr sz="1300" b="0" i="0" lang="en-US">
                          <a:solidFill>
                            <a:srgbClr val="1C2333"/>
                          </a:solidFill>
                          <a:latin typeface="Segoe UI"/>
                        </a:rPr>
                        <a:t>a tooth</a:t>
                      </a:r>
                    </a:p>
                  </a:txBody>
                  <a:tcPr>
                    <a:solidFill>
                      <a:srgbClr val="FFFFFF"/>
                    </a:solidFill>
                  </a:tcPr>
                </a:tc>
                <a:tc>
                  <a:txBody>
                    <a:bodyPr/>
                    <a:lstStyle/>
                    <a:p>
                      <a:pPr rtl="0" algn="l"/>
                      <a:r>
                        <a:rPr sz="1300" b="0" i="0" lang="en-US">
                          <a:solidFill>
                            <a:srgbClr val="1C2333"/>
                          </a:solidFill>
                          <a:latin typeface="Segoe UI"/>
                        </a:rPr>
                        <a:t>teeth</a:t>
                      </a:r>
                    </a:p>
                  </a:txBody>
                  <a:tcPr>
                    <a:solidFill>
                      <a:srgbClr val="FFFFFF"/>
                    </a:solidFill>
                  </a:tcPr>
                </a:tc>
              </a:tr>
            </a:tbl>
          </a:graphicData>
        </a:graphic>
      </p:graphicFrame>
    </p:spTree>
  </p:cSld>
  <p:clrMapOvr>
    <a:masterClrMapping/>
  </p:clrMapOvr>
  <p:transition spd="med">
    <p:strips dir="ld"/>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door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doors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wall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walls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tree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trees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toy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toys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dog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dogs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bird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birds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plant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plants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car →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cars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lion →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flower →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flowers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animal →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animals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pencil →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pencils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is a …… (nurse – nurses).   (nurse – nurses)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nurse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am a …… (man – men).   (man – men)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are …… (doctor – doctors).   (doctor – doctors)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doctors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are a …… (boys – boy).   (boys – boy)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is a …… (girl – girls).   (girl – girls)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girl</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It is an …… (elephant – elephants).   (elephant – elephants)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elephant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is a …… (child – children).   (child – children)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child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They are …… (ants – ant).   (ants – ant)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ants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He is a …… (doctor – doctors).   (doctor – doctors)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doctor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They are …… (dogs – dog).   (dogs – dog)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dogs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am an …… (engineer – engineers).   (engineer – engineers)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engineer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It is an …… (apples – apple).   (apples – apple)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apple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We are …… (vets – vet).   (vets – vet)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vets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I am a …… (dentist – dentists).   (dentist – dentists)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dentist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is an …… (eggs – egg).   (eggs – egg)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egg</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3</a:t>
            </a:r>
          </a:p>
          <a:p>
            <a:pPr algn="ctr" rtl="0"/>
            <a:r>
              <a:rPr sz="4600" b="1" i="0" lang="en-US">
                <a:solidFill>
                  <a:srgbClr val="FFFFFF"/>
                </a:solidFill>
                <a:latin typeface="Segoe UI"/>
              </a:rPr>
              <a:t>Punctuation Marks</a:t>
            </a:r>
          </a:p>
          <a:p>
            <a:pPr algn="ctr" rtl="1"/>
            <a:r>
              <a:rPr sz="2900" b="0" i="0" lang="ar-EG" altLang="en-US">
                <a:solidFill>
                  <a:srgbClr val="FFFFFF"/>
                </a:solidFill>
                <a:latin typeface="Traditional Arabic"/>
              </a:rPr>
              <a:t>علامات الترقيم</a:t>
            </a:r>
          </a:p>
        </p:txBody>
      </p:sp>
    </p:spTree>
  </p:cSld>
  <p:clrMapOvr>
    <a:masterClrMapping/>
  </p:clrMapOvr>
  <p:transition spd="med">
    <p:zoom dir="in"/>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Capital letters — الحروف الكبيرة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 H e is a boy. ← تأتي في بداية الجملة.</a:t>
            </a:r>
          </a:p>
          <a:p>
            <a:pPr rtl="1" algn="r">
              <a:spcAft>
                <a:spcPts val="600"/>
              </a:spcAft>
            </a:pPr>
            <a:r>
              <a:rPr sz="2100" b="0" i="0" lang="ar-EG" altLang="en-US">
                <a:solidFill>
                  <a:srgbClr val="1C2333"/>
                </a:solidFill>
                <a:latin typeface="Traditional Arabic"/>
              </a:rPr>
              <a:t>• A re you ok? ← تأتي في بداية السؤال.</a:t>
            </a:r>
          </a:p>
          <a:p>
            <a:pPr rtl="1" algn="r">
              <a:spcAft>
                <a:spcPts val="600"/>
              </a:spcAft>
            </a:pPr>
            <a:r>
              <a:rPr sz="2100" b="0" i="0" lang="ar-EG" altLang="en-US">
                <a:solidFill>
                  <a:srgbClr val="1C2333"/>
                </a:solidFill>
                <a:latin typeface="Traditional Arabic"/>
              </a:rPr>
              <a:t>• Mona and I are happy. ← كلمة (I) في أي مكان في الجملة أو السؤال.</a:t>
            </a:r>
          </a:p>
          <a:p>
            <a:pPr rtl="0" algn="l">
              <a:spcAft>
                <a:spcPts val="600"/>
              </a:spcAft>
            </a:pPr>
            <a:r>
              <a:rPr sz="1800" b="0" i="0" lang="en-US">
                <a:solidFill>
                  <a:srgbClr val="1C2333"/>
                </a:solidFill>
                <a:latin typeface="Segoe UI"/>
              </a:rPr>
              <a:t>• Today is F riday. ← أيام الأسبوع.</a:t>
            </a:r>
          </a:p>
          <a:p>
            <a:pPr rtl="0" algn="l">
              <a:spcAft>
                <a:spcPts val="600"/>
              </a:spcAft>
            </a:pPr>
            <a:r>
              <a:rPr sz="1800" b="0" i="0" lang="en-US">
                <a:solidFill>
                  <a:srgbClr val="1C2333"/>
                </a:solidFill>
                <a:latin typeface="Segoe UI"/>
              </a:rPr>
              <a:t>• I was born in M ay. ← الشهور.</a:t>
            </a:r>
          </a:p>
          <a:p>
            <a:pPr rtl="0" algn="l">
              <a:spcAft>
                <a:spcPts val="600"/>
              </a:spcAft>
            </a:pPr>
            <a:r>
              <a:rPr sz="1800" b="0" i="0" lang="en-US">
                <a:solidFill>
                  <a:srgbClr val="1C2333"/>
                </a:solidFill>
                <a:latin typeface="Segoe UI"/>
              </a:rPr>
              <a:t>• A hmed and A li are tall. ← أسماء الناس.</a:t>
            </a:r>
          </a:p>
          <a:p>
            <a:pPr rtl="0" algn="l">
              <a:spcAft>
                <a:spcPts val="600"/>
              </a:spcAft>
            </a:pPr>
            <a:r>
              <a:rPr sz="1800" b="0" i="0" lang="en-US">
                <a:solidFill>
                  <a:srgbClr val="1C2333"/>
                </a:solidFill>
                <a:latin typeface="Segoe UI"/>
              </a:rPr>
              <a:t>• I live in E gypt. ← البلاد.</a:t>
            </a:r>
          </a:p>
          <a:p>
            <a:pPr rtl="0" algn="l">
              <a:spcAft>
                <a:spcPts val="600"/>
              </a:spcAft>
            </a:pPr>
            <a:r>
              <a:rPr sz="1800" b="0" i="0" lang="en-US">
                <a:solidFill>
                  <a:srgbClr val="1C2333"/>
                </a:solidFill>
                <a:latin typeface="Segoe UI"/>
              </a:rPr>
              <a:t>• I like E nglish. ← اللغات.</a:t>
            </a:r>
          </a:p>
          <a:p>
            <a:pPr rtl="0" algn="l">
              <a:spcAft>
                <a:spcPts val="600"/>
              </a:spcAft>
            </a:pPr>
            <a:r>
              <a:rPr sz="1800" b="0" i="0" lang="en-US">
                <a:solidFill>
                  <a:srgbClr val="1C2333"/>
                </a:solidFill>
                <a:latin typeface="Segoe UI"/>
              </a:rPr>
              <a:t>• I am E gyptian. ← الجنسيات.</a:t>
            </a:r>
          </a:p>
        </p:txBody>
      </p:sp>
    </p:spTree>
  </p:cSld>
  <p:clrMapOvr>
    <a:masterClrMapping/>
  </p:clrMapOvr>
  <p:transition spd="med">
    <p:wipe dir="r"/>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Capital letters — الحروف الكبيرة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800" b="0" i="0" lang="en-US">
                <a:solidFill>
                  <a:srgbClr val="1C2333"/>
                </a:solidFill>
                <a:latin typeface="Segoe UI"/>
              </a:rPr>
              <a:t>• I visited the C airo T ower. ← الأماكن المشهورة.</a:t>
            </a:r>
          </a:p>
        </p:txBody>
      </p:sp>
    </p:spTree>
  </p:cSld>
  <p:clrMapOvr>
    <a:masterClrMapping/>
  </p:clrMapOvr>
  <p:transition spd="med">
    <p:split orient="vert" dir="out"/>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Period ( . ) — النقطة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I like English. / It is a lion. / We are friends.</a:t>
            </a:r>
          </a:p>
          <a:p>
            <a:pPr rtl="1" algn="r">
              <a:spcAft>
                <a:spcPts val="600"/>
              </a:spcAft>
            </a:pPr>
            <a:r>
              <a:rPr sz="2100" b="0" i="0" lang="ar-EG" altLang="en-US">
                <a:solidFill>
                  <a:srgbClr val="1C2333"/>
                </a:solidFill>
                <a:latin typeface="Traditional Arabic"/>
              </a:rPr>
              <a:t>تأتي في نهاية الجملة الخبرية.</a:t>
            </a:r>
          </a:p>
        </p:txBody>
      </p:sp>
    </p:spTree>
  </p:cSld>
  <p:clrMapOvr>
    <a:masterClrMapping/>
  </p:clrMapOvr>
  <p:transition spd="med">
    <p:cover dir="d"/>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Question mark ( ? ) — علامة الاستفهام</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Do you have a car? / Where is he from? / How old are you?</a:t>
            </a:r>
          </a:p>
          <a:p>
            <a:pPr rtl="1" algn="r">
              <a:spcAft>
                <a:spcPts val="600"/>
              </a:spcAft>
            </a:pPr>
            <a:r>
              <a:rPr sz="2100" b="0" i="0" lang="ar-EG" altLang="en-US">
                <a:solidFill>
                  <a:srgbClr val="1C2333"/>
                </a:solidFill>
                <a:latin typeface="Traditional Arabic"/>
              </a:rPr>
              <a:t>تأتي في نهاية السؤال.</a:t>
            </a:r>
          </a:p>
          <a:p>
            <a:pPr rtl="0" algn="l">
              <a:spcAft>
                <a:spcPts val="600"/>
              </a:spcAft>
            </a:pPr>
            <a:r>
              <a:rPr sz="1800" b="0" i="0" lang="en-US">
                <a:solidFill>
                  <a:srgbClr val="1C2333"/>
                </a:solidFill>
                <a:latin typeface="Segoe UI"/>
              </a:rPr>
              <a:t>   Am – Is – Are – Was – Were – Do – Does – Did – Has – Have – Had – Can – Will – Should – Must – Who – Where – When – What – How</a:t>
            </a:r>
          </a:p>
          <a:p>
            <a:pPr rtl="1" algn="r">
              <a:spcAft>
                <a:spcPts val="600"/>
              </a:spcAft>
            </a:pPr>
            <a:r>
              <a:rPr sz="2100" b="0" i="0" lang="ar-EG" altLang="en-US">
                <a:solidFill>
                  <a:srgbClr val="1C2333"/>
                </a:solidFill>
                <a:latin typeface="Traditional Arabic"/>
              </a:rPr>
              <a:t>الكلمات التي يبدأ بها السؤال.</a:t>
            </a:r>
          </a:p>
        </p:txBody>
      </p:sp>
    </p:spTree>
  </p:cSld>
  <p:clrMapOvr>
    <a:masterClrMapping/>
  </p:clrMapOvr>
  <p:transition spd="med">
    <p:circl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Apostrophe ( ' ) — الفاصلة العليا</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don't – doesn't – didn't – won't – hasn't – isn't – can't</a:t>
            </a:r>
          </a:p>
          <a:p>
            <a:pPr rtl="1" algn="r">
              <a:spcAft>
                <a:spcPts val="600"/>
              </a:spcAft>
            </a:pPr>
            <a:r>
              <a:rPr sz="2100" b="0" i="0" lang="ar-EG" altLang="en-US">
                <a:solidFill>
                  <a:srgbClr val="1C2333"/>
                </a:solidFill>
                <a:latin typeface="Traditional Arabic"/>
              </a:rPr>
              <a:t>تأتي مع الاختصارات.</a:t>
            </a:r>
          </a:p>
          <a:p>
            <a:pPr rtl="0" algn="l">
              <a:spcAft>
                <a:spcPts val="600"/>
              </a:spcAft>
            </a:pPr>
            <a:r>
              <a:rPr sz="1700" b="0" i="1" lang="en-US">
                <a:solidFill>
                  <a:srgbClr val="5B6478"/>
                </a:solidFill>
                <a:latin typeface="Segoe UI"/>
              </a:rPr>
              <a:t>   e.g. I'm a doctor. / She's a nurse. / I can't help you.</a:t>
            </a:r>
          </a:p>
          <a:p>
            <a:pPr rtl="1" algn="r">
              <a:spcAft>
                <a:spcPts val="600"/>
              </a:spcAft>
            </a:pPr>
            <a:r>
              <a:rPr sz="2100" b="0" i="0" lang="ar-EG" altLang="en-US">
                <a:solidFill>
                  <a:srgbClr val="1C2333"/>
                </a:solidFill>
                <a:latin typeface="Traditional Arabic"/>
              </a:rPr>
              <a:t>    وتأتي أيضاً مع: 'm – 's – 're</a:t>
            </a:r>
          </a:p>
        </p:txBody>
      </p:sp>
    </p:spTree>
  </p:cSld>
  <p:clrMapOvr>
    <a:masterClrMapping/>
  </p:clrMapOvr>
  <p:transition spd="med">
    <p:diamond/>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Comma ( , ) — الفاصلة السفلية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Yes, he is a boy. / No, she isn't tall.</a:t>
            </a:r>
          </a:p>
          <a:p>
            <a:pPr rtl="1" algn="r">
              <a:spcAft>
                <a:spcPts val="600"/>
              </a:spcAft>
            </a:pPr>
            <a:r>
              <a:rPr sz="2100" b="0" i="0" lang="ar-EG" altLang="en-US">
                <a:solidFill>
                  <a:srgbClr val="1C2333"/>
                </a:solidFill>
                <a:latin typeface="Traditional Arabic"/>
              </a:rPr>
              <a:t>    تأتي بعد Yes و No.</a:t>
            </a:r>
          </a:p>
          <a:p>
            <a:pPr rtl="0" algn="l">
              <a:spcAft>
                <a:spcPts val="600"/>
              </a:spcAft>
            </a:pPr>
            <a:r>
              <a:rPr sz="1700" b="0" i="1" lang="en-US">
                <a:solidFill>
                  <a:srgbClr val="5B6478"/>
                </a:solidFill>
                <a:latin typeface="Segoe UI"/>
              </a:rPr>
              <a:t>   e.g. I like meat, rice and fish.</a:t>
            </a:r>
          </a:p>
          <a:p>
            <a:pPr rtl="1" algn="r">
              <a:spcAft>
                <a:spcPts val="600"/>
              </a:spcAft>
            </a:pPr>
            <a:r>
              <a:rPr sz="2100" b="0" i="0" lang="ar-EG" altLang="en-US">
                <a:solidFill>
                  <a:srgbClr val="1C2333"/>
                </a:solidFill>
                <a:latin typeface="Traditional Arabic"/>
              </a:rPr>
              <a:t>تأتي كأداة عطف للفصل بين الكلمات أو الصفات أو الأسماء المتشابهة.</a:t>
            </a:r>
          </a:p>
        </p:txBody>
      </p:sp>
    </p:spTree>
  </p:cSld>
  <p:clrMapOvr>
    <a:masterClrMapping/>
  </p:clrMapOvr>
  <p:transition spd="med">
    <p:wedg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he a doctor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doctor?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am a farmer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farmer.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are they Egyptian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Egyptian?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She is a nurse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was she at home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 she at home?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they are American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American.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do you like reading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like reading?</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he is from Egypt.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from Egypt.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did mona like swimming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Did Mona like swimming?</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can you run fast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Can you run fast?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my family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my family.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where do you live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Where do you live?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does ali play football on Fridays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Ali play football on Fridays?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don t like fish</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like fish.</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 can t help you</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can't help you.</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She s a nurse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She's a nurse.</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m a doctor</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I'm a doctor.</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my father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my father.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is she mona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Mona?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isn t any water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any water.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where do you live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Where do you live?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how old are you</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old are you?</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ali and I are friends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Ali and I are friends.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 live in cairo</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live in Cairo.</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 m egyptian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I'm Egyptian.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ahmed was born in may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Ahmed was born in May.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 play football on fridays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play football on Fridays.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they didn t come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they didn't come.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yes mohamed is a doctor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Mohamed is a doctor.</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how old are you</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old are you?</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he likes english</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likes English.</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4</a:t>
            </a:r>
          </a:p>
          <a:p>
            <a:pPr algn="ctr" rtl="0"/>
            <a:r>
              <a:rPr sz="4600" b="1" i="0" lang="en-US">
                <a:solidFill>
                  <a:srgbClr val="FFFFFF"/>
                </a:solidFill>
                <a:latin typeface="Segoe UI"/>
              </a:rPr>
              <a:t>Subject Pronouns &amp; Verb to be</a:t>
            </a:r>
          </a:p>
          <a:p>
            <a:pPr algn="ctr" rtl="1"/>
            <a:r>
              <a:rPr sz="2900" b="0" i="0" lang="ar-EG" altLang="en-US">
                <a:solidFill>
                  <a:srgbClr val="FFFFFF"/>
                </a:solidFill>
                <a:latin typeface="Traditional Arabic"/>
              </a:rPr>
              <a:t>ضمائر الفاعل وفعل الكون</a:t>
            </a:r>
          </a:p>
        </p:txBody>
      </p:sp>
    </p:spTree>
  </p:cSld>
  <p:clrMapOvr>
    <a:masterClrMapping/>
  </p:clrMapOvr>
  <p:transition spd="med">
    <p:zoom dir="in"/>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Contractions — الاختصارات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48"/>
                </a:solidFill>
                <a:latin typeface="Segoe UI"/>
              </a:rPr>
              <a:t>▶ is = 's | am = 'm | are = 're</a:t>
            </a:r>
          </a:p>
          <a:p>
            <a:pPr rtl="0" algn="l">
              <a:spcAft>
                <a:spcPts val="600"/>
              </a:spcAft>
            </a:pPr>
            <a:r>
              <a:rPr sz="1700" b="0" i="1" lang="en-US">
                <a:solidFill>
                  <a:srgbClr val="5B6478"/>
                </a:solidFill>
                <a:latin typeface="Segoe UI"/>
              </a:rPr>
              <a:t>   e.g. He's a boy. – I'm happy. – They're friends.</a:t>
            </a:r>
          </a:p>
        </p:txBody>
      </p:sp>
    </p:spTree>
  </p:cSld>
  <p:clrMapOvr>
    <a:masterClrMapping/>
  </p:clrMapOvr>
  <p:transition spd="med">
    <p:wheel spokes="4"/>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48"/>
                </a:solidFill>
                <a:latin typeface="Segoe UI"/>
              </a:rPr>
              <a:t>▶ Subject + am / is / are + not + باقي الجملة .</a:t>
            </a:r>
          </a:p>
          <a:p>
            <a:pPr rtl="1" algn="r">
              <a:spcAft>
                <a:spcPts val="600"/>
              </a:spcAft>
            </a:pPr>
            <a:r>
              <a:rPr sz="2100" b="0" i="0" lang="ar-EG" altLang="en-US">
                <a:solidFill>
                  <a:srgbClr val="1C2333"/>
                </a:solidFill>
                <a:latin typeface="Traditional Arabic"/>
              </a:rPr>
              <a:t>    ننفي بوضع not بعد فعل الكون.</a:t>
            </a:r>
          </a:p>
          <a:p>
            <a:pPr rtl="0" algn="l">
              <a:spcAft>
                <a:spcPts val="600"/>
              </a:spcAft>
            </a:pPr>
            <a:r>
              <a:rPr sz="1700" b="0" i="1" lang="en-US">
                <a:solidFill>
                  <a:srgbClr val="5B6478"/>
                </a:solidFill>
                <a:latin typeface="Segoe UI"/>
              </a:rPr>
              <a:t>   e.g. He is a carpenter. → He isn't a carpenter. (is not = isn't)</a:t>
            </a:r>
          </a:p>
          <a:p>
            <a:pPr rtl="0" algn="l">
              <a:spcAft>
                <a:spcPts val="600"/>
              </a:spcAft>
            </a:pPr>
            <a:r>
              <a:rPr sz="1700" b="0" i="1" lang="en-US">
                <a:solidFill>
                  <a:srgbClr val="5B6478"/>
                </a:solidFill>
                <a:latin typeface="Segoe UI"/>
              </a:rPr>
              <a:t>   e.g. They are vets. → They aren't vets. (are not = aren't)</a:t>
            </a:r>
          </a:p>
        </p:txBody>
      </p:sp>
    </p:spTree>
  </p:cSld>
  <p:clrMapOvr>
    <a:masterClrMapping/>
  </p:clrMapOvr>
  <p:transition spd="med">
    <p:pull dir="r"/>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1" algn="r"/>
            <a:r>
              <a:rPr sz="1700" b="0" i="0" lang="ar-EG" altLang="en-US">
                <a:solidFill>
                  <a:srgbClr val="DDE6F3"/>
                </a:solidFill>
                <a:latin typeface="Traditional Arabic"/>
              </a:rPr>
              <a:t>Question — السؤال بـ (هل)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48"/>
                </a:solidFill>
                <a:latin typeface="Traditional Arabic"/>
              </a:rPr>
              <a:t>▶ Am / Is / Are + فاعل + باقي الجملة ?</a:t>
            </a:r>
          </a:p>
          <a:p>
            <a:pPr rtl="1" algn="r">
              <a:spcAft>
                <a:spcPts val="600"/>
              </a:spcAft>
            </a:pPr>
            <a:r>
              <a:rPr sz="2100" b="0" i="0" lang="ar-EG" altLang="en-US">
                <a:solidFill>
                  <a:srgbClr val="1C2333"/>
                </a:solidFill>
                <a:latin typeface="Traditional Arabic"/>
              </a:rPr>
              <a:t>نقدّم فعل الكون على الفاعل لتكوين السؤال.</a:t>
            </a:r>
          </a:p>
          <a:p>
            <a:pPr rtl="0" algn="l">
              <a:spcAft>
                <a:spcPts val="600"/>
              </a:spcAft>
            </a:pPr>
            <a:r>
              <a:rPr sz="1700" b="0" i="1" lang="en-US">
                <a:solidFill>
                  <a:srgbClr val="5B6478"/>
                </a:solidFill>
                <a:latin typeface="Segoe UI"/>
              </a:rPr>
              <a:t>   e.g. I am → Are you …? | We are → Are you …? | My → Your</a:t>
            </a:r>
          </a:p>
          <a:p>
            <a:pPr rtl="1" algn="r">
              <a:spcAft>
                <a:spcPts val="600"/>
              </a:spcAft>
            </a:pPr>
            <a:r>
              <a:rPr sz="2100" b="0" i="0" lang="ar-EG" altLang="en-US">
                <a:solidFill>
                  <a:srgbClr val="1C2333"/>
                </a:solidFill>
                <a:latin typeface="Traditional Arabic"/>
              </a:rPr>
              <a:t>لاحظ تغيّر الضمائر عند تكوين السؤال.</a:t>
            </a:r>
          </a:p>
        </p:txBody>
      </p:sp>
    </p:spTree>
  </p:cSld>
  <p:clrMapOvr>
    <a:masterClrMapping/>
  </p:clrMapOvr>
  <p:transition spd="med">
    <p:random/>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474720"/>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0" algn="l"/>
                      <a:r>
                        <a:rPr sz="1400" b="1" i="0" lang="en-US">
                          <a:solidFill>
                            <a:srgbClr val="FFFFFF"/>
                          </a:solidFill>
                          <a:latin typeface="Segoe UI"/>
                        </a:rPr>
                        <a:t>Pronoun</a:t>
                      </a:r>
                    </a:p>
                  </a:txBody>
                  <a:tcPr>
                    <a:solidFill>
                      <a:srgbClr val="942248"/>
                    </a:solidFill>
                  </a:tcPr>
                </a:tc>
                <a:tc>
                  <a:txBody>
                    <a:bodyPr/>
                    <a:lstStyle/>
                    <a:p>
                      <a:pPr rtl="1" algn="r"/>
                      <a:r>
                        <a:rPr sz="1700" b="1" i="0" lang="ar-EG" altLang="en-US">
                          <a:solidFill>
                            <a:srgbClr val="FFFFFF"/>
                          </a:solidFill>
                          <a:latin typeface="Traditional Arabic"/>
                        </a:rPr>
                        <a:t>المعنى</a:t>
                      </a:r>
                    </a:p>
                  </a:txBody>
                  <a:tcPr>
                    <a:solidFill>
                      <a:srgbClr val="942248"/>
                    </a:solidFill>
                  </a:tcPr>
                </a:tc>
                <a:tc>
                  <a:txBody>
                    <a:bodyPr/>
                    <a:lstStyle/>
                    <a:p>
                      <a:pPr rtl="0" algn="l"/>
                      <a:r>
                        <a:rPr sz="1400" b="1" i="0" lang="en-US">
                          <a:solidFill>
                            <a:srgbClr val="FFFFFF"/>
                          </a:solidFill>
                          <a:latin typeface="Segoe UI"/>
                        </a:rPr>
                        <a:t>Verb to be</a:t>
                      </a:r>
                    </a:p>
                  </a:txBody>
                  <a:tcPr>
                    <a:solidFill>
                      <a:srgbClr val="942248"/>
                    </a:solidFill>
                  </a:tcPr>
                </a:tc>
                <a:tc>
                  <a:txBody>
                    <a:bodyPr/>
                    <a:lstStyle/>
                    <a:p>
                      <a:pPr rtl="0" algn="l"/>
                      <a:r>
                        <a:rPr sz="1400" b="1" i="0" lang="en-US">
                          <a:solidFill>
                            <a:srgbClr val="FFFFFF"/>
                          </a:solidFill>
                          <a:latin typeface="Segoe UI"/>
                        </a:rPr>
                        <a:t>Example</a:t>
                      </a:r>
                    </a:p>
                  </a:txBody>
                  <a:tcPr>
                    <a:solidFill>
                      <a:srgbClr val="942248"/>
                    </a:solidFill>
                  </a:tcPr>
                </a:tc>
              </a:tr>
              <a:tr h="347472">
                <a:tc>
                  <a:txBody>
                    <a:bodyPr/>
                    <a:lstStyle/>
                    <a:p>
                      <a:pPr rtl="0" algn="l"/>
                      <a:r>
                        <a:rPr sz="1300" b="0" i="0" lang="en-US">
                          <a:solidFill>
                            <a:srgbClr val="1C2333"/>
                          </a:solidFill>
                          <a:latin typeface="Segoe UI"/>
                        </a:rPr>
                        <a:t>I</a:t>
                      </a:r>
                    </a:p>
                  </a:txBody>
                  <a:tcPr>
                    <a:solidFill>
                      <a:srgbClr val="FFFFFF"/>
                    </a:solidFill>
                  </a:tcPr>
                </a:tc>
                <a:tc>
                  <a:txBody>
                    <a:bodyPr/>
                    <a:lstStyle/>
                    <a:p>
                      <a:pPr rtl="1" algn="r"/>
                      <a:r>
                        <a:rPr sz="1600" b="0" i="0" lang="ar-EG" altLang="en-US">
                          <a:solidFill>
                            <a:srgbClr val="1C2333"/>
                          </a:solidFill>
                          <a:latin typeface="Traditional Arabic"/>
                        </a:rPr>
                        <a:t>أنا</a:t>
                      </a:r>
                    </a:p>
                  </a:txBody>
                  <a:tcPr>
                    <a:solidFill>
                      <a:srgbClr val="FFFFFF"/>
                    </a:solidFill>
                  </a:tcPr>
                </a:tc>
                <a:tc>
                  <a:txBody>
                    <a:bodyPr/>
                    <a:lstStyle/>
                    <a:p>
                      <a:pPr rtl="0" algn="l"/>
                      <a:r>
                        <a:rPr sz="1300" b="0" i="0" lang="en-US">
                          <a:solidFill>
                            <a:srgbClr val="1C2333"/>
                          </a:solidFill>
                          <a:latin typeface="Segoe UI"/>
                        </a:rPr>
                        <a:t>am</a:t>
                      </a:r>
                    </a:p>
                  </a:txBody>
                  <a:tcPr>
                    <a:solidFill>
                      <a:srgbClr val="FFFFFF"/>
                    </a:solidFill>
                  </a:tcPr>
                </a:tc>
                <a:tc>
                  <a:txBody>
                    <a:bodyPr/>
                    <a:lstStyle/>
                    <a:p>
                      <a:pPr rtl="0" algn="l"/>
                      <a:r>
                        <a:rPr sz="1300" b="0" i="0" lang="en-US">
                          <a:solidFill>
                            <a:srgbClr val="1C2333"/>
                          </a:solidFill>
                          <a:latin typeface="Segoe UI"/>
                        </a:rPr>
                        <a:t>I am a doctor.</a:t>
                      </a:r>
                    </a:p>
                  </a:txBody>
                  <a:tcPr>
                    <a:solidFill>
                      <a:srgbClr val="FFFFFF"/>
                    </a:solidFill>
                  </a:tcPr>
                </a:tc>
              </a:tr>
              <a:tr h="347472">
                <a:tc>
                  <a:txBody>
                    <a:bodyPr/>
                    <a:lstStyle/>
                    <a:p>
                      <a:pPr rtl="0" algn="l"/>
                      <a:r>
                        <a:rPr sz="1300" b="0" i="0" lang="en-US">
                          <a:solidFill>
                            <a:srgbClr val="1C2333"/>
                          </a:solidFill>
                          <a:latin typeface="Segoe UI"/>
                        </a:rPr>
                        <a:t>He</a:t>
                      </a:r>
                    </a:p>
                  </a:txBody>
                  <a:tcPr>
                    <a:solidFill>
                      <a:srgbClr val="EEF3FA"/>
                    </a:solidFill>
                  </a:tcPr>
                </a:tc>
                <a:tc>
                  <a:txBody>
                    <a:bodyPr/>
                    <a:lstStyle/>
                    <a:p>
                      <a:pPr rtl="1" algn="r"/>
                      <a:r>
                        <a:rPr sz="1600" b="0" i="0" lang="ar-EG" altLang="en-US">
                          <a:solidFill>
                            <a:srgbClr val="1C2333"/>
                          </a:solidFill>
                          <a:latin typeface="Traditional Arabic"/>
                        </a:rPr>
                        <a:t>هو</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He is a boy.</a:t>
                      </a:r>
                    </a:p>
                  </a:txBody>
                  <a:tcPr>
                    <a:solidFill>
                      <a:srgbClr val="EEF3FA"/>
                    </a:solidFill>
                  </a:tcPr>
                </a:tc>
              </a:tr>
              <a:tr h="347472">
                <a:tc>
                  <a:txBody>
                    <a:bodyPr/>
                    <a:lstStyle/>
                    <a:p>
                      <a:pPr rtl="0" algn="l"/>
                      <a:r>
                        <a:rPr sz="1300" b="0" i="0" lang="en-US">
                          <a:solidFill>
                            <a:srgbClr val="1C2333"/>
                          </a:solidFill>
                          <a:latin typeface="Segoe UI"/>
                        </a:rPr>
                        <a:t>She</a:t>
                      </a:r>
                    </a:p>
                  </a:txBody>
                  <a:tcPr>
                    <a:solidFill>
                      <a:srgbClr val="FFFFFF"/>
                    </a:solidFill>
                  </a:tcPr>
                </a:tc>
                <a:tc>
                  <a:txBody>
                    <a:bodyPr/>
                    <a:lstStyle/>
                    <a:p>
                      <a:pPr rtl="1" algn="r"/>
                      <a:r>
                        <a:rPr sz="1600" b="0" i="0" lang="ar-EG" altLang="en-US">
                          <a:solidFill>
                            <a:srgbClr val="1C2333"/>
                          </a:solidFill>
                          <a:latin typeface="Traditional Arabic"/>
                        </a:rPr>
                        <a:t>هي</a:t>
                      </a:r>
                    </a:p>
                  </a:txBody>
                  <a:tcPr>
                    <a:solidFill>
                      <a:srgbClr val="FFFFFF"/>
                    </a:solidFill>
                  </a:tcPr>
                </a:tc>
                <a:tc>
                  <a:txBody>
                    <a:bodyPr/>
                    <a:lstStyle/>
                    <a:p>
                      <a:pPr rtl="0" algn="l"/>
                      <a:r>
                        <a:rPr sz="1300" b="0" i="0" lang="en-US">
                          <a:solidFill>
                            <a:srgbClr val="1C2333"/>
                          </a:solidFill>
                          <a:latin typeface="Segoe UI"/>
                        </a:rPr>
                        <a:t>is</a:t>
                      </a:r>
                    </a:p>
                  </a:txBody>
                  <a:tcPr>
                    <a:solidFill>
                      <a:srgbClr val="FFFFFF"/>
                    </a:solidFill>
                  </a:tcPr>
                </a:tc>
                <a:tc>
                  <a:txBody>
                    <a:bodyPr/>
                    <a:lstStyle/>
                    <a:p>
                      <a:pPr rtl="0" algn="l"/>
                      <a:r>
                        <a:rPr sz="1300" b="0" i="0" lang="en-US">
                          <a:solidFill>
                            <a:srgbClr val="1C2333"/>
                          </a:solidFill>
                          <a:latin typeface="Segoe UI"/>
                        </a:rPr>
                        <a:t>She is a nurse.</a:t>
                      </a:r>
                    </a:p>
                  </a:txBody>
                  <a:tcPr>
                    <a:solidFill>
                      <a:srgbClr val="FFFFFF"/>
                    </a:solidFill>
                  </a:tcPr>
                </a:tc>
              </a:tr>
              <a:tr h="347472">
                <a:tc>
                  <a:txBody>
                    <a:bodyPr/>
                    <a:lstStyle/>
                    <a:p>
                      <a:pPr rtl="0" algn="l"/>
                      <a:r>
                        <a:rPr sz="1300" b="0" i="0" lang="en-US">
                          <a:solidFill>
                            <a:srgbClr val="1C2333"/>
                          </a:solidFill>
                          <a:latin typeface="Segoe UI"/>
                        </a:rPr>
                        <a:t>It</a:t>
                      </a:r>
                    </a:p>
                  </a:txBody>
                  <a:tcPr>
                    <a:solidFill>
                      <a:srgbClr val="EEF3FA"/>
                    </a:solidFill>
                  </a:tcPr>
                </a:tc>
                <a:tc>
                  <a:txBody>
                    <a:bodyPr/>
                    <a:lstStyle/>
                    <a:p>
                      <a:pPr rtl="1" algn="r"/>
                      <a:r>
                        <a:rPr sz="1600" b="0" i="0" lang="ar-EG" altLang="en-US">
                          <a:solidFill>
                            <a:srgbClr val="1C2333"/>
                          </a:solidFill>
                          <a:latin typeface="Traditional Arabic"/>
                        </a:rPr>
                        <a:t>هو / هي لغير العاقل</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It is a cat.</a:t>
                      </a:r>
                    </a:p>
                  </a:txBody>
                  <a:tcPr>
                    <a:solidFill>
                      <a:srgbClr val="EEF3FA"/>
                    </a:solidFill>
                  </a:tcPr>
                </a:tc>
              </a:tr>
              <a:tr h="347472">
                <a:tc>
                  <a:txBody>
                    <a:bodyPr/>
                    <a:lstStyle/>
                    <a:p>
                      <a:pPr rtl="0" algn="l"/>
                      <a:r>
                        <a:rPr sz="1300" b="0" i="0" lang="en-US">
                          <a:solidFill>
                            <a:srgbClr val="1C2333"/>
                          </a:solidFill>
                          <a:latin typeface="Segoe UI"/>
                        </a:rPr>
                        <a:t>They</a:t>
                      </a:r>
                    </a:p>
                  </a:txBody>
                  <a:tcPr>
                    <a:solidFill>
                      <a:srgbClr val="FFFFFF"/>
                    </a:solidFill>
                  </a:tcPr>
                </a:tc>
                <a:tc>
                  <a:txBody>
                    <a:bodyPr/>
                    <a:lstStyle/>
                    <a:p>
                      <a:pPr rtl="1" algn="r"/>
                      <a:r>
                        <a:rPr sz="1600" b="0" i="0" lang="ar-EG" altLang="en-US">
                          <a:solidFill>
                            <a:srgbClr val="1C2333"/>
                          </a:solidFill>
                          <a:latin typeface="Traditional Arabic"/>
                        </a:rPr>
                        <a:t>هم</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They are lions.</a:t>
                      </a:r>
                    </a:p>
                  </a:txBody>
                  <a:tcPr>
                    <a:solidFill>
                      <a:srgbClr val="FFFFFF"/>
                    </a:solidFill>
                  </a:tcPr>
                </a:tc>
              </a:tr>
              <a:tr h="347472">
                <a:tc>
                  <a:txBody>
                    <a:bodyPr/>
                    <a:lstStyle/>
                    <a:p>
                      <a:pPr rtl="0" algn="l"/>
                      <a:r>
                        <a:rPr sz="1300" b="0" i="0" lang="en-US">
                          <a:solidFill>
                            <a:srgbClr val="1C2333"/>
                          </a:solidFill>
                          <a:latin typeface="Segoe UI"/>
                        </a:rPr>
                        <a:t>You</a:t>
                      </a:r>
                    </a:p>
                  </a:txBody>
                  <a:tcPr>
                    <a:solidFill>
                      <a:srgbClr val="EEF3FA"/>
                    </a:solidFill>
                  </a:tcPr>
                </a:tc>
                <a:tc>
                  <a:txBody>
                    <a:bodyPr/>
                    <a:lstStyle/>
                    <a:p>
                      <a:pPr rtl="1" algn="r"/>
                      <a:r>
                        <a:rPr sz="1600" b="0" i="0" lang="ar-EG" altLang="en-US">
                          <a:solidFill>
                            <a:srgbClr val="1C2333"/>
                          </a:solidFill>
                          <a:latin typeface="Traditional Arabic"/>
                        </a:rPr>
                        <a:t>أنتَ / أنتم</a:t>
                      </a:r>
                    </a:p>
                  </a:txBody>
                  <a:tcPr>
                    <a:solidFill>
                      <a:srgbClr val="EEF3FA"/>
                    </a:solidFill>
                  </a:tcPr>
                </a:tc>
                <a:tc>
                  <a:txBody>
                    <a:bodyPr/>
                    <a:lstStyle/>
                    <a:p>
                      <a:pPr rtl="0" algn="l"/>
                      <a:r>
                        <a:rPr sz="1300" b="0" i="0" lang="en-US">
                          <a:solidFill>
                            <a:srgbClr val="1C2333"/>
                          </a:solidFill>
                          <a:latin typeface="Segoe UI"/>
                        </a:rPr>
                        <a:t>are</a:t>
                      </a:r>
                    </a:p>
                  </a:txBody>
                  <a:tcPr>
                    <a:solidFill>
                      <a:srgbClr val="EEF3FA"/>
                    </a:solidFill>
                  </a:tcPr>
                </a:tc>
                <a:tc>
                  <a:txBody>
                    <a:bodyPr/>
                    <a:lstStyle/>
                    <a:p>
                      <a:pPr rtl="0" algn="l"/>
                      <a:r>
                        <a:rPr sz="1300" b="0" i="0" lang="en-US">
                          <a:solidFill>
                            <a:srgbClr val="1C2333"/>
                          </a:solidFill>
                          <a:latin typeface="Segoe UI"/>
                        </a:rPr>
                        <a:t>You are tall.</a:t>
                      </a:r>
                    </a:p>
                  </a:txBody>
                  <a:tcPr>
                    <a:solidFill>
                      <a:srgbClr val="EEF3FA"/>
                    </a:solidFill>
                  </a:tcPr>
                </a:tc>
              </a:tr>
              <a:tr h="347472">
                <a:tc>
                  <a:txBody>
                    <a:bodyPr/>
                    <a:lstStyle/>
                    <a:p>
                      <a:pPr rtl="0" algn="l"/>
                      <a:r>
                        <a:rPr sz="1300" b="0" i="0" lang="en-US">
                          <a:solidFill>
                            <a:srgbClr val="1C2333"/>
                          </a:solidFill>
                          <a:latin typeface="Segoe UI"/>
                        </a:rPr>
                        <a:t>We</a:t>
                      </a:r>
                    </a:p>
                  </a:txBody>
                  <a:tcPr>
                    <a:solidFill>
                      <a:srgbClr val="FFFFFF"/>
                    </a:solidFill>
                  </a:tcPr>
                </a:tc>
                <a:tc>
                  <a:txBody>
                    <a:bodyPr/>
                    <a:lstStyle/>
                    <a:p>
                      <a:pPr rtl="1" algn="r"/>
                      <a:r>
                        <a:rPr sz="1600" b="0" i="0" lang="ar-EG" altLang="en-US">
                          <a:solidFill>
                            <a:srgbClr val="1C2333"/>
                          </a:solidFill>
                          <a:latin typeface="Traditional Arabic"/>
                        </a:rPr>
                        <a:t>نحن</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We are friends.</a:t>
                      </a:r>
                    </a:p>
                  </a:txBody>
                  <a:tcPr>
                    <a:solidFill>
                      <a:srgbClr val="FFFFFF"/>
                    </a:solidFill>
                  </a:tcPr>
                </a:tc>
              </a:tr>
              <a:tr h="347472">
                <a:tc>
                  <a:txBody>
                    <a:bodyPr/>
                    <a:lstStyle/>
                    <a:p>
                      <a:pPr rtl="0" algn="l"/>
                      <a:r>
                        <a:rPr sz="1300" b="0" i="0" lang="en-US">
                          <a:solidFill>
                            <a:srgbClr val="1C2333"/>
                          </a:solidFill>
                          <a:latin typeface="Segoe UI"/>
                        </a:rPr>
                        <a:t>The cat / Ahmed</a:t>
                      </a:r>
                    </a:p>
                  </a:txBody>
                  <a:tcPr>
                    <a:solidFill>
                      <a:srgbClr val="EEF3FA"/>
                    </a:solidFill>
                  </a:tcPr>
                </a:tc>
                <a:tc>
                  <a:txBody>
                    <a:bodyPr/>
                    <a:lstStyle/>
                    <a:p>
                      <a:pPr rtl="1" algn="r"/>
                      <a:r>
                        <a:rPr sz="1600" b="0" i="0" lang="ar-EG" altLang="en-US">
                          <a:solidFill>
                            <a:srgbClr val="1C2333"/>
                          </a:solidFill>
                          <a:latin typeface="Traditional Arabic"/>
                        </a:rPr>
                        <a:t>الاسم المفرد</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The cat is fast.</a:t>
                      </a:r>
                    </a:p>
                  </a:txBody>
                  <a:tcPr>
                    <a:solidFill>
                      <a:srgbClr val="EEF3FA"/>
                    </a:solidFill>
                  </a:tcPr>
                </a:tc>
              </a:tr>
              <a:tr h="347472">
                <a:tc>
                  <a:txBody>
                    <a:bodyPr/>
                    <a:lstStyle/>
                    <a:p>
                      <a:pPr rtl="0" algn="l"/>
                      <a:r>
                        <a:rPr sz="1300" b="0" i="0" lang="en-US">
                          <a:solidFill>
                            <a:srgbClr val="1C2333"/>
                          </a:solidFill>
                          <a:latin typeface="Segoe UI"/>
                        </a:rPr>
                        <a:t>Lions / My parents</a:t>
                      </a:r>
                    </a:p>
                  </a:txBody>
                  <a:tcPr>
                    <a:solidFill>
                      <a:srgbClr val="FFFFFF"/>
                    </a:solidFill>
                  </a:tcPr>
                </a:tc>
                <a:tc>
                  <a:txBody>
                    <a:bodyPr/>
                    <a:lstStyle/>
                    <a:p>
                      <a:pPr rtl="1" algn="r"/>
                      <a:r>
                        <a:rPr sz="1600" b="0" i="0" lang="ar-EG" altLang="en-US">
                          <a:solidFill>
                            <a:srgbClr val="1C2333"/>
                          </a:solidFill>
                          <a:latin typeface="Traditional Arabic"/>
                        </a:rPr>
                        <a:t>الاسم الجمع</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Lions are strong.</a:t>
                      </a:r>
                    </a:p>
                  </a:txBody>
                  <a:tcPr>
                    <a:solidFill>
                      <a:srgbClr val="FFFFFF"/>
                    </a:solidFill>
                  </a:tcPr>
                </a:tc>
              </a:tr>
            </a:tbl>
          </a:graphicData>
        </a:graphic>
      </p:graphicFrame>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 a boy.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They …… girls.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Mona …… a nurse.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We …… doctors.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It …… a cat.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She …… a dentist.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 …… a teacher.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You …… a vet.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Lions …… strong.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My mum …… thin.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They …… men.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My friend …… tall.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It …… hot today.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We …… teachers.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Rody …… a doctor.   (am – is – are)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He …… a man.   (am – is – are)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 happy.   (am – is – are)</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am</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a boy.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isn't a boy.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am a dentist.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not a dentist.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are teachers.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aren't teachers.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She is a girl.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isn't a girl.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They are dogs.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dogs.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It is a lion.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a lion.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Dogs are fast.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Dogs aren't fast.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They are farmers.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farmers.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He is a teacher.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isn't a teacher.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 am a farmer.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not a farmer.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It is a cow.</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a cow.</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She is a nurse.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isn't a nurse.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Lions are strong.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Lions aren't strong.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We are boys.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aren't boys.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a teacher.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teacher?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It is a lion.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 lion?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 am a farmer.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 farmer?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My mother is a nurse.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your mother a nurse?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She is a girl.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a girl?</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They are lions.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lions?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We are strong.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strong?</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Lions are strong.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lions strong?</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You are a vet.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 I a vet? / Are you a vet?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Rody is a nice girl.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Rody a nice girl?</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Rawan is a doctor.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Rawan a doctor?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They are fast cats.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fast cats?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My parents are doctors.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your parents doctors?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She is a girl.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a girl?</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We are friends.</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friends?</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I am a dentist.</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 dentist?</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He is a good boy.</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good boy?</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It is a cow.</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 cow?</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Rody and Sara are sisters.</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Rody and Sara sisters?</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My brother is a doctor.</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your brother a doctor?</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he a boy?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he is. / No, he isn't.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Are they girls?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they are. / No, they aren't.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Is she a girl?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Are you a doctor?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 am. / No, I'm not.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Is it a cat?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Are they lions?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they are. / No, they aren't.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Is he a teacher?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he is. / No, he isn't.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Are you a farmer?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 am. / No, I'm not.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Is she a vet?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Is she a nurse?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Are you a boy?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 am. / No, I'm not.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Is Rody a good girl?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Is your mother a vet?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your parents at home?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they are. / No, they aren't.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they playing now?</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Is it hot today?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is. / No, it isn't.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Are you a dentist?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am. / No, I'm not.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Is he your brother?</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is. / No, he isn't.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she is tall.</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tall?</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they aren't lions.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lions?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No, it isn't cold today.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cold today?</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Yes, I am a farmer.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 farmer?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No, he isn't tall.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tall?</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Yes, my parents are vets.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your parents vets?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No, lions aren't hungry.</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lions hungry?</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Yes, we are at home.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at home?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No, she isn't sad.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sad?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Yes, it is a cat.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they aren't at school.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at school?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Yes, I am happy.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happy?</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No, he isn't reading.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reading?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Yes, they are studying.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studying?</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No, we aren't playing.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playing?</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Yes, she is running.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running?</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No, Rawan isn't sleeping.</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Rawan sleeping?</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Yes, my mum is cooking.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your mum cooking?</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No, it isn't raining.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raining?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Yes, I am eating.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eating?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No, they aren't eating.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eating?</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Yes, we are doctors.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doctors?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am – a – I – doctor.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doctor.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not – is – orange – an – It.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not an orange.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nurse – is – She – 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vets – aren't – They.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vets.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lions – Are – strong?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lions strong?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is – My – a – mum – dentist.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is a dentist.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an – It – apple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apple.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boy – a – He –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boy.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ant – Is – it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an ant?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is – dentist – She – 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dentist.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helpful – Doctors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Doctors are helpful.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not – We – farmers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not farmers.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it – umbrella – Is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an umbrella?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 – He – man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man.</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nurse – she – Is – a?</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a nurse?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doctor – is – Rody – a.</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is a doctor.</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fast – Are – cats?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cats fast?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brother – My – a – vet –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is a vet.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a doctor. (They)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doctors.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isn't a girl. (They)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girls.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are nurses. (She)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He is a vet.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vet?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 am a teacher. (He)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teacher.</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My mum is a nurse. (She)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They are lions. (It)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lion.</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Rody is a doctor. (I)</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doctor.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Rody and Sara are girls. (They)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girls.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Mido is a boy. (He)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boy.</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She is a teacher. (We)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teachers.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He is fast. (You)</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are fast.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He is a farmer. (I)</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farmer.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they boys?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boy?</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It is hot today. (not)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hot today.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My parents are vets. (My mum)</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is a vet.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She is fast. (We)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fast.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Lions are strong. (They)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strong.</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They are cows. (It)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cow.</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I am a dentist. (He)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dentist.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Rowan is happy. (We)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happy.</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You are tall. (He)</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tall.</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are a teacher.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teacher.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is a boy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girl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is teachers.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teachers.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are a cat.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cat.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He is a farmer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farmer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They are a doctor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doctors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My mum are a nurse.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is a nurse.</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No , they are my parents.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 they are my parents.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You is my friend.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are my friend.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We isn't at home.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aren't at home.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he playing?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playing? ✓ (correct — or: Is he playing now?)</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My parents isn't running.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parents aren't running.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You are sleeping?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sleeping?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It aren't hot today.</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hot today.</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Rawan are a dentist.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Rawan is a dentist.</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He is a girl .</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a boy .</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Yes, they aren't cows.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cows.</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 happy.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 a girl.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 sad.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 a cat.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 doctors.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He …… a boy.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 tall.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Ahmed …… my brother.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Cats …… fast animals.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A fox …… an animal.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You …… a boy.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This car …… red.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 …… a doctor.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 girls …… tall.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We …… happy.   (am – is – are)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My brother …… fast.   (am – is – are)</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They …… friends.   (am – is – are)</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It …… a bike.   (am – is – are)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 are boys.   (He – She – They)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It is …… elephant.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Sara …… a girl.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He is a …… .   (boy – girl)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boy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are …… .   (girls – boy)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girls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Dogs …… fast.   (am – are – 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 is an orange.   (She – They – It)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 you a boy?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He …… a man.   (isn't – aren't)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Rody is …… girl.   (an – 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 they happy?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 he …… .   (aren't – isn't)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 she is.   (Yes, – No,)</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Yes, he …… .   (is – isn't)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is …… apple.   (a – an)</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Yes, we …… .   (are – aren't)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 you short?   (Are – Is)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K)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My mother is in the garden. The garden is big and beautiful. There is a bench in the garden. There is a rainbow in the sky. There isn't a river in the garden. There is a flower in the garden.</a:t>
            </a:r>
          </a:p>
          <a:p>
            <a:pPr rtl="0" algn="r">
              <a:spcBef>
                <a:spcPts val="800"/>
              </a:spcBef>
            </a:pPr>
            <a:r>
              <a:rPr sz="1400" b="0" i="0" lang="en-US">
                <a:solidFill>
                  <a:srgbClr val="5B6478"/>
                </a:solidFill>
                <a:latin typeface="Segoe UI"/>
              </a:rPr>
              <a:t>bench: مقعد   rainbow: قوس قزح   river: نهر</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K)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My mother is in the …… .   (hospital – garden – park)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garden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There is a …… in the garden.   (tree – plant – flower)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flower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garden isn't big. (The garden is big.)   (True ✓ – False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There is a river. (There isn't a river.)   (True ✓ – False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There is a rainbow in the sky.   (True ✓ – False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5</a:t>
            </a:r>
          </a:p>
          <a:p>
            <a:pPr algn="ctr" rtl="0"/>
            <a:r>
              <a:rPr sz="4600" b="1" i="0" lang="en-US">
                <a:solidFill>
                  <a:srgbClr val="FFFFFF"/>
                </a:solidFill>
                <a:latin typeface="Segoe UI"/>
              </a:rPr>
              <a:t>Greetings &amp; Personal Information</a:t>
            </a:r>
          </a:p>
          <a:p>
            <a:pPr algn="ctr" rtl="1"/>
            <a:r>
              <a:rPr sz="2900" b="0" i="0" lang="ar-EG" altLang="en-US">
                <a:solidFill>
                  <a:srgbClr val="FFFFFF"/>
                </a:solidFill>
                <a:latin typeface="Traditional Arabic"/>
              </a:rPr>
              <a:t>التحيات والمعلومات الشخصية</a:t>
            </a:r>
          </a:p>
        </p:txBody>
      </p:sp>
    </p:spTree>
  </p:cSld>
  <p:clrMapOvr>
    <a:masterClrMapping/>
  </p:clrMapOvr>
  <p:transition spd="med">
    <p:zoom dir="in"/>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rtl="0" algn="l"/>
                      <a:r>
                        <a:rPr sz="1400" b="1" i="0" lang="en-US">
                          <a:solidFill>
                            <a:srgbClr val="FFFFFF"/>
                          </a:solidFill>
                          <a:latin typeface="Segoe UI"/>
                        </a:rPr>
                        <a:t>Question</a:t>
                      </a:r>
                    </a:p>
                  </a:txBody>
                  <a:tcPr>
                    <a:solidFill>
                      <a:srgbClr val="945B22"/>
                    </a:solidFill>
                  </a:tcPr>
                </a:tc>
                <a:tc>
                  <a:txBody>
                    <a:bodyPr/>
                    <a:lstStyle/>
                    <a:p>
                      <a:pPr rtl="0" algn="l"/>
                      <a:r>
                        <a:rPr sz="1400" b="1" i="0" lang="en-US">
                          <a:solidFill>
                            <a:srgbClr val="FFFFFF"/>
                          </a:solidFill>
                          <a:latin typeface="Segoe UI"/>
                        </a:rPr>
                        <a:t>Answer</a:t>
                      </a:r>
                    </a:p>
                  </a:txBody>
                  <a:tcPr>
                    <a:solidFill>
                      <a:srgbClr val="945B22"/>
                    </a:solidFill>
                  </a:tcPr>
                </a:tc>
                <a:tc>
                  <a:txBody>
                    <a:bodyPr/>
                    <a:lstStyle/>
                    <a:p>
                      <a:pPr rtl="1" algn="r"/>
                      <a:r>
                        <a:rPr sz="1700" b="1" i="0" lang="ar-EG" altLang="en-US">
                          <a:solidFill>
                            <a:srgbClr val="FFFFFF"/>
                          </a:solidFill>
                          <a:latin typeface="Traditional Arabic"/>
                        </a:rPr>
                        <a:t>المعنى</a:t>
                      </a:r>
                    </a:p>
                  </a:txBody>
                  <a:tcPr>
                    <a:solidFill>
                      <a:srgbClr val="945B22"/>
                    </a:solidFill>
                  </a:tcPr>
                </a:tc>
              </a:tr>
              <a:tr h="347472">
                <a:tc>
                  <a:txBody>
                    <a:bodyPr/>
                    <a:lstStyle/>
                    <a:p>
                      <a:pPr rtl="0" algn="l"/>
                      <a:r>
                        <a:rPr sz="1300" b="0" i="0" lang="en-US">
                          <a:solidFill>
                            <a:srgbClr val="1C2333"/>
                          </a:solidFill>
                          <a:latin typeface="Segoe UI"/>
                        </a:rPr>
                        <a:t>What's your name?</a:t>
                      </a:r>
                    </a:p>
                  </a:txBody>
                  <a:tcPr>
                    <a:solidFill>
                      <a:srgbClr val="FFFFFF"/>
                    </a:solidFill>
                  </a:tcPr>
                </a:tc>
                <a:tc>
                  <a:txBody>
                    <a:bodyPr/>
                    <a:lstStyle/>
                    <a:p>
                      <a:pPr rtl="0" algn="l"/>
                      <a:r>
                        <a:rPr sz="1300" b="0" i="0" lang="en-US">
                          <a:solidFill>
                            <a:srgbClr val="1C2333"/>
                          </a:solidFill>
                          <a:latin typeface="Segoe UI"/>
                        </a:rPr>
                        <a:t>I'm Rody. / My name is Rody.</a:t>
                      </a:r>
                    </a:p>
                  </a:txBody>
                  <a:tcPr>
                    <a:solidFill>
                      <a:srgbClr val="FFFFFF"/>
                    </a:solidFill>
                  </a:tcPr>
                </a:tc>
                <a:tc>
                  <a:txBody>
                    <a:bodyPr/>
                    <a:lstStyle/>
                    <a:p>
                      <a:pPr rtl="1" algn="r"/>
                      <a:r>
                        <a:rPr sz="1600" b="0" i="0" lang="ar-EG" altLang="en-US">
                          <a:solidFill>
                            <a:srgbClr val="1C2333"/>
                          </a:solidFill>
                          <a:latin typeface="Traditional Arabic"/>
                        </a:rPr>
                        <a:t>ما اسمك؟</a:t>
                      </a:r>
                    </a:p>
                  </a:txBody>
                  <a:tcPr>
                    <a:solidFill>
                      <a:srgbClr val="FFFFFF"/>
                    </a:solidFill>
                  </a:tcPr>
                </a:tc>
              </a:tr>
              <a:tr h="347472">
                <a:tc>
                  <a:txBody>
                    <a:bodyPr/>
                    <a:lstStyle/>
                    <a:p>
                      <a:pPr rtl="0" algn="l"/>
                      <a:r>
                        <a:rPr sz="1300" b="0" i="0" lang="en-US">
                          <a:solidFill>
                            <a:srgbClr val="1C2333"/>
                          </a:solidFill>
                          <a:latin typeface="Segoe UI"/>
                        </a:rPr>
                        <a:t>How are you?</a:t>
                      </a:r>
                    </a:p>
                  </a:txBody>
                  <a:tcPr>
                    <a:solidFill>
                      <a:srgbClr val="EEF3FA"/>
                    </a:solidFill>
                  </a:tcPr>
                </a:tc>
                <a:tc>
                  <a:txBody>
                    <a:bodyPr/>
                    <a:lstStyle/>
                    <a:p>
                      <a:pPr rtl="0" algn="l"/>
                      <a:r>
                        <a:rPr sz="1300" b="0" i="0" lang="en-US">
                          <a:solidFill>
                            <a:srgbClr val="1C2333"/>
                          </a:solidFill>
                          <a:latin typeface="Segoe UI"/>
                        </a:rPr>
                        <a:t>I'm fine, thank you.</a:t>
                      </a:r>
                    </a:p>
                  </a:txBody>
                  <a:tcPr>
                    <a:solidFill>
                      <a:srgbClr val="EEF3FA"/>
                    </a:solidFill>
                  </a:tcPr>
                </a:tc>
                <a:tc>
                  <a:txBody>
                    <a:bodyPr/>
                    <a:lstStyle/>
                    <a:p>
                      <a:pPr rtl="1" algn="r"/>
                      <a:r>
                        <a:rPr sz="1600" b="0" i="0" lang="ar-EG" altLang="en-US">
                          <a:solidFill>
                            <a:srgbClr val="1C2333"/>
                          </a:solidFill>
                          <a:latin typeface="Traditional Arabic"/>
                        </a:rPr>
                        <a:t>كيف حالك؟</a:t>
                      </a:r>
                    </a:p>
                  </a:txBody>
                  <a:tcPr>
                    <a:solidFill>
                      <a:srgbClr val="EEF3FA"/>
                    </a:solidFill>
                  </a:tcPr>
                </a:tc>
              </a:tr>
              <a:tr h="347472">
                <a:tc>
                  <a:txBody>
                    <a:bodyPr/>
                    <a:lstStyle/>
                    <a:p>
                      <a:pPr rtl="0" algn="l"/>
                      <a:r>
                        <a:rPr sz="1300" b="0" i="0" lang="en-US">
                          <a:solidFill>
                            <a:srgbClr val="1C2333"/>
                          </a:solidFill>
                          <a:latin typeface="Segoe UI"/>
                        </a:rPr>
                        <a:t>How old are you?</a:t>
                      </a:r>
                    </a:p>
                  </a:txBody>
                  <a:tcPr>
                    <a:solidFill>
                      <a:srgbClr val="FFFFFF"/>
                    </a:solidFill>
                  </a:tcPr>
                </a:tc>
                <a:tc>
                  <a:txBody>
                    <a:bodyPr/>
                    <a:lstStyle/>
                    <a:p>
                      <a:pPr rtl="0" algn="l"/>
                      <a:r>
                        <a:rPr sz="1300" b="0" i="0" lang="en-US">
                          <a:solidFill>
                            <a:srgbClr val="1C2333"/>
                          </a:solidFill>
                          <a:latin typeface="Segoe UI"/>
                        </a:rPr>
                        <a:t>I'm 10 years old.</a:t>
                      </a:r>
                    </a:p>
                  </a:txBody>
                  <a:tcPr>
                    <a:solidFill>
                      <a:srgbClr val="FFFFFF"/>
                    </a:solidFill>
                  </a:tcPr>
                </a:tc>
                <a:tc>
                  <a:txBody>
                    <a:bodyPr/>
                    <a:lstStyle/>
                    <a:p>
                      <a:pPr rtl="1" algn="r"/>
                      <a:r>
                        <a:rPr sz="1600" b="0" i="0" lang="ar-EG" altLang="en-US">
                          <a:solidFill>
                            <a:srgbClr val="1C2333"/>
                          </a:solidFill>
                          <a:latin typeface="Traditional Arabic"/>
                        </a:rPr>
                        <a:t>كم عمرك؟</a:t>
                      </a:r>
                    </a:p>
                  </a:txBody>
                  <a:tcPr>
                    <a:solidFill>
                      <a:srgbClr val="FFFFFF"/>
                    </a:solidFill>
                  </a:tcPr>
                </a:tc>
              </a:tr>
              <a:tr h="347472">
                <a:tc>
                  <a:txBody>
                    <a:bodyPr/>
                    <a:lstStyle/>
                    <a:p>
                      <a:pPr rtl="0" algn="l"/>
                      <a:r>
                        <a:rPr sz="1300" b="0" i="0" lang="en-US">
                          <a:solidFill>
                            <a:srgbClr val="1C2333"/>
                          </a:solidFill>
                          <a:latin typeface="Segoe UI"/>
                        </a:rPr>
                        <a:t>Where are you from?</a:t>
                      </a:r>
                    </a:p>
                  </a:txBody>
                  <a:tcPr>
                    <a:solidFill>
                      <a:srgbClr val="EEF3FA"/>
                    </a:solidFill>
                  </a:tcPr>
                </a:tc>
                <a:tc>
                  <a:txBody>
                    <a:bodyPr/>
                    <a:lstStyle/>
                    <a:p>
                      <a:pPr rtl="0" algn="l"/>
                      <a:r>
                        <a:rPr sz="1300" b="0" i="0" lang="en-US">
                          <a:solidFill>
                            <a:srgbClr val="1C2333"/>
                          </a:solidFill>
                          <a:latin typeface="Segoe UI"/>
                        </a:rPr>
                        <a:t>I'm from Egypt.</a:t>
                      </a:r>
                    </a:p>
                  </a:txBody>
                  <a:tcPr>
                    <a:solidFill>
                      <a:srgbClr val="EEF3FA"/>
                    </a:solidFill>
                  </a:tcPr>
                </a:tc>
                <a:tc>
                  <a:txBody>
                    <a:bodyPr/>
                    <a:lstStyle/>
                    <a:p>
                      <a:pPr rtl="1" algn="r"/>
                      <a:r>
                        <a:rPr sz="1600" b="0" i="0" lang="ar-EG" altLang="en-US">
                          <a:solidFill>
                            <a:srgbClr val="1C2333"/>
                          </a:solidFill>
                          <a:latin typeface="Traditional Arabic"/>
                        </a:rPr>
                        <a:t>من أين أنت؟</a:t>
                      </a:r>
                    </a:p>
                  </a:txBody>
                  <a:tcPr>
                    <a:solidFill>
                      <a:srgbClr val="EEF3FA"/>
                    </a:solidFill>
                  </a:tcPr>
                </a:tc>
              </a:tr>
            </a:tbl>
          </a:graphicData>
        </a:graphic>
      </p:graphicFrame>
    </p:spTree>
  </p:cSld>
  <p:clrMapOvr>
    <a:masterClrMapping/>
  </p:clrMapOvr>
  <p:transition spd="med">
    <p:wipe dir="r"/>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B22"/>
                          </a:solidFill>
                          <a:latin typeface="Segoe UI"/>
                        </a:rPr>
                        <a:t>Good morning.</a:t>
                      </a:r>
                    </a:p>
                  </a:txBody>
                  <a:tcPr>
                    <a:solidFill>
                      <a:srgbClr val="FFFFFF"/>
                    </a:solidFill>
                  </a:tcPr>
                </a:tc>
                <a:tc>
                  <a:txBody>
                    <a:bodyPr/>
                    <a:lstStyle/>
                    <a:p>
                      <a:pPr rtl="1" algn="r"/>
                      <a:r>
                        <a:rPr sz="1700" b="0" i="0" lang="ar-EG" altLang="en-US">
                          <a:solidFill>
                            <a:srgbClr val="1C2333"/>
                          </a:solidFill>
                          <a:latin typeface="Traditional Arabic"/>
                        </a:rPr>
                        <a:t>صباح الخير</a:t>
                      </a:r>
                    </a:p>
                  </a:txBody>
                  <a:tcPr>
                    <a:solidFill>
                      <a:srgbClr val="FFFFFF"/>
                    </a:solidFill>
                  </a:tcPr>
                </a:tc>
                <a:tc>
                  <a:txBody>
                    <a:bodyPr/>
                    <a:lstStyle/>
                    <a:p>
                      <a:pPr rtl="0" algn="l"/>
                      <a:r>
                        <a:rPr sz="1500" b="1" i="0" lang="en-US">
                          <a:solidFill>
                            <a:srgbClr val="945B22"/>
                          </a:solidFill>
                          <a:latin typeface="Segoe UI"/>
                        </a:rPr>
                        <a:t>Hello / Hi.</a:t>
                      </a:r>
                    </a:p>
                  </a:txBody>
                  <a:tcPr>
                    <a:solidFill>
                      <a:srgbClr val="FFFFFF"/>
                    </a:solidFill>
                  </a:tcPr>
                </a:tc>
                <a:tc>
                  <a:txBody>
                    <a:bodyPr/>
                    <a:lstStyle/>
                    <a:p>
                      <a:pPr rtl="1" algn="r"/>
                      <a:r>
                        <a:rPr sz="1700" b="0" i="0" lang="ar-EG" altLang="en-US">
                          <a:solidFill>
                            <a:srgbClr val="1C2333"/>
                          </a:solidFill>
                          <a:latin typeface="Traditional Arabic"/>
                        </a:rPr>
                        <a:t>أهلاً / مرحباً</a:t>
                      </a:r>
                    </a:p>
                  </a:txBody>
                  <a:tcPr>
                    <a:solidFill>
                      <a:srgbClr val="FFFFFF"/>
                    </a:solidFill>
                  </a:tcPr>
                </a:tc>
                <a:tc>
                  <a:txBody>
                    <a:bodyPr/>
                    <a:lstStyle/>
                    <a:p>
                      <a:pPr rtl="0" algn="l"/>
                      <a:r>
                        <a:rPr sz="1500" b="1" i="0" lang="en-US">
                          <a:solidFill>
                            <a:srgbClr val="945B22"/>
                          </a:solidFill>
                          <a:latin typeface="Segoe UI"/>
                        </a:rPr>
                        <a:t>Nice to meet you.</a:t>
                      </a:r>
                    </a:p>
                  </a:txBody>
                  <a:tcPr>
                    <a:solidFill>
                      <a:srgbClr val="FFFFFF"/>
                    </a:solidFill>
                  </a:tcPr>
                </a:tc>
                <a:tc>
                  <a:txBody>
                    <a:bodyPr/>
                    <a:lstStyle/>
                    <a:p>
                      <a:pPr rtl="1" algn="r"/>
                      <a:r>
                        <a:rPr sz="1700" b="0" i="0" lang="ar-EG" altLang="en-US">
                          <a:solidFill>
                            <a:srgbClr val="1C2333"/>
                          </a:solidFill>
                          <a:latin typeface="Traditional Arabic"/>
                        </a:rPr>
                        <a:t>سعدت بلقائك</a:t>
                      </a:r>
                    </a:p>
                  </a:txBody>
                  <a:tcPr>
                    <a:solidFill>
                      <a:srgbClr val="FFFFFF"/>
                    </a:solidFill>
                  </a:tcPr>
                </a:tc>
              </a:tr>
              <a:tr h="384048">
                <a:tc>
                  <a:txBody>
                    <a:bodyPr/>
                    <a:lstStyle/>
                    <a:p>
                      <a:pPr rtl="0" algn="l"/>
                      <a:r>
                        <a:rPr sz="1500" b="1" i="0" lang="en-US">
                          <a:solidFill>
                            <a:srgbClr val="945B22"/>
                          </a:solidFill>
                          <a:latin typeface="Segoe UI"/>
                        </a:rPr>
                        <a:t>Good afternoon.</a:t>
                      </a:r>
                    </a:p>
                  </a:txBody>
                  <a:tcPr>
                    <a:solidFill>
                      <a:srgbClr val="EEF3FA"/>
                    </a:solidFill>
                  </a:tcPr>
                </a:tc>
                <a:tc>
                  <a:txBody>
                    <a:bodyPr/>
                    <a:lstStyle/>
                    <a:p>
                      <a:pPr rtl="1" algn="r"/>
                      <a:r>
                        <a:rPr sz="1700" b="0" i="0" lang="ar-EG" altLang="en-US">
                          <a:solidFill>
                            <a:srgbClr val="1C2333"/>
                          </a:solidFill>
                          <a:latin typeface="Traditional Arabic"/>
                        </a:rPr>
                        <a:t>مساء الخير (بعد الظهر)</a:t>
                      </a:r>
                    </a:p>
                  </a:txBody>
                  <a:tcPr>
                    <a:solidFill>
                      <a:srgbClr val="EEF3FA"/>
                    </a:solidFill>
                  </a:tcPr>
                </a:tc>
                <a:tc>
                  <a:txBody>
                    <a:bodyPr/>
                    <a:lstStyle/>
                    <a:p>
                      <a:pPr rtl="0" algn="l"/>
                      <a:r>
                        <a:rPr sz="1500" b="1" i="0" lang="en-US">
                          <a:solidFill>
                            <a:srgbClr val="945B22"/>
                          </a:solidFill>
                          <a:latin typeface="Segoe UI"/>
                        </a:rPr>
                        <a:t>Have a nice day.</a:t>
                      </a:r>
                    </a:p>
                  </a:txBody>
                  <a:tcPr>
                    <a:solidFill>
                      <a:srgbClr val="EEF3FA"/>
                    </a:solidFill>
                  </a:tcPr>
                </a:tc>
                <a:tc>
                  <a:txBody>
                    <a:bodyPr/>
                    <a:lstStyle/>
                    <a:p>
                      <a:pPr rtl="1" algn="r"/>
                      <a:r>
                        <a:rPr sz="1700" b="0" i="0" lang="ar-EG" altLang="en-US">
                          <a:solidFill>
                            <a:srgbClr val="1C2333"/>
                          </a:solidFill>
                          <a:latin typeface="Traditional Arabic"/>
                        </a:rPr>
                        <a:t>أتمنى لك يوماً سعيداً</a:t>
                      </a:r>
                    </a:p>
                  </a:txBody>
                  <a:tcPr>
                    <a:solidFill>
                      <a:srgbClr val="EEF3FA"/>
                    </a:solidFill>
                  </a:tcPr>
                </a:tc>
                <a:tc>
                  <a:txBody>
                    <a:bodyPr/>
                    <a:lstStyle/>
                    <a:p>
                      <a:pPr rtl="0" algn="l"/>
                      <a:r>
                        <a:rPr sz="1500" b="1" i="0" lang="en-US">
                          <a:solidFill>
                            <a:srgbClr val="945B22"/>
                          </a:solidFill>
                          <a:latin typeface="Segoe UI"/>
                        </a:rPr>
                        <a:t>Have a nice time.</a:t>
                      </a:r>
                    </a:p>
                  </a:txBody>
                  <a:tcPr>
                    <a:solidFill>
                      <a:srgbClr val="EEF3FA"/>
                    </a:solidFill>
                  </a:tcPr>
                </a:tc>
                <a:tc>
                  <a:txBody>
                    <a:bodyPr/>
                    <a:lstStyle/>
                    <a:p>
                      <a:pPr rtl="1" algn="r"/>
                      <a:r>
                        <a:rPr sz="1700" b="0" i="0" lang="ar-EG" altLang="en-US">
                          <a:solidFill>
                            <a:srgbClr val="1C2333"/>
                          </a:solidFill>
                          <a:latin typeface="Traditional Arabic"/>
                        </a:rPr>
                        <a:t>أتمنى لك وقتاً ممتعاً</a:t>
                      </a:r>
                    </a:p>
                  </a:txBody>
                  <a:tcPr>
                    <a:solidFill>
                      <a:srgbClr val="EEF3FA"/>
                    </a:solidFill>
                  </a:tcPr>
                </a:tc>
              </a:tr>
              <a:tr h="384048">
                <a:tc>
                  <a:txBody>
                    <a:bodyPr/>
                    <a:lstStyle/>
                    <a:p>
                      <a:pPr rtl="0" algn="l"/>
                      <a:r>
                        <a:rPr sz="1500" b="1" i="0" lang="en-US">
                          <a:solidFill>
                            <a:srgbClr val="945B22"/>
                          </a:solidFill>
                          <a:latin typeface="Segoe UI"/>
                        </a:rPr>
                        <a:t>Good evening.</a:t>
                      </a:r>
                    </a:p>
                  </a:txBody>
                  <a:tcPr>
                    <a:solidFill>
                      <a:srgbClr val="FFFFFF"/>
                    </a:solidFill>
                  </a:tcPr>
                </a:tc>
                <a:tc>
                  <a:txBody>
                    <a:bodyPr/>
                    <a:lstStyle/>
                    <a:p>
                      <a:pPr rtl="1" algn="r"/>
                      <a:r>
                        <a:rPr sz="1700" b="0" i="0" lang="ar-EG" altLang="en-US">
                          <a:solidFill>
                            <a:srgbClr val="1C2333"/>
                          </a:solidFill>
                          <a:latin typeface="Traditional Arabic"/>
                        </a:rPr>
                        <a:t>مساء الخير</a:t>
                      </a:r>
                    </a:p>
                  </a:txBody>
                  <a:tcPr>
                    <a:solidFill>
                      <a:srgbClr val="FFFFFF"/>
                    </a:solidFill>
                  </a:tcPr>
                </a:tc>
                <a:tc>
                  <a:txBody>
                    <a:bodyPr/>
                    <a:lstStyle/>
                    <a:p>
                      <a:pPr rtl="0" algn="l"/>
                      <a:r>
                        <a:rPr sz="1500" b="1" i="0" lang="en-US">
                          <a:solidFill>
                            <a:srgbClr val="945B22"/>
                          </a:solidFill>
                          <a:latin typeface="Segoe UI"/>
                        </a:rPr>
                        <a:t>Thank you.</a:t>
                      </a:r>
                    </a:p>
                  </a:txBody>
                  <a:tcPr>
                    <a:solidFill>
                      <a:srgbClr val="FFFFFF"/>
                    </a:solidFill>
                  </a:tcPr>
                </a:tc>
                <a:tc>
                  <a:txBody>
                    <a:bodyPr/>
                    <a:lstStyle/>
                    <a:p>
                      <a:pPr rtl="1" algn="r"/>
                      <a:r>
                        <a:rPr sz="1700" b="0" i="0" lang="ar-EG" altLang="en-US">
                          <a:solidFill>
                            <a:srgbClr val="1C2333"/>
                          </a:solidFill>
                          <a:latin typeface="Traditional Arabic"/>
                        </a:rPr>
                        <a:t>شكراً لك</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945B22"/>
                          </a:solidFill>
                          <a:latin typeface="Segoe UI"/>
                        </a:rPr>
                        <a:t>Good night.</a:t>
                      </a:r>
                    </a:p>
                  </a:txBody>
                  <a:tcPr>
                    <a:solidFill>
                      <a:srgbClr val="EEF3FA"/>
                    </a:solidFill>
                  </a:tcPr>
                </a:tc>
                <a:tc>
                  <a:txBody>
                    <a:bodyPr/>
                    <a:lstStyle/>
                    <a:p>
                      <a:pPr rtl="1" algn="r"/>
                      <a:r>
                        <a:rPr sz="1700" b="0" i="0" lang="ar-EG" altLang="en-US">
                          <a:solidFill>
                            <a:srgbClr val="1C2333"/>
                          </a:solidFill>
                          <a:latin typeface="Traditional Arabic"/>
                        </a:rPr>
                        <a:t>تصبح على خير</a:t>
                      </a:r>
                    </a:p>
                  </a:txBody>
                  <a:tcPr>
                    <a:solidFill>
                      <a:srgbClr val="EEF3FA"/>
                    </a:solidFill>
                  </a:tcPr>
                </a:tc>
                <a:tc>
                  <a:txBody>
                    <a:bodyPr/>
                    <a:lstStyle/>
                    <a:p>
                      <a:pPr rtl="0" algn="l"/>
                      <a:r>
                        <a:rPr sz="1500" b="1" i="0" lang="en-US">
                          <a:solidFill>
                            <a:srgbClr val="945B22"/>
                          </a:solidFill>
                          <a:latin typeface="Segoe UI"/>
                        </a:rPr>
                        <a:t>You are welcome.</a:t>
                      </a:r>
                    </a:p>
                  </a:txBody>
                  <a:tcPr>
                    <a:solidFill>
                      <a:srgbClr val="EEF3FA"/>
                    </a:solidFill>
                  </a:tcPr>
                </a:tc>
                <a:tc>
                  <a:txBody>
                    <a:bodyPr/>
                    <a:lstStyle/>
                    <a:p>
                      <a:pPr rtl="1" algn="r"/>
                      <a:r>
                        <a:rPr sz="1700" b="0" i="0" lang="ar-EG" altLang="en-US">
                          <a:solidFill>
                            <a:srgbClr val="1C2333"/>
                          </a:solidFill>
                          <a:latin typeface="Traditional Arabic"/>
                        </a:rPr>
                        <a:t>على الرحب والسعة</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split orient="vert" dir="out"/>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dialogues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Hello.</a:t>
            </a:r>
          </a:p>
        </p:txBody>
      </p:sp>
      <p:sp>
        <p:nvSpPr>
          <p:cNvPr id="11" name="TextBox 10"/>
          <p:cNvSpPr txBox="1"/>
          <p:nvPr/>
        </p:nvSpPr>
        <p:spPr>
          <a:xfrm>
            <a:off x="6217920" y="14630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Hello.</a:t>
            </a:r>
          </a:p>
        </p:txBody>
      </p:sp>
      <p:sp>
        <p:nvSpPr>
          <p:cNvPr id="12" name="TextBox 11"/>
          <p:cNvSpPr txBox="1"/>
          <p:nvPr/>
        </p:nvSpPr>
        <p:spPr>
          <a:xfrm>
            <a:off x="411480" y="19659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a:t>
            </a:r>
          </a:p>
        </p:txBody>
      </p:sp>
      <p:sp>
        <p:nvSpPr>
          <p:cNvPr id="13" name="TextBox 12"/>
          <p:cNvSpPr txBox="1"/>
          <p:nvPr/>
        </p:nvSpPr>
        <p:spPr>
          <a:xfrm>
            <a:off x="6217920" y="19659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Hello. / Hi.</a:t>
            </a:r>
          </a:p>
        </p:txBody>
      </p:sp>
      <p:sp>
        <p:nvSpPr>
          <p:cNvPr id="14" name="TextBox 13"/>
          <p:cNvSpPr txBox="1"/>
          <p:nvPr/>
        </p:nvSpPr>
        <p:spPr>
          <a:xfrm>
            <a:off x="411480" y="24688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a:t>
            </a:r>
          </a:p>
        </p:txBody>
      </p:sp>
      <p:sp>
        <p:nvSpPr>
          <p:cNvPr id="15" name="TextBox 14"/>
          <p:cNvSpPr txBox="1"/>
          <p:nvPr/>
        </p:nvSpPr>
        <p:spPr>
          <a:xfrm>
            <a:off x="6217920" y="24688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What's your name ?</a:t>
            </a:r>
          </a:p>
        </p:txBody>
      </p:sp>
      <p:sp>
        <p:nvSpPr>
          <p:cNvPr id="16" name="TextBox 15"/>
          <p:cNvSpPr txBox="1"/>
          <p:nvPr/>
        </p:nvSpPr>
        <p:spPr>
          <a:xfrm>
            <a:off x="411480" y="29718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I'm Rody.</a:t>
            </a:r>
          </a:p>
        </p:txBody>
      </p:sp>
      <p:sp>
        <p:nvSpPr>
          <p:cNvPr id="17" name="TextBox 16"/>
          <p:cNvSpPr txBox="1"/>
          <p:nvPr/>
        </p:nvSpPr>
        <p:spPr>
          <a:xfrm>
            <a:off x="6217920" y="29718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Rody.</a:t>
            </a:r>
          </a:p>
        </p:txBody>
      </p:sp>
      <p:sp>
        <p:nvSpPr>
          <p:cNvPr id="18" name="TextBox 17"/>
          <p:cNvSpPr txBox="1"/>
          <p:nvPr/>
        </p:nvSpPr>
        <p:spPr>
          <a:xfrm>
            <a:off x="411480" y="34747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old are you?</a:t>
            </a:r>
          </a:p>
        </p:txBody>
      </p:sp>
      <p:sp>
        <p:nvSpPr>
          <p:cNvPr id="19" name="TextBox 18"/>
          <p:cNvSpPr txBox="1"/>
          <p:nvPr/>
        </p:nvSpPr>
        <p:spPr>
          <a:xfrm>
            <a:off x="6217920" y="34747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old are you?</a:t>
            </a:r>
          </a:p>
        </p:txBody>
      </p:sp>
      <p:sp>
        <p:nvSpPr>
          <p:cNvPr id="20" name="TextBox 19"/>
          <p:cNvSpPr txBox="1"/>
          <p:nvPr/>
        </p:nvSpPr>
        <p:spPr>
          <a:xfrm>
            <a:off x="411480" y="39776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a:t>
            </a:r>
          </a:p>
        </p:txBody>
      </p:sp>
      <p:sp>
        <p:nvSpPr>
          <p:cNvPr id="21" name="TextBox 20"/>
          <p:cNvSpPr txBox="1"/>
          <p:nvPr/>
        </p:nvSpPr>
        <p:spPr>
          <a:xfrm>
            <a:off x="6217920" y="39776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10 years old.</a:t>
            </a:r>
          </a:p>
        </p:txBody>
      </p:sp>
      <p:sp>
        <p:nvSpPr>
          <p:cNvPr id="22" name="TextBox 21"/>
          <p:cNvSpPr txBox="1"/>
          <p:nvPr/>
        </p:nvSpPr>
        <p:spPr>
          <a:xfrm>
            <a:off x="411480" y="44805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a:t>
            </a:r>
          </a:p>
        </p:txBody>
      </p:sp>
      <p:sp>
        <p:nvSpPr>
          <p:cNvPr id="23" name="TextBox 22"/>
          <p:cNvSpPr txBox="1"/>
          <p:nvPr/>
        </p:nvSpPr>
        <p:spPr>
          <a:xfrm>
            <a:off x="6217920" y="44805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Where are you from ?</a:t>
            </a:r>
          </a:p>
        </p:txBody>
      </p:sp>
      <p:sp>
        <p:nvSpPr>
          <p:cNvPr id="24" name="TextBox 23"/>
          <p:cNvSpPr txBox="1"/>
          <p:nvPr/>
        </p:nvSpPr>
        <p:spPr>
          <a:xfrm>
            <a:off x="411480" y="49834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I'm from Egypt.</a:t>
            </a:r>
          </a:p>
        </p:txBody>
      </p:sp>
      <p:sp>
        <p:nvSpPr>
          <p:cNvPr id="25" name="TextBox 24"/>
          <p:cNvSpPr txBox="1"/>
          <p:nvPr/>
        </p:nvSpPr>
        <p:spPr>
          <a:xfrm>
            <a:off x="6217920" y="49834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from Egypt.</a:t>
            </a:r>
          </a:p>
        </p:txBody>
      </p:sp>
      <p:sp>
        <p:nvSpPr>
          <p:cNvPr id="26" name="TextBox 25"/>
          <p:cNvSpPr txBox="1"/>
          <p:nvPr/>
        </p:nvSpPr>
        <p:spPr>
          <a:xfrm>
            <a:off x="411480" y="54864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Have a nice day.</a:t>
            </a:r>
          </a:p>
        </p:txBody>
      </p:sp>
      <p:sp>
        <p:nvSpPr>
          <p:cNvPr id="27" name="TextBox 26"/>
          <p:cNvSpPr txBox="1"/>
          <p:nvPr/>
        </p:nvSpPr>
        <p:spPr>
          <a:xfrm>
            <a:off x="6217920" y="54864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Have a nice day.</a:t>
            </a:r>
          </a:p>
        </p:txBody>
      </p:sp>
      <p:sp>
        <p:nvSpPr>
          <p:cNvPr id="28" name="TextBox 27"/>
          <p:cNvSpPr txBox="1"/>
          <p:nvPr/>
        </p:nvSpPr>
        <p:spPr>
          <a:xfrm>
            <a:off x="411480" y="59893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Thank you.</a:t>
            </a:r>
          </a:p>
        </p:txBody>
      </p:sp>
      <p:sp>
        <p:nvSpPr>
          <p:cNvPr id="29" name="TextBox 28"/>
          <p:cNvSpPr txBox="1"/>
          <p:nvPr/>
        </p:nvSpPr>
        <p:spPr>
          <a:xfrm>
            <a:off x="6217920" y="59893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Thank you.</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P spid="27" grpId="0"/>
      <p:bldP spid="29" grpId="0"/>
    </p:bld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dialogues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Hi Rawan.</a:t>
            </a:r>
          </a:p>
        </p:txBody>
      </p:sp>
      <p:sp>
        <p:nvSpPr>
          <p:cNvPr id="11" name="TextBox 10"/>
          <p:cNvSpPr txBox="1"/>
          <p:nvPr/>
        </p:nvSpPr>
        <p:spPr>
          <a:xfrm>
            <a:off x="6217920" y="14630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Hi Rawan.</a:t>
            </a:r>
          </a:p>
        </p:txBody>
      </p:sp>
      <p:sp>
        <p:nvSpPr>
          <p:cNvPr id="12" name="TextBox 11"/>
          <p:cNvSpPr txBox="1"/>
          <p:nvPr/>
        </p:nvSpPr>
        <p:spPr>
          <a:xfrm>
            <a:off x="411480" y="19659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a:t>
            </a:r>
          </a:p>
        </p:txBody>
      </p:sp>
      <p:sp>
        <p:nvSpPr>
          <p:cNvPr id="13" name="TextBox 12"/>
          <p:cNvSpPr txBox="1"/>
          <p:nvPr/>
        </p:nvSpPr>
        <p:spPr>
          <a:xfrm>
            <a:off x="6217920" y="19659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Hi Leen.</a:t>
            </a:r>
          </a:p>
        </p:txBody>
      </p:sp>
      <p:sp>
        <p:nvSpPr>
          <p:cNvPr id="14" name="TextBox 13"/>
          <p:cNvSpPr txBox="1"/>
          <p:nvPr/>
        </p:nvSpPr>
        <p:spPr>
          <a:xfrm>
            <a:off x="411480" y="24688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Are you busy today?</a:t>
            </a:r>
          </a:p>
        </p:txBody>
      </p:sp>
      <p:sp>
        <p:nvSpPr>
          <p:cNvPr id="15" name="TextBox 14"/>
          <p:cNvSpPr txBox="1"/>
          <p:nvPr/>
        </p:nvSpPr>
        <p:spPr>
          <a:xfrm>
            <a:off x="6217920" y="24688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Are you busy today?</a:t>
            </a:r>
          </a:p>
        </p:txBody>
      </p:sp>
      <p:sp>
        <p:nvSpPr>
          <p:cNvPr id="16" name="TextBox 15"/>
          <p:cNvSpPr txBox="1"/>
          <p:nvPr/>
        </p:nvSpPr>
        <p:spPr>
          <a:xfrm>
            <a:off x="411480" y="29718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Yes, …… .</a:t>
            </a:r>
          </a:p>
        </p:txBody>
      </p:sp>
      <p:sp>
        <p:nvSpPr>
          <p:cNvPr id="17" name="TextBox 16"/>
          <p:cNvSpPr txBox="1"/>
          <p:nvPr/>
        </p:nvSpPr>
        <p:spPr>
          <a:xfrm>
            <a:off x="6217920" y="29718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Yes, I am busy .</a:t>
            </a:r>
          </a:p>
        </p:txBody>
      </p:sp>
      <p:sp>
        <p:nvSpPr>
          <p:cNvPr id="18" name="TextBox 17"/>
          <p:cNvSpPr txBox="1"/>
          <p:nvPr/>
        </p:nvSpPr>
        <p:spPr>
          <a:xfrm>
            <a:off x="411480" y="34747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What …… you doing?</a:t>
            </a:r>
          </a:p>
        </p:txBody>
      </p:sp>
      <p:sp>
        <p:nvSpPr>
          <p:cNvPr id="19" name="TextBox 18"/>
          <p:cNvSpPr txBox="1"/>
          <p:nvPr/>
        </p:nvSpPr>
        <p:spPr>
          <a:xfrm>
            <a:off x="6217920" y="34747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What are you doing?</a:t>
            </a:r>
          </a:p>
        </p:txBody>
      </p:sp>
      <p:sp>
        <p:nvSpPr>
          <p:cNvPr id="20" name="TextBox 19"/>
          <p:cNvSpPr txBox="1"/>
          <p:nvPr/>
        </p:nvSpPr>
        <p:spPr>
          <a:xfrm>
            <a:off x="411480" y="39776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I'm studying English.</a:t>
            </a:r>
          </a:p>
        </p:txBody>
      </p:sp>
      <p:sp>
        <p:nvSpPr>
          <p:cNvPr id="21" name="TextBox 20"/>
          <p:cNvSpPr txBox="1"/>
          <p:nvPr/>
        </p:nvSpPr>
        <p:spPr>
          <a:xfrm>
            <a:off x="6217920" y="39776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I'm studying English.</a:t>
            </a:r>
          </a:p>
        </p:txBody>
      </p:sp>
      <p:sp>
        <p:nvSpPr>
          <p:cNvPr id="22" name="TextBox 21"/>
          <p:cNvSpPr txBox="1"/>
          <p:nvPr/>
        </p:nvSpPr>
        <p:spPr>
          <a:xfrm>
            <a:off x="411480" y="44805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 ?</a:t>
            </a:r>
          </a:p>
        </p:txBody>
      </p:sp>
      <p:sp>
        <p:nvSpPr>
          <p:cNvPr id="23" name="TextBox 22"/>
          <p:cNvSpPr txBox="1"/>
          <p:nvPr/>
        </p:nvSpPr>
        <p:spPr>
          <a:xfrm>
            <a:off x="6217920" y="44805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Is it easy ?</a:t>
            </a:r>
          </a:p>
        </p:txBody>
      </p:sp>
      <p:sp>
        <p:nvSpPr>
          <p:cNvPr id="24" name="TextBox 23"/>
          <p:cNvSpPr txBox="1"/>
          <p:nvPr/>
        </p:nvSpPr>
        <p:spPr>
          <a:xfrm>
            <a:off x="411480" y="49834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Yes, it is easy.</a:t>
            </a:r>
          </a:p>
        </p:txBody>
      </p:sp>
      <p:sp>
        <p:nvSpPr>
          <p:cNvPr id="25" name="TextBox 24"/>
          <p:cNvSpPr txBox="1"/>
          <p:nvPr/>
        </p:nvSpPr>
        <p:spPr>
          <a:xfrm>
            <a:off x="6217920" y="49834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Yes, it is easy.</a:t>
            </a:r>
          </a:p>
        </p:txBody>
      </p:sp>
      <p:sp>
        <p:nvSpPr>
          <p:cNvPr id="26" name="TextBox 25"/>
          <p:cNvSpPr txBox="1"/>
          <p:nvPr/>
        </p:nvSpPr>
        <p:spPr>
          <a:xfrm>
            <a:off x="411480" y="54864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Have a nice time.</a:t>
            </a:r>
          </a:p>
        </p:txBody>
      </p:sp>
      <p:sp>
        <p:nvSpPr>
          <p:cNvPr id="27" name="TextBox 26"/>
          <p:cNvSpPr txBox="1"/>
          <p:nvPr/>
        </p:nvSpPr>
        <p:spPr>
          <a:xfrm>
            <a:off x="6217920" y="54864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Have a nice time.</a:t>
            </a:r>
          </a:p>
        </p:txBody>
      </p:sp>
      <p:sp>
        <p:nvSpPr>
          <p:cNvPr id="28" name="TextBox 27"/>
          <p:cNvSpPr txBox="1"/>
          <p:nvPr/>
        </p:nvSpPr>
        <p:spPr>
          <a:xfrm>
            <a:off x="411480" y="59893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a:t>
            </a:r>
          </a:p>
        </p:txBody>
      </p:sp>
      <p:sp>
        <p:nvSpPr>
          <p:cNvPr id="29" name="TextBox 28"/>
          <p:cNvSpPr txBox="1"/>
          <p:nvPr/>
        </p:nvSpPr>
        <p:spPr>
          <a:xfrm>
            <a:off x="6217920" y="59893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Thank you.</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wipe(left)">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P spid="27" grpId="0"/>
      <p:bldP spid="29" grpId="0"/>
    </p:bld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Hello, Nada.</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Hello, Nada.</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Hello, Haneen.</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What …… you doing now?</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What are you doing now?</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I'm playing now.</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I'm playing now.</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What …… you playing now?</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What are you playing now?</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I …… playing tennis.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I am playing tennis.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Thank you.</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circle(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ircle(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circle(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circle(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6</a:t>
            </a:r>
          </a:p>
          <a:p>
            <a:pPr algn="ctr" rtl="0"/>
            <a:r>
              <a:rPr sz="4600" b="1" i="0" lang="en-US">
                <a:solidFill>
                  <a:srgbClr val="FFFFFF"/>
                </a:solidFill>
                <a:latin typeface="Segoe UI"/>
              </a:rPr>
              <a:t>There is / There are</a:t>
            </a:r>
          </a:p>
          <a:p>
            <a:pPr algn="ctr" rtl="1"/>
            <a:r>
              <a:rPr sz="2900" b="0" i="0" lang="ar-EG" altLang="en-US">
                <a:solidFill>
                  <a:srgbClr val="FFFFFF"/>
                </a:solidFill>
                <a:latin typeface="Traditional Arabic"/>
              </a:rPr>
              <a:t>يوجد</a:t>
            </a:r>
          </a:p>
        </p:txBody>
      </p:sp>
    </p:spTree>
  </p:cSld>
  <p:clrMapOvr>
    <a:masterClrMapping/>
  </p:clrMapOvr>
  <p:transition spd="med">
    <p:zoom dir="in"/>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There is + a / an + اسم مفرد</a:t>
            </a:r>
          </a:p>
          <a:p>
            <a:pPr rtl="1" algn="r">
              <a:spcAft>
                <a:spcPts val="600"/>
              </a:spcAft>
            </a:pPr>
            <a:r>
              <a:rPr sz="2100" b="0" i="0" lang="ar-EG" altLang="en-US">
                <a:solidFill>
                  <a:srgbClr val="1C2333"/>
                </a:solidFill>
                <a:latin typeface="Traditional Arabic"/>
              </a:rPr>
              <a:t>يوجد … للمفرد.</a:t>
            </a:r>
          </a:p>
          <a:p>
            <a:pPr rtl="0" algn="l">
              <a:spcAft>
                <a:spcPts val="600"/>
              </a:spcAft>
            </a:pPr>
            <a:r>
              <a:rPr sz="2000" b="1" i="0" lang="en-US">
                <a:solidFill>
                  <a:srgbClr val="229422"/>
                </a:solidFill>
                <a:latin typeface="Segoe UI"/>
              </a:rPr>
              <a:t>▶ There are + اسم جمع</a:t>
            </a:r>
          </a:p>
          <a:p>
            <a:pPr rtl="1" algn="r">
              <a:spcAft>
                <a:spcPts val="600"/>
              </a:spcAft>
            </a:pPr>
            <a:r>
              <a:rPr sz="2100" b="0" i="0" lang="ar-EG" altLang="en-US">
                <a:solidFill>
                  <a:srgbClr val="1C2333"/>
                </a:solidFill>
                <a:latin typeface="Traditional Arabic"/>
              </a:rPr>
              <a:t>يوجد … للجمع.</a:t>
            </a:r>
          </a:p>
          <a:p>
            <a:pPr rtl="0" algn="l">
              <a:spcAft>
                <a:spcPts val="600"/>
              </a:spcAft>
            </a:pPr>
            <a:r>
              <a:rPr sz="1700" b="0" i="1" lang="en-US">
                <a:solidFill>
                  <a:srgbClr val="5B6478"/>
                </a:solidFill>
                <a:latin typeface="Segoe UI"/>
              </a:rPr>
              <a:t>   e.g. There is a park. – There are flowers.</a:t>
            </a:r>
          </a:p>
        </p:txBody>
      </p:sp>
    </p:spTree>
  </p:cSld>
  <p:clrMapOvr>
    <a:masterClrMapping/>
  </p:clrMapOvr>
  <p:transition spd="med">
    <p:wedg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There is not (isn't) + a / an + اسم مفرد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229422"/>
                </a:solidFill>
                <a:latin typeface="Segoe UI"/>
              </a:rPr>
              <a:t>▶ There are not (aren't) + اسم جمع .</a:t>
            </a:r>
          </a:p>
          <a:p>
            <a:pPr rtl="1" algn="r">
              <a:spcAft>
                <a:spcPts val="600"/>
              </a:spcAft>
            </a:pPr>
            <a:r>
              <a:rPr sz="2100" b="0" i="0" lang="ar-EG" altLang="en-US">
                <a:solidFill>
                  <a:srgbClr val="1C2333"/>
                </a:solidFill>
                <a:latin typeface="Traditional Arabic"/>
              </a:rPr>
              <a:t>نفي الجمع.</a:t>
            </a:r>
          </a:p>
        </p:txBody>
      </p:sp>
    </p:spTree>
  </p:cSld>
  <p:clrMapOvr>
    <a:masterClrMapping/>
  </p:clrMapOvr>
  <p:transition spd="med">
    <p:zoom dir="in"/>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Is there + a / an + اسم مفرد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229422"/>
                </a:solidFill>
                <a:latin typeface="Segoe UI"/>
              </a:rPr>
              <a:t>▶ Are there + اسم جمع ?</a:t>
            </a:r>
          </a:p>
          <a:p>
            <a:pPr rtl="1" algn="r">
              <a:spcAft>
                <a:spcPts val="600"/>
              </a:spcAft>
            </a:pPr>
            <a:r>
              <a:rPr sz="2100" b="0" i="0" lang="ar-EG" altLang="en-US">
                <a:solidFill>
                  <a:srgbClr val="1C2333"/>
                </a:solidFill>
                <a:latin typeface="Traditional Arabic"/>
              </a:rPr>
              <a:t>السؤال للجمع.</a:t>
            </a:r>
          </a:p>
          <a:p>
            <a:pPr rtl="0" algn="l">
              <a:spcAft>
                <a:spcPts val="600"/>
              </a:spcAft>
            </a:pPr>
            <a:r>
              <a:rPr sz="1700" b="0" i="1" lang="en-US">
                <a:solidFill>
                  <a:srgbClr val="5B6478"/>
                </a:solidFill>
                <a:latin typeface="Segoe UI"/>
              </a:rPr>
              <a:t>   e.g. Yes, there is. / No, there isn't. Yes, there are. / No, there aren't.</a:t>
            </a:r>
          </a:p>
        </p:txBody>
      </p:sp>
    </p:spTree>
  </p:cSld>
  <p:clrMapOvr>
    <a:masterClrMapping/>
  </p:clrMapOvr>
  <p:transition spd="med">
    <p:comb dir="horz"/>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22"/>
                          </a:solidFill>
                          <a:latin typeface="Segoe UI"/>
                        </a:rPr>
                        <a:t>camera</a:t>
                      </a:r>
                    </a:p>
                  </a:txBody>
                  <a:tcPr>
                    <a:solidFill>
                      <a:srgbClr val="FFFFFF"/>
                    </a:solidFill>
                  </a:tcPr>
                </a:tc>
                <a:tc>
                  <a:txBody>
                    <a:bodyPr/>
                    <a:lstStyle/>
                    <a:p>
                      <a:pPr rtl="1" algn="r"/>
                      <a:r>
                        <a:rPr sz="1700" b="0" i="0" lang="ar-EG" altLang="en-US">
                          <a:solidFill>
                            <a:srgbClr val="1C2333"/>
                          </a:solidFill>
                          <a:latin typeface="Traditional Arabic"/>
                        </a:rPr>
                        <a:t>كاميرا</a:t>
                      </a:r>
                    </a:p>
                  </a:txBody>
                  <a:tcPr>
                    <a:solidFill>
                      <a:srgbClr val="FFFFFF"/>
                    </a:solidFill>
                  </a:tcPr>
                </a:tc>
                <a:tc>
                  <a:txBody>
                    <a:bodyPr/>
                    <a:lstStyle/>
                    <a:p>
                      <a:pPr rtl="0" algn="l"/>
                      <a:r>
                        <a:rPr sz="1500" b="1" i="0" lang="en-US">
                          <a:solidFill>
                            <a:srgbClr val="229422"/>
                          </a:solidFill>
                          <a:latin typeface="Segoe UI"/>
                        </a:rPr>
                        <a:t>window</a:t>
                      </a:r>
                    </a:p>
                  </a:txBody>
                  <a:tcPr>
                    <a:solidFill>
                      <a:srgbClr val="FFFFFF"/>
                    </a:solidFill>
                  </a:tcPr>
                </a:tc>
                <a:tc>
                  <a:txBody>
                    <a:bodyPr/>
                    <a:lstStyle/>
                    <a:p>
                      <a:pPr rtl="1" algn="r"/>
                      <a:r>
                        <a:rPr sz="1700" b="0" i="0" lang="ar-EG" altLang="en-US">
                          <a:solidFill>
                            <a:srgbClr val="1C2333"/>
                          </a:solidFill>
                          <a:latin typeface="Traditional Arabic"/>
                        </a:rPr>
                        <a:t>شباك</a:t>
                      </a:r>
                    </a:p>
                  </a:txBody>
                  <a:tcPr>
                    <a:solidFill>
                      <a:srgbClr val="FFFFFF"/>
                    </a:solidFill>
                  </a:tcPr>
                </a:tc>
                <a:tc>
                  <a:txBody>
                    <a:bodyPr/>
                    <a:lstStyle/>
                    <a:p>
                      <a:pPr rtl="0" algn="l"/>
                      <a:r>
                        <a:rPr sz="1500" b="1" i="0" lang="en-US">
                          <a:solidFill>
                            <a:srgbClr val="229422"/>
                          </a:solidFill>
                          <a:latin typeface="Segoe UI"/>
                        </a:rPr>
                        <a:t>dish</a:t>
                      </a:r>
                    </a:p>
                  </a:txBody>
                  <a:tcPr>
                    <a:solidFill>
                      <a:srgbClr val="FFFFFF"/>
                    </a:solidFill>
                  </a:tcPr>
                </a:tc>
                <a:tc>
                  <a:txBody>
                    <a:bodyPr/>
                    <a:lstStyle/>
                    <a:p>
                      <a:pPr rtl="1" algn="r"/>
                      <a:r>
                        <a:rPr sz="1700" b="0" i="0" lang="ar-EG" altLang="en-US">
                          <a:solidFill>
                            <a:srgbClr val="1C2333"/>
                          </a:solidFill>
                          <a:latin typeface="Traditional Arabic"/>
                        </a:rPr>
                        <a:t>طبق</a:t>
                      </a:r>
                    </a:p>
                  </a:txBody>
                  <a:tcPr>
                    <a:solidFill>
                      <a:srgbClr val="FFFFFF"/>
                    </a:solidFill>
                  </a:tcPr>
                </a:tc>
              </a:tr>
              <a:tr h="384048">
                <a:tc>
                  <a:txBody>
                    <a:bodyPr/>
                    <a:lstStyle/>
                    <a:p>
                      <a:pPr rtl="0" algn="l"/>
                      <a:r>
                        <a:rPr sz="1500" b="1" i="0" lang="en-US">
                          <a:solidFill>
                            <a:srgbClr val="229422"/>
                          </a:solidFill>
                          <a:latin typeface="Segoe UI"/>
                        </a:rPr>
                        <a:t>door</a:t>
                      </a:r>
                    </a:p>
                  </a:txBody>
                  <a:tcPr>
                    <a:solidFill>
                      <a:srgbClr val="EEF3FA"/>
                    </a:solidFill>
                  </a:tcPr>
                </a:tc>
                <a:tc>
                  <a:txBody>
                    <a:bodyPr/>
                    <a:lstStyle/>
                    <a:p>
                      <a:pPr rtl="1" algn="r"/>
                      <a:r>
                        <a:rPr sz="1700" b="0" i="0" lang="ar-EG" altLang="en-US">
                          <a:solidFill>
                            <a:srgbClr val="1C2333"/>
                          </a:solidFill>
                          <a:latin typeface="Traditional Arabic"/>
                        </a:rPr>
                        <a:t>باب</a:t>
                      </a:r>
                    </a:p>
                  </a:txBody>
                  <a:tcPr>
                    <a:solidFill>
                      <a:srgbClr val="EEF3FA"/>
                    </a:solidFill>
                  </a:tcPr>
                </a:tc>
                <a:tc>
                  <a:txBody>
                    <a:bodyPr/>
                    <a:lstStyle/>
                    <a:p>
                      <a:pPr rtl="0" algn="l"/>
                      <a:r>
                        <a:rPr sz="1500" b="1" i="0" lang="en-US">
                          <a:solidFill>
                            <a:srgbClr val="229422"/>
                          </a:solidFill>
                          <a:latin typeface="Segoe UI"/>
                        </a:rPr>
                        <a:t>queen</a:t>
                      </a:r>
                    </a:p>
                  </a:txBody>
                  <a:tcPr>
                    <a:solidFill>
                      <a:srgbClr val="EEF3FA"/>
                    </a:solidFill>
                  </a:tcPr>
                </a:tc>
                <a:tc>
                  <a:txBody>
                    <a:bodyPr/>
                    <a:lstStyle/>
                    <a:p>
                      <a:pPr rtl="1" algn="r"/>
                      <a:r>
                        <a:rPr sz="1700" b="0" i="0" lang="ar-EG" altLang="en-US">
                          <a:solidFill>
                            <a:srgbClr val="1C2333"/>
                          </a:solidFill>
                          <a:latin typeface="Traditional Arabic"/>
                        </a:rPr>
                        <a:t>ملكة</a:t>
                      </a:r>
                    </a:p>
                  </a:txBody>
                  <a:tcPr>
                    <a:solidFill>
                      <a:srgbClr val="EEF3FA"/>
                    </a:solidFill>
                  </a:tcPr>
                </a:tc>
                <a:tc>
                  <a:txBody>
                    <a:bodyPr/>
                    <a:lstStyle/>
                    <a:p>
                      <a:pPr rtl="0" algn="l"/>
                      <a:r>
                        <a:rPr sz="1500" b="1" i="0" lang="en-US">
                          <a:solidFill>
                            <a:srgbClr val="229422"/>
                          </a:solidFill>
                          <a:latin typeface="Segoe UI"/>
                        </a:rPr>
                        <a:t>mango</a:t>
                      </a:r>
                    </a:p>
                  </a:txBody>
                  <a:tcPr>
                    <a:solidFill>
                      <a:srgbClr val="EEF3FA"/>
                    </a:solidFill>
                  </a:tcPr>
                </a:tc>
                <a:tc>
                  <a:txBody>
                    <a:bodyPr/>
                    <a:lstStyle/>
                    <a:p>
                      <a:pPr rtl="1" algn="r"/>
                      <a:r>
                        <a:rPr sz="1700" b="0" i="0" lang="ar-EG" altLang="en-US">
                          <a:solidFill>
                            <a:srgbClr val="1C2333"/>
                          </a:solidFill>
                          <a:latin typeface="Traditional Arabic"/>
                        </a:rPr>
                        <a:t>مانجة</a:t>
                      </a:r>
                    </a:p>
                  </a:txBody>
                  <a:tcPr>
                    <a:solidFill>
                      <a:srgbClr val="EEF3FA"/>
                    </a:solidFill>
                  </a:tcPr>
                </a:tc>
              </a:tr>
              <a:tr h="384048">
                <a:tc>
                  <a:txBody>
                    <a:bodyPr/>
                    <a:lstStyle/>
                    <a:p>
                      <a:pPr rtl="0" algn="l"/>
                      <a:r>
                        <a:rPr sz="1500" b="1" i="0" lang="en-US">
                          <a:solidFill>
                            <a:srgbClr val="229422"/>
                          </a:solidFill>
                          <a:latin typeface="Segoe UI"/>
                        </a:rPr>
                        <a:t>flower</a:t>
                      </a:r>
                    </a:p>
                  </a:txBody>
                  <a:tcPr>
                    <a:solidFill>
                      <a:srgbClr val="FFFFFF"/>
                    </a:solidFill>
                  </a:tcPr>
                </a:tc>
                <a:tc>
                  <a:txBody>
                    <a:bodyPr/>
                    <a:lstStyle/>
                    <a:p>
                      <a:pPr rtl="1" algn="r"/>
                      <a:r>
                        <a:rPr sz="1700" b="0" i="0" lang="ar-EG" altLang="en-US">
                          <a:solidFill>
                            <a:srgbClr val="1C2333"/>
                          </a:solidFill>
                          <a:latin typeface="Traditional Arabic"/>
                        </a:rPr>
                        <a:t>زهرة</a:t>
                      </a:r>
                    </a:p>
                  </a:txBody>
                  <a:tcPr>
                    <a:solidFill>
                      <a:srgbClr val="FFFFFF"/>
                    </a:solidFill>
                  </a:tcPr>
                </a:tc>
                <a:tc>
                  <a:txBody>
                    <a:bodyPr/>
                    <a:lstStyle/>
                    <a:p>
                      <a:pPr rtl="0" algn="l"/>
                      <a:r>
                        <a:rPr sz="1500" b="1" i="0" lang="en-US">
                          <a:solidFill>
                            <a:srgbClr val="229422"/>
                          </a:solidFill>
                          <a:latin typeface="Segoe UI"/>
                        </a:rPr>
                        <a:t>king</a:t>
                      </a:r>
                    </a:p>
                  </a:txBody>
                  <a:tcPr>
                    <a:solidFill>
                      <a:srgbClr val="FFFFFF"/>
                    </a:solidFill>
                  </a:tcPr>
                </a:tc>
                <a:tc>
                  <a:txBody>
                    <a:bodyPr/>
                    <a:lstStyle/>
                    <a:p>
                      <a:pPr rtl="1" algn="r"/>
                      <a:r>
                        <a:rPr sz="1700" b="0" i="0" lang="ar-EG" altLang="en-US">
                          <a:solidFill>
                            <a:srgbClr val="1C2333"/>
                          </a:solidFill>
                          <a:latin typeface="Traditional Arabic"/>
                        </a:rPr>
                        <a:t>ملك</a:t>
                      </a:r>
                    </a:p>
                  </a:txBody>
                  <a:tcPr>
                    <a:solidFill>
                      <a:srgbClr val="FFFFFF"/>
                    </a:solidFill>
                  </a:tcPr>
                </a:tc>
                <a:tc>
                  <a:txBody>
                    <a:bodyPr/>
                    <a:lstStyle/>
                    <a:p>
                      <a:pPr rtl="0" algn="l"/>
                      <a:r>
                        <a:rPr sz="1500" b="1" i="0" lang="en-US">
                          <a:solidFill>
                            <a:srgbClr val="229422"/>
                          </a:solidFill>
                          <a:latin typeface="Segoe UI"/>
                        </a:rPr>
                        <a:t>bee</a:t>
                      </a:r>
                    </a:p>
                  </a:txBody>
                  <a:tcPr>
                    <a:solidFill>
                      <a:srgbClr val="FFFFFF"/>
                    </a:solidFill>
                  </a:tcPr>
                </a:tc>
                <a:tc>
                  <a:txBody>
                    <a:bodyPr/>
                    <a:lstStyle/>
                    <a:p>
                      <a:pPr rtl="1" algn="r"/>
                      <a:r>
                        <a:rPr sz="1700" b="0" i="0" lang="ar-EG" altLang="en-US">
                          <a:solidFill>
                            <a:srgbClr val="1C2333"/>
                          </a:solidFill>
                          <a:latin typeface="Traditional Arabic"/>
                        </a:rPr>
                        <a:t>نحلة</a:t>
                      </a:r>
                    </a:p>
                  </a:txBody>
                  <a:tcPr>
                    <a:solidFill>
                      <a:srgbClr val="FFFFFF"/>
                    </a:solidFill>
                  </a:tcPr>
                </a:tc>
              </a:tr>
              <a:tr h="384048">
                <a:tc>
                  <a:txBody>
                    <a:bodyPr/>
                    <a:lstStyle/>
                    <a:p>
                      <a:pPr rtl="0" algn="l"/>
                      <a:r>
                        <a:rPr sz="1500" b="1" i="0" lang="en-US">
                          <a:solidFill>
                            <a:srgbClr val="229422"/>
                          </a:solidFill>
                          <a:latin typeface="Segoe UI"/>
                        </a:rPr>
                        <a:t>river</a:t>
                      </a:r>
                    </a:p>
                  </a:txBody>
                  <a:tcPr>
                    <a:solidFill>
                      <a:srgbClr val="EEF3FA"/>
                    </a:solidFill>
                  </a:tcPr>
                </a:tc>
                <a:tc>
                  <a:txBody>
                    <a:bodyPr/>
                    <a:lstStyle/>
                    <a:p>
                      <a:pPr rtl="1" algn="r"/>
                      <a:r>
                        <a:rPr sz="1700" b="0" i="0" lang="ar-EG" altLang="en-US">
                          <a:solidFill>
                            <a:srgbClr val="1C2333"/>
                          </a:solidFill>
                          <a:latin typeface="Traditional Arabic"/>
                        </a:rPr>
                        <a:t>نهر</a:t>
                      </a:r>
                    </a:p>
                  </a:txBody>
                  <a:tcPr>
                    <a:solidFill>
                      <a:srgbClr val="EEF3FA"/>
                    </a:solidFill>
                  </a:tcPr>
                </a:tc>
                <a:tc>
                  <a:txBody>
                    <a:bodyPr/>
                    <a:lstStyle/>
                    <a:p>
                      <a:pPr rtl="0" algn="l"/>
                      <a:r>
                        <a:rPr sz="1500" b="1" i="0" lang="en-US">
                          <a:solidFill>
                            <a:srgbClr val="229422"/>
                          </a:solidFill>
                          <a:latin typeface="Segoe UI"/>
                        </a:rPr>
                        <a:t>tree</a:t>
                      </a:r>
                    </a:p>
                  </a:txBody>
                  <a:tcPr>
                    <a:solidFill>
                      <a:srgbClr val="EEF3FA"/>
                    </a:solidFill>
                  </a:tcPr>
                </a:tc>
                <a:tc>
                  <a:txBody>
                    <a:bodyPr/>
                    <a:lstStyle/>
                    <a:p>
                      <a:pPr rtl="1" algn="r"/>
                      <a:r>
                        <a:rPr sz="1700" b="0" i="0" lang="ar-EG" altLang="en-US">
                          <a:solidFill>
                            <a:srgbClr val="1C2333"/>
                          </a:solidFill>
                          <a:latin typeface="Traditional Arabic"/>
                        </a:rPr>
                        <a:t>شجرة</a:t>
                      </a:r>
                    </a:p>
                  </a:txBody>
                  <a:tcPr>
                    <a:solidFill>
                      <a:srgbClr val="EEF3FA"/>
                    </a:solidFill>
                  </a:tcPr>
                </a:tc>
                <a:tc>
                  <a:txBody>
                    <a:bodyPr/>
                    <a:lstStyle/>
                    <a:p>
                      <a:pPr rtl="0" algn="l"/>
                      <a:r>
                        <a:rPr sz="1500" b="1" i="0" lang="en-US">
                          <a:solidFill>
                            <a:srgbClr val="229422"/>
                          </a:solidFill>
                          <a:latin typeface="Segoe UI"/>
                        </a:rPr>
                        <a:t>chair</a:t>
                      </a:r>
                    </a:p>
                  </a:txBody>
                  <a:tcPr>
                    <a:solidFill>
                      <a:srgbClr val="EEF3FA"/>
                    </a:solidFill>
                  </a:tcPr>
                </a:tc>
                <a:tc>
                  <a:txBody>
                    <a:bodyPr/>
                    <a:lstStyle/>
                    <a:p>
                      <a:pPr rtl="1" algn="r"/>
                      <a:r>
                        <a:rPr sz="1700" b="0" i="0" lang="ar-EG" altLang="en-US">
                          <a:solidFill>
                            <a:srgbClr val="1C2333"/>
                          </a:solidFill>
                          <a:latin typeface="Traditional Arabic"/>
                        </a:rPr>
                        <a:t>كرسي</a:t>
                      </a:r>
                    </a:p>
                  </a:txBody>
                  <a:tcPr>
                    <a:solidFill>
                      <a:srgbClr val="EEF3FA"/>
                    </a:solidFill>
                  </a:tcPr>
                </a:tc>
              </a:tr>
              <a:tr h="384048">
                <a:tc>
                  <a:txBody>
                    <a:bodyPr/>
                    <a:lstStyle/>
                    <a:p>
                      <a:pPr rtl="0" algn="l"/>
                      <a:r>
                        <a:rPr sz="1500" b="1" i="0" lang="en-US">
                          <a:solidFill>
                            <a:srgbClr val="229422"/>
                          </a:solidFill>
                          <a:latin typeface="Segoe UI"/>
                        </a:rPr>
                        <a:t>banana</a:t>
                      </a:r>
                    </a:p>
                  </a:txBody>
                  <a:tcPr>
                    <a:solidFill>
                      <a:srgbClr val="FFFFFF"/>
                    </a:solidFill>
                  </a:tcPr>
                </a:tc>
                <a:tc>
                  <a:txBody>
                    <a:bodyPr/>
                    <a:lstStyle/>
                    <a:p>
                      <a:pPr rtl="1" algn="r"/>
                      <a:r>
                        <a:rPr sz="1700" b="0" i="0" lang="ar-EG" altLang="en-US">
                          <a:solidFill>
                            <a:srgbClr val="1C2333"/>
                          </a:solidFill>
                          <a:latin typeface="Traditional Arabic"/>
                        </a:rPr>
                        <a:t>موزة</a:t>
                      </a:r>
                    </a:p>
                  </a:txBody>
                  <a:tcPr>
                    <a:solidFill>
                      <a:srgbClr val="FFFFFF"/>
                    </a:solidFill>
                  </a:tcPr>
                </a:tc>
                <a:tc>
                  <a:txBody>
                    <a:bodyPr/>
                    <a:lstStyle/>
                    <a:p>
                      <a:pPr rtl="0" algn="l"/>
                      <a:r>
                        <a:rPr sz="1500" b="1" i="0" lang="en-US">
                          <a:solidFill>
                            <a:srgbClr val="229422"/>
                          </a:solidFill>
                          <a:latin typeface="Segoe UI"/>
                        </a:rPr>
                        <a:t>monkey</a:t>
                      </a:r>
                    </a:p>
                  </a:txBody>
                  <a:tcPr>
                    <a:solidFill>
                      <a:srgbClr val="FFFFFF"/>
                    </a:solidFill>
                  </a:tcPr>
                </a:tc>
                <a:tc>
                  <a:txBody>
                    <a:bodyPr/>
                    <a:lstStyle/>
                    <a:p>
                      <a:pPr rtl="1" algn="r"/>
                      <a:r>
                        <a:rPr sz="1700" b="0" i="0" lang="ar-EG" altLang="en-US">
                          <a:solidFill>
                            <a:srgbClr val="1C2333"/>
                          </a:solidFill>
                          <a:latin typeface="Traditional Arabic"/>
                        </a:rPr>
                        <a:t>قرد</a:t>
                      </a:r>
                    </a:p>
                  </a:txBody>
                  <a:tcPr>
                    <a:solidFill>
                      <a:srgbClr val="FFFFFF"/>
                    </a:solidFill>
                  </a:tcPr>
                </a:tc>
                <a:tc>
                  <a:txBody>
                    <a:bodyPr/>
                    <a:lstStyle/>
                    <a:p>
                      <a:pPr rtl="0" algn="l"/>
                      <a:r>
                        <a:rPr sz="1500" b="1" i="0" lang="en-US">
                          <a:solidFill>
                            <a:srgbClr val="229422"/>
                          </a:solidFill>
                          <a:latin typeface="Segoe UI"/>
                        </a:rPr>
                        <a:t>ring</a:t>
                      </a:r>
                    </a:p>
                  </a:txBody>
                  <a:tcPr>
                    <a:solidFill>
                      <a:srgbClr val="FFFFFF"/>
                    </a:solidFill>
                  </a:tcPr>
                </a:tc>
                <a:tc>
                  <a:txBody>
                    <a:bodyPr/>
                    <a:lstStyle/>
                    <a:p>
                      <a:pPr rtl="1" algn="r"/>
                      <a:r>
                        <a:rPr sz="1700" b="0" i="0" lang="ar-EG" altLang="en-US">
                          <a:solidFill>
                            <a:srgbClr val="1C2333"/>
                          </a:solidFill>
                          <a:latin typeface="Traditional Arabic"/>
                        </a:rPr>
                        <a:t>خاتم</a:t>
                      </a:r>
                    </a:p>
                  </a:txBody>
                  <a:tcPr>
                    <a:solidFill>
                      <a:srgbClr val="FFFFFF"/>
                    </a:solidFill>
                  </a:tcPr>
                </a:tc>
              </a:tr>
              <a:tr h="384048">
                <a:tc>
                  <a:txBody>
                    <a:bodyPr/>
                    <a:lstStyle/>
                    <a:p>
                      <a:pPr rtl="0" algn="l"/>
                      <a:r>
                        <a:rPr sz="1500" b="1" i="0" lang="en-US">
                          <a:solidFill>
                            <a:srgbClr val="229422"/>
                          </a:solidFill>
                          <a:latin typeface="Segoe UI"/>
                        </a:rPr>
                        <a:t>key</a:t>
                      </a:r>
                    </a:p>
                  </a:txBody>
                  <a:tcPr>
                    <a:solidFill>
                      <a:srgbClr val="EEF3FA"/>
                    </a:solidFill>
                  </a:tcPr>
                </a:tc>
                <a:tc>
                  <a:txBody>
                    <a:bodyPr/>
                    <a:lstStyle/>
                    <a:p>
                      <a:pPr rtl="1" algn="r"/>
                      <a:r>
                        <a:rPr sz="1700" b="0" i="0" lang="ar-EG" altLang="en-US">
                          <a:solidFill>
                            <a:srgbClr val="1C2333"/>
                          </a:solidFill>
                          <a:latin typeface="Traditional Arabic"/>
                        </a:rPr>
                        <a:t>مفتاح</a:t>
                      </a:r>
                    </a:p>
                  </a:txBody>
                  <a:tcPr>
                    <a:solidFill>
                      <a:srgbClr val="EEF3FA"/>
                    </a:solidFill>
                  </a:tcPr>
                </a:tc>
                <a:tc>
                  <a:txBody>
                    <a:bodyPr/>
                    <a:lstStyle/>
                    <a:p>
                      <a:pPr rtl="0" algn="l"/>
                      <a:r>
                        <a:rPr sz="1500" b="1" i="0" lang="en-US">
                          <a:solidFill>
                            <a:srgbClr val="229422"/>
                          </a:solidFill>
                          <a:latin typeface="Segoe UI"/>
                        </a:rPr>
                        <a:t>couch</a:t>
                      </a:r>
                    </a:p>
                  </a:txBody>
                  <a:tcPr>
                    <a:solidFill>
                      <a:srgbClr val="EEF3FA"/>
                    </a:solidFill>
                  </a:tcPr>
                </a:tc>
                <a:tc>
                  <a:txBody>
                    <a:bodyPr/>
                    <a:lstStyle/>
                    <a:p>
                      <a:pPr rtl="1" algn="r"/>
                      <a:r>
                        <a:rPr sz="1700" b="0" i="0" lang="ar-EG" altLang="en-US">
                          <a:solidFill>
                            <a:srgbClr val="1C2333"/>
                          </a:solidFill>
                          <a:latin typeface="Traditional Arabic"/>
                        </a:rPr>
                        <a:t>كنبة</a:t>
                      </a:r>
                    </a:p>
                  </a:txBody>
                  <a:tcPr>
                    <a:solidFill>
                      <a:srgbClr val="EEF3FA"/>
                    </a:solidFill>
                  </a:tcPr>
                </a:tc>
                <a:tc>
                  <a:txBody>
                    <a:bodyPr/>
                    <a:lstStyle/>
                    <a:p>
                      <a:pPr rtl="0" algn="l"/>
                      <a:r>
                        <a:rPr sz="1500" b="1" i="0" lang="en-US">
                          <a:solidFill>
                            <a:srgbClr val="229422"/>
                          </a:solidFill>
                          <a:latin typeface="Segoe UI"/>
                        </a:rPr>
                        <a:t>fish</a:t>
                      </a:r>
                    </a:p>
                  </a:txBody>
                  <a:tcPr>
                    <a:solidFill>
                      <a:srgbClr val="EEF3FA"/>
                    </a:solidFill>
                  </a:tcPr>
                </a:tc>
                <a:tc>
                  <a:txBody>
                    <a:bodyPr/>
                    <a:lstStyle/>
                    <a:p>
                      <a:pPr rtl="1" algn="r"/>
                      <a:r>
                        <a:rPr sz="1700" b="0" i="0" lang="ar-EG" altLang="en-US">
                          <a:solidFill>
                            <a:srgbClr val="1C2333"/>
                          </a:solidFill>
                          <a:latin typeface="Traditional Arabic"/>
                        </a:rPr>
                        <a:t>سمكة</a:t>
                      </a:r>
                    </a:p>
                  </a:txBody>
                  <a:tcPr>
                    <a:solidFill>
                      <a:srgbClr val="EEF3FA"/>
                    </a:solidFill>
                  </a:tcPr>
                </a:tc>
              </a:tr>
              <a:tr h="384048">
                <a:tc>
                  <a:txBody>
                    <a:bodyPr/>
                    <a:lstStyle/>
                    <a:p>
                      <a:pPr rtl="0" algn="l"/>
                      <a:r>
                        <a:rPr sz="1500" b="1" i="0" lang="en-US">
                          <a:solidFill>
                            <a:srgbClr val="229422"/>
                          </a:solidFill>
                          <a:latin typeface="Segoe UI"/>
                        </a:rPr>
                        <a:t>piano</a:t>
                      </a:r>
                    </a:p>
                  </a:txBody>
                  <a:tcPr>
                    <a:solidFill>
                      <a:srgbClr val="FFFFFF"/>
                    </a:solidFill>
                  </a:tcPr>
                </a:tc>
                <a:tc>
                  <a:txBody>
                    <a:bodyPr/>
                    <a:lstStyle/>
                    <a:p>
                      <a:pPr rtl="1" algn="r"/>
                      <a:r>
                        <a:rPr sz="1700" b="0" i="0" lang="ar-EG" altLang="en-US">
                          <a:solidFill>
                            <a:srgbClr val="1C2333"/>
                          </a:solidFill>
                          <a:latin typeface="Traditional Arabic"/>
                        </a:rPr>
                        <a:t>بيانو</a:t>
                      </a:r>
                    </a:p>
                  </a:txBody>
                  <a:tcPr>
                    <a:solidFill>
                      <a:srgbClr val="FFFFFF"/>
                    </a:solidFill>
                  </a:tcPr>
                </a:tc>
                <a:tc>
                  <a:txBody>
                    <a:bodyPr/>
                    <a:lstStyle/>
                    <a:p>
                      <a:pPr rtl="0" algn="l"/>
                      <a:r>
                        <a:rPr sz="1500" b="1" i="0" lang="en-US">
                          <a:solidFill>
                            <a:srgbClr val="229422"/>
                          </a:solidFill>
                          <a:latin typeface="Segoe UI"/>
                        </a:rPr>
                        <a:t>bench</a:t>
                      </a:r>
                    </a:p>
                  </a:txBody>
                  <a:tcPr>
                    <a:solidFill>
                      <a:srgbClr val="FFFFFF"/>
                    </a:solidFill>
                  </a:tcPr>
                </a:tc>
                <a:tc>
                  <a:txBody>
                    <a:bodyPr/>
                    <a:lstStyle/>
                    <a:p>
                      <a:pPr rtl="1" algn="r"/>
                      <a:r>
                        <a:rPr sz="1700" b="0" i="0" lang="ar-EG" altLang="en-US">
                          <a:solidFill>
                            <a:srgbClr val="1C2333"/>
                          </a:solidFill>
                          <a:latin typeface="Traditional Arabic"/>
                        </a:rPr>
                        <a:t>مقعد</a:t>
                      </a:r>
                    </a:p>
                  </a:txBody>
                  <a:tcPr>
                    <a:solidFill>
                      <a:srgbClr val="FFFFFF"/>
                    </a:solidFill>
                  </a:tcPr>
                </a:tc>
                <a:tc>
                  <a:txBody>
                    <a:bodyPr/>
                    <a:lstStyle/>
                    <a:p>
                      <a:pPr rtl="0" algn="l"/>
                      <a:r>
                        <a:rPr sz="1500" b="1" i="0" lang="en-US">
                          <a:solidFill>
                            <a:srgbClr val="229422"/>
                          </a:solidFill>
                          <a:latin typeface="Segoe UI"/>
                        </a:rPr>
                        <a:t>plant</a:t>
                      </a:r>
                    </a:p>
                  </a:txBody>
                  <a:tcPr>
                    <a:solidFill>
                      <a:srgbClr val="FFFFFF"/>
                    </a:solidFill>
                  </a:tcPr>
                </a:tc>
                <a:tc>
                  <a:txBody>
                    <a:bodyPr/>
                    <a:lstStyle/>
                    <a:p>
                      <a:pPr rtl="1" algn="r"/>
                      <a:r>
                        <a:rPr sz="1700" b="0" i="0" lang="ar-EG" altLang="en-US">
                          <a:solidFill>
                            <a:srgbClr val="1C2333"/>
                          </a:solidFill>
                          <a:latin typeface="Traditional Arabic"/>
                        </a:rPr>
                        <a:t>نبات</a:t>
                      </a:r>
                    </a:p>
                  </a:txBody>
                  <a:tcPr>
                    <a:solidFill>
                      <a:srgbClr val="FFFFFF"/>
                    </a:solidFill>
                  </a:tcPr>
                </a:tc>
              </a:tr>
              <a:tr h="384048">
                <a:tc>
                  <a:txBody>
                    <a:bodyPr/>
                    <a:lstStyle/>
                    <a:p>
                      <a:pPr rtl="0" algn="l"/>
                      <a:r>
                        <a:rPr sz="1500" b="1" i="0" lang="en-US">
                          <a:solidFill>
                            <a:srgbClr val="229422"/>
                          </a:solidFill>
                          <a:latin typeface="Segoe UI"/>
                        </a:rPr>
                        <a:t>animal</a:t>
                      </a:r>
                    </a:p>
                  </a:txBody>
                  <a:tcPr>
                    <a:solidFill>
                      <a:srgbClr val="EEF3FA"/>
                    </a:solidFill>
                  </a:tcPr>
                </a:tc>
                <a:tc>
                  <a:txBody>
                    <a:bodyPr/>
                    <a:lstStyle/>
                    <a:p>
                      <a:pPr rtl="1" algn="r"/>
                      <a:r>
                        <a:rPr sz="1700" b="0" i="0" lang="ar-EG" altLang="en-US">
                          <a:solidFill>
                            <a:srgbClr val="1C2333"/>
                          </a:solidFill>
                          <a:latin typeface="Traditional Arabic"/>
                        </a:rPr>
                        <a:t>حيوان</a:t>
                      </a:r>
                    </a:p>
                  </a:txBody>
                  <a:tcPr>
                    <a:solidFill>
                      <a:srgbClr val="EEF3FA"/>
                    </a:solidFill>
                  </a:tcPr>
                </a:tc>
                <a:tc>
                  <a:txBody>
                    <a:bodyPr/>
                    <a:lstStyle/>
                    <a:p>
                      <a:pPr rtl="0" algn="l"/>
                      <a:r>
                        <a:rPr sz="1500" b="1" i="0" lang="en-US">
                          <a:solidFill>
                            <a:srgbClr val="229422"/>
                          </a:solidFill>
                          <a:latin typeface="Segoe UI"/>
                        </a:rPr>
                        <a:t>glasses</a:t>
                      </a:r>
                    </a:p>
                  </a:txBody>
                  <a:tcPr>
                    <a:solidFill>
                      <a:srgbClr val="EEF3FA"/>
                    </a:solidFill>
                  </a:tcPr>
                </a:tc>
                <a:tc>
                  <a:txBody>
                    <a:bodyPr/>
                    <a:lstStyle/>
                    <a:p>
                      <a:pPr rtl="1" algn="r"/>
                      <a:r>
                        <a:rPr sz="1700" b="0" i="0" lang="ar-EG" altLang="en-US">
                          <a:solidFill>
                            <a:srgbClr val="1C2333"/>
                          </a:solidFill>
                          <a:latin typeface="Traditional Arabic"/>
                        </a:rPr>
                        <a:t>نظارة</a:t>
                      </a:r>
                    </a:p>
                  </a:txBody>
                  <a:tcPr>
                    <a:solidFill>
                      <a:srgbClr val="EEF3FA"/>
                    </a:solidFill>
                  </a:tcPr>
                </a:tc>
                <a:tc>
                  <a:txBody>
                    <a:bodyPr/>
                    <a:lstStyle/>
                    <a:p>
                      <a:pPr rtl="0" algn="l"/>
                      <a:r>
                        <a:rPr sz="1500" b="1" i="0" lang="en-US">
                          <a:solidFill>
                            <a:srgbClr val="229422"/>
                          </a:solidFill>
                          <a:latin typeface="Segoe UI"/>
                        </a:rPr>
                        <a:t>ball</a:t>
                      </a:r>
                    </a:p>
                  </a:txBody>
                  <a:tcPr>
                    <a:solidFill>
                      <a:srgbClr val="EEF3FA"/>
                    </a:solidFill>
                  </a:tcPr>
                </a:tc>
                <a:tc>
                  <a:txBody>
                    <a:bodyPr/>
                    <a:lstStyle/>
                    <a:p>
                      <a:pPr rtl="1" algn="r"/>
                      <a:r>
                        <a:rPr sz="1700" b="0" i="0" lang="ar-EG" altLang="en-US">
                          <a:solidFill>
                            <a:srgbClr val="1C2333"/>
                          </a:solidFill>
                          <a:latin typeface="Traditional Arabic"/>
                        </a:rPr>
                        <a:t>كرة</a:t>
                      </a:r>
                    </a:p>
                  </a:txBody>
                  <a:tcPr>
                    <a:solidFill>
                      <a:srgbClr val="EEF3FA"/>
                    </a:solidFill>
                  </a:tcPr>
                </a:tc>
              </a:tr>
            </a:tbl>
          </a:graphicData>
        </a:graphic>
      </p:graphicFrame>
    </p:spTree>
  </p:cSld>
  <p:clrMapOvr>
    <a:masterClrMapping/>
  </p:clrMapOvr>
  <p:transition spd="med">
    <p:newsflash/>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229422"/>
                          </a:solidFill>
                          <a:latin typeface="Segoe UI"/>
                        </a:rPr>
                        <a:t>zoo</a:t>
                      </a:r>
                    </a:p>
                  </a:txBody>
                  <a:tcPr>
                    <a:solidFill>
                      <a:srgbClr val="FFFFFF"/>
                    </a:solidFill>
                  </a:tcPr>
                </a:tc>
                <a:tc>
                  <a:txBody>
                    <a:bodyPr/>
                    <a:lstStyle/>
                    <a:p>
                      <a:pPr rtl="1" algn="r"/>
                      <a:r>
                        <a:rPr sz="1700" b="0" i="0" lang="ar-EG" altLang="en-US">
                          <a:solidFill>
                            <a:srgbClr val="1C2333"/>
                          </a:solidFill>
                          <a:latin typeface="Traditional Arabic"/>
                        </a:rPr>
                        <a:t>حديقة حيوان</a:t>
                      </a:r>
                    </a:p>
                  </a:txBody>
                  <a:tcPr>
                    <a:solidFill>
                      <a:srgbClr val="FFFFFF"/>
                    </a:solidFill>
                  </a:tcPr>
                </a:tc>
                <a:tc>
                  <a:txBody>
                    <a:bodyPr/>
                    <a:lstStyle/>
                    <a:p>
                      <a:pPr rtl="0" algn="l"/>
                      <a:r>
                        <a:rPr sz="1500" b="1" i="0" lang="en-US">
                          <a:solidFill>
                            <a:srgbClr val="229422"/>
                          </a:solidFill>
                          <a:latin typeface="Segoe UI"/>
                        </a:rPr>
                        <a:t>van</a:t>
                      </a:r>
                    </a:p>
                  </a:txBody>
                  <a:tcPr>
                    <a:solidFill>
                      <a:srgbClr val="FFFFFF"/>
                    </a:solidFill>
                  </a:tcPr>
                </a:tc>
                <a:tc>
                  <a:txBody>
                    <a:bodyPr/>
                    <a:lstStyle/>
                    <a:p>
                      <a:pPr rtl="1" algn="r"/>
                      <a:r>
                        <a:rPr sz="1700" b="0" i="0" lang="ar-EG" altLang="en-US">
                          <a:solidFill>
                            <a:srgbClr val="1C2333"/>
                          </a:solidFill>
                          <a:latin typeface="Traditional Arabic"/>
                        </a:rPr>
                        <a:t>عربة نقل</a:t>
                      </a:r>
                    </a:p>
                  </a:txBody>
                  <a:tcPr>
                    <a:solidFill>
                      <a:srgbClr val="FFFFFF"/>
                    </a:solidFill>
                  </a:tcPr>
                </a:tc>
              </a:tr>
              <a:tr h="384048">
                <a:tc>
                  <a:txBody>
                    <a:bodyPr/>
                    <a:lstStyle/>
                    <a:p>
                      <a:pPr rtl="0" algn="l"/>
                      <a:r>
                        <a:rPr sz="1500" b="1" i="0" lang="en-US">
                          <a:solidFill>
                            <a:srgbClr val="229422"/>
                          </a:solidFill>
                          <a:latin typeface="Segoe UI"/>
                        </a:rPr>
                        <a:t>table</a:t>
                      </a:r>
                    </a:p>
                  </a:txBody>
                  <a:tcPr>
                    <a:solidFill>
                      <a:srgbClr val="EEF3FA"/>
                    </a:solidFill>
                  </a:tcPr>
                </a:tc>
                <a:tc>
                  <a:txBody>
                    <a:bodyPr/>
                    <a:lstStyle/>
                    <a:p>
                      <a:pPr rtl="1" algn="r"/>
                      <a:r>
                        <a:rPr sz="1700" b="0" i="0" lang="ar-EG" altLang="en-US">
                          <a:solidFill>
                            <a:srgbClr val="1C2333"/>
                          </a:solidFill>
                          <a:latin typeface="Traditional Arabic"/>
                        </a:rPr>
                        <a:t>منضدة</a:t>
                      </a:r>
                    </a:p>
                  </a:txBody>
                  <a:tcPr>
                    <a:solidFill>
                      <a:srgbClr val="EEF3FA"/>
                    </a:solidFill>
                  </a:tcPr>
                </a:tc>
                <a:tc>
                  <a:txBody>
                    <a:bodyPr/>
                    <a:lstStyle/>
                    <a:p>
                      <a:pPr rtl="0" algn="l"/>
                      <a:r>
                        <a:rPr sz="1500" b="1" i="0" lang="en-US">
                          <a:solidFill>
                            <a:srgbClr val="229422"/>
                          </a:solidFill>
                          <a:latin typeface="Segoe UI"/>
                        </a:rPr>
                        <a:t>park</a:t>
                      </a:r>
                    </a:p>
                  </a:txBody>
                  <a:tcPr>
                    <a:solidFill>
                      <a:srgbClr val="EEF3FA"/>
                    </a:solidFill>
                  </a:tcPr>
                </a:tc>
                <a:tc>
                  <a:txBody>
                    <a:bodyPr/>
                    <a:lstStyle/>
                    <a:p>
                      <a:pPr rtl="1" algn="r"/>
                      <a:r>
                        <a:rPr sz="1700" b="0" i="0" lang="ar-EG" altLang="en-US">
                          <a:solidFill>
                            <a:srgbClr val="1C2333"/>
                          </a:solidFill>
                          <a:latin typeface="Traditional Arabic"/>
                        </a:rPr>
                        <a:t>حديقة</a:t>
                      </a:r>
                    </a:p>
                  </a:txBody>
                  <a:tcPr>
                    <a:solidFill>
                      <a:srgbClr val="EEF3FA"/>
                    </a:solidFill>
                  </a:tcPr>
                </a:tc>
              </a:tr>
              <a:tr h="384048">
                <a:tc>
                  <a:txBody>
                    <a:bodyPr/>
                    <a:lstStyle/>
                    <a:p>
                      <a:pPr rtl="0" algn="l"/>
                      <a:r>
                        <a:rPr sz="1500" b="1" i="0" lang="en-US">
                          <a:solidFill>
                            <a:srgbClr val="229422"/>
                          </a:solidFill>
                          <a:latin typeface="Segoe UI"/>
                        </a:rPr>
                        <a:t>bat</a:t>
                      </a:r>
                    </a:p>
                  </a:txBody>
                  <a:tcPr>
                    <a:solidFill>
                      <a:srgbClr val="FFFFFF"/>
                    </a:solidFill>
                  </a:tcPr>
                </a:tc>
                <a:tc>
                  <a:txBody>
                    <a:bodyPr/>
                    <a:lstStyle/>
                    <a:p>
                      <a:pPr rtl="1" algn="r"/>
                      <a:r>
                        <a:rPr sz="1700" b="0" i="0" lang="ar-EG" altLang="en-US">
                          <a:solidFill>
                            <a:srgbClr val="1C2333"/>
                          </a:solidFill>
                          <a:latin typeface="Traditional Arabic"/>
                        </a:rPr>
                        <a:t>خفاش</a:t>
                      </a:r>
                    </a:p>
                  </a:txBody>
                  <a:tcPr>
                    <a:solidFill>
                      <a:srgbClr val="FFFFFF"/>
                    </a:solidFill>
                  </a:tcPr>
                </a:tc>
                <a:tc>
                  <a:txBody>
                    <a:bodyPr/>
                    <a:lstStyle/>
                    <a:p>
                      <a:pPr rtl="0" algn="l"/>
                      <a:r>
                        <a:rPr sz="1500" b="1" i="0" lang="en-US">
                          <a:solidFill>
                            <a:srgbClr val="229422"/>
                          </a:solidFill>
                          <a:latin typeface="Segoe UI"/>
                        </a:rPr>
                        <a:t>toy</a:t>
                      </a:r>
                    </a:p>
                  </a:txBody>
                  <a:tcPr>
                    <a:solidFill>
                      <a:srgbClr val="FFFFFF"/>
                    </a:solidFill>
                  </a:tcPr>
                </a:tc>
                <a:tc>
                  <a:txBody>
                    <a:bodyPr/>
                    <a:lstStyle/>
                    <a:p>
                      <a:pPr rtl="1" algn="r"/>
                      <a:r>
                        <a:rPr sz="1700" b="0" i="0" lang="ar-EG" altLang="en-US">
                          <a:solidFill>
                            <a:srgbClr val="1C2333"/>
                          </a:solidFill>
                          <a:latin typeface="Traditional Arabic"/>
                        </a:rPr>
                        <a:t>لعبة</a:t>
                      </a:r>
                    </a:p>
                  </a:txBody>
                  <a:tcPr>
                    <a:solidFill>
                      <a:srgbClr val="FFFFFF"/>
                    </a:solidFill>
                  </a:tcPr>
                </a:tc>
              </a:tr>
            </a:tbl>
          </a:graphicData>
        </a:graphic>
      </p:graphicFrame>
    </p:spTree>
  </p:cSld>
  <p:clrMapOvr>
    <a:masterClrMapping/>
  </p:clrMapOvr>
  <p:transition spd="med">
    <p:plus/>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 a park.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 flowers.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 is a key.   (They – There)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 a window.   (are –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 …… .   (trees – tree)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tree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 …… bench.   (a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 are books.   (This – There)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 a van.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is …… orange.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 apples.   (are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is …… mango.   (a – an)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 a ring.   (are –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 balls.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 a bat.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a fish.</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fish.</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is a dog.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dog.</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 an apple.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apple.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is a boy.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boy.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an 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 an orange.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orange.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is a banana.</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banana.</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is an arm.</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arm.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 girls.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girls.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birds.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birds.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are toys.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toys.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dogs.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dogs.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are hats.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hats.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are cats.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cats.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There are feet.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aren't feet.</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There are doors.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aren't doors.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There are balls.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aren't balls.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an apple.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apple?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is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 a fish.</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fish?</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is a flower.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flower?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an 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 a star.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star?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animal?</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birds.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birds?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 oranges.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oranges?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apples.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apples?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are cows.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cows?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toys?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are girls.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girls?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are stars.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stars?</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Is there a car?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Is there an orange?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Is there a bird?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Is there a camel?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Is there an apple?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Is there an elephant?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Is there a bench?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Is there an ant?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Is there a girl?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Is there a camera?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Are there girls?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Are there cats?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Are there apples?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Are there boys?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there trees?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Are there doors?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Are there pens?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there rulers?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Are there lions?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Are there animals?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there is a cat.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cat?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there isn't a tree.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Yes, there is a ball.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ball?</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No, there isn't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Yes, there is a fish.</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fish?</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 there isn't a camel.</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camel?</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Yes, there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animal?</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No, there isn't a bird.</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bird?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Yes, there is a boy.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boy?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No, there aren't cars.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cars?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Yes, there are dolls.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dolls?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 there aren't pens.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pens?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Yes, there are girls.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girls?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No, there aren't ducks.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ducks?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Yes, there are lions.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lions?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No, there aren't ants.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ants?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Yes, there are oranges.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oranges?</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a key.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key?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are kings.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kings?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are chairs.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chairs?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is a dish.</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dish?</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 plant.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plant?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are parks.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parks?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are monkeys.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monkeys?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is an orange.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orange?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is an elephant.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elephant?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horses.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horses?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is a ring.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ring?</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bananas.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bananas?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is a couch.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couch?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are keys.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keys?</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There is a table.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table?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There are kings.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kings?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There are boys.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boys?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There is a zoo.</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zoo?</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 an – There – apple.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apple.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not – is – There – a boy.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not a boy.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 orange – an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orange?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girls – are – There.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girls.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 Are – birds?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birds?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not – There – a – is – star.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not a star.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an – there – Is – egg?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egg?</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arm – There – an –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arm.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lion – There – not – is – 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not a lion.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banana – there – a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banana?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umbrella – a – There –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umbrella.</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not – pens – There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not pens.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teeth – Are – there?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teeth?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park – there – Is – a?</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park?</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camera – a – is – There.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camera.</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not – There – a – bee – is.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not a bee.</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ants – are – There – not.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 not ants.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child – a – Is – there?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child?</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birds.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birds.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are a tree.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are a car.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car.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Is there cows?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cows?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Are there a book?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book?</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isn't parks.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parks.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are a man.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man.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child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children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is boys.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boys.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a cat.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is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books.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is a girls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girl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are an egg.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egg.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is cars.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cars.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There is a stars .</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star .</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Is there lions?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lions?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There are a boy.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boy.</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there a doctor?</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doctor?</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are cows. (a cow)</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cow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isn't a hen. (hens)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hens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 a farmer.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farmer?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are stars. (a star)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star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 dog. (dogs)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dogs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are boys.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boys?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isn't a cow. (aren't)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cows .</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animals.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animal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aren't farmers. (isn't)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farmer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Yes, there is a horse. (No)</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there isn't a horse.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there a map?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maps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toys.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toy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Are there ducks? (Is)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duck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Is there an orange?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oranges ?</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There are ants. (an ant)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ant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Yes, there are cows. (No)</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there aren't cows.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There are dogs.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dogs?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There is a ruler. (rulers)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rulers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There is an ant. (not)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No, there aren't cats. (Yes)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there are cats.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There is an orange.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oranges .</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There are lions. (is)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lion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J)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There are many animals on the farm. There are cows, ducks and hens. There is a donkey and a horse. Animals need food, water, shelter and space. Cows and goats give us milk and meat. Hens give us eggs.</a:t>
            </a:r>
          </a:p>
          <a:p>
            <a:pPr rtl="0" algn="r">
              <a:spcBef>
                <a:spcPts val="800"/>
              </a:spcBef>
            </a:pPr>
            <a:r>
              <a:rPr sz="1400" b="0" i="0" lang="en-US">
                <a:solidFill>
                  <a:srgbClr val="5B6478"/>
                </a:solidFill>
                <a:latin typeface="Segoe UI"/>
              </a:rPr>
              <a:t>farm: مزرعة   donkey: حمار   shelter: مأوى   space: مساحة</a:t>
            </a:r>
          </a:p>
        </p:txBody>
      </p:sp>
    </p:spTree>
  </p:cSld>
  <p:clrMapOvr>
    <a:masterClrMapping/>
  </p:clrMapOvr>
  <p:transition spd="med">
    <p:wedg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J)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There are many animals …… the farm.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There are …… animals.   (many – much – a lot)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many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There aren't any animals on the farm. (There are many animals.)   (True ✓ – False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Hens give us eggs.   (True ✓ – False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Animals need food.   (True ✓ – False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K) Finish the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Good morning, Reda.</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Good morning, Reda.</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Good morning, Ahmed.</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Where …… you going?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Where are you going?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I …… going to the zoo.</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I am going to the zoo.</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 ?</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Are there many animals ?</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Yes, there are many animals.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Yes, there are many animals.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Have a nice day.</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Have a nice day.</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Thank you.</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7</a:t>
            </a:r>
          </a:p>
          <a:p>
            <a:pPr algn="ctr" rtl="0"/>
            <a:r>
              <a:rPr sz="4600" b="1" i="0" lang="en-US">
                <a:solidFill>
                  <a:srgbClr val="FFFFFF"/>
                </a:solidFill>
                <a:latin typeface="Segoe UI"/>
              </a:rPr>
              <a:t>This / That</a:t>
            </a:r>
          </a:p>
          <a:p>
            <a:pPr algn="ctr" rtl="1"/>
            <a:r>
              <a:rPr sz="2900" b="0" i="0" lang="ar-EG" altLang="en-US">
                <a:solidFill>
                  <a:srgbClr val="FFFFFF"/>
                </a:solidFill>
                <a:latin typeface="Traditional Arabic"/>
              </a:rPr>
              <a:t>أسماء الإشارة للمفرد</a:t>
            </a:r>
          </a:p>
        </p:txBody>
      </p:sp>
    </p:spTree>
  </p:cSld>
  <p:clrMapOvr>
    <a:masterClrMapping/>
  </p:clrMapOvr>
  <p:transition spd="med">
    <p:zoom dir="in"/>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This is + a / an + اسم مفرد .</a:t>
            </a:r>
          </a:p>
          <a:p>
            <a:pPr rtl="1" algn="r">
              <a:spcAft>
                <a:spcPts val="600"/>
              </a:spcAft>
            </a:pPr>
            <a:r>
              <a:rPr sz="2100" b="0" i="0" lang="ar-EG" altLang="en-US">
                <a:solidFill>
                  <a:srgbClr val="1C2333"/>
                </a:solidFill>
                <a:latin typeface="Traditional Arabic"/>
              </a:rPr>
              <a:t>هذا / هذه — للمفرد القريب.</a:t>
            </a:r>
          </a:p>
          <a:p>
            <a:pPr rtl="0" algn="l">
              <a:spcAft>
                <a:spcPts val="600"/>
              </a:spcAft>
            </a:pPr>
            <a:r>
              <a:rPr sz="2000" b="1" i="0" lang="en-US">
                <a:solidFill>
                  <a:srgbClr val="943F22"/>
                </a:solidFill>
                <a:latin typeface="Segoe UI"/>
              </a:rPr>
              <a:t>▶ That is + a / an + اسم مفرد .</a:t>
            </a:r>
          </a:p>
          <a:p>
            <a:pPr rtl="1" algn="r">
              <a:spcAft>
                <a:spcPts val="600"/>
              </a:spcAft>
            </a:pPr>
            <a:r>
              <a:rPr sz="2100" b="0" i="0" lang="ar-EG" altLang="en-US">
                <a:solidFill>
                  <a:srgbClr val="1C2333"/>
                </a:solidFill>
                <a:latin typeface="Traditional Arabic"/>
              </a:rPr>
              <a:t>ذلك / تلك — للمفرد البعيد.</a:t>
            </a:r>
          </a:p>
        </p:txBody>
      </p:sp>
    </p:spTree>
  </p:cSld>
  <p:clrMapOvr>
    <a:masterClrMapping/>
  </p:clrMapOvr>
  <p:transition spd="med">
    <p:newsflash/>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This is not (isn't) + a / an + اسم مفرد .</a:t>
            </a:r>
          </a:p>
          <a:p>
            <a:pPr rtl="1" algn="r">
              <a:spcAft>
                <a:spcPts val="600"/>
              </a:spcAft>
            </a:pPr>
            <a:r>
              <a:rPr sz="2100" b="0" i="0" lang="ar-EG" altLang="en-US">
                <a:solidFill>
                  <a:srgbClr val="1C2333"/>
                </a:solidFill>
                <a:latin typeface="Traditional Arabic"/>
              </a:rPr>
              <a:t>نفي (هذا).</a:t>
            </a:r>
          </a:p>
          <a:p>
            <a:pPr rtl="0" algn="l">
              <a:spcAft>
                <a:spcPts val="600"/>
              </a:spcAft>
            </a:pPr>
            <a:r>
              <a:rPr sz="2000" b="1" i="0" lang="en-US">
                <a:solidFill>
                  <a:srgbClr val="943F22"/>
                </a:solidFill>
                <a:latin typeface="Segoe UI"/>
              </a:rPr>
              <a:t>▶ That is not (isn't) + a / an + اسم مفرد .</a:t>
            </a:r>
          </a:p>
          <a:p>
            <a:pPr rtl="1" algn="r">
              <a:spcAft>
                <a:spcPts val="600"/>
              </a:spcAft>
            </a:pPr>
            <a:r>
              <a:rPr sz="2100" b="0" i="0" lang="ar-EG" altLang="en-US">
                <a:solidFill>
                  <a:srgbClr val="1C2333"/>
                </a:solidFill>
                <a:latin typeface="Traditional Arabic"/>
              </a:rPr>
              <a:t>نفي (ذلك).</a:t>
            </a:r>
          </a:p>
        </p:txBody>
      </p:sp>
    </p:spTree>
  </p:cSld>
  <p:clrMapOvr>
    <a:masterClrMapping/>
  </p:clrMapOvr>
  <p:transition spd="med">
    <p:plus/>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Is this + a / an + اسم مفرد ?</a:t>
            </a:r>
          </a:p>
          <a:p>
            <a:pPr rtl="1" algn="r">
              <a:spcAft>
                <a:spcPts val="600"/>
              </a:spcAft>
            </a:pPr>
            <a:r>
              <a:rPr sz="2100" b="0" i="0" lang="ar-EG" altLang="en-US">
                <a:solidFill>
                  <a:srgbClr val="1C2333"/>
                </a:solidFill>
                <a:latin typeface="Traditional Arabic"/>
              </a:rPr>
              <a:t>السؤال عن القريب.</a:t>
            </a:r>
          </a:p>
          <a:p>
            <a:pPr rtl="0" algn="l">
              <a:spcAft>
                <a:spcPts val="600"/>
              </a:spcAft>
            </a:pPr>
            <a:r>
              <a:rPr sz="2000" b="1" i="0" lang="en-US">
                <a:solidFill>
                  <a:srgbClr val="943F22"/>
                </a:solidFill>
                <a:latin typeface="Segoe UI"/>
              </a:rPr>
              <a:t>▶ Is that + a / an + اسم مفرد ?</a:t>
            </a:r>
          </a:p>
          <a:p>
            <a:pPr rtl="1" algn="r">
              <a:spcAft>
                <a:spcPts val="600"/>
              </a:spcAft>
            </a:pPr>
            <a:r>
              <a:rPr sz="2100" b="0" i="0" lang="ar-EG" altLang="en-US">
                <a:solidFill>
                  <a:srgbClr val="1C2333"/>
                </a:solidFill>
                <a:latin typeface="Traditional Arabic"/>
              </a:rPr>
              <a:t>السؤال عن البعيد.</a:t>
            </a:r>
          </a:p>
          <a:p>
            <a:pPr rtl="0" algn="l">
              <a:spcAft>
                <a:spcPts val="600"/>
              </a:spcAft>
            </a:pPr>
            <a:r>
              <a:rPr sz="2000" b="1" i="0" lang="en-US">
                <a:solidFill>
                  <a:srgbClr val="943F22"/>
                </a:solidFill>
                <a:latin typeface="Segoe UI"/>
              </a:rPr>
              <a:t>▶ What is this? / What is that?</a:t>
            </a:r>
          </a:p>
          <a:p>
            <a:pPr rtl="1" algn="r">
              <a:spcAft>
                <a:spcPts val="600"/>
              </a:spcAft>
            </a:pPr>
            <a:r>
              <a:rPr sz="2100" b="0" i="0" lang="ar-EG" altLang="en-US">
                <a:solidFill>
                  <a:srgbClr val="1C2333"/>
                </a:solidFill>
                <a:latin typeface="Traditional Arabic"/>
              </a:rPr>
              <a:t>ما هذا؟ / ما ذلك؟ — السؤال بأداة استفهام.</a:t>
            </a:r>
          </a:p>
        </p:txBody>
      </p:sp>
    </p:spTree>
  </p:cSld>
  <p:clrMapOvr>
    <a:masterClrMapping/>
  </p:clrMapOvr>
  <p:transition spd="med">
    <p:strips dir="ld"/>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body</a:t>
                      </a:r>
                    </a:p>
                  </a:txBody>
                  <a:tcPr>
                    <a:solidFill>
                      <a:srgbClr val="FFFFFF"/>
                    </a:solidFill>
                  </a:tcPr>
                </a:tc>
                <a:tc>
                  <a:txBody>
                    <a:bodyPr/>
                    <a:lstStyle/>
                    <a:p>
                      <a:pPr rtl="1" algn="r"/>
                      <a:r>
                        <a:rPr sz="1700" b="0" i="0" lang="ar-EG" altLang="en-US">
                          <a:solidFill>
                            <a:srgbClr val="1C2333"/>
                          </a:solidFill>
                          <a:latin typeface="Traditional Arabic"/>
                        </a:rPr>
                        <a:t>جسم</a:t>
                      </a:r>
                    </a:p>
                  </a:txBody>
                  <a:tcPr>
                    <a:solidFill>
                      <a:srgbClr val="FFFFFF"/>
                    </a:solidFill>
                  </a:tcPr>
                </a:tc>
                <a:tc>
                  <a:txBody>
                    <a:bodyPr/>
                    <a:lstStyle/>
                    <a:p>
                      <a:pPr rtl="0" algn="l"/>
                      <a:r>
                        <a:rPr sz="1500" b="1" i="0" lang="en-US">
                          <a:solidFill>
                            <a:srgbClr val="943F22"/>
                          </a:solidFill>
                          <a:latin typeface="Segoe UI"/>
                        </a:rPr>
                        <a:t>ruler</a:t>
                      </a:r>
                    </a:p>
                  </a:txBody>
                  <a:tcPr>
                    <a:solidFill>
                      <a:srgbClr val="FFFFFF"/>
                    </a:solidFill>
                  </a:tcPr>
                </a:tc>
                <a:tc>
                  <a:txBody>
                    <a:bodyPr/>
                    <a:lstStyle/>
                    <a:p>
                      <a:pPr rtl="1" algn="r"/>
                      <a:r>
                        <a:rPr sz="1700" b="0" i="0" lang="ar-EG" altLang="en-US">
                          <a:solidFill>
                            <a:srgbClr val="1C2333"/>
                          </a:solidFill>
                          <a:latin typeface="Traditional Arabic"/>
                        </a:rPr>
                        <a:t>مسطرة</a:t>
                      </a:r>
                    </a:p>
                  </a:txBody>
                  <a:tcPr>
                    <a:solidFill>
                      <a:srgbClr val="FFFFFF"/>
                    </a:solidFill>
                  </a:tcPr>
                </a:tc>
                <a:tc>
                  <a:txBody>
                    <a:bodyPr/>
                    <a:lstStyle/>
                    <a:p>
                      <a:pPr rtl="0" algn="l"/>
                      <a:r>
                        <a:rPr sz="1500" b="1" i="0" lang="en-US">
                          <a:solidFill>
                            <a:srgbClr val="943F22"/>
                          </a:solidFill>
                          <a:latin typeface="Segoe UI"/>
                        </a:rPr>
                        <a:t>grandfather</a:t>
                      </a:r>
                    </a:p>
                  </a:txBody>
                  <a:tcPr>
                    <a:solidFill>
                      <a:srgbClr val="FFFFFF"/>
                    </a:solidFill>
                  </a:tcPr>
                </a:tc>
                <a:tc>
                  <a:txBody>
                    <a:bodyPr/>
                    <a:lstStyle/>
                    <a:p>
                      <a:pPr rtl="1" algn="r"/>
                      <a:r>
                        <a:rPr sz="1700" b="0" i="0" lang="ar-EG" altLang="en-US">
                          <a:solidFill>
                            <a:srgbClr val="1C2333"/>
                          </a:solidFill>
                          <a:latin typeface="Traditional Arabic"/>
                        </a:rPr>
                        <a:t>الجد</a:t>
                      </a:r>
                    </a:p>
                  </a:txBody>
                  <a:tcPr>
                    <a:solidFill>
                      <a:srgbClr val="FFFFFF"/>
                    </a:solidFill>
                  </a:tcPr>
                </a:tc>
              </a:tr>
              <a:tr h="384048">
                <a:tc>
                  <a:txBody>
                    <a:bodyPr/>
                    <a:lstStyle/>
                    <a:p>
                      <a:pPr rtl="0" algn="l"/>
                      <a:r>
                        <a:rPr sz="1500" b="1" i="0" lang="en-US">
                          <a:solidFill>
                            <a:srgbClr val="943F22"/>
                          </a:solidFill>
                          <a:latin typeface="Segoe UI"/>
                        </a:rPr>
                        <a:t>father</a:t>
                      </a:r>
                    </a:p>
                  </a:txBody>
                  <a:tcPr>
                    <a:solidFill>
                      <a:srgbClr val="EEF3FA"/>
                    </a:solidFill>
                  </a:tcPr>
                </a:tc>
                <a:tc>
                  <a:txBody>
                    <a:bodyPr/>
                    <a:lstStyle/>
                    <a:p>
                      <a:pPr rtl="1" algn="r"/>
                      <a:r>
                        <a:rPr sz="1700" b="0" i="0" lang="ar-EG" altLang="en-US">
                          <a:solidFill>
                            <a:srgbClr val="1C2333"/>
                          </a:solidFill>
                          <a:latin typeface="Traditional Arabic"/>
                        </a:rPr>
                        <a:t>أب</a:t>
                      </a:r>
                    </a:p>
                  </a:txBody>
                  <a:tcPr>
                    <a:solidFill>
                      <a:srgbClr val="EEF3FA"/>
                    </a:solidFill>
                  </a:tcPr>
                </a:tc>
                <a:tc>
                  <a:txBody>
                    <a:bodyPr/>
                    <a:lstStyle/>
                    <a:p>
                      <a:pPr rtl="0" algn="l"/>
                      <a:r>
                        <a:rPr sz="1500" b="1" i="0" lang="en-US">
                          <a:solidFill>
                            <a:srgbClr val="943F22"/>
                          </a:solidFill>
                          <a:latin typeface="Segoe UI"/>
                        </a:rPr>
                        <a:t>mouth</a:t>
                      </a:r>
                    </a:p>
                  </a:txBody>
                  <a:tcPr>
                    <a:solidFill>
                      <a:srgbClr val="EEF3FA"/>
                    </a:solidFill>
                  </a:tcPr>
                </a:tc>
                <a:tc>
                  <a:txBody>
                    <a:bodyPr/>
                    <a:lstStyle/>
                    <a:p>
                      <a:pPr rtl="1" algn="r"/>
                      <a:r>
                        <a:rPr sz="1700" b="0" i="0" lang="ar-EG" altLang="en-US">
                          <a:solidFill>
                            <a:srgbClr val="1C2333"/>
                          </a:solidFill>
                          <a:latin typeface="Traditional Arabic"/>
                        </a:rPr>
                        <a:t>فم</a:t>
                      </a:r>
                    </a:p>
                  </a:txBody>
                  <a:tcPr>
                    <a:solidFill>
                      <a:srgbClr val="EEF3FA"/>
                    </a:solidFill>
                  </a:tcPr>
                </a:tc>
                <a:tc>
                  <a:txBody>
                    <a:bodyPr/>
                    <a:lstStyle/>
                    <a:p>
                      <a:pPr rtl="0" algn="l"/>
                      <a:r>
                        <a:rPr sz="1500" b="1" i="0" lang="en-US">
                          <a:solidFill>
                            <a:srgbClr val="943F22"/>
                          </a:solidFill>
                          <a:latin typeface="Segoe UI"/>
                        </a:rPr>
                        <a:t>eraser</a:t>
                      </a:r>
                    </a:p>
                  </a:txBody>
                  <a:tcPr>
                    <a:solidFill>
                      <a:srgbClr val="EEF3FA"/>
                    </a:solidFill>
                  </a:tcPr>
                </a:tc>
                <a:tc>
                  <a:txBody>
                    <a:bodyPr/>
                    <a:lstStyle/>
                    <a:p>
                      <a:pPr rtl="1" algn="r"/>
                      <a:r>
                        <a:rPr sz="1700" b="0" i="0" lang="ar-EG" altLang="en-US">
                          <a:solidFill>
                            <a:srgbClr val="1C2333"/>
                          </a:solidFill>
                          <a:latin typeface="Traditional Arabic"/>
                        </a:rPr>
                        <a:t>ممحاة</a:t>
                      </a:r>
                    </a:p>
                  </a:txBody>
                  <a:tcPr>
                    <a:solidFill>
                      <a:srgbClr val="EEF3FA"/>
                    </a:solidFill>
                  </a:tcPr>
                </a:tc>
              </a:tr>
              <a:tr h="384048">
                <a:tc>
                  <a:txBody>
                    <a:bodyPr/>
                    <a:lstStyle/>
                    <a:p>
                      <a:pPr rtl="0" algn="l"/>
                      <a:r>
                        <a:rPr sz="1500" b="1" i="0" lang="en-US">
                          <a:solidFill>
                            <a:srgbClr val="943F22"/>
                          </a:solidFill>
                          <a:latin typeface="Segoe UI"/>
                        </a:rPr>
                        <a:t>pen</a:t>
                      </a:r>
                    </a:p>
                  </a:txBody>
                  <a:tcPr>
                    <a:solidFill>
                      <a:srgbClr val="FFFFFF"/>
                    </a:solidFill>
                  </a:tcPr>
                </a:tc>
                <a:tc>
                  <a:txBody>
                    <a:bodyPr/>
                    <a:lstStyle/>
                    <a:p>
                      <a:pPr rtl="1" algn="r"/>
                      <a:r>
                        <a:rPr sz="1700" b="0" i="0" lang="ar-EG" altLang="en-US">
                          <a:solidFill>
                            <a:srgbClr val="1C2333"/>
                          </a:solidFill>
                          <a:latin typeface="Traditional Arabic"/>
                        </a:rPr>
                        <a:t>قلم جاف</a:t>
                      </a:r>
                    </a:p>
                  </a:txBody>
                  <a:tcPr>
                    <a:solidFill>
                      <a:srgbClr val="FFFFFF"/>
                    </a:solidFill>
                  </a:tcPr>
                </a:tc>
                <a:tc>
                  <a:txBody>
                    <a:bodyPr/>
                    <a:lstStyle/>
                    <a:p>
                      <a:pPr rtl="0" algn="l"/>
                      <a:r>
                        <a:rPr sz="1500" b="1" i="0" lang="en-US">
                          <a:solidFill>
                            <a:srgbClr val="943F22"/>
                          </a:solidFill>
                          <a:latin typeface="Segoe UI"/>
                        </a:rPr>
                        <a:t>sister</a:t>
                      </a:r>
                    </a:p>
                  </a:txBody>
                  <a:tcPr>
                    <a:solidFill>
                      <a:srgbClr val="FFFFFF"/>
                    </a:solidFill>
                  </a:tcPr>
                </a:tc>
                <a:tc>
                  <a:txBody>
                    <a:bodyPr/>
                    <a:lstStyle/>
                    <a:p>
                      <a:pPr rtl="1" algn="r"/>
                      <a:r>
                        <a:rPr sz="1700" b="0" i="0" lang="ar-EG" altLang="en-US">
                          <a:solidFill>
                            <a:srgbClr val="1C2333"/>
                          </a:solidFill>
                          <a:latin typeface="Traditional Arabic"/>
                        </a:rPr>
                        <a:t>أخت</a:t>
                      </a:r>
                    </a:p>
                  </a:txBody>
                  <a:tcPr>
                    <a:solidFill>
                      <a:srgbClr val="FFFFFF"/>
                    </a:solidFill>
                  </a:tcPr>
                </a:tc>
                <a:tc>
                  <a:txBody>
                    <a:bodyPr/>
                    <a:lstStyle/>
                    <a:p>
                      <a:pPr rtl="0" algn="l"/>
                      <a:r>
                        <a:rPr sz="1500" b="1" i="0" lang="en-US">
                          <a:solidFill>
                            <a:srgbClr val="943F22"/>
                          </a:solidFill>
                          <a:latin typeface="Segoe UI"/>
                        </a:rPr>
                        <a:t>head</a:t>
                      </a:r>
                    </a:p>
                  </a:txBody>
                  <a:tcPr>
                    <a:solidFill>
                      <a:srgbClr val="FFFFFF"/>
                    </a:solidFill>
                  </a:tcPr>
                </a:tc>
                <a:tc>
                  <a:txBody>
                    <a:bodyPr/>
                    <a:lstStyle/>
                    <a:p>
                      <a:pPr rtl="1" algn="r"/>
                      <a:r>
                        <a:rPr sz="1700" b="0" i="0" lang="ar-EG" altLang="en-US">
                          <a:solidFill>
                            <a:srgbClr val="1C2333"/>
                          </a:solidFill>
                          <a:latin typeface="Traditional Arabic"/>
                        </a:rPr>
                        <a:t>رأس</a:t>
                      </a:r>
                    </a:p>
                  </a:txBody>
                  <a:tcPr>
                    <a:solidFill>
                      <a:srgbClr val="FFFFFF"/>
                    </a:solidFill>
                  </a:tcPr>
                </a:tc>
              </a:tr>
              <a:tr h="384048">
                <a:tc>
                  <a:txBody>
                    <a:bodyPr/>
                    <a:lstStyle/>
                    <a:p>
                      <a:pPr rtl="0" algn="l"/>
                      <a:r>
                        <a:rPr sz="1500" b="1" i="0" lang="en-US">
                          <a:solidFill>
                            <a:srgbClr val="943F22"/>
                          </a:solidFill>
                          <a:latin typeface="Segoe UI"/>
                        </a:rPr>
                        <a:t>face</a:t>
                      </a:r>
                    </a:p>
                  </a:txBody>
                  <a:tcPr>
                    <a:solidFill>
                      <a:srgbClr val="EEF3FA"/>
                    </a:solidFill>
                  </a:tcPr>
                </a:tc>
                <a:tc>
                  <a:txBody>
                    <a:bodyPr/>
                    <a:lstStyle/>
                    <a:p>
                      <a:pPr rtl="1" algn="r"/>
                      <a:r>
                        <a:rPr sz="1700" b="0" i="0" lang="ar-EG" altLang="en-US">
                          <a:solidFill>
                            <a:srgbClr val="1C2333"/>
                          </a:solidFill>
                          <a:latin typeface="Traditional Arabic"/>
                        </a:rPr>
                        <a:t>وجه</a:t>
                      </a:r>
                    </a:p>
                  </a:txBody>
                  <a:tcPr>
                    <a:solidFill>
                      <a:srgbClr val="EEF3FA"/>
                    </a:solidFill>
                  </a:tcPr>
                </a:tc>
                <a:tc>
                  <a:txBody>
                    <a:bodyPr/>
                    <a:lstStyle/>
                    <a:p>
                      <a:pPr rtl="0" algn="l"/>
                      <a:r>
                        <a:rPr sz="1500" b="1" i="0" lang="en-US">
                          <a:solidFill>
                            <a:srgbClr val="943F22"/>
                          </a:solidFill>
                          <a:latin typeface="Segoe UI"/>
                        </a:rPr>
                        <a:t>book</a:t>
                      </a:r>
                    </a:p>
                  </a:txBody>
                  <a:tcPr>
                    <a:solidFill>
                      <a:srgbClr val="EEF3FA"/>
                    </a:solidFill>
                  </a:tcPr>
                </a:tc>
                <a:tc>
                  <a:txBody>
                    <a:bodyPr/>
                    <a:lstStyle/>
                    <a:p>
                      <a:pPr rtl="1" algn="r"/>
                      <a:r>
                        <a:rPr sz="1700" b="0" i="0" lang="ar-EG" altLang="en-US">
                          <a:solidFill>
                            <a:srgbClr val="1C2333"/>
                          </a:solidFill>
                          <a:latin typeface="Traditional Arabic"/>
                        </a:rPr>
                        <a:t>كتاب</a:t>
                      </a:r>
                    </a:p>
                  </a:txBody>
                  <a:tcPr>
                    <a:solidFill>
                      <a:srgbClr val="EEF3FA"/>
                    </a:solidFill>
                  </a:tcPr>
                </a:tc>
                <a:tc>
                  <a:txBody>
                    <a:bodyPr/>
                    <a:lstStyle/>
                    <a:p>
                      <a:pPr rtl="0" algn="l"/>
                      <a:r>
                        <a:rPr sz="1500" b="1" i="0" lang="en-US">
                          <a:solidFill>
                            <a:srgbClr val="943F22"/>
                          </a:solidFill>
                          <a:latin typeface="Segoe UI"/>
                        </a:rPr>
                        <a:t>grandmother</a:t>
                      </a:r>
                    </a:p>
                  </a:txBody>
                  <a:tcPr>
                    <a:solidFill>
                      <a:srgbClr val="EEF3FA"/>
                    </a:solidFill>
                  </a:tcPr>
                </a:tc>
                <a:tc>
                  <a:txBody>
                    <a:bodyPr/>
                    <a:lstStyle/>
                    <a:p>
                      <a:pPr rtl="1" algn="r"/>
                      <a:r>
                        <a:rPr sz="1700" b="0" i="0" lang="ar-EG" altLang="en-US">
                          <a:solidFill>
                            <a:srgbClr val="1C2333"/>
                          </a:solidFill>
                          <a:latin typeface="Traditional Arabic"/>
                        </a:rPr>
                        <a:t>الجدة</a:t>
                      </a:r>
                    </a:p>
                  </a:txBody>
                  <a:tcPr>
                    <a:solidFill>
                      <a:srgbClr val="EEF3FA"/>
                    </a:solidFill>
                  </a:tcPr>
                </a:tc>
              </a:tr>
              <a:tr h="384048">
                <a:tc>
                  <a:txBody>
                    <a:bodyPr/>
                    <a:lstStyle/>
                    <a:p>
                      <a:pPr rtl="0" algn="l"/>
                      <a:r>
                        <a:rPr sz="1500" b="1" i="0" lang="en-US">
                          <a:solidFill>
                            <a:srgbClr val="943F22"/>
                          </a:solidFill>
                          <a:latin typeface="Segoe UI"/>
                        </a:rPr>
                        <a:t>mother</a:t>
                      </a:r>
                    </a:p>
                  </a:txBody>
                  <a:tcPr>
                    <a:solidFill>
                      <a:srgbClr val="FFFFFF"/>
                    </a:solidFill>
                  </a:tcPr>
                </a:tc>
                <a:tc>
                  <a:txBody>
                    <a:bodyPr/>
                    <a:lstStyle/>
                    <a:p>
                      <a:pPr rtl="1" algn="r"/>
                      <a:r>
                        <a:rPr sz="1700" b="0" i="0" lang="ar-EG" altLang="en-US">
                          <a:solidFill>
                            <a:srgbClr val="1C2333"/>
                          </a:solidFill>
                          <a:latin typeface="Traditional Arabic"/>
                        </a:rPr>
                        <a:t>أم</a:t>
                      </a:r>
                    </a:p>
                  </a:txBody>
                  <a:tcPr>
                    <a:solidFill>
                      <a:srgbClr val="FFFFFF"/>
                    </a:solidFill>
                  </a:tcPr>
                </a:tc>
                <a:tc>
                  <a:txBody>
                    <a:bodyPr/>
                    <a:lstStyle/>
                    <a:p>
                      <a:pPr rtl="0" algn="l"/>
                      <a:r>
                        <a:rPr sz="1500" b="1" i="0" lang="en-US">
                          <a:solidFill>
                            <a:srgbClr val="943F22"/>
                          </a:solidFill>
                          <a:latin typeface="Segoe UI"/>
                        </a:rPr>
                        <a:t>ear</a:t>
                      </a:r>
                    </a:p>
                  </a:txBody>
                  <a:tcPr>
                    <a:solidFill>
                      <a:srgbClr val="FFFFFF"/>
                    </a:solidFill>
                  </a:tcPr>
                </a:tc>
                <a:tc>
                  <a:txBody>
                    <a:bodyPr/>
                    <a:lstStyle/>
                    <a:p>
                      <a:pPr rtl="1" algn="r"/>
                      <a:r>
                        <a:rPr sz="1700" b="0" i="0" lang="ar-EG" altLang="en-US">
                          <a:solidFill>
                            <a:srgbClr val="1C2333"/>
                          </a:solidFill>
                          <a:latin typeface="Traditional Arabic"/>
                        </a:rPr>
                        <a:t>أذن</a:t>
                      </a:r>
                    </a:p>
                  </a:txBody>
                  <a:tcPr>
                    <a:solidFill>
                      <a:srgbClr val="FFFFFF"/>
                    </a:solidFill>
                  </a:tcPr>
                </a:tc>
                <a:tc>
                  <a:txBody>
                    <a:bodyPr/>
                    <a:lstStyle/>
                    <a:p>
                      <a:pPr rtl="0" algn="l"/>
                      <a:r>
                        <a:rPr sz="1500" b="1" i="0" lang="en-US">
                          <a:solidFill>
                            <a:srgbClr val="943F22"/>
                          </a:solidFill>
                          <a:latin typeface="Segoe UI"/>
                        </a:rPr>
                        <a:t>notebook</a:t>
                      </a:r>
                    </a:p>
                  </a:txBody>
                  <a:tcPr>
                    <a:solidFill>
                      <a:srgbClr val="FFFFFF"/>
                    </a:solidFill>
                  </a:tcPr>
                </a:tc>
                <a:tc>
                  <a:txBody>
                    <a:bodyPr/>
                    <a:lstStyle/>
                    <a:p>
                      <a:pPr rtl="1" algn="r"/>
                      <a:r>
                        <a:rPr sz="1700" b="0" i="0" lang="ar-EG" altLang="en-US">
                          <a:solidFill>
                            <a:srgbClr val="1C2333"/>
                          </a:solidFill>
                          <a:latin typeface="Traditional Arabic"/>
                        </a:rPr>
                        <a:t>كراسة</a:t>
                      </a:r>
                    </a:p>
                  </a:txBody>
                  <a:tcPr>
                    <a:solidFill>
                      <a:srgbClr val="FFFFFF"/>
                    </a:solidFill>
                  </a:tcPr>
                </a:tc>
              </a:tr>
              <a:tr h="384048">
                <a:tc>
                  <a:txBody>
                    <a:bodyPr/>
                    <a:lstStyle/>
                    <a:p>
                      <a:pPr rtl="0" algn="l"/>
                      <a:r>
                        <a:rPr sz="1500" b="1" i="0" lang="en-US">
                          <a:solidFill>
                            <a:srgbClr val="943F22"/>
                          </a:solidFill>
                          <a:latin typeface="Segoe UI"/>
                        </a:rPr>
                        <a:t>pencil</a:t>
                      </a:r>
                    </a:p>
                  </a:txBody>
                  <a:tcPr>
                    <a:solidFill>
                      <a:srgbClr val="EEF3FA"/>
                    </a:solidFill>
                  </a:tcPr>
                </a:tc>
                <a:tc>
                  <a:txBody>
                    <a:bodyPr/>
                    <a:lstStyle/>
                    <a:p>
                      <a:pPr rtl="1" algn="r"/>
                      <a:r>
                        <a:rPr sz="1700" b="0" i="0" lang="ar-EG" altLang="en-US">
                          <a:solidFill>
                            <a:srgbClr val="1C2333"/>
                          </a:solidFill>
                          <a:latin typeface="Traditional Arabic"/>
                        </a:rPr>
                        <a:t>قلم رصاص</a:t>
                      </a:r>
                    </a:p>
                  </a:txBody>
                  <a:tcPr>
                    <a:solidFill>
                      <a:srgbClr val="EEF3FA"/>
                    </a:solidFill>
                  </a:tcPr>
                </a:tc>
                <a:tc>
                  <a:txBody>
                    <a:bodyPr/>
                    <a:lstStyle/>
                    <a:p>
                      <a:pPr rtl="0" algn="l"/>
                      <a:r>
                        <a:rPr sz="1500" b="1" i="0" lang="en-US">
                          <a:solidFill>
                            <a:srgbClr val="943F22"/>
                          </a:solidFill>
                          <a:latin typeface="Segoe UI"/>
                        </a:rPr>
                        <a:t>cousin</a:t>
                      </a:r>
                    </a:p>
                  </a:txBody>
                  <a:tcPr>
                    <a:solidFill>
                      <a:srgbClr val="EEF3FA"/>
                    </a:solidFill>
                  </a:tcPr>
                </a:tc>
                <a:tc>
                  <a:txBody>
                    <a:bodyPr/>
                    <a:lstStyle/>
                    <a:p>
                      <a:pPr rtl="1" algn="r"/>
                      <a:r>
                        <a:rPr sz="1700" b="0" i="0" lang="ar-EG" altLang="en-US">
                          <a:solidFill>
                            <a:srgbClr val="1C2333"/>
                          </a:solidFill>
                          <a:latin typeface="Traditional Arabic"/>
                        </a:rPr>
                        <a:t>ابن العم / الخال</a:t>
                      </a:r>
                    </a:p>
                  </a:txBody>
                  <a:tcPr>
                    <a:solidFill>
                      <a:srgbClr val="EEF3FA"/>
                    </a:solidFill>
                  </a:tcPr>
                </a:tc>
                <a:tc>
                  <a:txBody>
                    <a:bodyPr/>
                    <a:lstStyle/>
                    <a:p>
                      <a:pPr rtl="0" algn="l"/>
                      <a:r>
                        <a:rPr sz="1500" b="1" i="0" lang="en-US">
                          <a:solidFill>
                            <a:srgbClr val="943F22"/>
                          </a:solidFill>
                          <a:latin typeface="Segoe UI"/>
                        </a:rPr>
                        <a:t>hand</a:t>
                      </a:r>
                    </a:p>
                  </a:txBody>
                  <a:tcPr>
                    <a:solidFill>
                      <a:srgbClr val="EEF3FA"/>
                    </a:solidFill>
                  </a:tcPr>
                </a:tc>
                <a:tc>
                  <a:txBody>
                    <a:bodyPr/>
                    <a:lstStyle/>
                    <a:p>
                      <a:pPr rtl="1" algn="r"/>
                      <a:r>
                        <a:rPr sz="1700" b="0" i="0" lang="ar-EG" altLang="en-US">
                          <a:solidFill>
                            <a:srgbClr val="1C2333"/>
                          </a:solidFill>
                          <a:latin typeface="Traditional Arabic"/>
                        </a:rPr>
                        <a:t>يد</a:t>
                      </a:r>
                    </a:p>
                  </a:txBody>
                  <a:tcPr>
                    <a:solidFill>
                      <a:srgbClr val="EEF3FA"/>
                    </a:solidFill>
                  </a:tcPr>
                </a:tc>
              </a:tr>
              <a:tr h="384048">
                <a:tc>
                  <a:txBody>
                    <a:bodyPr/>
                    <a:lstStyle/>
                    <a:p>
                      <a:pPr rtl="0" algn="l"/>
                      <a:r>
                        <a:rPr sz="1500" b="1" i="0" lang="en-US">
                          <a:solidFill>
                            <a:srgbClr val="943F22"/>
                          </a:solidFill>
                          <a:latin typeface="Segoe UI"/>
                        </a:rPr>
                        <a:t>nose</a:t>
                      </a:r>
                    </a:p>
                  </a:txBody>
                  <a:tcPr>
                    <a:solidFill>
                      <a:srgbClr val="FFFFFF"/>
                    </a:solidFill>
                  </a:tcPr>
                </a:tc>
                <a:tc>
                  <a:txBody>
                    <a:bodyPr/>
                    <a:lstStyle/>
                    <a:p>
                      <a:pPr rtl="1" algn="r"/>
                      <a:r>
                        <a:rPr sz="1700" b="0" i="0" lang="ar-EG" altLang="en-US">
                          <a:solidFill>
                            <a:srgbClr val="1C2333"/>
                          </a:solidFill>
                          <a:latin typeface="Traditional Arabic"/>
                        </a:rPr>
                        <a:t>أنف</a:t>
                      </a:r>
                    </a:p>
                  </a:txBody>
                  <a:tcPr>
                    <a:solidFill>
                      <a:srgbClr val="FFFFFF"/>
                    </a:solidFill>
                  </a:tcPr>
                </a:tc>
                <a:tc>
                  <a:txBody>
                    <a:bodyPr/>
                    <a:lstStyle/>
                    <a:p>
                      <a:pPr rtl="0" algn="l"/>
                      <a:r>
                        <a:rPr sz="1500" b="1" i="0" lang="en-US">
                          <a:solidFill>
                            <a:srgbClr val="943F22"/>
                          </a:solidFill>
                          <a:latin typeface="Segoe UI"/>
                        </a:rPr>
                        <a:t>sharpener</a:t>
                      </a:r>
                    </a:p>
                  </a:txBody>
                  <a:tcPr>
                    <a:solidFill>
                      <a:srgbClr val="FFFFFF"/>
                    </a:solidFill>
                  </a:tcPr>
                </a:tc>
                <a:tc>
                  <a:txBody>
                    <a:bodyPr/>
                    <a:lstStyle/>
                    <a:p>
                      <a:pPr rtl="1" algn="r"/>
                      <a:r>
                        <a:rPr sz="1700" b="0" i="0" lang="ar-EG" altLang="en-US">
                          <a:solidFill>
                            <a:srgbClr val="1C2333"/>
                          </a:solidFill>
                          <a:latin typeface="Traditional Arabic"/>
                        </a:rPr>
                        <a:t>براية</a:t>
                      </a:r>
                    </a:p>
                  </a:txBody>
                  <a:tcPr>
                    <a:solidFill>
                      <a:srgbClr val="FFFFFF"/>
                    </a:solidFill>
                  </a:tcPr>
                </a:tc>
                <a:tc>
                  <a:txBody>
                    <a:bodyPr/>
                    <a:lstStyle/>
                    <a:p>
                      <a:pPr rtl="0" algn="l"/>
                      <a:r>
                        <a:rPr sz="1500" b="1" i="0" lang="en-US">
                          <a:solidFill>
                            <a:srgbClr val="943F22"/>
                          </a:solidFill>
                          <a:latin typeface="Segoe UI"/>
                        </a:rPr>
                        <a:t>child</a:t>
                      </a:r>
                    </a:p>
                  </a:txBody>
                  <a:tcPr>
                    <a:solidFill>
                      <a:srgbClr val="FFFFFF"/>
                    </a:solidFill>
                  </a:tcPr>
                </a:tc>
                <a:tc>
                  <a:txBody>
                    <a:bodyPr/>
                    <a:lstStyle/>
                    <a:p>
                      <a:pPr rtl="1" algn="r"/>
                      <a:r>
                        <a:rPr sz="1700" b="0" i="0" lang="ar-EG" altLang="en-US">
                          <a:solidFill>
                            <a:srgbClr val="1C2333"/>
                          </a:solidFill>
                          <a:latin typeface="Traditional Arabic"/>
                        </a:rPr>
                        <a:t>طفل</a:t>
                      </a:r>
                    </a:p>
                  </a:txBody>
                  <a:tcPr>
                    <a:solidFill>
                      <a:srgbClr val="FFFFFF"/>
                    </a:solidFill>
                  </a:tcPr>
                </a:tc>
              </a:tr>
              <a:tr h="384048">
                <a:tc>
                  <a:txBody>
                    <a:bodyPr/>
                    <a:lstStyle/>
                    <a:p>
                      <a:pPr rtl="0" algn="l"/>
                      <a:r>
                        <a:rPr sz="1500" b="1" i="0" lang="en-US">
                          <a:solidFill>
                            <a:srgbClr val="943F22"/>
                          </a:solidFill>
                          <a:latin typeface="Segoe UI"/>
                        </a:rPr>
                        <a:t>brother</a:t>
                      </a:r>
                    </a:p>
                  </a:txBody>
                  <a:tcPr>
                    <a:solidFill>
                      <a:srgbClr val="EEF3FA"/>
                    </a:solidFill>
                  </a:tcPr>
                </a:tc>
                <a:tc>
                  <a:txBody>
                    <a:bodyPr/>
                    <a:lstStyle/>
                    <a:p>
                      <a:pPr rtl="1" algn="r"/>
                      <a:r>
                        <a:rPr sz="1700" b="0" i="0" lang="ar-EG" altLang="en-US">
                          <a:solidFill>
                            <a:srgbClr val="1C2333"/>
                          </a:solidFill>
                          <a:latin typeface="Traditional Arabic"/>
                        </a:rPr>
                        <a:t>أخ</a:t>
                      </a:r>
                    </a:p>
                  </a:txBody>
                  <a:tcPr>
                    <a:solidFill>
                      <a:srgbClr val="EEF3FA"/>
                    </a:solidFill>
                  </a:tcPr>
                </a:tc>
                <a:tc>
                  <a:txBody>
                    <a:bodyPr/>
                    <a:lstStyle/>
                    <a:p>
                      <a:pPr rtl="0" algn="l"/>
                      <a:r>
                        <a:rPr sz="1500" b="1" i="0" lang="en-US">
                          <a:solidFill>
                            <a:srgbClr val="943F22"/>
                          </a:solidFill>
                          <a:latin typeface="Segoe UI"/>
                        </a:rPr>
                        <a:t>hair</a:t>
                      </a:r>
                    </a:p>
                  </a:txBody>
                  <a:tcPr>
                    <a:solidFill>
                      <a:srgbClr val="EEF3FA"/>
                    </a:solidFill>
                  </a:tcPr>
                </a:tc>
                <a:tc>
                  <a:txBody>
                    <a:bodyPr/>
                    <a:lstStyle/>
                    <a:p>
                      <a:pPr rtl="1" algn="r"/>
                      <a:r>
                        <a:rPr sz="1700" b="0" i="0" lang="ar-EG" altLang="en-US">
                          <a:solidFill>
                            <a:srgbClr val="1C2333"/>
                          </a:solidFill>
                          <a:latin typeface="Traditional Arabic"/>
                        </a:rPr>
                        <a:t>شعر</a:t>
                      </a:r>
                    </a:p>
                  </a:txBody>
                  <a:tcPr>
                    <a:solidFill>
                      <a:srgbClr val="EEF3FA"/>
                    </a:solidFill>
                  </a:tcPr>
                </a:tc>
                <a:tc>
                  <a:txBody>
                    <a:bodyPr/>
                    <a:lstStyle/>
                    <a:p>
                      <a:pPr rtl="0" algn="l"/>
                      <a:r>
                        <a:rPr sz="1500" b="1" i="0" lang="en-US">
                          <a:solidFill>
                            <a:srgbClr val="943F22"/>
                          </a:solidFill>
                          <a:latin typeface="Segoe UI"/>
                        </a:rPr>
                        <a:t>bag</a:t>
                      </a:r>
                    </a:p>
                  </a:txBody>
                  <a:tcPr>
                    <a:solidFill>
                      <a:srgbClr val="EEF3FA"/>
                    </a:solidFill>
                  </a:tcPr>
                </a:tc>
                <a:tc>
                  <a:txBody>
                    <a:bodyPr/>
                    <a:lstStyle/>
                    <a:p>
                      <a:pPr rtl="1" algn="r"/>
                      <a:r>
                        <a:rPr sz="1700" b="0" i="0" lang="ar-EG" altLang="en-US">
                          <a:solidFill>
                            <a:srgbClr val="1C2333"/>
                          </a:solidFill>
                          <a:latin typeface="Traditional Arabic"/>
                        </a:rPr>
                        <a:t>حقيبة</a:t>
                      </a:r>
                    </a:p>
                  </a:txBody>
                  <a:tcPr>
                    <a:solidFill>
                      <a:srgbClr val="EEF3FA"/>
                    </a:solidFill>
                  </a:tcPr>
                </a:tc>
              </a:tr>
            </a:tbl>
          </a:graphicData>
        </a:graphic>
      </p:graphicFrame>
    </p:spTree>
  </p:cSld>
  <p:clrMapOvr>
    <a:masterClrMapping/>
  </p:clrMapOvr>
  <p:transition spd="med">
    <p:wheel spokes="4"/>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finger</a:t>
                      </a:r>
                    </a:p>
                  </a:txBody>
                  <a:tcPr>
                    <a:solidFill>
                      <a:srgbClr val="FFFFFF"/>
                    </a:solidFill>
                  </a:tcPr>
                </a:tc>
                <a:tc>
                  <a:txBody>
                    <a:bodyPr/>
                    <a:lstStyle/>
                    <a:p>
                      <a:pPr rtl="1" algn="r"/>
                      <a:r>
                        <a:rPr sz="1700" b="0" i="0" lang="ar-EG" altLang="en-US">
                          <a:solidFill>
                            <a:srgbClr val="1C2333"/>
                          </a:solidFill>
                          <a:latin typeface="Traditional Arabic"/>
                        </a:rPr>
                        <a:t>إصبع اليد</a:t>
                      </a:r>
                    </a:p>
                  </a:txBody>
                  <a:tcPr>
                    <a:solidFill>
                      <a:srgbClr val="FFFFFF"/>
                    </a:solidFill>
                  </a:tcPr>
                </a:tc>
                <a:tc>
                  <a:txBody>
                    <a:bodyPr/>
                    <a:lstStyle/>
                    <a:p>
                      <a:pPr rtl="0" algn="l"/>
                      <a:r>
                        <a:rPr sz="1500" b="1" i="0" lang="en-US">
                          <a:solidFill>
                            <a:srgbClr val="943F22"/>
                          </a:solidFill>
                          <a:latin typeface="Segoe UI"/>
                        </a:rPr>
                        <a:t>heart</a:t>
                      </a:r>
                    </a:p>
                  </a:txBody>
                  <a:tcPr>
                    <a:solidFill>
                      <a:srgbClr val="FFFFFF"/>
                    </a:solidFill>
                  </a:tcPr>
                </a:tc>
                <a:tc>
                  <a:txBody>
                    <a:bodyPr/>
                    <a:lstStyle/>
                    <a:p>
                      <a:pPr rtl="1" algn="r"/>
                      <a:r>
                        <a:rPr sz="1700" b="0" i="0" lang="ar-EG" altLang="en-US">
                          <a:solidFill>
                            <a:srgbClr val="1C2333"/>
                          </a:solidFill>
                          <a:latin typeface="Traditional Arabic"/>
                        </a:rPr>
                        <a:t>قلب</a:t>
                      </a:r>
                    </a:p>
                  </a:txBody>
                  <a:tcPr>
                    <a:solidFill>
                      <a:srgbClr val="FFFFFF"/>
                    </a:solidFill>
                  </a:tcPr>
                </a:tc>
                <a:tc>
                  <a:txBody>
                    <a:bodyPr/>
                    <a:lstStyle/>
                    <a:p>
                      <a:pPr rtl="0" algn="l"/>
                      <a:r>
                        <a:rPr sz="1500" b="1" i="0" lang="en-US">
                          <a:solidFill>
                            <a:srgbClr val="943F22"/>
                          </a:solidFill>
                          <a:latin typeface="Segoe UI"/>
                        </a:rPr>
                        <a:t>sky</a:t>
                      </a:r>
                    </a:p>
                  </a:txBody>
                  <a:tcPr>
                    <a:solidFill>
                      <a:srgbClr val="FFFFFF"/>
                    </a:solidFill>
                  </a:tcPr>
                </a:tc>
                <a:tc>
                  <a:txBody>
                    <a:bodyPr/>
                    <a:lstStyle/>
                    <a:p>
                      <a:pPr rtl="1" algn="r"/>
                      <a:r>
                        <a:rPr sz="1700" b="0" i="0" lang="ar-EG" altLang="en-US">
                          <a:solidFill>
                            <a:srgbClr val="1C2333"/>
                          </a:solidFill>
                          <a:latin typeface="Traditional Arabic"/>
                        </a:rPr>
                        <a:t>سماء</a:t>
                      </a:r>
                    </a:p>
                  </a:txBody>
                  <a:tcPr>
                    <a:solidFill>
                      <a:srgbClr val="FFFFFF"/>
                    </a:solidFill>
                  </a:tcPr>
                </a:tc>
              </a:tr>
              <a:tr h="384048">
                <a:tc>
                  <a:txBody>
                    <a:bodyPr/>
                    <a:lstStyle/>
                    <a:p>
                      <a:pPr rtl="0" algn="l"/>
                      <a:r>
                        <a:rPr sz="1500" b="1" i="0" lang="en-US">
                          <a:solidFill>
                            <a:srgbClr val="943F22"/>
                          </a:solidFill>
                          <a:latin typeface="Segoe UI"/>
                        </a:rPr>
                        <a:t>children</a:t>
                      </a:r>
                    </a:p>
                  </a:txBody>
                  <a:tcPr>
                    <a:solidFill>
                      <a:srgbClr val="EEF3FA"/>
                    </a:solidFill>
                  </a:tcPr>
                </a:tc>
                <a:tc>
                  <a:txBody>
                    <a:bodyPr/>
                    <a:lstStyle/>
                    <a:p>
                      <a:pPr rtl="1" algn="r"/>
                      <a:r>
                        <a:rPr sz="1700" b="0" i="0" lang="ar-EG" altLang="en-US">
                          <a:solidFill>
                            <a:srgbClr val="1C2333"/>
                          </a:solidFill>
                          <a:latin typeface="Traditional Arabic"/>
                        </a:rPr>
                        <a:t>أطفال</a:t>
                      </a:r>
                    </a:p>
                  </a:txBody>
                  <a:tcPr>
                    <a:solidFill>
                      <a:srgbClr val="EEF3FA"/>
                    </a:solidFill>
                  </a:tcPr>
                </a:tc>
                <a:tc>
                  <a:txBody>
                    <a:bodyPr/>
                    <a:lstStyle/>
                    <a:p>
                      <a:pPr rtl="0" algn="l"/>
                      <a:r>
                        <a:rPr sz="1500" b="1" i="0" lang="en-US">
                          <a:solidFill>
                            <a:srgbClr val="943F22"/>
                          </a:solidFill>
                          <a:latin typeface="Segoe UI"/>
                        </a:rPr>
                        <a:t>cloud</a:t>
                      </a:r>
                    </a:p>
                  </a:txBody>
                  <a:tcPr>
                    <a:solidFill>
                      <a:srgbClr val="EEF3FA"/>
                    </a:solidFill>
                  </a:tcPr>
                </a:tc>
                <a:tc>
                  <a:txBody>
                    <a:bodyPr/>
                    <a:lstStyle/>
                    <a:p>
                      <a:pPr rtl="1" algn="r"/>
                      <a:r>
                        <a:rPr sz="1700" b="0" i="0" lang="ar-EG" altLang="en-US">
                          <a:solidFill>
                            <a:srgbClr val="1C2333"/>
                          </a:solidFill>
                          <a:latin typeface="Traditional Arabic"/>
                        </a:rPr>
                        <a:t>سحابة</a:t>
                      </a:r>
                    </a:p>
                  </a:txBody>
                  <a:tcPr>
                    <a:solidFill>
                      <a:srgbClr val="EEF3FA"/>
                    </a:solidFill>
                  </a:tcPr>
                </a:tc>
                <a:tc>
                  <a:txBody>
                    <a:bodyPr/>
                    <a:lstStyle/>
                    <a:p>
                      <a:pPr rtl="0" algn="l"/>
                      <a:r>
                        <a:rPr sz="1500" b="1" i="0" lang="en-US">
                          <a:solidFill>
                            <a:srgbClr val="943F22"/>
                          </a:solidFill>
                          <a:latin typeface="Segoe UI"/>
                        </a:rPr>
                        <a:t>foot / feet</a:t>
                      </a:r>
                    </a:p>
                  </a:txBody>
                  <a:tcPr>
                    <a:solidFill>
                      <a:srgbClr val="EEF3FA"/>
                    </a:solidFill>
                  </a:tcPr>
                </a:tc>
                <a:tc>
                  <a:txBody>
                    <a:bodyPr/>
                    <a:lstStyle/>
                    <a:p>
                      <a:pPr rtl="1" algn="r"/>
                      <a:r>
                        <a:rPr sz="1700" b="0" i="0" lang="ar-EG" altLang="en-US">
                          <a:solidFill>
                            <a:srgbClr val="1C2333"/>
                          </a:solidFill>
                          <a:latin typeface="Traditional Arabic"/>
                        </a:rPr>
                        <a:t>قدم / أقدام</a:t>
                      </a:r>
                    </a:p>
                  </a:txBody>
                  <a:tcPr>
                    <a:solidFill>
                      <a:srgbClr val="EEF3FA"/>
                    </a:solidFill>
                  </a:tcPr>
                </a:tc>
              </a:tr>
              <a:tr h="384048">
                <a:tc>
                  <a:txBody>
                    <a:bodyPr/>
                    <a:lstStyle/>
                    <a:p>
                      <a:pPr rtl="0" algn="l"/>
                      <a:r>
                        <a:rPr sz="1500" b="1" i="0" lang="en-US">
                          <a:solidFill>
                            <a:srgbClr val="943F22"/>
                          </a:solidFill>
                          <a:latin typeface="Segoe UI"/>
                        </a:rPr>
                        <a:t>moon</a:t>
                      </a:r>
                    </a:p>
                  </a:txBody>
                  <a:tcPr>
                    <a:solidFill>
                      <a:srgbClr val="FFFFFF"/>
                    </a:solidFill>
                  </a:tcPr>
                </a:tc>
                <a:tc>
                  <a:txBody>
                    <a:bodyPr/>
                    <a:lstStyle/>
                    <a:p>
                      <a:pPr rtl="1" algn="r"/>
                      <a:r>
                        <a:rPr sz="1700" b="0" i="0" lang="ar-EG" altLang="en-US">
                          <a:solidFill>
                            <a:srgbClr val="1C2333"/>
                          </a:solidFill>
                          <a:latin typeface="Traditional Arabic"/>
                        </a:rPr>
                        <a:t>قمر</a:t>
                      </a:r>
                    </a:p>
                  </a:txBody>
                  <a:tcPr>
                    <a:solidFill>
                      <a:srgbClr val="FFFFFF"/>
                    </a:solidFill>
                  </a:tcPr>
                </a:tc>
                <a:tc>
                  <a:txBody>
                    <a:bodyPr/>
                    <a:lstStyle/>
                    <a:p>
                      <a:pPr rtl="0" algn="l"/>
                      <a:r>
                        <a:rPr sz="1500" b="1" i="0" lang="en-US">
                          <a:solidFill>
                            <a:srgbClr val="943F22"/>
                          </a:solidFill>
                          <a:latin typeface="Segoe UI"/>
                        </a:rPr>
                        <a:t>leg</a:t>
                      </a:r>
                    </a:p>
                  </a:txBody>
                  <a:tcPr>
                    <a:solidFill>
                      <a:srgbClr val="FFFFFF"/>
                    </a:solidFill>
                  </a:tcPr>
                </a:tc>
                <a:tc>
                  <a:txBody>
                    <a:bodyPr/>
                    <a:lstStyle/>
                    <a:p>
                      <a:pPr rtl="1" algn="r"/>
                      <a:r>
                        <a:rPr sz="1700" b="0" i="0" lang="ar-EG" altLang="en-US">
                          <a:solidFill>
                            <a:srgbClr val="1C2333"/>
                          </a:solidFill>
                          <a:latin typeface="Traditional Arabic"/>
                        </a:rPr>
                        <a:t>رجل</a:t>
                      </a:r>
                    </a:p>
                  </a:txBody>
                  <a:tcPr>
                    <a:solidFill>
                      <a:srgbClr val="FFFFFF"/>
                    </a:solidFill>
                  </a:tcPr>
                </a:tc>
                <a:tc>
                  <a:txBody>
                    <a:bodyPr/>
                    <a:lstStyle/>
                    <a:p>
                      <a:pPr rtl="0" algn="l"/>
                      <a:r>
                        <a:rPr sz="1500" b="1" i="0" lang="en-US">
                          <a:solidFill>
                            <a:srgbClr val="943F22"/>
                          </a:solidFill>
                          <a:latin typeface="Segoe UI"/>
                        </a:rPr>
                        <a:t>aunt</a:t>
                      </a:r>
                    </a:p>
                  </a:txBody>
                  <a:tcPr>
                    <a:solidFill>
                      <a:srgbClr val="FFFFFF"/>
                    </a:solidFill>
                  </a:tcPr>
                </a:tc>
                <a:tc>
                  <a:txBody>
                    <a:bodyPr/>
                    <a:lstStyle/>
                    <a:p>
                      <a:pPr rtl="1" algn="r"/>
                      <a:r>
                        <a:rPr sz="1700" b="0" i="0" lang="ar-EG" altLang="en-US">
                          <a:solidFill>
                            <a:srgbClr val="1C2333"/>
                          </a:solidFill>
                          <a:latin typeface="Traditional Arabic"/>
                        </a:rPr>
                        <a:t>عمة / خالة</a:t>
                      </a:r>
                    </a:p>
                  </a:txBody>
                  <a:tcPr>
                    <a:solidFill>
                      <a:srgbClr val="FFFFFF"/>
                    </a:solidFill>
                  </a:tcPr>
                </a:tc>
              </a:tr>
              <a:tr h="384048">
                <a:tc>
                  <a:txBody>
                    <a:bodyPr/>
                    <a:lstStyle/>
                    <a:p>
                      <a:pPr rtl="0" algn="l"/>
                      <a:r>
                        <a:rPr sz="1500" b="1" i="0" lang="en-US">
                          <a:solidFill>
                            <a:srgbClr val="943F22"/>
                          </a:solidFill>
                          <a:latin typeface="Segoe UI"/>
                        </a:rPr>
                        <a:t>shoulder</a:t>
                      </a:r>
                    </a:p>
                  </a:txBody>
                  <a:tcPr>
                    <a:solidFill>
                      <a:srgbClr val="EEF3FA"/>
                    </a:solidFill>
                  </a:tcPr>
                </a:tc>
                <a:tc>
                  <a:txBody>
                    <a:bodyPr/>
                    <a:lstStyle/>
                    <a:p>
                      <a:pPr rtl="1" algn="r"/>
                      <a:r>
                        <a:rPr sz="1700" b="0" i="0" lang="ar-EG" altLang="en-US">
                          <a:solidFill>
                            <a:srgbClr val="1C2333"/>
                          </a:solidFill>
                          <a:latin typeface="Traditional Arabic"/>
                        </a:rPr>
                        <a:t>الكتف</a:t>
                      </a:r>
                    </a:p>
                  </a:txBody>
                  <a:tcPr>
                    <a:solidFill>
                      <a:srgbClr val="EEF3FA"/>
                    </a:solidFill>
                  </a:tcPr>
                </a:tc>
                <a:tc>
                  <a:txBody>
                    <a:bodyPr/>
                    <a:lstStyle/>
                    <a:p>
                      <a:pPr rtl="0" algn="l"/>
                      <a:r>
                        <a:rPr sz="1500" b="1" i="0" lang="en-US">
                          <a:solidFill>
                            <a:srgbClr val="943F22"/>
                          </a:solidFill>
                          <a:latin typeface="Segoe UI"/>
                        </a:rPr>
                        <a:t>uncle</a:t>
                      </a:r>
                    </a:p>
                  </a:txBody>
                  <a:tcPr>
                    <a:solidFill>
                      <a:srgbClr val="EEF3FA"/>
                    </a:solidFill>
                  </a:tcPr>
                </a:tc>
                <a:tc>
                  <a:txBody>
                    <a:bodyPr/>
                    <a:lstStyle/>
                    <a:p>
                      <a:pPr rtl="1" algn="r"/>
                      <a:r>
                        <a:rPr sz="1700" b="0" i="0" lang="ar-EG" altLang="en-US">
                          <a:solidFill>
                            <a:srgbClr val="1C2333"/>
                          </a:solidFill>
                          <a:latin typeface="Traditional Arabic"/>
                        </a:rPr>
                        <a:t>عم / خال</a:t>
                      </a:r>
                    </a:p>
                  </a:txBody>
                  <a:tcPr>
                    <a:solidFill>
                      <a:srgbClr val="EEF3FA"/>
                    </a:solidFill>
                  </a:tcPr>
                </a:tc>
                <a:tc>
                  <a:txBody>
                    <a:bodyPr/>
                    <a:lstStyle/>
                    <a:p>
                      <a:pPr rtl="0" algn="l"/>
                      <a:r>
                        <a:rPr sz="1500" b="1" i="0" lang="en-US">
                          <a:solidFill>
                            <a:srgbClr val="943F22"/>
                          </a:solidFill>
                          <a:latin typeface="Segoe UI"/>
                        </a:rPr>
                        <a:t>rainbow</a:t>
                      </a:r>
                    </a:p>
                  </a:txBody>
                  <a:tcPr>
                    <a:solidFill>
                      <a:srgbClr val="EEF3FA"/>
                    </a:solidFill>
                  </a:tcPr>
                </a:tc>
                <a:tc>
                  <a:txBody>
                    <a:bodyPr/>
                    <a:lstStyle/>
                    <a:p>
                      <a:pPr rtl="1" algn="r"/>
                      <a:r>
                        <a:rPr sz="1700" b="0" i="0" lang="ar-EG" altLang="en-US">
                          <a:solidFill>
                            <a:srgbClr val="1C2333"/>
                          </a:solidFill>
                          <a:latin typeface="Traditional Arabic"/>
                        </a:rPr>
                        <a:t>قوس قزح</a:t>
                      </a:r>
                    </a:p>
                  </a:txBody>
                  <a:tcPr>
                    <a:solidFill>
                      <a:srgbClr val="EEF3FA"/>
                    </a:solidFill>
                  </a:tcPr>
                </a:tc>
              </a:tr>
            </a:tbl>
          </a:graphicData>
        </a:graphic>
      </p:graphicFrame>
    </p:spTree>
  </p:cSld>
  <p:clrMapOvr>
    <a:masterClrMapping/>
  </p:clrMapOvr>
  <p:transition spd="med">
    <p:pull dir="r"/>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bus</a:t>
                      </a:r>
                    </a:p>
                  </a:txBody>
                  <a:tcPr>
                    <a:solidFill>
                      <a:srgbClr val="FFFFFF"/>
                    </a:solidFill>
                  </a:tcPr>
                </a:tc>
                <a:tc>
                  <a:txBody>
                    <a:bodyPr/>
                    <a:lstStyle/>
                    <a:p>
                      <a:pPr rtl="1" algn="r"/>
                      <a:r>
                        <a:rPr sz="1700" b="0" i="0" lang="ar-EG" altLang="en-US">
                          <a:solidFill>
                            <a:srgbClr val="1C2333"/>
                          </a:solidFill>
                          <a:latin typeface="Traditional Arabic"/>
                        </a:rPr>
                        <a:t>أتوبيس</a:t>
                      </a:r>
                    </a:p>
                  </a:txBody>
                  <a:tcPr>
                    <a:solidFill>
                      <a:srgbClr val="FFFFFF"/>
                    </a:solidFill>
                  </a:tcPr>
                </a:tc>
                <a:tc>
                  <a:txBody>
                    <a:bodyPr/>
                    <a:lstStyle/>
                    <a:p>
                      <a:pPr rtl="0" algn="l"/>
                      <a:r>
                        <a:rPr sz="1500" b="1" i="0" lang="en-US">
                          <a:solidFill>
                            <a:srgbClr val="943F22"/>
                          </a:solidFill>
                          <a:latin typeface="Segoe UI"/>
                        </a:rPr>
                        <a:t>metro</a:t>
                      </a:r>
                    </a:p>
                  </a:txBody>
                  <a:tcPr>
                    <a:solidFill>
                      <a:srgbClr val="FFFFFF"/>
                    </a:solidFill>
                  </a:tcPr>
                </a:tc>
                <a:tc>
                  <a:txBody>
                    <a:bodyPr/>
                    <a:lstStyle/>
                    <a:p>
                      <a:pPr rtl="1" algn="r"/>
                      <a:r>
                        <a:rPr sz="1700" b="0" i="0" lang="ar-EG" altLang="en-US">
                          <a:solidFill>
                            <a:srgbClr val="1C2333"/>
                          </a:solidFill>
                          <a:latin typeface="Traditional Arabic"/>
                        </a:rPr>
                        <a:t>مترو</a:t>
                      </a:r>
                    </a:p>
                  </a:txBody>
                  <a:tcPr>
                    <a:solidFill>
                      <a:srgbClr val="FFFFFF"/>
                    </a:solidFill>
                  </a:tcPr>
                </a:tc>
                <a:tc>
                  <a:txBody>
                    <a:bodyPr/>
                    <a:lstStyle/>
                    <a:p>
                      <a:pPr rtl="0" algn="l"/>
                      <a:r>
                        <a:rPr sz="1500" b="1" i="0" lang="en-US">
                          <a:solidFill>
                            <a:srgbClr val="943F22"/>
                          </a:solidFill>
                          <a:latin typeface="Segoe UI"/>
                        </a:rPr>
                        <a:t>truck</a:t>
                      </a:r>
                    </a:p>
                  </a:txBody>
                  <a:tcPr>
                    <a:solidFill>
                      <a:srgbClr val="FFFFFF"/>
                    </a:solidFill>
                  </a:tcPr>
                </a:tc>
                <a:tc>
                  <a:txBody>
                    <a:bodyPr/>
                    <a:lstStyle/>
                    <a:p>
                      <a:pPr rtl="1" algn="r"/>
                      <a:r>
                        <a:rPr sz="1700" b="0" i="0" lang="ar-EG" altLang="en-US">
                          <a:solidFill>
                            <a:srgbClr val="1C2333"/>
                          </a:solidFill>
                          <a:latin typeface="Traditional Arabic"/>
                        </a:rPr>
                        <a:t>شاحنة</a:t>
                      </a:r>
                    </a:p>
                  </a:txBody>
                  <a:tcPr>
                    <a:solidFill>
                      <a:srgbClr val="FFFFFF"/>
                    </a:solidFill>
                  </a:tcPr>
                </a:tc>
              </a:tr>
              <a:tr h="384048">
                <a:tc>
                  <a:txBody>
                    <a:bodyPr/>
                    <a:lstStyle/>
                    <a:p>
                      <a:pPr rtl="0" algn="l"/>
                      <a:r>
                        <a:rPr sz="1500" b="1" i="0" lang="en-US">
                          <a:solidFill>
                            <a:srgbClr val="943F22"/>
                          </a:solidFill>
                          <a:latin typeface="Segoe UI"/>
                        </a:rPr>
                        <a:t>train</a:t>
                      </a:r>
                    </a:p>
                  </a:txBody>
                  <a:tcPr>
                    <a:solidFill>
                      <a:srgbClr val="EEF3FA"/>
                    </a:solidFill>
                  </a:tcPr>
                </a:tc>
                <a:tc>
                  <a:txBody>
                    <a:bodyPr/>
                    <a:lstStyle/>
                    <a:p>
                      <a:pPr rtl="1" algn="r"/>
                      <a:r>
                        <a:rPr sz="1700" b="0" i="0" lang="ar-EG" altLang="en-US">
                          <a:solidFill>
                            <a:srgbClr val="1C2333"/>
                          </a:solidFill>
                          <a:latin typeface="Traditional Arabic"/>
                        </a:rPr>
                        <a:t>قطار</a:t>
                      </a:r>
                    </a:p>
                  </a:txBody>
                  <a:tcPr>
                    <a:solidFill>
                      <a:srgbClr val="EEF3FA"/>
                    </a:solidFill>
                  </a:tcPr>
                </a:tc>
                <a:tc>
                  <a:txBody>
                    <a:bodyPr/>
                    <a:lstStyle/>
                    <a:p>
                      <a:pPr rtl="0" algn="l"/>
                      <a:r>
                        <a:rPr sz="1500" b="1" i="0" lang="en-US">
                          <a:solidFill>
                            <a:srgbClr val="943F22"/>
                          </a:solidFill>
                          <a:latin typeface="Segoe UI"/>
                        </a:rPr>
                        <a:t>plane</a:t>
                      </a:r>
                    </a:p>
                  </a:txBody>
                  <a:tcPr>
                    <a:solidFill>
                      <a:srgbClr val="EEF3FA"/>
                    </a:solidFill>
                  </a:tcPr>
                </a:tc>
                <a:tc>
                  <a:txBody>
                    <a:bodyPr/>
                    <a:lstStyle/>
                    <a:p>
                      <a:pPr rtl="1" algn="r"/>
                      <a:r>
                        <a:rPr sz="1700" b="0" i="0" lang="ar-EG" altLang="en-US">
                          <a:solidFill>
                            <a:srgbClr val="1C2333"/>
                          </a:solidFill>
                          <a:latin typeface="Traditional Arabic"/>
                        </a:rPr>
                        <a:t>طائرة</a:t>
                      </a:r>
                    </a:p>
                  </a:txBody>
                  <a:tcPr>
                    <a:solidFill>
                      <a:srgbClr val="EEF3FA"/>
                    </a:solidFill>
                  </a:tcPr>
                </a:tc>
                <a:tc>
                  <a:txBody>
                    <a:bodyPr/>
                    <a:lstStyle/>
                    <a:p>
                      <a:pPr rtl="0" algn="l"/>
                      <a:r>
                        <a:rPr sz="1500" b="1" i="0" lang="en-US">
                          <a:solidFill>
                            <a:srgbClr val="943F22"/>
                          </a:solidFill>
                          <a:latin typeface="Segoe UI"/>
                        </a:rPr>
                        <a:t>street</a:t>
                      </a:r>
                    </a:p>
                  </a:txBody>
                  <a:tcPr>
                    <a:solidFill>
                      <a:srgbClr val="EEF3FA"/>
                    </a:solidFill>
                  </a:tcPr>
                </a:tc>
                <a:tc>
                  <a:txBody>
                    <a:bodyPr/>
                    <a:lstStyle/>
                    <a:p>
                      <a:pPr rtl="1" algn="r"/>
                      <a:r>
                        <a:rPr sz="1700" b="0" i="0" lang="ar-EG" altLang="en-US">
                          <a:solidFill>
                            <a:srgbClr val="1C2333"/>
                          </a:solidFill>
                          <a:latin typeface="Traditional Arabic"/>
                        </a:rPr>
                        <a:t>شارع</a:t>
                      </a:r>
                    </a:p>
                  </a:txBody>
                  <a:tcPr>
                    <a:solidFill>
                      <a:srgbClr val="EEF3FA"/>
                    </a:solidFill>
                  </a:tcPr>
                </a:tc>
              </a:tr>
              <a:tr h="384048">
                <a:tc>
                  <a:txBody>
                    <a:bodyPr/>
                    <a:lstStyle/>
                    <a:p>
                      <a:pPr rtl="0" algn="l"/>
                      <a:r>
                        <a:rPr sz="1500" b="1" i="0" lang="en-US">
                          <a:solidFill>
                            <a:srgbClr val="943F22"/>
                          </a:solidFill>
                          <a:latin typeface="Segoe UI"/>
                        </a:rPr>
                        <a:t>boat</a:t>
                      </a:r>
                    </a:p>
                  </a:txBody>
                  <a:tcPr>
                    <a:solidFill>
                      <a:srgbClr val="FFFFFF"/>
                    </a:solidFill>
                  </a:tcPr>
                </a:tc>
                <a:tc>
                  <a:txBody>
                    <a:bodyPr/>
                    <a:lstStyle/>
                    <a:p>
                      <a:pPr rtl="1" algn="r"/>
                      <a:r>
                        <a:rPr sz="1700" b="0" i="0" lang="ar-EG" altLang="en-US">
                          <a:solidFill>
                            <a:srgbClr val="1C2333"/>
                          </a:solidFill>
                          <a:latin typeface="Traditional Arabic"/>
                        </a:rPr>
                        <a:t>قارب</a:t>
                      </a:r>
                    </a:p>
                  </a:txBody>
                  <a:tcPr>
                    <a:solidFill>
                      <a:srgbClr val="FFFFFF"/>
                    </a:solidFill>
                  </a:tcPr>
                </a:tc>
                <a:tc>
                  <a:txBody>
                    <a:bodyPr/>
                    <a:lstStyle/>
                    <a:p>
                      <a:pPr rtl="0" algn="l"/>
                      <a:r>
                        <a:rPr sz="1500" b="1" i="0" lang="en-US">
                          <a:solidFill>
                            <a:srgbClr val="943F22"/>
                          </a:solidFill>
                          <a:latin typeface="Segoe UI"/>
                        </a:rPr>
                        <a:t>yacht</a:t>
                      </a:r>
                    </a:p>
                  </a:txBody>
                  <a:tcPr>
                    <a:solidFill>
                      <a:srgbClr val="FFFFFF"/>
                    </a:solidFill>
                  </a:tcPr>
                </a:tc>
                <a:tc>
                  <a:txBody>
                    <a:bodyPr/>
                    <a:lstStyle/>
                    <a:p>
                      <a:pPr rtl="1" algn="r"/>
                      <a:r>
                        <a:rPr sz="1700" b="0" i="0" lang="ar-EG" altLang="en-US">
                          <a:solidFill>
                            <a:srgbClr val="1C2333"/>
                          </a:solidFill>
                          <a:latin typeface="Traditional Arabic"/>
                        </a:rPr>
                        <a:t>يخت</a:t>
                      </a:r>
                    </a:p>
                  </a:txBody>
                  <a:tcPr>
                    <a:solidFill>
                      <a:srgbClr val="FFFFFF"/>
                    </a:solidFill>
                  </a:tcPr>
                </a:tc>
                <a:tc>
                  <a:txBody>
                    <a:bodyPr/>
                    <a:lstStyle/>
                    <a:p>
                      <a:pPr rtl="0" algn="l"/>
                      <a:r>
                        <a:rPr sz="1500" b="1" i="0" lang="en-US">
                          <a:solidFill>
                            <a:srgbClr val="943F22"/>
                          </a:solidFill>
                          <a:latin typeface="Segoe UI"/>
                        </a:rPr>
                        <a:t>road</a:t>
                      </a:r>
                    </a:p>
                  </a:txBody>
                  <a:tcPr>
                    <a:solidFill>
                      <a:srgbClr val="FFFFFF"/>
                    </a:solidFill>
                  </a:tcPr>
                </a:tc>
                <a:tc>
                  <a:txBody>
                    <a:bodyPr/>
                    <a:lstStyle/>
                    <a:p>
                      <a:pPr rtl="1" algn="r"/>
                      <a:r>
                        <a:rPr sz="1700" b="0" i="0" lang="ar-EG" altLang="en-US">
                          <a:solidFill>
                            <a:srgbClr val="1C2333"/>
                          </a:solidFill>
                          <a:latin typeface="Traditional Arabic"/>
                        </a:rPr>
                        <a:t>طريق</a:t>
                      </a:r>
                    </a:p>
                  </a:txBody>
                  <a:tcPr>
                    <a:solidFill>
                      <a:srgbClr val="FFFFFF"/>
                    </a:solidFill>
                  </a:tcPr>
                </a:tc>
              </a:tr>
              <a:tr h="384048">
                <a:tc>
                  <a:txBody>
                    <a:bodyPr/>
                    <a:lstStyle/>
                    <a:p>
                      <a:pPr rtl="0" algn="l"/>
                      <a:r>
                        <a:rPr sz="1500" b="1" i="0" lang="en-US">
                          <a:solidFill>
                            <a:srgbClr val="943F22"/>
                          </a:solidFill>
                          <a:latin typeface="Segoe UI"/>
                        </a:rPr>
                        <a:t>ship</a:t>
                      </a:r>
                    </a:p>
                  </a:txBody>
                  <a:tcPr>
                    <a:solidFill>
                      <a:srgbClr val="EEF3FA"/>
                    </a:solidFill>
                  </a:tcPr>
                </a:tc>
                <a:tc>
                  <a:txBody>
                    <a:bodyPr/>
                    <a:lstStyle/>
                    <a:p>
                      <a:pPr rtl="1" algn="r"/>
                      <a:r>
                        <a:rPr sz="1700" b="0" i="0" lang="ar-EG" altLang="en-US">
                          <a:solidFill>
                            <a:srgbClr val="1C2333"/>
                          </a:solidFill>
                          <a:latin typeface="Traditional Arabic"/>
                        </a:rPr>
                        <a:t>سفينة</a:t>
                      </a:r>
                    </a:p>
                  </a:txBody>
                  <a:tcPr>
                    <a:solidFill>
                      <a:srgbClr val="EEF3FA"/>
                    </a:solidFill>
                  </a:tcPr>
                </a:tc>
                <a:tc>
                  <a:txBody>
                    <a:bodyPr/>
                    <a:lstStyle/>
                    <a:p>
                      <a:pPr rtl="0" algn="l"/>
                      <a:r>
                        <a:rPr sz="1500" b="1" i="0" lang="en-US">
                          <a:solidFill>
                            <a:srgbClr val="943F22"/>
                          </a:solidFill>
                          <a:latin typeface="Segoe UI"/>
                        </a:rPr>
                        <a:t>bicycle / bike</a:t>
                      </a:r>
                    </a:p>
                  </a:txBody>
                  <a:tcPr>
                    <a:solidFill>
                      <a:srgbClr val="EEF3FA"/>
                    </a:solidFill>
                  </a:tcPr>
                </a:tc>
                <a:tc>
                  <a:txBody>
                    <a:bodyPr/>
                    <a:lstStyle/>
                    <a:p>
                      <a:pPr rtl="1" algn="r"/>
                      <a:r>
                        <a:rPr sz="1700" b="0" i="0" lang="ar-EG" altLang="en-US">
                          <a:solidFill>
                            <a:srgbClr val="1C2333"/>
                          </a:solidFill>
                          <a:latin typeface="Traditional Arabic"/>
                        </a:rPr>
                        <a:t>دراجة</a:t>
                      </a:r>
                    </a:p>
                  </a:txBody>
                  <a:tcPr>
                    <a:solidFill>
                      <a:srgbClr val="EEF3FA"/>
                    </a:solidFill>
                  </a:tcPr>
                </a:tc>
                <a:tc>
                  <a:txBody>
                    <a:bodyPr/>
                    <a:lstStyle/>
                    <a:p>
                      <a:pPr rtl="0" algn="l"/>
                      <a:r>
                        <a:rPr sz="1500" b="1" i="0" lang="en-US">
                          <a:solidFill>
                            <a:srgbClr val="943F22"/>
                          </a:solidFill>
                          <a:latin typeface="Segoe UI"/>
                        </a:rPr>
                        <a:t>car</a:t>
                      </a:r>
                    </a:p>
                  </a:txBody>
                  <a:tcPr>
                    <a:solidFill>
                      <a:srgbClr val="EEF3FA"/>
                    </a:solidFill>
                  </a:tcPr>
                </a:tc>
                <a:tc>
                  <a:txBody>
                    <a:bodyPr/>
                    <a:lstStyle/>
                    <a:p>
                      <a:pPr rtl="1" algn="r"/>
                      <a:r>
                        <a:rPr sz="1700" b="0" i="0" lang="ar-EG" altLang="en-US">
                          <a:solidFill>
                            <a:srgbClr val="1C2333"/>
                          </a:solidFill>
                          <a:latin typeface="Traditional Arabic"/>
                        </a:rPr>
                        <a:t>سيارة</a:t>
                      </a:r>
                    </a:p>
                  </a:txBody>
                  <a:tcPr>
                    <a:solidFill>
                      <a:srgbClr val="EEF3FA"/>
                    </a:solidFill>
                  </a:tcPr>
                </a:tc>
              </a:tr>
            </a:tbl>
          </a:graphicData>
        </a:graphic>
      </p:graphicFrame>
    </p:spTree>
  </p:cSld>
  <p:clrMapOvr>
    <a:masterClrMapping/>
  </p:clrMapOvr>
  <p:transition spd="med">
    <p:random/>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 a book.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 is a star.   (These – That)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That is a …… .   (cat – cats)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 is a dog.   (Those – This)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This is …… .   (an orange – orange)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 orange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This …… an apple.   (are – 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That is a …… .   (birds – bird)</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bird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This is …… .   (a child – children)</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child</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 book.</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book.</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a star.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star.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This is a pen.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pen.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That is a car.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car.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This is an orange.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an orange.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That is a moon.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moon.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This is a fish.</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fish.</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That is an egg.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an egg.</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an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an apple.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cat.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 flower.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flower.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That is an ox.</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an ox.</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This is an ant.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an ant.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That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an animal.</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 tree.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tree?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a star.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star?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This is a hat.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hat?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That is an animal.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animal?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This is an elephant.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elephant?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That is a moon.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moon?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This is a toy.</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toy?</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That is an elephant.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elephant?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 flower.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flower?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rainbow.</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rainbow?</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That is a camera.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camera?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This is a bird.</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bird?</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That is an egg.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egg?</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This is an apple.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apple?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That is a bench.</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bench?</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This is a door.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door?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That is an umbrella.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umbrella?</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This is a pen.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pen?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That is a fan.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fan?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This is an arm.</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arm?</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That is a cloud.</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that a cloud?</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This is a banana.</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this a banana?</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That is an ant.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that an ant?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this a pencil?</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Is this an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Is this a banana?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Is this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Is this a camera?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Is this a pen?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Is this a door?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Is that a star?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Is that an ant?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Is that a camel?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that a rainbow?</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Is that an apple?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Is that a bird?</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Is that an elephant?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this is a toy.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that isn't a star.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star?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No, this isn't a car.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car?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Yes, that is a bird.</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bird?</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Yes, this is a book.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book?</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 that isn't an orange.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orange?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No, this isn't an orange.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orange?</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Yes, that is a cloud.</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cloud?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Yes, this is a tree.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No, that isn't a camera.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camera?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this isn't an apple.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apple?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Yes, that is an umbrella.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umbrella?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Yes, this is a fish.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fish?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No, that isn't a candle.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candle?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What is this? (tiger)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tiger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What is this?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apple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What is this? (pen)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pen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What is this? (book)</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book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What is this? (ruler)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ruler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What is this? (bag)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bag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What is this? (cat)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cat .</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What is this? (dog)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dog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What is this? (orange)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orange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What is this? (egg)</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egg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What is this? (flower)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flower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What is this? (car)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car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What is that? (moon)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moon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What is that? (cloud)</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cloud .</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What is that? (star)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star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What is that? (rainbow)</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rainbow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What is that? (tree)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tree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What is that? (bird)</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bird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What is that? (umbrella)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umbrella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What is that? (elephant)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elephant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What is that? (ant)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ant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What is that? (bus)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bus .</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What is that? (plane)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plane .</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What is that? (ship)</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ship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an orange.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برتقالة.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This is a bird.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طائر.</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That is a star.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نجمة.</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This is an umbrella.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شمسية.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That is a tree.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شجرة.</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This is a fish.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سمكة.</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That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ذلك حيوان.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This is a dog.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كلب.</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an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تفاحة.</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moon.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ذلك قمر.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an animal.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حيوان.</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That is a cloud.</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سحابة.</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This is a tiger.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نمر.</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That is an 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نملة.</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This is a toy.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لعبة.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That is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قطة.</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This is a lion.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أسد.</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That is a banana.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موزة.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This is a fig.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تينة.</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This is a pencil.</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قلم رصاص.</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That is a ruler.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مسطرة.</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This is a king.</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هذا ملك.</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This is a horse.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هذا حصان.</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That is a fan.</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تلك مروحة.</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 This – book – a.</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book.</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is – a – tree – That.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a – this – bird – No, – not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this is not a bird.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is – That – window – 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window.</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book – a – this –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book?</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pen – is – a – not – This.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not a pen.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ring – this – a – is – Yes,.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this is a ring.</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car – Is – that – a?</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That – cloud – a – is.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cloud.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 what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is that?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orange – Is – an – this?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is – No, – apple – an – this – not.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this is not an apple.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ant – is – That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ant.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this – is – What?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is this?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animal – That – an –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animal.</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flower – This – a – is.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flower.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an – That – egg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egg.</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is – Yes, – a – this – pencil.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this is a pencil.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that – a – Is – camera?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camera?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umbrella – is – That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umbrella.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star – That – a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star.</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not – is – No, – a – that – bird.</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that is not a bird.</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Is – banana – this – a?</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this a banana?</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an – That – elephant – is.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an elephant.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I)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Ahmed is a boy. He is 10 years old. He gets up at 7 every morning. He prays and has breakfast with his family. He loves his school. He goes to school with his friends. They go to school on foot. They have 7 lessons a day.</a:t>
            </a:r>
          </a:p>
          <a:p>
            <a:pPr rtl="1" algn="r">
              <a:spcBef>
                <a:spcPts val="800"/>
              </a:spcBef>
            </a:pPr>
            <a:r>
              <a:rPr sz="1700" b="0" i="0" lang="ar-EG" altLang="en-US">
                <a:solidFill>
                  <a:srgbClr val="5B6478"/>
                </a:solidFill>
                <a:latin typeface="Traditional Arabic"/>
              </a:rPr>
              <a:t>gets up: يستيقظ   prays: يصلي   on foot: سيراً على الأقدام   lessons: حصص</a:t>
            </a:r>
          </a:p>
        </p:txBody>
      </p:sp>
    </p:spTree>
  </p:cSld>
  <p:clrMapOvr>
    <a:masterClrMapping/>
  </p:clrMapOvr>
  <p:transition spd="med">
    <p:zoom dir="in"/>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I)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Ahmed is …… years old.   (seven – ten – nine)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has breakfast with his …… .   (friend – mum – family)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family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Ahmed has 6 lessons a day. (He has 7 lessons a day.)   (True ✓ – False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Ahmed goes to school with his friends.   (True ✓ – False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Ahmed loves his school.   (True ✓ – False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J) Finish the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Hi Mazen.</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Hi Mazen.</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Hi Ramy.</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What is this?</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What is this?</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It …… a toy.</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It is a toy.</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And what are …… ?</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And what are these ?</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These …… glasses.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These are glasses.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Are they expensive?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Are they expensive?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No, …… .</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No, they aren't .</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box(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ox(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ox(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ox(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ox(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8</a:t>
            </a:r>
          </a:p>
          <a:p>
            <a:pPr algn="ctr" rtl="0"/>
            <a:r>
              <a:rPr sz="4600" b="1" i="0" lang="en-US">
                <a:solidFill>
                  <a:srgbClr val="FFFFFF"/>
                </a:solidFill>
                <a:latin typeface="Segoe UI"/>
              </a:rPr>
              <a:t>These / Those</a:t>
            </a:r>
          </a:p>
          <a:p>
            <a:pPr algn="ctr" rtl="1"/>
            <a:r>
              <a:rPr sz="2900" b="0" i="0" lang="ar-EG" altLang="en-US">
                <a:solidFill>
                  <a:srgbClr val="FFFFFF"/>
                </a:solidFill>
                <a:latin typeface="Traditional Arabic"/>
              </a:rPr>
              <a:t>أسماء الإشارة للجمع</a:t>
            </a:r>
          </a:p>
        </p:txBody>
      </p:sp>
    </p:spTree>
  </p:cSld>
  <p:clrMapOvr>
    <a:masterClrMapping/>
  </p:clrMapOvr>
  <p:transition spd="med">
    <p:zoom dir="in"/>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These are + اسم جمع .</a:t>
            </a:r>
          </a:p>
          <a:p>
            <a:pPr rtl="1" algn="r">
              <a:spcAft>
                <a:spcPts val="600"/>
              </a:spcAft>
            </a:pPr>
            <a:r>
              <a:rPr sz="2100" b="0" i="0" lang="ar-EG" altLang="en-US">
                <a:solidFill>
                  <a:srgbClr val="1C2333"/>
                </a:solidFill>
                <a:latin typeface="Traditional Arabic"/>
              </a:rPr>
              <a:t>هؤلاء — للجمع القريب.</a:t>
            </a:r>
          </a:p>
          <a:p>
            <a:pPr rtl="0" algn="l">
              <a:spcAft>
                <a:spcPts val="600"/>
              </a:spcAft>
            </a:pPr>
            <a:r>
              <a:rPr sz="2000" b="1" i="0" lang="en-US">
                <a:solidFill>
                  <a:srgbClr val="227894"/>
                </a:solidFill>
                <a:latin typeface="Segoe UI"/>
              </a:rPr>
              <a:t>▶ Those are + اسم جمع .</a:t>
            </a:r>
          </a:p>
          <a:p>
            <a:pPr rtl="1" algn="r">
              <a:spcAft>
                <a:spcPts val="600"/>
              </a:spcAft>
            </a:pPr>
            <a:r>
              <a:rPr sz="2100" b="0" i="0" lang="ar-EG" altLang="en-US">
                <a:solidFill>
                  <a:srgbClr val="1C2333"/>
                </a:solidFill>
                <a:latin typeface="Traditional Arabic"/>
              </a:rPr>
              <a:t>هؤلاء / أولئك — للجمع البعيد.</a:t>
            </a:r>
          </a:p>
        </p:txBody>
      </p:sp>
    </p:spTree>
  </p:cSld>
  <p:clrMapOvr>
    <a:masterClrMapping/>
  </p:clrMapOvr>
  <p:transition spd="med">
    <p:plus/>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These are not (aren't) + اسم جمع .</a:t>
            </a:r>
          </a:p>
          <a:p>
            <a:pPr rtl="1" algn="r">
              <a:spcAft>
                <a:spcPts val="600"/>
              </a:spcAft>
            </a:pPr>
            <a:r>
              <a:rPr sz="2100" b="0" i="0" lang="ar-EG" altLang="en-US">
                <a:solidFill>
                  <a:srgbClr val="1C2333"/>
                </a:solidFill>
                <a:latin typeface="Traditional Arabic"/>
              </a:rPr>
              <a:t>نفي (هؤلاء) القريب.</a:t>
            </a:r>
          </a:p>
          <a:p>
            <a:pPr rtl="0" algn="l">
              <a:spcAft>
                <a:spcPts val="600"/>
              </a:spcAft>
            </a:pPr>
            <a:r>
              <a:rPr sz="2000" b="1" i="0" lang="en-US">
                <a:solidFill>
                  <a:srgbClr val="227894"/>
                </a:solidFill>
                <a:latin typeface="Segoe UI"/>
              </a:rPr>
              <a:t>▶ Those are not (aren't) + اسم جمع .</a:t>
            </a:r>
          </a:p>
          <a:p>
            <a:pPr rtl="1" algn="r">
              <a:spcAft>
                <a:spcPts val="600"/>
              </a:spcAft>
            </a:pPr>
            <a:r>
              <a:rPr sz="2100" b="0" i="0" lang="ar-EG" altLang="en-US">
                <a:solidFill>
                  <a:srgbClr val="1C2333"/>
                </a:solidFill>
                <a:latin typeface="Traditional Arabic"/>
              </a:rPr>
              <a:t>نفي (أولئك) البعيد.</a:t>
            </a:r>
          </a:p>
        </p:txBody>
      </p:sp>
    </p:spTree>
  </p:cSld>
  <p:clrMapOvr>
    <a:masterClrMapping/>
  </p:clrMapOvr>
  <p:transition spd="med">
    <p:strips dir="ld"/>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Are these + اسم جمع ? | Are those + اسم جمع ?</a:t>
            </a:r>
          </a:p>
          <a:p>
            <a:pPr rtl="1" algn="r">
              <a:spcAft>
                <a:spcPts val="600"/>
              </a:spcAft>
            </a:pPr>
            <a:r>
              <a:rPr sz="2100" b="0" i="0" lang="ar-EG" altLang="en-US">
                <a:solidFill>
                  <a:srgbClr val="1C2333"/>
                </a:solidFill>
                <a:latin typeface="Traditional Arabic"/>
              </a:rPr>
              <a:t>    نقدّم are على اسم الإشارة لتكوين السؤال.</a:t>
            </a:r>
          </a:p>
          <a:p>
            <a:pPr rtl="0" algn="l">
              <a:spcAft>
                <a:spcPts val="600"/>
              </a:spcAft>
            </a:pPr>
            <a:r>
              <a:rPr sz="2000" b="1" i="0" lang="en-US">
                <a:solidFill>
                  <a:srgbClr val="227894"/>
                </a:solidFill>
                <a:latin typeface="Segoe UI"/>
              </a:rPr>
              <a:t>▶ What are these? / What are those?</a:t>
            </a:r>
          </a:p>
          <a:p>
            <a:pPr rtl="1" algn="r">
              <a:spcAft>
                <a:spcPts val="600"/>
              </a:spcAft>
            </a:pPr>
            <a:r>
              <a:rPr sz="2100" b="0" i="0" lang="ar-EG" altLang="en-US">
                <a:solidFill>
                  <a:srgbClr val="1C2333"/>
                </a:solidFill>
                <a:latin typeface="Traditional Arabic"/>
              </a:rPr>
              <a:t>ما هؤلاء؟ — السؤال بأداة استفهام.</a:t>
            </a:r>
          </a:p>
        </p:txBody>
      </p:sp>
    </p:spTree>
  </p:cSld>
  <p:clrMapOvr>
    <a:masterClrMapping/>
  </p:clrMapOvr>
  <p:transition spd="med">
    <p:wheel spokes="4"/>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 cars.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 are horses.   (These – That – This)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 .   (car – a car – cars)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Those …… oranges.   (are – is – am)</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 are nurses.   (That – These – This)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Those are …… .   (lion – a lion – lions)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lions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 .   (a book – books – book)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books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Those …… clouds.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 .   (toys – toy – a toy)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toys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 are stars.   (That – Those – This)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 .   (pen – a pen – pens)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pens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Those are …… .   (hen – hens – a hen)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hens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These …… flowers.   (are – is – am)</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 .   (a tree – tree – trees)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trees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are pens.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pens.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oranges.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oranges.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flowers.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flowers.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These are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books.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girls.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girls.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These are cats.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cats.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lions.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lions.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These are cars.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cars.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boys.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boys.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These are dogs.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dogs.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trees.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trees.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Those are stars.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stars.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Those are apples.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apples.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clouds.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clouds.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Those are tigers.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tigers.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Those are cows.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cows.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Those are birds.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birds.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Those are animals.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animals.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Those are bees.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bees.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Those are ants.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ants.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Those are nurses.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nurses.</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Those are men.</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aren't men.</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are books.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books?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birds.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birds?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rulers.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rulers?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These are oranges.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oranges?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toys?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These are animals.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animals?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girls.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girls?</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These are nurses.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nurses?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pencils.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pencils?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These are flowers.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flowers?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bees.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bees?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These are boys.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boys?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Those are clouds.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clouds?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apples.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apples?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Those are ants.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ants?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Those are stars.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stars?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Those are lions.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lions?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Those are hens.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hens?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Those are doctors.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doctors?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Those are friends.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friends?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Those are bananas.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bananas?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Those are tigers.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tigers?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Those are goats.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goats?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Those are dogs.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dogs?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Are these flowers?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Are these cats?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Are these pens?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Are these hens?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Are these rulers?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Are these balls?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Are these toys?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these nurses?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Are these apples?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Are these figs?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Are these tomatoes?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Are these pants?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Are those potatoes?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Are those shirts?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those stars?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Are those birds?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Are those stars?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those tigers?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Are those goats?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Are those clouds?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Are those tomatoes?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Are those farmers?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Are those doctors?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Are those bees?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are animals.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Those are trees.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birds.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Those are stars.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cars.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Those are bananas.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oranges.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Those are clouds.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pens.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Those are goats.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Those are cows.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These are apples.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houses.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These are rulers.</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Those are trees.</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These are toys.</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Those are figs.</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These are animals.</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Those are eggs.</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What are these? (books)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books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What are those? (trees)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trees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What are those? (stars)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stars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What are these? (pens)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pens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What are these? (apples)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apples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What are those? (clouds)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clouds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What are those? (cars)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cars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What are these? (flowers)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flowers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What are these? (birds)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birds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What are those? (goats)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goats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What are those? (cows)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cows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What are these? (rulers)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rulers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What are those? (houses)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houses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What are those? (bananas)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bananas .</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What are these? (toys)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toys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What are those? (eggs)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eggs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What are those? (lions)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lions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What are these? (oranges)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oranges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What are these? (cats)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cats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What are these? (dogs)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dogs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What are those? (buses)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buses .</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What are those? (planes)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planes .</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are – These – bananas.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bananas.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stars – Those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stars.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not – toys – are – These.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not toys.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these – are – What?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are – Those – not – cars.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not cars.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trees – these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trees?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are – What – those?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are – These – dogs – not.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not dogs.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horses – these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horses?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girls – are – Those.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girls.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not – are – These – friends.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not friends.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these – Are – birds?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birds?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not – are – clouds – Those.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not clouds.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 what – these?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lions – these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lions?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aren't – No, – these – goats.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these aren't goats.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are – these – Yes, – boys.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these are boys.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aren't – those – No, – stars.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those aren't stars.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these – Are – shoes?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shoes?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are – Those – men.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men.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are – pants – these – Yes,.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these are pants.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aren't – No, – those – cows.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those aren't cows.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are – Those – books.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 books.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are – What – those?</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those?</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What are these?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ما هذه؟ / ما هؤلاء؟</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cows.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أبقار.</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Those are boys.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أولئك أولاد.</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Are these oranges?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برتقالات؟</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friends.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هؤلاء أصدقاء.</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Are those stars?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تلك نجوم؟</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apples.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تفاحات.</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Those are girls.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أولئك بنات.</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No, these aren't flowers.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لا، هذه ليست زهوراً.</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Those are trees.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أشجار.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toys.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لُعَب.</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Are these pens?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أقلام؟</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These are rulers.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مساطر.</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houses.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منازل.</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Are these ants?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نمل؟</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These are rivers.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أنهار.</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Are those tigers?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تلك نمور؟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Yes, these are figs.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نعم، هذا تين.</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Those are figs.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ذلك تين.</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These are skirts.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تنّورات.</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Are these socks?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جوارب؟</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No, these aren't cars.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لا، هذه ليست سيارات.</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are oranges.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oranges.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a car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cars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That are flowers.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flowers.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Those books are mine.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 Those books are mine. (صحيحة) / These books are mine.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That houses are hers.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houses are hers.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Is those stars?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stars?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Those isn't birds.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birds.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Is those pens?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pens?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aren't birds.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birds.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These are a boy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boys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those balls?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balls?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Are these a doll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dolls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Those isn't teeth.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teeth.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this chair?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chairs? / Is this a chair?</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these pencil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these pencils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These are an ant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These are ants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Is these feet?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these feet?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those a bus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buses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Those are a star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 stars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 bird. (These)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birds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a tree. (Those)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trees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Is this a toy?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toys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This is a book.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books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That is a pen. (These)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pens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This isn't a bird. (aren't)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birds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Is that a star?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stars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That is a cloud. (clouds)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clouds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 girl. (These)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girls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boy. (boys)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boys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 friend. (These)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friends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This is a lion. (lions)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lions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That is a tiger. (Those)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tigers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Is this a door?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doors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That is a girl. (girls)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girls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Is that a river?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rivers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This is a bus. (These)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buses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That is a van. (Those)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vans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Is that a car? (cars)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cars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This is an ant. (ants)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ants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Is this an arm?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arms ?</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That is a bed. (those)</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 beds .</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9</a:t>
            </a:r>
          </a:p>
          <a:p>
            <a:pPr algn="ctr" rtl="0"/>
            <a:r>
              <a:rPr sz="4600" b="1" i="0" lang="en-US">
                <a:solidFill>
                  <a:srgbClr val="FFFFFF"/>
                </a:solidFill>
                <a:latin typeface="Segoe UI"/>
              </a:rPr>
              <a:t>Prepositions of Time (in – on – at)</a:t>
            </a:r>
          </a:p>
          <a:p>
            <a:pPr algn="ctr" rtl="1"/>
            <a:r>
              <a:rPr sz="2900" b="0" i="0" lang="ar-EG" altLang="en-US">
                <a:solidFill>
                  <a:srgbClr val="FFFFFF"/>
                </a:solidFill>
                <a:latin typeface="Traditional Arabic"/>
              </a:rPr>
              <a:t>حروف جر الزمان</a:t>
            </a:r>
          </a:p>
        </p:txBody>
      </p:sp>
    </p:spTree>
  </p:cSld>
  <p:clrMapOvr>
    <a:masterClrMapping/>
  </p:clrMapOvr>
  <p:transition spd="med">
    <p:zoom dir="in"/>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7822"/>
                </a:solidFill>
                <a:latin typeface="Segoe UI"/>
              </a:rPr>
              <a:t>▶ in + the morning / the evening / the afternoon / months / seasons / years</a:t>
            </a:r>
          </a:p>
          <a:p>
            <a:pPr rtl="1" algn="r">
              <a:spcAft>
                <a:spcPts val="600"/>
              </a:spcAft>
            </a:pPr>
            <a:r>
              <a:rPr sz="2100" b="0" i="0" lang="ar-EG" altLang="en-US">
                <a:solidFill>
                  <a:srgbClr val="1C2333"/>
                </a:solidFill>
                <a:latin typeface="Traditional Arabic"/>
              </a:rPr>
              <a:t>    نستخدم (in) مع الشهور والفصول والسنوات وفترات اليوم.</a:t>
            </a:r>
          </a:p>
          <a:p>
            <a:pPr rtl="0" algn="l">
              <a:spcAft>
                <a:spcPts val="600"/>
              </a:spcAft>
            </a:pPr>
            <a:r>
              <a:rPr sz="2000" b="1" i="0" lang="en-US">
                <a:solidFill>
                  <a:srgbClr val="947822"/>
                </a:solidFill>
                <a:latin typeface="Segoe UI"/>
              </a:rPr>
              <a:t>▶ on + days / dates / Friday morning</a:t>
            </a:r>
          </a:p>
          <a:p>
            <a:pPr rtl="1" algn="r">
              <a:spcAft>
                <a:spcPts val="600"/>
              </a:spcAft>
            </a:pPr>
            <a:r>
              <a:rPr sz="2100" b="0" i="0" lang="ar-EG" altLang="en-US">
                <a:solidFill>
                  <a:srgbClr val="1C2333"/>
                </a:solidFill>
                <a:latin typeface="Traditional Arabic"/>
              </a:rPr>
              <a:t>    نستخدم (on) مع أيام الأسبوع والتواريخ.</a:t>
            </a:r>
          </a:p>
          <a:p>
            <a:pPr rtl="0" algn="l">
              <a:spcAft>
                <a:spcPts val="600"/>
              </a:spcAft>
            </a:pPr>
            <a:r>
              <a:rPr sz="2000" b="1" i="0" lang="en-US">
                <a:solidFill>
                  <a:srgbClr val="947822"/>
                </a:solidFill>
                <a:latin typeface="Segoe UI"/>
              </a:rPr>
              <a:t>▶ at + o'clock / night / midnight / the weekend</a:t>
            </a:r>
          </a:p>
          <a:p>
            <a:pPr rtl="0" algn="l">
              <a:spcAft>
                <a:spcPts val="600"/>
              </a:spcAft>
            </a:pPr>
            <a:r>
              <a:rPr sz="1800" b="0" i="0" lang="en-US">
                <a:solidFill>
                  <a:srgbClr val="1C2333"/>
                </a:solidFill>
                <a:latin typeface="Segoe UI"/>
              </a:rPr>
              <a:t>    نستخدم (at) مع الساعات وكلمة night و midnight و the weekend.</a:t>
            </a:r>
          </a:p>
        </p:txBody>
      </p:sp>
    </p:spTree>
  </p:cSld>
  <p:clrMapOvr>
    <a:masterClrMapping/>
  </p:clrMapOvr>
  <p:transition spd="med">
    <p:split orient="vert" dir="out"/>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7822"/>
                          </a:solidFill>
                          <a:latin typeface="Segoe UI"/>
                        </a:rPr>
                        <a:t>Saturday</a:t>
                      </a:r>
                    </a:p>
                  </a:txBody>
                  <a:tcPr>
                    <a:solidFill>
                      <a:srgbClr val="FFFFFF"/>
                    </a:solidFill>
                  </a:tcPr>
                </a:tc>
                <a:tc>
                  <a:txBody>
                    <a:bodyPr/>
                    <a:lstStyle/>
                    <a:p>
                      <a:pPr rtl="1" algn="r"/>
                      <a:r>
                        <a:rPr sz="1700" b="0" i="0" lang="ar-EG" altLang="en-US">
                          <a:solidFill>
                            <a:srgbClr val="1C2333"/>
                          </a:solidFill>
                          <a:latin typeface="Traditional Arabic"/>
                        </a:rPr>
                        <a:t>السبت</a:t>
                      </a:r>
                    </a:p>
                  </a:txBody>
                  <a:tcPr>
                    <a:solidFill>
                      <a:srgbClr val="FFFFFF"/>
                    </a:solidFill>
                  </a:tcPr>
                </a:tc>
                <a:tc>
                  <a:txBody>
                    <a:bodyPr/>
                    <a:lstStyle/>
                    <a:p>
                      <a:pPr rtl="0" algn="l"/>
                      <a:r>
                        <a:rPr sz="1500" b="1" i="0" lang="en-US">
                          <a:solidFill>
                            <a:srgbClr val="947822"/>
                          </a:solidFill>
                          <a:latin typeface="Segoe UI"/>
                        </a:rPr>
                        <a:t>Wednesday</a:t>
                      </a:r>
                    </a:p>
                  </a:txBody>
                  <a:tcPr>
                    <a:solidFill>
                      <a:srgbClr val="FFFFFF"/>
                    </a:solidFill>
                  </a:tcPr>
                </a:tc>
                <a:tc>
                  <a:txBody>
                    <a:bodyPr/>
                    <a:lstStyle/>
                    <a:p>
                      <a:pPr rtl="1" algn="r"/>
                      <a:r>
                        <a:rPr sz="1700" b="0" i="0" lang="ar-EG" altLang="en-US">
                          <a:solidFill>
                            <a:srgbClr val="1C2333"/>
                          </a:solidFill>
                          <a:latin typeface="Traditional Arabic"/>
                        </a:rPr>
                        <a:t>الأربعاء</a:t>
                      </a:r>
                    </a:p>
                  </a:txBody>
                  <a:tcPr>
                    <a:solidFill>
                      <a:srgbClr val="FFFFFF"/>
                    </a:solidFill>
                  </a:tcPr>
                </a:tc>
                <a:tc>
                  <a:txBody>
                    <a:bodyPr/>
                    <a:lstStyle/>
                    <a:p>
                      <a:pPr rtl="0" algn="l"/>
                      <a:r>
                        <a:rPr sz="1500" b="1" i="0" lang="en-US">
                          <a:solidFill>
                            <a:srgbClr val="947822"/>
                          </a:solidFill>
                          <a:latin typeface="Segoe UI"/>
                        </a:rPr>
                        <a:t>summer</a:t>
                      </a:r>
                    </a:p>
                  </a:txBody>
                  <a:tcPr>
                    <a:solidFill>
                      <a:srgbClr val="FFFFFF"/>
                    </a:solidFill>
                  </a:tcPr>
                </a:tc>
                <a:tc>
                  <a:txBody>
                    <a:bodyPr/>
                    <a:lstStyle/>
                    <a:p>
                      <a:pPr rtl="1" algn="r"/>
                      <a:r>
                        <a:rPr sz="1700" b="0" i="0" lang="ar-EG" altLang="en-US">
                          <a:solidFill>
                            <a:srgbClr val="1C2333"/>
                          </a:solidFill>
                          <a:latin typeface="Traditional Arabic"/>
                        </a:rPr>
                        <a:t>الصيف</a:t>
                      </a:r>
                    </a:p>
                  </a:txBody>
                  <a:tcPr>
                    <a:solidFill>
                      <a:srgbClr val="FFFFFF"/>
                    </a:solidFill>
                  </a:tcPr>
                </a:tc>
              </a:tr>
              <a:tr h="384048">
                <a:tc>
                  <a:txBody>
                    <a:bodyPr/>
                    <a:lstStyle/>
                    <a:p>
                      <a:pPr rtl="0" algn="l"/>
                      <a:r>
                        <a:rPr sz="1500" b="1" i="0" lang="en-US">
                          <a:solidFill>
                            <a:srgbClr val="947822"/>
                          </a:solidFill>
                          <a:latin typeface="Segoe UI"/>
                        </a:rPr>
                        <a:t>Sunday</a:t>
                      </a:r>
                    </a:p>
                  </a:txBody>
                  <a:tcPr>
                    <a:solidFill>
                      <a:srgbClr val="EEF3FA"/>
                    </a:solidFill>
                  </a:tcPr>
                </a:tc>
                <a:tc>
                  <a:txBody>
                    <a:bodyPr/>
                    <a:lstStyle/>
                    <a:p>
                      <a:pPr rtl="1" algn="r"/>
                      <a:r>
                        <a:rPr sz="1700" b="0" i="0" lang="ar-EG" altLang="en-US">
                          <a:solidFill>
                            <a:srgbClr val="1C2333"/>
                          </a:solidFill>
                          <a:latin typeface="Traditional Arabic"/>
                        </a:rPr>
                        <a:t>الأحد</a:t>
                      </a:r>
                    </a:p>
                  </a:txBody>
                  <a:tcPr>
                    <a:solidFill>
                      <a:srgbClr val="EEF3FA"/>
                    </a:solidFill>
                  </a:tcPr>
                </a:tc>
                <a:tc>
                  <a:txBody>
                    <a:bodyPr/>
                    <a:lstStyle/>
                    <a:p>
                      <a:pPr rtl="0" algn="l"/>
                      <a:r>
                        <a:rPr sz="1500" b="1" i="0" lang="en-US">
                          <a:solidFill>
                            <a:srgbClr val="947822"/>
                          </a:solidFill>
                          <a:latin typeface="Segoe UI"/>
                        </a:rPr>
                        <a:t>Thursday</a:t>
                      </a:r>
                    </a:p>
                  </a:txBody>
                  <a:tcPr>
                    <a:solidFill>
                      <a:srgbClr val="EEF3FA"/>
                    </a:solidFill>
                  </a:tcPr>
                </a:tc>
                <a:tc>
                  <a:txBody>
                    <a:bodyPr/>
                    <a:lstStyle/>
                    <a:p>
                      <a:pPr rtl="1" algn="r"/>
                      <a:r>
                        <a:rPr sz="1700" b="0" i="0" lang="ar-EG" altLang="en-US">
                          <a:solidFill>
                            <a:srgbClr val="1C2333"/>
                          </a:solidFill>
                          <a:latin typeface="Traditional Arabic"/>
                        </a:rPr>
                        <a:t>الخميس</a:t>
                      </a:r>
                    </a:p>
                  </a:txBody>
                  <a:tcPr>
                    <a:solidFill>
                      <a:srgbClr val="EEF3FA"/>
                    </a:solidFill>
                  </a:tcPr>
                </a:tc>
                <a:tc>
                  <a:txBody>
                    <a:bodyPr/>
                    <a:lstStyle/>
                    <a:p>
                      <a:pPr rtl="0" algn="l"/>
                      <a:r>
                        <a:rPr sz="1500" b="1" i="0" lang="en-US">
                          <a:solidFill>
                            <a:srgbClr val="947822"/>
                          </a:solidFill>
                          <a:latin typeface="Segoe UI"/>
                        </a:rPr>
                        <a:t>autumn / fall</a:t>
                      </a:r>
                    </a:p>
                  </a:txBody>
                  <a:tcPr>
                    <a:solidFill>
                      <a:srgbClr val="EEF3FA"/>
                    </a:solidFill>
                  </a:tcPr>
                </a:tc>
                <a:tc>
                  <a:txBody>
                    <a:bodyPr/>
                    <a:lstStyle/>
                    <a:p>
                      <a:pPr rtl="1" algn="r"/>
                      <a:r>
                        <a:rPr sz="1700" b="0" i="0" lang="ar-EG" altLang="en-US">
                          <a:solidFill>
                            <a:srgbClr val="1C2333"/>
                          </a:solidFill>
                          <a:latin typeface="Traditional Arabic"/>
                        </a:rPr>
                        <a:t>الخريف</a:t>
                      </a:r>
                    </a:p>
                  </a:txBody>
                  <a:tcPr>
                    <a:solidFill>
                      <a:srgbClr val="EEF3FA"/>
                    </a:solidFill>
                  </a:tcPr>
                </a:tc>
              </a:tr>
              <a:tr h="384048">
                <a:tc>
                  <a:txBody>
                    <a:bodyPr/>
                    <a:lstStyle/>
                    <a:p>
                      <a:pPr rtl="0" algn="l"/>
                      <a:r>
                        <a:rPr sz="1500" b="1" i="0" lang="en-US">
                          <a:solidFill>
                            <a:srgbClr val="947822"/>
                          </a:solidFill>
                          <a:latin typeface="Segoe UI"/>
                        </a:rPr>
                        <a:t>Monday</a:t>
                      </a:r>
                    </a:p>
                  </a:txBody>
                  <a:tcPr>
                    <a:solidFill>
                      <a:srgbClr val="FFFFFF"/>
                    </a:solidFill>
                  </a:tcPr>
                </a:tc>
                <a:tc>
                  <a:txBody>
                    <a:bodyPr/>
                    <a:lstStyle/>
                    <a:p>
                      <a:pPr rtl="1" algn="r"/>
                      <a:r>
                        <a:rPr sz="1700" b="0" i="0" lang="ar-EG" altLang="en-US">
                          <a:solidFill>
                            <a:srgbClr val="1C2333"/>
                          </a:solidFill>
                          <a:latin typeface="Traditional Arabic"/>
                        </a:rPr>
                        <a:t>الاثنين</a:t>
                      </a:r>
                    </a:p>
                  </a:txBody>
                  <a:tcPr>
                    <a:solidFill>
                      <a:srgbClr val="FFFFFF"/>
                    </a:solidFill>
                  </a:tcPr>
                </a:tc>
                <a:tc>
                  <a:txBody>
                    <a:bodyPr/>
                    <a:lstStyle/>
                    <a:p>
                      <a:pPr rtl="0" algn="l"/>
                      <a:r>
                        <a:rPr sz="1500" b="1" i="0" lang="en-US">
                          <a:solidFill>
                            <a:srgbClr val="947822"/>
                          </a:solidFill>
                          <a:latin typeface="Segoe UI"/>
                        </a:rPr>
                        <a:t>Friday</a:t>
                      </a:r>
                    </a:p>
                  </a:txBody>
                  <a:tcPr>
                    <a:solidFill>
                      <a:srgbClr val="FFFFFF"/>
                    </a:solidFill>
                  </a:tcPr>
                </a:tc>
                <a:tc>
                  <a:txBody>
                    <a:bodyPr/>
                    <a:lstStyle/>
                    <a:p>
                      <a:pPr rtl="1" algn="r"/>
                      <a:r>
                        <a:rPr sz="1700" b="0" i="0" lang="ar-EG" altLang="en-US">
                          <a:solidFill>
                            <a:srgbClr val="1C2333"/>
                          </a:solidFill>
                          <a:latin typeface="Traditional Arabic"/>
                        </a:rPr>
                        <a:t>الجمعة</a:t>
                      </a:r>
                    </a:p>
                  </a:txBody>
                  <a:tcPr>
                    <a:solidFill>
                      <a:srgbClr val="FFFFFF"/>
                    </a:solidFill>
                  </a:tcPr>
                </a:tc>
                <a:tc>
                  <a:txBody>
                    <a:bodyPr/>
                    <a:lstStyle/>
                    <a:p>
                      <a:pPr rtl="0" algn="l"/>
                      <a:r>
                        <a:rPr sz="1500" b="1" i="0" lang="en-US">
                          <a:solidFill>
                            <a:srgbClr val="947822"/>
                          </a:solidFill>
                          <a:latin typeface="Segoe UI"/>
                        </a:rPr>
                        <a:t>winter</a:t>
                      </a:r>
                    </a:p>
                  </a:txBody>
                  <a:tcPr>
                    <a:solidFill>
                      <a:srgbClr val="FFFFFF"/>
                    </a:solidFill>
                  </a:tcPr>
                </a:tc>
                <a:tc>
                  <a:txBody>
                    <a:bodyPr/>
                    <a:lstStyle/>
                    <a:p>
                      <a:pPr rtl="1" algn="r"/>
                      <a:r>
                        <a:rPr sz="1700" b="0" i="0" lang="ar-EG" altLang="en-US">
                          <a:solidFill>
                            <a:srgbClr val="1C2333"/>
                          </a:solidFill>
                          <a:latin typeface="Traditional Arabic"/>
                        </a:rPr>
                        <a:t>الشتاء</a:t>
                      </a:r>
                    </a:p>
                  </a:txBody>
                  <a:tcPr>
                    <a:solidFill>
                      <a:srgbClr val="FFFFFF"/>
                    </a:solidFill>
                  </a:tcPr>
                </a:tc>
              </a:tr>
              <a:tr h="384048">
                <a:tc>
                  <a:txBody>
                    <a:bodyPr/>
                    <a:lstStyle/>
                    <a:p>
                      <a:pPr rtl="0" algn="l"/>
                      <a:r>
                        <a:rPr sz="1500" b="1" i="0" lang="en-US">
                          <a:solidFill>
                            <a:srgbClr val="947822"/>
                          </a:solidFill>
                          <a:latin typeface="Segoe UI"/>
                        </a:rPr>
                        <a:t>Tuesday</a:t>
                      </a:r>
                    </a:p>
                  </a:txBody>
                  <a:tcPr>
                    <a:solidFill>
                      <a:srgbClr val="EEF3FA"/>
                    </a:solidFill>
                  </a:tcPr>
                </a:tc>
                <a:tc>
                  <a:txBody>
                    <a:bodyPr/>
                    <a:lstStyle/>
                    <a:p>
                      <a:pPr rtl="1" algn="r"/>
                      <a:r>
                        <a:rPr sz="1700" b="0" i="0" lang="ar-EG" altLang="en-US">
                          <a:solidFill>
                            <a:srgbClr val="1C2333"/>
                          </a:solidFill>
                          <a:latin typeface="Traditional Arabic"/>
                        </a:rPr>
                        <a:t>الثلاثاء</a:t>
                      </a:r>
                    </a:p>
                  </a:txBody>
                  <a:tcPr>
                    <a:solidFill>
                      <a:srgbClr val="EEF3FA"/>
                    </a:solidFill>
                  </a:tcPr>
                </a:tc>
                <a:tc>
                  <a:txBody>
                    <a:bodyPr/>
                    <a:lstStyle/>
                    <a:p>
                      <a:pPr rtl="0" algn="l"/>
                      <a:r>
                        <a:rPr sz="1500" b="1" i="0" lang="en-US">
                          <a:solidFill>
                            <a:srgbClr val="947822"/>
                          </a:solidFill>
                          <a:latin typeface="Segoe UI"/>
                        </a:rPr>
                        <a:t>spring</a:t>
                      </a:r>
                    </a:p>
                  </a:txBody>
                  <a:tcPr>
                    <a:solidFill>
                      <a:srgbClr val="EEF3FA"/>
                    </a:solidFill>
                  </a:tcPr>
                </a:tc>
                <a:tc>
                  <a:txBody>
                    <a:bodyPr/>
                    <a:lstStyle/>
                    <a:p>
                      <a:pPr rtl="1" algn="r"/>
                      <a:r>
                        <a:rPr sz="1700" b="0" i="0" lang="ar-EG" altLang="en-US">
                          <a:solidFill>
                            <a:srgbClr val="1C2333"/>
                          </a:solidFill>
                          <a:latin typeface="Traditional Arabic"/>
                        </a:rPr>
                        <a:t>الربيع</a:t>
                      </a:r>
                    </a:p>
                  </a:txBody>
                  <a:tcPr>
                    <a:solidFill>
                      <a:srgbClr val="EEF3FA"/>
                    </a:solidFill>
                  </a:tcPr>
                </a:tc>
                <a:tc>
                  <a:txBody>
                    <a:bodyPr/>
                    <a:lstStyle/>
                    <a:p>
                      <a:pPr rtl="0" algn="l"/>
                      <a:r>
                        <a:rPr sz="1500" b="1" i="0" lang="en-US">
                          <a:solidFill>
                            <a:srgbClr val="947822"/>
                          </a:solidFill>
                          <a:latin typeface="Segoe UI"/>
                        </a:rPr>
                        <a:t>seasons</a:t>
                      </a:r>
                    </a:p>
                  </a:txBody>
                  <a:tcPr>
                    <a:solidFill>
                      <a:srgbClr val="EEF3FA"/>
                    </a:solidFill>
                  </a:tcPr>
                </a:tc>
                <a:tc>
                  <a:txBody>
                    <a:bodyPr/>
                    <a:lstStyle/>
                    <a:p>
                      <a:pPr rtl="1" algn="r"/>
                      <a:r>
                        <a:rPr sz="1700" b="0" i="0" lang="ar-EG" altLang="en-US">
                          <a:solidFill>
                            <a:srgbClr val="1C2333"/>
                          </a:solidFill>
                          <a:latin typeface="Traditional Arabic"/>
                        </a:rPr>
                        <a:t>فصول السنة</a:t>
                      </a:r>
                    </a:p>
                  </a:txBody>
                  <a:tcPr>
                    <a:solidFill>
                      <a:srgbClr val="EEF3FA"/>
                    </a:solidFill>
                  </a:tcPr>
                </a:tc>
              </a:tr>
            </a:tbl>
          </a:graphicData>
        </a:graphic>
      </p:graphicFrame>
    </p:spTree>
  </p:cSld>
  <p:clrMapOvr>
    <a:masterClrMapping/>
  </p:clrMapOvr>
  <p:transition spd="med">
    <p:cover dir="d"/>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7822"/>
                          </a:solidFill>
                          <a:latin typeface="Segoe UI"/>
                        </a:rPr>
                        <a:t>January</a:t>
                      </a:r>
                    </a:p>
                  </a:txBody>
                  <a:tcPr>
                    <a:solidFill>
                      <a:srgbClr val="FFFFFF"/>
                    </a:solidFill>
                  </a:tcPr>
                </a:tc>
                <a:tc>
                  <a:txBody>
                    <a:bodyPr/>
                    <a:lstStyle/>
                    <a:p>
                      <a:pPr rtl="1" algn="r"/>
                      <a:r>
                        <a:rPr sz="1700" b="0" i="0" lang="ar-EG" altLang="en-US">
                          <a:solidFill>
                            <a:srgbClr val="1C2333"/>
                          </a:solidFill>
                          <a:latin typeface="Traditional Arabic"/>
                        </a:rPr>
                        <a:t>يناير</a:t>
                      </a:r>
                    </a:p>
                  </a:txBody>
                  <a:tcPr>
                    <a:solidFill>
                      <a:srgbClr val="FFFFFF"/>
                    </a:solidFill>
                  </a:tcPr>
                </a:tc>
                <a:tc>
                  <a:txBody>
                    <a:bodyPr/>
                    <a:lstStyle/>
                    <a:p>
                      <a:pPr rtl="0" algn="l"/>
                      <a:r>
                        <a:rPr sz="1500" b="1" i="0" lang="en-US">
                          <a:solidFill>
                            <a:srgbClr val="947822"/>
                          </a:solidFill>
                          <a:latin typeface="Segoe UI"/>
                        </a:rPr>
                        <a:t>May</a:t>
                      </a:r>
                    </a:p>
                  </a:txBody>
                  <a:tcPr>
                    <a:solidFill>
                      <a:srgbClr val="FFFFFF"/>
                    </a:solidFill>
                  </a:tcPr>
                </a:tc>
                <a:tc>
                  <a:txBody>
                    <a:bodyPr/>
                    <a:lstStyle/>
                    <a:p>
                      <a:pPr rtl="1" algn="r"/>
                      <a:r>
                        <a:rPr sz="1700" b="0" i="0" lang="ar-EG" altLang="en-US">
                          <a:solidFill>
                            <a:srgbClr val="1C2333"/>
                          </a:solidFill>
                          <a:latin typeface="Traditional Arabic"/>
                        </a:rPr>
                        <a:t>مايو</a:t>
                      </a:r>
                    </a:p>
                  </a:txBody>
                  <a:tcPr>
                    <a:solidFill>
                      <a:srgbClr val="FFFFFF"/>
                    </a:solidFill>
                  </a:tcPr>
                </a:tc>
                <a:tc>
                  <a:txBody>
                    <a:bodyPr/>
                    <a:lstStyle/>
                    <a:p>
                      <a:pPr rtl="0" algn="l"/>
                      <a:r>
                        <a:rPr sz="1500" b="1" i="0" lang="en-US">
                          <a:solidFill>
                            <a:srgbClr val="947822"/>
                          </a:solidFill>
                          <a:latin typeface="Segoe UI"/>
                        </a:rPr>
                        <a:t>September</a:t>
                      </a:r>
                    </a:p>
                  </a:txBody>
                  <a:tcPr>
                    <a:solidFill>
                      <a:srgbClr val="FFFFFF"/>
                    </a:solidFill>
                  </a:tcPr>
                </a:tc>
                <a:tc>
                  <a:txBody>
                    <a:bodyPr/>
                    <a:lstStyle/>
                    <a:p>
                      <a:pPr rtl="1" algn="r"/>
                      <a:r>
                        <a:rPr sz="1700" b="0" i="0" lang="ar-EG" altLang="en-US">
                          <a:solidFill>
                            <a:srgbClr val="1C2333"/>
                          </a:solidFill>
                          <a:latin typeface="Traditional Arabic"/>
                        </a:rPr>
                        <a:t>سبتمبر</a:t>
                      </a:r>
                    </a:p>
                  </a:txBody>
                  <a:tcPr>
                    <a:solidFill>
                      <a:srgbClr val="FFFFFF"/>
                    </a:solidFill>
                  </a:tcPr>
                </a:tc>
              </a:tr>
              <a:tr h="384048">
                <a:tc>
                  <a:txBody>
                    <a:bodyPr/>
                    <a:lstStyle/>
                    <a:p>
                      <a:pPr rtl="0" algn="l"/>
                      <a:r>
                        <a:rPr sz="1500" b="1" i="0" lang="en-US">
                          <a:solidFill>
                            <a:srgbClr val="947822"/>
                          </a:solidFill>
                          <a:latin typeface="Segoe UI"/>
                        </a:rPr>
                        <a:t>February</a:t>
                      </a:r>
                    </a:p>
                  </a:txBody>
                  <a:tcPr>
                    <a:solidFill>
                      <a:srgbClr val="EEF3FA"/>
                    </a:solidFill>
                  </a:tcPr>
                </a:tc>
                <a:tc>
                  <a:txBody>
                    <a:bodyPr/>
                    <a:lstStyle/>
                    <a:p>
                      <a:pPr rtl="1" algn="r"/>
                      <a:r>
                        <a:rPr sz="1700" b="0" i="0" lang="ar-EG" altLang="en-US">
                          <a:solidFill>
                            <a:srgbClr val="1C2333"/>
                          </a:solidFill>
                          <a:latin typeface="Traditional Arabic"/>
                        </a:rPr>
                        <a:t>فبراير</a:t>
                      </a:r>
                    </a:p>
                  </a:txBody>
                  <a:tcPr>
                    <a:solidFill>
                      <a:srgbClr val="EEF3FA"/>
                    </a:solidFill>
                  </a:tcPr>
                </a:tc>
                <a:tc>
                  <a:txBody>
                    <a:bodyPr/>
                    <a:lstStyle/>
                    <a:p>
                      <a:pPr rtl="0" algn="l"/>
                      <a:r>
                        <a:rPr sz="1500" b="1" i="0" lang="en-US">
                          <a:solidFill>
                            <a:srgbClr val="947822"/>
                          </a:solidFill>
                          <a:latin typeface="Segoe UI"/>
                        </a:rPr>
                        <a:t>June</a:t>
                      </a:r>
                    </a:p>
                  </a:txBody>
                  <a:tcPr>
                    <a:solidFill>
                      <a:srgbClr val="EEF3FA"/>
                    </a:solidFill>
                  </a:tcPr>
                </a:tc>
                <a:tc>
                  <a:txBody>
                    <a:bodyPr/>
                    <a:lstStyle/>
                    <a:p>
                      <a:pPr rtl="1" algn="r"/>
                      <a:r>
                        <a:rPr sz="1700" b="0" i="0" lang="ar-EG" altLang="en-US">
                          <a:solidFill>
                            <a:srgbClr val="1C2333"/>
                          </a:solidFill>
                          <a:latin typeface="Traditional Arabic"/>
                        </a:rPr>
                        <a:t>يونيو</a:t>
                      </a:r>
                    </a:p>
                  </a:txBody>
                  <a:tcPr>
                    <a:solidFill>
                      <a:srgbClr val="EEF3FA"/>
                    </a:solidFill>
                  </a:tcPr>
                </a:tc>
                <a:tc>
                  <a:txBody>
                    <a:bodyPr/>
                    <a:lstStyle/>
                    <a:p>
                      <a:pPr rtl="0" algn="l"/>
                      <a:r>
                        <a:rPr sz="1500" b="1" i="0" lang="en-US">
                          <a:solidFill>
                            <a:srgbClr val="947822"/>
                          </a:solidFill>
                          <a:latin typeface="Segoe UI"/>
                        </a:rPr>
                        <a:t>October</a:t>
                      </a:r>
                    </a:p>
                  </a:txBody>
                  <a:tcPr>
                    <a:solidFill>
                      <a:srgbClr val="EEF3FA"/>
                    </a:solidFill>
                  </a:tcPr>
                </a:tc>
                <a:tc>
                  <a:txBody>
                    <a:bodyPr/>
                    <a:lstStyle/>
                    <a:p>
                      <a:pPr rtl="1" algn="r"/>
                      <a:r>
                        <a:rPr sz="1700" b="0" i="0" lang="ar-EG" altLang="en-US">
                          <a:solidFill>
                            <a:srgbClr val="1C2333"/>
                          </a:solidFill>
                          <a:latin typeface="Traditional Arabic"/>
                        </a:rPr>
                        <a:t>أكتوبر</a:t>
                      </a:r>
                    </a:p>
                  </a:txBody>
                  <a:tcPr>
                    <a:solidFill>
                      <a:srgbClr val="EEF3FA"/>
                    </a:solidFill>
                  </a:tcPr>
                </a:tc>
              </a:tr>
              <a:tr h="384048">
                <a:tc>
                  <a:txBody>
                    <a:bodyPr/>
                    <a:lstStyle/>
                    <a:p>
                      <a:pPr rtl="0" algn="l"/>
                      <a:r>
                        <a:rPr sz="1500" b="1" i="0" lang="en-US">
                          <a:solidFill>
                            <a:srgbClr val="947822"/>
                          </a:solidFill>
                          <a:latin typeface="Segoe UI"/>
                        </a:rPr>
                        <a:t>March</a:t>
                      </a:r>
                    </a:p>
                  </a:txBody>
                  <a:tcPr>
                    <a:solidFill>
                      <a:srgbClr val="FFFFFF"/>
                    </a:solidFill>
                  </a:tcPr>
                </a:tc>
                <a:tc>
                  <a:txBody>
                    <a:bodyPr/>
                    <a:lstStyle/>
                    <a:p>
                      <a:pPr rtl="1" algn="r"/>
                      <a:r>
                        <a:rPr sz="1700" b="0" i="0" lang="ar-EG" altLang="en-US">
                          <a:solidFill>
                            <a:srgbClr val="1C2333"/>
                          </a:solidFill>
                          <a:latin typeface="Traditional Arabic"/>
                        </a:rPr>
                        <a:t>مارس</a:t>
                      </a:r>
                    </a:p>
                  </a:txBody>
                  <a:tcPr>
                    <a:solidFill>
                      <a:srgbClr val="FFFFFF"/>
                    </a:solidFill>
                  </a:tcPr>
                </a:tc>
                <a:tc>
                  <a:txBody>
                    <a:bodyPr/>
                    <a:lstStyle/>
                    <a:p>
                      <a:pPr rtl="0" algn="l"/>
                      <a:r>
                        <a:rPr sz="1500" b="1" i="0" lang="en-US">
                          <a:solidFill>
                            <a:srgbClr val="947822"/>
                          </a:solidFill>
                          <a:latin typeface="Segoe UI"/>
                        </a:rPr>
                        <a:t>July</a:t>
                      </a:r>
                    </a:p>
                  </a:txBody>
                  <a:tcPr>
                    <a:solidFill>
                      <a:srgbClr val="FFFFFF"/>
                    </a:solidFill>
                  </a:tcPr>
                </a:tc>
                <a:tc>
                  <a:txBody>
                    <a:bodyPr/>
                    <a:lstStyle/>
                    <a:p>
                      <a:pPr rtl="1" algn="r"/>
                      <a:r>
                        <a:rPr sz="1700" b="0" i="0" lang="ar-EG" altLang="en-US">
                          <a:solidFill>
                            <a:srgbClr val="1C2333"/>
                          </a:solidFill>
                          <a:latin typeface="Traditional Arabic"/>
                        </a:rPr>
                        <a:t>يوليو</a:t>
                      </a:r>
                    </a:p>
                  </a:txBody>
                  <a:tcPr>
                    <a:solidFill>
                      <a:srgbClr val="FFFFFF"/>
                    </a:solidFill>
                  </a:tcPr>
                </a:tc>
                <a:tc>
                  <a:txBody>
                    <a:bodyPr/>
                    <a:lstStyle/>
                    <a:p>
                      <a:pPr rtl="0" algn="l"/>
                      <a:r>
                        <a:rPr sz="1500" b="1" i="0" lang="en-US">
                          <a:solidFill>
                            <a:srgbClr val="947822"/>
                          </a:solidFill>
                          <a:latin typeface="Segoe UI"/>
                        </a:rPr>
                        <a:t>November</a:t>
                      </a:r>
                    </a:p>
                  </a:txBody>
                  <a:tcPr>
                    <a:solidFill>
                      <a:srgbClr val="FFFFFF"/>
                    </a:solidFill>
                  </a:tcPr>
                </a:tc>
                <a:tc>
                  <a:txBody>
                    <a:bodyPr/>
                    <a:lstStyle/>
                    <a:p>
                      <a:pPr rtl="1" algn="r"/>
                      <a:r>
                        <a:rPr sz="1700" b="0" i="0" lang="ar-EG" altLang="en-US">
                          <a:solidFill>
                            <a:srgbClr val="1C2333"/>
                          </a:solidFill>
                          <a:latin typeface="Traditional Arabic"/>
                        </a:rPr>
                        <a:t>نوفمبر</a:t>
                      </a:r>
                    </a:p>
                  </a:txBody>
                  <a:tcPr>
                    <a:solidFill>
                      <a:srgbClr val="FFFFFF"/>
                    </a:solidFill>
                  </a:tcPr>
                </a:tc>
              </a:tr>
              <a:tr h="384048">
                <a:tc>
                  <a:txBody>
                    <a:bodyPr/>
                    <a:lstStyle/>
                    <a:p>
                      <a:pPr rtl="0" algn="l"/>
                      <a:r>
                        <a:rPr sz="1500" b="1" i="0" lang="en-US">
                          <a:solidFill>
                            <a:srgbClr val="947822"/>
                          </a:solidFill>
                          <a:latin typeface="Segoe UI"/>
                        </a:rPr>
                        <a:t>April</a:t>
                      </a:r>
                    </a:p>
                  </a:txBody>
                  <a:tcPr>
                    <a:solidFill>
                      <a:srgbClr val="EEF3FA"/>
                    </a:solidFill>
                  </a:tcPr>
                </a:tc>
                <a:tc>
                  <a:txBody>
                    <a:bodyPr/>
                    <a:lstStyle/>
                    <a:p>
                      <a:pPr rtl="1" algn="r"/>
                      <a:r>
                        <a:rPr sz="1700" b="0" i="0" lang="ar-EG" altLang="en-US">
                          <a:solidFill>
                            <a:srgbClr val="1C2333"/>
                          </a:solidFill>
                          <a:latin typeface="Traditional Arabic"/>
                        </a:rPr>
                        <a:t>أبريل</a:t>
                      </a:r>
                    </a:p>
                  </a:txBody>
                  <a:tcPr>
                    <a:solidFill>
                      <a:srgbClr val="EEF3FA"/>
                    </a:solidFill>
                  </a:tcPr>
                </a:tc>
                <a:tc>
                  <a:txBody>
                    <a:bodyPr/>
                    <a:lstStyle/>
                    <a:p>
                      <a:pPr rtl="0" algn="l"/>
                      <a:r>
                        <a:rPr sz="1500" b="1" i="0" lang="en-US">
                          <a:solidFill>
                            <a:srgbClr val="947822"/>
                          </a:solidFill>
                          <a:latin typeface="Segoe UI"/>
                        </a:rPr>
                        <a:t>August</a:t>
                      </a:r>
                    </a:p>
                  </a:txBody>
                  <a:tcPr>
                    <a:solidFill>
                      <a:srgbClr val="EEF3FA"/>
                    </a:solidFill>
                  </a:tcPr>
                </a:tc>
                <a:tc>
                  <a:txBody>
                    <a:bodyPr/>
                    <a:lstStyle/>
                    <a:p>
                      <a:pPr rtl="1" algn="r"/>
                      <a:r>
                        <a:rPr sz="1700" b="0" i="0" lang="ar-EG" altLang="en-US">
                          <a:solidFill>
                            <a:srgbClr val="1C2333"/>
                          </a:solidFill>
                          <a:latin typeface="Traditional Arabic"/>
                        </a:rPr>
                        <a:t>أغسطس</a:t>
                      </a:r>
                    </a:p>
                  </a:txBody>
                  <a:tcPr>
                    <a:solidFill>
                      <a:srgbClr val="EEF3FA"/>
                    </a:solidFill>
                  </a:tcPr>
                </a:tc>
                <a:tc>
                  <a:txBody>
                    <a:bodyPr/>
                    <a:lstStyle/>
                    <a:p>
                      <a:pPr rtl="0" algn="l"/>
                      <a:r>
                        <a:rPr sz="1500" b="1" i="0" lang="en-US">
                          <a:solidFill>
                            <a:srgbClr val="947822"/>
                          </a:solidFill>
                          <a:latin typeface="Segoe UI"/>
                        </a:rPr>
                        <a:t>December</a:t>
                      </a:r>
                    </a:p>
                  </a:txBody>
                  <a:tcPr>
                    <a:solidFill>
                      <a:srgbClr val="EEF3FA"/>
                    </a:solidFill>
                  </a:tcPr>
                </a:tc>
                <a:tc>
                  <a:txBody>
                    <a:bodyPr/>
                    <a:lstStyle/>
                    <a:p>
                      <a:pPr rtl="1" algn="r"/>
                      <a:r>
                        <a:rPr sz="1700" b="0" i="0" lang="ar-EG" altLang="en-US">
                          <a:solidFill>
                            <a:srgbClr val="1C2333"/>
                          </a:solidFill>
                          <a:latin typeface="Traditional Arabic"/>
                        </a:rPr>
                        <a:t>ديسمبر</a:t>
                      </a:r>
                    </a:p>
                  </a:txBody>
                  <a:tcPr>
                    <a:solidFill>
                      <a:srgbClr val="EEF3FA"/>
                    </a:solidFill>
                  </a:tcPr>
                </a:tc>
              </a:tr>
            </a:tbl>
          </a:graphicData>
        </a:graphic>
      </p:graphicFrame>
    </p:spTree>
  </p:cSld>
  <p:clrMapOvr>
    <a:masterClrMapping/>
  </p:clrMapOvr>
  <p:transition spd="med">
    <p:circl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947822"/>
                          </a:solidFill>
                          <a:latin typeface="Segoe UI"/>
                        </a:rPr>
                        <a:t>morning</a:t>
                      </a:r>
                    </a:p>
                  </a:txBody>
                  <a:tcPr>
                    <a:solidFill>
                      <a:srgbClr val="FFFFFF"/>
                    </a:solidFill>
                  </a:tcPr>
                </a:tc>
                <a:tc>
                  <a:txBody>
                    <a:bodyPr/>
                    <a:lstStyle/>
                    <a:p>
                      <a:pPr rtl="1" algn="r"/>
                      <a:r>
                        <a:rPr sz="1700" b="0" i="0" lang="ar-EG" altLang="en-US">
                          <a:solidFill>
                            <a:srgbClr val="1C2333"/>
                          </a:solidFill>
                          <a:latin typeface="Traditional Arabic"/>
                        </a:rPr>
                        <a:t>صباح</a:t>
                      </a:r>
                    </a:p>
                  </a:txBody>
                  <a:tcPr>
                    <a:solidFill>
                      <a:srgbClr val="FFFFFF"/>
                    </a:solidFill>
                  </a:tcPr>
                </a:tc>
                <a:tc>
                  <a:txBody>
                    <a:bodyPr/>
                    <a:lstStyle/>
                    <a:p>
                      <a:pPr rtl="0" algn="l"/>
                      <a:r>
                        <a:rPr sz="1500" b="1" i="0" lang="en-US">
                          <a:solidFill>
                            <a:srgbClr val="947822"/>
                          </a:solidFill>
                          <a:latin typeface="Segoe UI"/>
                        </a:rPr>
                        <a:t>night</a:t>
                      </a:r>
                    </a:p>
                  </a:txBody>
                  <a:tcPr>
                    <a:solidFill>
                      <a:srgbClr val="FFFFFF"/>
                    </a:solidFill>
                  </a:tcPr>
                </a:tc>
                <a:tc>
                  <a:txBody>
                    <a:bodyPr/>
                    <a:lstStyle/>
                    <a:p>
                      <a:pPr rtl="1" algn="r"/>
                      <a:r>
                        <a:rPr sz="1700" b="0" i="0" lang="ar-EG" altLang="en-US">
                          <a:solidFill>
                            <a:srgbClr val="1C2333"/>
                          </a:solidFill>
                          <a:latin typeface="Traditional Arabic"/>
                        </a:rPr>
                        <a:t>ليل</a:t>
                      </a:r>
                    </a:p>
                  </a:txBody>
                  <a:tcPr>
                    <a:solidFill>
                      <a:srgbClr val="FFFFFF"/>
                    </a:solidFill>
                  </a:tcPr>
                </a:tc>
              </a:tr>
              <a:tr h="384048">
                <a:tc>
                  <a:txBody>
                    <a:bodyPr/>
                    <a:lstStyle/>
                    <a:p>
                      <a:pPr rtl="0" algn="l"/>
                      <a:r>
                        <a:rPr sz="1500" b="1" i="0" lang="en-US">
                          <a:solidFill>
                            <a:srgbClr val="947822"/>
                          </a:solidFill>
                          <a:latin typeface="Segoe UI"/>
                        </a:rPr>
                        <a:t>evening</a:t>
                      </a:r>
                    </a:p>
                  </a:txBody>
                  <a:tcPr>
                    <a:solidFill>
                      <a:srgbClr val="EEF3FA"/>
                    </a:solidFill>
                  </a:tcPr>
                </a:tc>
                <a:tc>
                  <a:txBody>
                    <a:bodyPr/>
                    <a:lstStyle/>
                    <a:p>
                      <a:pPr rtl="1" algn="r"/>
                      <a:r>
                        <a:rPr sz="1700" b="0" i="0" lang="ar-EG" altLang="en-US">
                          <a:solidFill>
                            <a:srgbClr val="1C2333"/>
                          </a:solidFill>
                          <a:latin typeface="Traditional Arabic"/>
                        </a:rPr>
                        <a:t>مساء</a:t>
                      </a:r>
                    </a:p>
                  </a:txBody>
                  <a:tcPr>
                    <a:solidFill>
                      <a:srgbClr val="EEF3FA"/>
                    </a:solidFill>
                  </a:tcPr>
                </a:tc>
                <a:tc>
                  <a:txBody>
                    <a:bodyPr/>
                    <a:lstStyle/>
                    <a:p>
                      <a:pPr rtl="0" algn="l"/>
                      <a:r>
                        <a:rPr sz="1500" b="1" i="0" lang="en-US">
                          <a:solidFill>
                            <a:srgbClr val="947822"/>
                          </a:solidFill>
                          <a:latin typeface="Segoe UI"/>
                        </a:rPr>
                        <a:t>midday</a:t>
                      </a:r>
                    </a:p>
                  </a:txBody>
                  <a:tcPr>
                    <a:solidFill>
                      <a:srgbClr val="EEF3FA"/>
                    </a:solidFill>
                  </a:tcPr>
                </a:tc>
                <a:tc>
                  <a:txBody>
                    <a:bodyPr/>
                    <a:lstStyle/>
                    <a:p>
                      <a:pPr rtl="1" algn="r"/>
                      <a:r>
                        <a:rPr sz="1700" b="0" i="0" lang="ar-EG" altLang="en-US">
                          <a:solidFill>
                            <a:srgbClr val="1C2333"/>
                          </a:solidFill>
                          <a:latin typeface="Traditional Arabic"/>
                        </a:rPr>
                        <a:t>منتصف النهار</a:t>
                      </a:r>
                    </a:p>
                  </a:txBody>
                  <a:tcPr>
                    <a:solidFill>
                      <a:srgbClr val="EEF3FA"/>
                    </a:solidFill>
                  </a:tcPr>
                </a:tc>
              </a:tr>
              <a:tr h="384048">
                <a:tc>
                  <a:txBody>
                    <a:bodyPr/>
                    <a:lstStyle/>
                    <a:p>
                      <a:pPr rtl="0" algn="l"/>
                      <a:r>
                        <a:rPr sz="1500" b="1" i="0" lang="en-US">
                          <a:solidFill>
                            <a:srgbClr val="947822"/>
                          </a:solidFill>
                          <a:latin typeface="Segoe UI"/>
                        </a:rPr>
                        <a:t>afternoon</a:t>
                      </a:r>
                    </a:p>
                  </a:txBody>
                  <a:tcPr>
                    <a:solidFill>
                      <a:srgbClr val="FFFFFF"/>
                    </a:solidFill>
                  </a:tcPr>
                </a:tc>
                <a:tc>
                  <a:txBody>
                    <a:bodyPr/>
                    <a:lstStyle/>
                    <a:p>
                      <a:pPr rtl="1" algn="r"/>
                      <a:r>
                        <a:rPr sz="1700" b="0" i="0" lang="ar-EG" altLang="en-US">
                          <a:solidFill>
                            <a:srgbClr val="1C2333"/>
                          </a:solidFill>
                          <a:latin typeface="Traditional Arabic"/>
                        </a:rPr>
                        <a:t>بعد الظهر</a:t>
                      </a:r>
                    </a:p>
                  </a:txBody>
                  <a:tcPr>
                    <a:solidFill>
                      <a:srgbClr val="FFFFFF"/>
                    </a:solidFill>
                  </a:tcPr>
                </a:tc>
                <a:tc>
                  <a:txBody>
                    <a:bodyPr/>
                    <a:lstStyle/>
                    <a:p>
                      <a:pPr rtl="0" algn="l"/>
                      <a:r>
                        <a:rPr sz="1500" b="1" i="0" lang="en-US">
                          <a:solidFill>
                            <a:srgbClr val="947822"/>
                          </a:solidFill>
                          <a:latin typeface="Segoe UI"/>
                        </a:rPr>
                        <a:t>midnight</a:t>
                      </a:r>
                    </a:p>
                  </a:txBody>
                  <a:tcPr>
                    <a:solidFill>
                      <a:srgbClr val="FFFFFF"/>
                    </a:solidFill>
                  </a:tcPr>
                </a:tc>
                <a:tc>
                  <a:txBody>
                    <a:bodyPr/>
                    <a:lstStyle/>
                    <a:p>
                      <a:pPr rtl="1" algn="r"/>
                      <a:r>
                        <a:rPr sz="1700" b="0" i="0" lang="ar-EG" altLang="en-US">
                          <a:solidFill>
                            <a:srgbClr val="1C2333"/>
                          </a:solidFill>
                          <a:latin typeface="Traditional Arabic"/>
                        </a:rPr>
                        <a:t>منتصف الليل</a:t>
                      </a:r>
                    </a:p>
                  </a:txBody>
                  <a:tcPr>
                    <a:solidFill>
                      <a:srgbClr val="FFFFFF"/>
                    </a:solidFill>
                  </a:tcPr>
                </a:tc>
              </a:tr>
            </a:tbl>
          </a:graphicData>
        </a:graphic>
      </p:graphicFrame>
    </p:spTree>
  </p:cSld>
  <p:clrMapOvr>
    <a:masterClrMapping/>
  </p:clrMapOvr>
  <p:transition spd="med">
    <p:diamond/>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have a meeting …… Friday.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birthday is …… July.   (in – on – 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train leaves …… 6 o'clock.   (in – on – 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was born …… 2005.   (in – on – 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We'll go out …… the weekend.   (in – on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always wakes up early …… the morning.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concert is …… night.   (in – on – 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 had lunch …… the afternoon.   (in – on – 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brother was born …… March.   (in – on – 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She goes to the gym …… Mondays.   (in – on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 meeting is …… 3 p.m.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moved to London …… winter.   (in – on – 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I'll call you …… the morning.   (in – on – 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My parents got married …… 1990.   (in – on – 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He arrived …… Tuesday afternoon.   (in – on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I'll go on vacation …… August.   (in – on – at)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He was sleeping …… midnight.   (in – on – at)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We met …… Sunday morning.   (in – on – at)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have an exam in Monday.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have an exam on Monday.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train arrives on 8 o'clock.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train arrives at 8 o'clock.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was born at 2007.</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 born in 2007.</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meeting is on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meeting is at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likes reading at the evening.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likes reading in the evening.</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birthday is at July.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birthday is in July.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called me in Tuesday.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called me on Tuesday.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He got married at 2010.</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got married in 2010.</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usually relax at the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usually relax in the morning.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I'll go shopping on the weekend.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I'll go shopping at the weekend.</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We go to the beach on summer.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go to the beach in summer.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 class starts at 8 o'clock.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 The class starts at 8 o'clock. (صحيحة)</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I brush my teeth on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brush my teeth at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We'll travel at November.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We'll travel in November.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He studies on the morning.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studies in the morning.</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 party is at January 10th.</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party is on January 10th.</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play football in Fridays.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 football on Fridays.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We watch TV on night.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watch TV at night.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10</a:t>
            </a:r>
          </a:p>
          <a:p>
            <a:pPr algn="ctr" rtl="0"/>
            <a:r>
              <a:rPr sz="4600" b="1" i="0" lang="en-US">
                <a:solidFill>
                  <a:srgbClr val="FFFFFF"/>
                </a:solidFill>
                <a:latin typeface="Segoe UI"/>
              </a:rPr>
              <a:t>Verb to have (have / has)</a:t>
            </a:r>
          </a:p>
          <a:p>
            <a:pPr algn="ctr" rtl="1"/>
            <a:r>
              <a:rPr sz="2900" b="0" i="0" lang="ar-EG" altLang="en-US">
                <a:solidFill>
                  <a:srgbClr val="FFFFFF"/>
                </a:solidFill>
                <a:latin typeface="Traditional Arabic"/>
              </a:rPr>
              <a:t>فعل الامتلاك</a:t>
            </a:r>
          </a:p>
        </p:txBody>
      </p:sp>
    </p:spTree>
  </p:cSld>
  <p:clrMapOvr>
    <a:masterClrMapping/>
  </p:clrMapOvr>
  <p:transition spd="med">
    <p:zoom dir="in"/>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482294"/>
                </a:solidFill>
                <a:latin typeface="Traditional Arabic"/>
              </a:rPr>
              <a:t>▶ He – She – It – الاسم المفرد + has</a:t>
            </a:r>
          </a:p>
          <a:p>
            <a:pPr rtl="1" algn="r">
              <a:spcAft>
                <a:spcPts val="600"/>
              </a:spcAft>
            </a:pPr>
            <a:r>
              <a:rPr sz="2100" b="0" i="0" lang="ar-EG" altLang="en-US">
                <a:solidFill>
                  <a:srgbClr val="1C2333"/>
                </a:solidFill>
                <a:latin typeface="Traditional Arabic"/>
              </a:rPr>
              <a:t>    نستخدم (has) مع المفرد.</a:t>
            </a:r>
          </a:p>
          <a:p>
            <a:pPr rtl="0" algn="l">
              <a:spcAft>
                <a:spcPts val="600"/>
              </a:spcAft>
            </a:pPr>
            <a:r>
              <a:rPr sz="2000" b="1" i="0" lang="en-US">
                <a:solidFill>
                  <a:srgbClr val="482294"/>
                </a:solidFill>
                <a:latin typeface="Segoe UI"/>
              </a:rPr>
              <a:t>▶ I – They – You – We – الاسم الجمع + have</a:t>
            </a:r>
          </a:p>
          <a:p>
            <a:pPr rtl="1" algn="r">
              <a:spcAft>
                <a:spcPts val="600"/>
              </a:spcAft>
            </a:pPr>
            <a:r>
              <a:rPr sz="2100" b="0" i="0" lang="ar-EG" altLang="en-US">
                <a:solidFill>
                  <a:srgbClr val="1C2333"/>
                </a:solidFill>
                <a:latin typeface="Traditional Arabic"/>
              </a:rPr>
              <a:t>    نستخدم (have) مع الجمع و I.</a:t>
            </a:r>
          </a:p>
          <a:p>
            <a:pPr rtl="0" algn="l">
              <a:spcAft>
                <a:spcPts val="600"/>
              </a:spcAft>
            </a:pPr>
            <a:r>
              <a:rPr sz="1700" b="0" i="1" lang="en-US">
                <a:solidFill>
                  <a:srgbClr val="5B6478"/>
                </a:solidFill>
                <a:latin typeface="Segoe UI"/>
              </a:rPr>
              <a:t>   e.g. She has a toy. – They have many books.</a:t>
            </a:r>
          </a:p>
        </p:txBody>
      </p:sp>
    </p:spTree>
  </p:cSld>
  <p:clrMapOvr>
    <a:masterClrMapping/>
  </p:clrMapOvr>
  <p:transition spd="med">
    <p:random/>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482294"/>
                </a:solidFill>
                <a:latin typeface="Segoe UI"/>
              </a:rPr>
              <a:t>▶ He – She – It + doesn't have +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482294"/>
                </a:solidFill>
                <a:latin typeface="Segoe UI"/>
              </a:rPr>
              <a:t>▶ I – They – You – We + don't have + …</a:t>
            </a:r>
          </a:p>
          <a:p>
            <a:pPr rtl="1" algn="r">
              <a:spcAft>
                <a:spcPts val="600"/>
              </a:spcAft>
            </a:pPr>
            <a:r>
              <a:rPr sz="2100" b="0" i="0" lang="ar-EG" altLang="en-US">
                <a:solidFill>
                  <a:srgbClr val="1C2333"/>
                </a:solidFill>
                <a:latin typeface="Traditional Arabic"/>
              </a:rPr>
              <a:t>نفي الجمع.</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482294"/>
                </a:solidFill>
                <a:latin typeface="Segoe UI"/>
              </a:rPr>
              <a:t>▶ Does + he / she / it + have + …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482294"/>
                </a:solidFill>
                <a:latin typeface="Segoe UI"/>
              </a:rPr>
              <a:t>▶ Do + I / they / you / we + have + … ?</a:t>
            </a:r>
          </a:p>
          <a:p>
            <a:pPr rtl="1" algn="r">
              <a:spcAft>
                <a:spcPts val="600"/>
              </a:spcAft>
            </a:pPr>
            <a:r>
              <a:rPr sz="2100" b="0" i="0" lang="ar-EG" altLang="en-US">
                <a:solidFill>
                  <a:srgbClr val="1C2333"/>
                </a:solidFill>
                <a:latin typeface="Traditional Arabic"/>
              </a:rPr>
              <a:t>السؤال للجمع.</a:t>
            </a:r>
          </a:p>
          <a:p>
            <a:pPr rtl="0" algn="l">
              <a:spcAft>
                <a:spcPts val="600"/>
              </a:spcAft>
            </a:pPr>
            <a:r>
              <a:rPr sz="1700" b="0" i="1" lang="en-US">
                <a:solidFill>
                  <a:srgbClr val="5B6478"/>
                </a:solidFill>
                <a:latin typeface="Segoe UI"/>
              </a:rPr>
              <a:t>   e.g. Yes, she does. / No, she doesn't. Yes, they do. / No, they don't.</a:t>
            </a:r>
          </a:p>
        </p:txBody>
      </p:sp>
    </p:spTree>
  </p:cSld>
  <p:clrMapOvr>
    <a:masterClrMapping/>
  </p:clrMapOvr>
  <p:transition spd="med">
    <p:push dir="l"/>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 a blue car.   (have – has)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My parents …… a new house.   (have – has)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 many books.   (have – has)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 a long tail.   (have – has)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 some oranges.   (have – has)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She …… a toy.   (have – has)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 a book.   (have – has)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father …… a car.   (have – has)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have a pen.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have a pen.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They have oranges.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don't have oranges.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You have a flower.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don't have a flower.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My sisters have skirts.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sisters don't have skirts.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have cats.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don't have cats.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Rody and Sara have toys.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Rody and Sara don't have toys.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 have a lion.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have a lion.</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It has a long tail.</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doesn't have a long tail.</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He has a book.</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doesn't have a book.</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My mum has a car.</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doesn't have a car.</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Rody has a toy.</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Rody doesn't have a toy.</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She has an orange.</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doesn't have an orange.</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My sister has a ring.</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sister doesn't have a ring.</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has a bike.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bike?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has a toy.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 toy?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Leen has a pen.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Leen have a pen?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has a long tail.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a long tail?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 cat has a rat.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a cat have a rat?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He has a book.</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book?</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She has an orange.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an orange?</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Rawan has blue eyes.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Rawan have blue eyes?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have a camera.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camera?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They have cats.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cats?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We have pencils.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pencils?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You have a dress.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I have a dress?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Lions have meat.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lions have meat?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have blue eyes.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blue eyes?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They have hats.</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have hats?</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We have birds.</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birds?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Do you have a car?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 she have a bike?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they have dogs?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Does it have a tail?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Does she have a pen?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Do we have books?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we do. / No, we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Does Rody have a toy?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 I have a house?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you do. / No, you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Does he have a cat?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 they have pencils?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she have a skirt?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Does she have a skirt?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 they have cars?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 lions have meat?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Does Sara have pants?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 it have milk?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Do you have oranges?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Do birds have nests?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Does Leen have a doll?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Do you have an apple?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Does it have fur?</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Does your father have a car?</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I have a car.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car?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she doesn't have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 cat?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Yes, they have books.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books?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No, it doesn't have milk.</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milk?</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Yes, my sister has a dress.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your sister have a dress?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 we don't have flowers.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flowers?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Yes, he has a bike.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bike?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No, you don't have a toy.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I have a toy?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Yes, I have a camera.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camera?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No, they don't have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pens?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it doesn't have meat.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meat?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 he doesn't have a fish.</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fish?</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Yes, my parents have cars.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your parents have cars?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No, I don't have a plant.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plant?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Yes, it has a long tail.</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a long tail?</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No, they don't have ducks.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ducks?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Yes, you have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I have pens?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No, we don't have money.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money?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Yes, Rody has a bag.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Rody have a bag?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Yes, my brother has pants.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your brother have pants?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No, I don't have rulers.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rulers?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Yes, I have animals.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animals?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have a car.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أنا أمتلك سيارة.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He has a dog.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هو يمتلك كلباً.</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don't have books.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هم لا يمتلكون كتباً.</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Mido has a bag.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ميدو لديه حقيبة.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 cat has a long tail.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القطة لها ذيل طويل.</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We have a new car.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لدينا سيارة جديدة.</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have animals.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أنت تمتلك حيوانات.</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She has a flower.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هي لديها زهرة.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It doesn't have wings.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له أجنحة.</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Does he have a bird?</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لديه طائر؟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Do you have a pen?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لديك قلم؟</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This cow has four legs.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البقرة لها أربع أرجل.</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 have two arms.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لديّ ذراعان.</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He doesn't have milk.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لديه حليب.</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Do you have a sister?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لديك أخت؟</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We don't have water.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لدينا ماء.</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Does she have a dress?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لديها فستان؟</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He has black shoes.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لديه حذاء أسود.</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She doesn't have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لديها لُعَب.</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It has blue eyes.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له عينان زرقاوان.</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They don't have milk.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لديهم حليب.</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I have a blue jacket.</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لديّ جاكيت أزرق.</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have – car – don't – a – I.</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have a car.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doesn't – She – skirt – have – a.</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a skirt.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oranges – They – have – don't.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have oranges.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have – they – Do –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have milk?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ball – has – a – He.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has a ball.</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eyes – Does – have – it?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have eyes?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meat – lions – Do – have?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lions have meat?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apple – I – have – an – don't.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have an apple.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have – pen – You – a – don't.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don't have a pen.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 Does – key – a – have?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have a key?</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skirt – she – a – Does – have?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have a skirt?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 Does – a – watch – have?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have a watch?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dress – have – don't – I – a.</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have a dress.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books – he – Does – two – have?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have two books?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blue – She – eyes – has.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has blue eyes.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doesn't – She – a – have – pen.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a pen.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have – red – We – bags.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have red bags.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 – brother – My – has – car.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has a car.</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dog – sister – My – has – a.</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has a dog.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bird – have – I – 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 bird.</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have – They – don't – pens.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have pens.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long – has – It – tail – a.</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has a long tail.</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car – My – has – mum – a.</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has a car.</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have – she – What – does?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she have?</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doesn't have a bike.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have a bike.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don't have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doesn't have a cat.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don't has books.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don't have books.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Does you have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It doesn't has a long tail.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doesn't have a long tail.</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My parents has a new house.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parents have a new house.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Do your mum have a camera?</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your mum have a camera?</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My mum doesn't has a car.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doesn't have a car.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Lions doesn't have meat.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Lions don't have meat.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They doesn't have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don't have pens.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Camels has strong legs.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Camels have strong legs.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He don't have a shirt.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doesn't have a shirt.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You doesn't have a camera.</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don't have a camera.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Do they has a bag?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a bag?</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Does it has milk?</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have milk?</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 she has a skirt?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have a skirt?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You do have a bird?</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a bird?</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She have doesn't a dress.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a dress.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have a camera. (She)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has a camera.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You have blue eyes. (He)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has blue eyes.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have a new house. (My father)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father has a new house.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don't have books. (She)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books.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Lions have strong teeth. (A lion)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lion has strong teeth.</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don't have a shirt. (He)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have a shirt.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parents have glasses. (My mum)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has glasses.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Rody has a toy. (They)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have a toy.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brother has a camera. (not)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doesn't have a camera.</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Birds have two wings. (A bird)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bird has two wings.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have blue eyes. (?)</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blue eyes?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 a beautiful dress.   (have – has – 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 you got any question?   (Is – Do – Does)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 a big family.   (have – is – has)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have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a bike.   (don't have – doesn't have – isn't have)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doesn't have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parents …… a car.   (have – has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have</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 he have a pen?   (Do – Is – Does)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 have any milk.   (doesn't – don't – weren't)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What …… you have for breakfast?   (do – does – is)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 he have a bike?   (Does – Do –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K)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What …… you have for breakfast?</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What do you have for breakfast?</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I …… cheese and eggs.</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I have cheese and eggs.</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Do you have coffee for breakfast?</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Do you have coffee for breakfast?</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No, I don't. I have milk.</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heel(1)">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1)">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Lst>
  </p:timing>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K)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 you?</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are you?</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Fine, …… you.</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you have a pen?</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Do you have a pen?</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Yes, I …… a pen.</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Yes, I have a pen.</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many pens do you …… ?</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many pens do you have ?</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I have 3 pens.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I have 3 pens.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Thank you.</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Thank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You are welcome.</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You are welcome.</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11</a:t>
            </a:r>
          </a:p>
          <a:p>
            <a:pPr algn="ctr" rtl="0"/>
            <a:r>
              <a:rPr sz="4600" b="1" i="0" lang="en-US">
                <a:solidFill>
                  <a:srgbClr val="FFFFFF"/>
                </a:solidFill>
                <a:latin typeface="Segoe UI"/>
              </a:rPr>
              <a:t>Pronouns</a:t>
            </a:r>
          </a:p>
          <a:p>
            <a:pPr algn="ctr" rtl="1"/>
            <a:r>
              <a:rPr sz="2900" b="0" i="0" lang="ar-EG" altLang="en-US">
                <a:solidFill>
                  <a:srgbClr val="FFFFFF"/>
                </a:solidFill>
                <a:latin typeface="Traditional Arabic"/>
              </a:rPr>
              <a:t>الضمائر</a:t>
            </a:r>
          </a:p>
        </p:txBody>
      </p:sp>
    </p:spTree>
  </p:cSld>
  <p:clrMapOvr>
    <a:masterClrMapping/>
  </p:clrMapOvr>
  <p:transition spd="med">
    <p:zoom dir="in"/>
  </p:transition>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Important notes — ملاحظات مهمة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800" b="0" i="0" lang="en-US">
                <a:solidFill>
                  <a:srgbClr val="1C2333"/>
                </a:solidFill>
                <a:latin typeface="Segoe UI"/>
              </a:rPr>
              <a:t>• Subject pronouns → first ضمائر الفاعل تأتي في أول الكلام. She likes him.</a:t>
            </a:r>
          </a:p>
          <a:p>
            <a:pPr rtl="0" algn="l">
              <a:spcAft>
                <a:spcPts val="600"/>
              </a:spcAft>
            </a:pPr>
            <a:r>
              <a:rPr sz="1800" b="0" i="0" lang="en-US">
                <a:solidFill>
                  <a:srgbClr val="1C2333"/>
                </a:solidFill>
                <a:latin typeface="Segoe UI"/>
              </a:rPr>
              <a:t>• Object pronouns → after the verb or a preposition ضمائر المفعول تأتي بعد الفعل الأساسي أو بعد حرف الجر. I saw them. – Look at me.</a:t>
            </a:r>
          </a:p>
          <a:p>
            <a:pPr rtl="0" algn="l">
              <a:spcAft>
                <a:spcPts val="600"/>
              </a:spcAft>
            </a:pPr>
            <a:r>
              <a:rPr sz="1800" b="0" i="0" lang="en-US">
                <a:solidFill>
                  <a:srgbClr val="1C2333"/>
                </a:solidFill>
                <a:latin typeface="Segoe UI"/>
              </a:rPr>
              <a:t>• Possessive adjectives + noun صفات الملكية تأتي قبل الاسم. This is my book.</a:t>
            </a:r>
          </a:p>
          <a:p>
            <a:pPr rtl="1" algn="r">
              <a:spcAft>
                <a:spcPts val="600"/>
              </a:spcAft>
            </a:pPr>
            <a:r>
              <a:rPr sz="2100" b="0" i="0" lang="ar-EG" altLang="en-US">
                <a:solidFill>
                  <a:srgbClr val="1C2333"/>
                </a:solidFill>
                <a:latin typeface="Traditional Arabic"/>
              </a:rPr>
              <a:t>• Possessive pronouns → at the end ضمائر الملكية تأتي في نهاية الجملة ولا يأتي بعدها اسم. This book is mine.</a:t>
            </a:r>
          </a:p>
          <a:p>
            <a:pPr rtl="1" algn="r">
              <a:spcAft>
                <a:spcPts val="600"/>
              </a:spcAft>
            </a:pPr>
            <a:r>
              <a:rPr sz="2100" b="0" i="0" lang="ar-EG" altLang="en-US">
                <a:solidFill>
                  <a:srgbClr val="1C2333"/>
                </a:solidFill>
                <a:latin typeface="Traditional Arabic"/>
              </a:rPr>
              <a:t>• Reflexive pronouns → at the end (by + myself) الضمائر المنعكسة تأتي في نهاية الجملة، وإذا بدأت الجملة بفعل في المصدر نستخدم yourself / yourselves، ومع الجمع غير العاقل نستخدم themselves. I do homework by myself.</a:t>
            </a:r>
          </a:p>
        </p:txBody>
      </p:sp>
    </p:spTree>
  </p:cSld>
  <p:clrMapOvr>
    <a:masterClrMapping/>
  </p:clrMapOvr>
  <p:transition spd="med">
    <p:circle/>
  </p:transition>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127248"/>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47472">
                <a:tc>
                  <a:txBody>
                    <a:bodyPr/>
                    <a:lstStyle/>
                    <a:p>
                      <a:pPr rtl="1" algn="r"/>
                      <a:r>
                        <a:rPr sz="1700" b="1" i="0" lang="ar-EG" altLang="en-US">
                          <a:solidFill>
                            <a:srgbClr val="FFFFFF"/>
                          </a:solidFill>
                          <a:latin typeface="Traditional Arabic"/>
                        </a:rPr>
                        <a:t>ضمائر الفاعل</a:t>
                      </a:r>
                    </a:p>
                  </a:txBody>
                  <a:tcPr>
                    <a:solidFill>
                      <a:srgbClr val="942294"/>
                    </a:solidFill>
                  </a:tcPr>
                </a:tc>
                <a:tc>
                  <a:txBody>
                    <a:bodyPr/>
                    <a:lstStyle/>
                    <a:p>
                      <a:pPr rtl="1" algn="r"/>
                      <a:r>
                        <a:rPr sz="1700" b="1" i="0" lang="ar-EG" altLang="en-US">
                          <a:solidFill>
                            <a:srgbClr val="FFFFFF"/>
                          </a:solidFill>
                          <a:latin typeface="Traditional Arabic"/>
                        </a:rPr>
                        <a:t>ضمائر المفعول</a:t>
                      </a:r>
                    </a:p>
                  </a:txBody>
                  <a:tcPr>
                    <a:solidFill>
                      <a:srgbClr val="942294"/>
                    </a:solidFill>
                  </a:tcPr>
                </a:tc>
                <a:tc>
                  <a:txBody>
                    <a:bodyPr/>
                    <a:lstStyle/>
                    <a:p>
                      <a:pPr rtl="1" algn="r"/>
                      <a:r>
                        <a:rPr sz="1700" b="1" i="0" lang="ar-EG" altLang="en-US">
                          <a:solidFill>
                            <a:srgbClr val="FFFFFF"/>
                          </a:solidFill>
                          <a:latin typeface="Traditional Arabic"/>
                        </a:rPr>
                        <a:t>صفات الملكية</a:t>
                      </a:r>
                    </a:p>
                  </a:txBody>
                  <a:tcPr>
                    <a:solidFill>
                      <a:srgbClr val="942294"/>
                    </a:solidFill>
                  </a:tcPr>
                </a:tc>
                <a:tc>
                  <a:txBody>
                    <a:bodyPr/>
                    <a:lstStyle/>
                    <a:p>
                      <a:pPr rtl="1" algn="r"/>
                      <a:r>
                        <a:rPr sz="1700" b="1" i="0" lang="ar-EG" altLang="en-US">
                          <a:solidFill>
                            <a:srgbClr val="FFFFFF"/>
                          </a:solidFill>
                          <a:latin typeface="Traditional Arabic"/>
                        </a:rPr>
                        <a:t>ضمائر الملكية</a:t>
                      </a:r>
                    </a:p>
                  </a:txBody>
                  <a:tcPr>
                    <a:solidFill>
                      <a:srgbClr val="942294"/>
                    </a:solidFill>
                  </a:tcPr>
                </a:tc>
                <a:tc>
                  <a:txBody>
                    <a:bodyPr/>
                    <a:lstStyle/>
                    <a:p>
                      <a:pPr rtl="1" algn="r"/>
                      <a:r>
                        <a:rPr sz="1700" b="1" i="0" lang="ar-EG" altLang="en-US">
                          <a:solidFill>
                            <a:srgbClr val="FFFFFF"/>
                          </a:solidFill>
                          <a:latin typeface="Traditional Arabic"/>
                        </a:rPr>
                        <a:t>الضمائر المنعكسة</a:t>
                      </a:r>
                    </a:p>
                  </a:txBody>
                  <a:tcPr>
                    <a:solidFill>
                      <a:srgbClr val="942294"/>
                    </a:solidFill>
                  </a:tcPr>
                </a:tc>
              </a:tr>
              <a:tr h="347472">
                <a:tc>
                  <a:txBody>
                    <a:bodyPr/>
                    <a:lstStyle/>
                    <a:p>
                      <a:pPr rtl="0" algn="l"/>
                      <a:r>
                        <a:rPr sz="1300" b="0" i="0" lang="en-US">
                          <a:solidFill>
                            <a:srgbClr val="1C2333"/>
                          </a:solidFill>
                          <a:latin typeface="Segoe UI"/>
                        </a:rPr>
                        <a:t>I</a:t>
                      </a:r>
                    </a:p>
                  </a:txBody>
                  <a:tcPr>
                    <a:solidFill>
                      <a:srgbClr val="FFFFFF"/>
                    </a:solidFill>
                  </a:tcPr>
                </a:tc>
                <a:tc>
                  <a:txBody>
                    <a:bodyPr/>
                    <a:lstStyle/>
                    <a:p>
                      <a:pPr rtl="0" algn="l"/>
                      <a:r>
                        <a:rPr sz="1300" b="0" i="0" lang="en-US">
                          <a:solidFill>
                            <a:srgbClr val="1C2333"/>
                          </a:solidFill>
                          <a:latin typeface="Segoe UI"/>
                        </a:rPr>
                        <a:t>me</a:t>
                      </a:r>
                    </a:p>
                  </a:txBody>
                  <a:tcPr>
                    <a:solidFill>
                      <a:srgbClr val="FFFFFF"/>
                    </a:solidFill>
                  </a:tcPr>
                </a:tc>
                <a:tc>
                  <a:txBody>
                    <a:bodyPr/>
                    <a:lstStyle/>
                    <a:p>
                      <a:pPr rtl="0" algn="l"/>
                      <a:r>
                        <a:rPr sz="1300" b="0" i="0" lang="en-US">
                          <a:solidFill>
                            <a:srgbClr val="1C2333"/>
                          </a:solidFill>
                          <a:latin typeface="Segoe UI"/>
                        </a:rPr>
                        <a:t>my</a:t>
                      </a:r>
                    </a:p>
                  </a:txBody>
                  <a:tcPr>
                    <a:solidFill>
                      <a:srgbClr val="FFFFFF"/>
                    </a:solidFill>
                  </a:tcPr>
                </a:tc>
                <a:tc>
                  <a:txBody>
                    <a:bodyPr/>
                    <a:lstStyle/>
                    <a:p>
                      <a:pPr rtl="0" algn="l"/>
                      <a:r>
                        <a:rPr sz="1300" b="0" i="0" lang="en-US">
                          <a:solidFill>
                            <a:srgbClr val="1C2333"/>
                          </a:solidFill>
                          <a:latin typeface="Segoe UI"/>
                        </a:rPr>
                        <a:t>mine</a:t>
                      </a:r>
                    </a:p>
                  </a:txBody>
                  <a:tcPr>
                    <a:solidFill>
                      <a:srgbClr val="FFFFFF"/>
                    </a:solidFill>
                  </a:tcPr>
                </a:tc>
                <a:tc>
                  <a:txBody>
                    <a:bodyPr/>
                    <a:lstStyle/>
                    <a:p>
                      <a:pPr rtl="0" algn="l"/>
                      <a:r>
                        <a:rPr sz="1300" b="0" i="0" lang="en-US">
                          <a:solidFill>
                            <a:srgbClr val="1C2333"/>
                          </a:solidFill>
                          <a:latin typeface="Segoe UI"/>
                        </a:rPr>
                        <a:t>myself</a:t>
                      </a:r>
                    </a:p>
                  </a:txBody>
                  <a:tcPr>
                    <a:solidFill>
                      <a:srgbClr val="FFFFFF"/>
                    </a:solidFill>
                  </a:tcPr>
                </a:tc>
              </a:tr>
              <a:tr h="347472">
                <a:tc>
                  <a:txBody>
                    <a:bodyPr/>
                    <a:lstStyle/>
                    <a:p>
                      <a:pPr rtl="0" algn="l"/>
                      <a:r>
                        <a:rPr sz="1300" b="0" i="0" lang="en-US">
                          <a:solidFill>
                            <a:srgbClr val="1C2333"/>
                          </a:solidFill>
                          <a:latin typeface="Segoe UI"/>
                        </a:rPr>
                        <a:t>He</a:t>
                      </a:r>
                    </a:p>
                  </a:txBody>
                  <a:tcPr>
                    <a:solidFill>
                      <a:srgbClr val="EEF3FA"/>
                    </a:solidFill>
                  </a:tcPr>
                </a:tc>
                <a:tc>
                  <a:txBody>
                    <a:bodyPr/>
                    <a:lstStyle/>
                    <a:p>
                      <a:pPr rtl="0" algn="l"/>
                      <a:r>
                        <a:rPr sz="1300" b="0" i="0" lang="en-US">
                          <a:solidFill>
                            <a:srgbClr val="1C2333"/>
                          </a:solidFill>
                          <a:latin typeface="Segoe UI"/>
                        </a:rPr>
                        <a:t>him</a:t>
                      </a:r>
                    </a:p>
                  </a:txBody>
                  <a:tcPr>
                    <a:solidFill>
                      <a:srgbClr val="EEF3FA"/>
                    </a:solidFill>
                  </a:tcPr>
                </a:tc>
                <a:tc>
                  <a:txBody>
                    <a:bodyPr/>
                    <a:lstStyle/>
                    <a:p>
                      <a:pPr rtl="0" algn="l"/>
                      <a:r>
                        <a:rPr sz="1300" b="0" i="0" lang="en-US">
                          <a:solidFill>
                            <a:srgbClr val="1C2333"/>
                          </a:solidFill>
                          <a:latin typeface="Segoe UI"/>
                        </a:rPr>
                        <a:t>his</a:t>
                      </a:r>
                    </a:p>
                  </a:txBody>
                  <a:tcPr>
                    <a:solidFill>
                      <a:srgbClr val="EEF3FA"/>
                    </a:solidFill>
                  </a:tcPr>
                </a:tc>
                <a:tc>
                  <a:txBody>
                    <a:bodyPr/>
                    <a:lstStyle/>
                    <a:p>
                      <a:pPr rtl="0" algn="l"/>
                      <a:r>
                        <a:rPr sz="1300" b="0" i="0" lang="en-US">
                          <a:solidFill>
                            <a:srgbClr val="1C2333"/>
                          </a:solidFill>
                          <a:latin typeface="Segoe UI"/>
                        </a:rPr>
                        <a:t>his</a:t>
                      </a:r>
                    </a:p>
                  </a:txBody>
                  <a:tcPr>
                    <a:solidFill>
                      <a:srgbClr val="EEF3FA"/>
                    </a:solidFill>
                  </a:tcPr>
                </a:tc>
                <a:tc>
                  <a:txBody>
                    <a:bodyPr/>
                    <a:lstStyle/>
                    <a:p>
                      <a:pPr rtl="0" algn="l"/>
                      <a:r>
                        <a:rPr sz="1300" b="0" i="0" lang="en-US">
                          <a:solidFill>
                            <a:srgbClr val="1C2333"/>
                          </a:solidFill>
                          <a:latin typeface="Segoe UI"/>
                        </a:rPr>
                        <a:t>himself</a:t>
                      </a:r>
                    </a:p>
                  </a:txBody>
                  <a:tcPr>
                    <a:solidFill>
                      <a:srgbClr val="EEF3FA"/>
                    </a:solidFill>
                  </a:tcPr>
                </a:tc>
              </a:tr>
              <a:tr h="347472">
                <a:tc>
                  <a:txBody>
                    <a:bodyPr/>
                    <a:lstStyle/>
                    <a:p>
                      <a:pPr rtl="0" algn="l"/>
                      <a:r>
                        <a:rPr sz="1300" b="0" i="0" lang="en-US">
                          <a:solidFill>
                            <a:srgbClr val="1C2333"/>
                          </a:solidFill>
                          <a:latin typeface="Segoe UI"/>
                        </a:rPr>
                        <a:t>She</a:t>
                      </a:r>
                    </a:p>
                  </a:txBody>
                  <a:tcPr>
                    <a:solidFill>
                      <a:srgbClr val="FFFFFF"/>
                    </a:solidFill>
                  </a:tcPr>
                </a:tc>
                <a:tc>
                  <a:txBody>
                    <a:bodyPr/>
                    <a:lstStyle/>
                    <a:p>
                      <a:pPr rtl="0" algn="l"/>
                      <a:r>
                        <a:rPr sz="1300" b="0" i="0" lang="en-US">
                          <a:solidFill>
                            <a:srgbClr val="1C2333"/>
                          </a:solidFill>
                          <a:latin typeface="Segoe UI"/>
                        </a:rPr>
                        <a:t>her</a:t>
                      </a:r>
                    </a:p>
                  </a:txBody>
                  <a:tcPr>
                    <a:solidFill>
                      <a:srgbClr val="FFFFFF"/>
                    </a:solidFill>
                  </a:tcPr>
                </a:tc>
                <a:tc>
                  <a:txBody>
                    <a:bodyPr/>
                    <a:lstStyle/>
                    <a:p>
                      <a:pPr rtl="0" algn="l"/>
                      <a:r>
                        <a:rPr sz="1300" b="0" i="0" lang="en-US">
                          <a:solidFill>
                            <a:srgbClr val="1C2333"/>
                          </a:solidFill>
                          <a:latin typeface="Segoe UI"/>
                        </a:rPr>
                        <a:t>her</a:t>
                      </a:r>
                    </a:p>
                  </a:txBody>
                  <a:tcPr>
                    <a:solidFill>
                      <a:srgbClr val="FFFFFF"/>
                    </a:solidFill>
                  </a:tcPr>
                </a:tc>
                <a:tc>
                  <a:txBody>
                    <a:bodyPr/>
                    <a:lstStyle/>
                    <a:p>
                      <a:pPr rtl="0" algn="l"/>
                      <a:r>
                        <a:rPr sz="1300" b="0" i="0" lang="en-US">
                          <a:solidFill>
                            <a:srgbClr val="1C2333"/>
                          </a:solidFill>
                          <a:latin typeface="Segoe UI"/>
                        </a:rPr>
                        <a:t>hers</a:t>
                      </a:r>
                    </a:p>
                  </a:txBody>
                  <a:tcPr>
                    <a:solidFill>
                      <a:srgbClr val="FFFFFF"/>
                    </a:solidFill>
                  </a:tcPr>
                </a:tc>
                <a:tc>
                  <a:txBody>
                    <a:bodyPr/>
                    <a:lstStyle/>
                    <a:p>
                      <a:pPr rtl="0" algn="l"/>
                      <a:r>
                        <a:rPr sz="1300" b="0" i="0" lang="en-US">
                          <a:solidFill>
                            <a:srgbClr val="1C2333"/>
                          </a:solidFill>
                          <a:latin typeface="Segoe UI"/>
                        </a:rPr>
                        <a:t>herself</a:t>
                      </a:r>
                    </a:p>
                  </a:txBody>
                  <a:tcPr>
                    <a:solidFill>
                      <a:srgbClr val="FFFFFF"/>
                    </a:solidFill>
                  </a:tcPr>
                </a:tc>
              </a:tr>
              <a:tr h="347472">
                <a:tc>
                  <a:txBody>
                    <a:bodyPr/>
                    <a:lstStyle/>
                    <a:p>
                      <a:pPr rtl="0" algn="l"/>
                      <a:r>
                        <a:rPr sz="1300" b="0" i="0" lang="en-US">
                          <a:solidFill>
                            <a:srgbClr val="1C2333"/>
                          </a:solidFill>
                          <a:latin typeface="Segoe UI"/>
                        </a:rPr>
                        <a:t>It</a:t>
                      </a:r>
                    </a:p>
                  </a:txBody>
                  <a:tcPr>
                    <a:solidFill>
                      <a:srgbClr val="EEF3FA"/>
                    </a:solidFill>
                  </a:tcPr>
                </a:tc>
                <a:tc>
                  <a:txBody>
                    <a:bodyPr/>
                    <a:lstStyle/>
                    <a:p>
                      <a:pPr rtl="0" algn="l"/>
                      <a:r>
                        <a:rPr sz="1300" b="0" i="0" lang="en-US">
                          <a:solidFill>
                            <a:srgbClr val="1C2333"/>
                          </a:solidFill>
                          <a:latin typeface="Segoe UI"/>
                        </a:rPr>
                        <a:t>it</a:t>
                      </a:r>
                    </a:p>
                  </a:txBody>
                  <a:tcPr>
                    <a:solidFill>
                      <a:srgbClr val="EEF3FA"/>
                    </a:solidFill>
                  </a:tcPr>
                </a:tc>
                <a:tc>
                  <a:txBody>
                    <a:bodyPr/>
                    <a:lstStyle/>
                    <a:p>
                      <a:pPr rtl="0" algn="l"/>
                      <a:r>
                        <a:rPr sz="1300" b="0" i="0" lang="en-US">
                          <a:solidFill>
                            <a:srgbClr val="1C2333"/>
                          </a:solidFill>
                          <a:latin typeface="Segoe UI"/>
                        </a:rPr>
                        <a:t>its</a:t>
                      </a:r>
                    </a:p>
                  </a:txBody>
                  <a:tcPr>
                    <a:solidFill>
                      <a:srgbClr val="EEF3FA"/>
                    </a:solidFill>
                  </a:tcPr>
                </a:tc>
                <a:tc>
                  <a:txBody>
                    <a:bodyPr/>
                    <a:lstStyle/>
                    <a:p>
                      <a:pPr rtl="0" algn="l"/>
                      <a:r>
                        <a:rPr sz="1300" b="0" i="0" lang="en-US">
                          <a:solidFill>
                            <a:srgbClr val="1C2333"/>
                          </a:solidFill>
                          <a:latin typeface="Segoe UI"/>
                        </a:rPr>
                        <a:t>its</a:t>
                      </a:r>
                    </a:p>
                  </a:txBody>
                  <a:tcPr>
                    <a:solidFill>
                      <a:srgbClr val="EEF3FA"/>
                    </a:solidFill>
                  </a:tcPr>
                </a:tc>
                <a:tc>
                  <a:txBody>
                    <a:bodyPr/>
                    <a:lstStyle/>
                    <a:p>
                      <a:pPr rtl="0" algn="l"/>
                      <a:r>
                        <a:rPr sz="1300" b="0" i="0" lang="en-US">
                          <a:solidFill>
                            <a:srgbClr val="1C2333"/>
                          </a:solidFill>
                          <a:latin typeface="Segoe UI"/>
                        </a:rPr>
                        <a:t>itself</a:t>
                      </a:r>
                    </a:p>
                  </a:txBody>
                  <a:tcPr>
                    <a:solidFill>
                      <a:srgbClr val="EEF3FA"/>
                    </a:solidFill>
                  </a:tcPr>
                </a:tc>
              </a:tr>
              <a:tr h="347472">
                <a:tc>
                  <a:txBody>
                    <a:bodyPr/>
                    <a:lstStyle/>
                    <a:p>
                      <a:pPr rtl="0" algn="l"/>
                      <a:r>
                        <a:rPr sz="1300" b="0" i="0" lang="en-US">
                          <a:solidFill>
                            <a:srgbClr val="1C2333"/>
                          </a:solidFill>
                          <a:latin typeface="Segoe UI"/>
                        </a:rPr>
                        <a:t>They</a:t>
                      </a:r>
                    </a:p>
                  </a:txBody>
                  <a:tcPr>
                    <a:solidFill>
                      <a:srgbClr val="FFFFFF"/>
                    </a:solidFill>
                  </a:tcPr>
                </a:tc>
                <a:tc>
                  <a:txBody>
                    <a:bodyPr/>
                    <a:lstStyle/>
                    <a:p>
                      <a:pPr rtl="0" algn="l"/>
                      <a:r>
                        <a:rPr sz="1300" b="0" i="0" lang="en-US">
                          <a:solidFill>
                            <a:srgbClr val="1C2333"/>
                          </a:solidFill>
                          <a:latin typeface="Segoe UI"/>
                        </a:rPr>
                        <a:t>them</a:t>
                      </a:r>
                    </a:p>
                  </a:txBody>
                  <a:tcPr>
                    <a:solidFill>
                      <a:srgbClr val="FFFFFF"/>
                    </a:solidFill>
                  </a:tcPr>
                </a:tc>
                <a:tc>
                  <a:txBody>
                    <a:bodyPr/>
                    <a:lstStyle/>
                    <a:p>
                      <a:pPr rtl="0" algn="l"/>
                      <a:r>
                        <a:rPr sz="1300" b="0" i="0" lang="en-US">
                          <a:solidFill>
                            <a:srgbClr val="1C2333"/>
                          </a:solidFill>
                          <a:latin typeface="Segoe UI"/>
                        </a:rPr>
                        <a:t>their</a:t>
                      </a:r>
                    </a:p>
                  </a:txBody>
                  <a:tcPr>
                    <a:solidFill>
                      <a:srgbClr val="FFFFFF"/>
                    </a:solidFill>
                  </a:tcPr>
                </a:tc>
                <a:tc>
                  <a:txBody>
                    <a:bodyPr/>
                    <a:lstStyle/>
                    <a:p>
                      <a:pPr rtl="0" algn="l"/>
                      <a:r>
                        <a:rPr sz="1300" b="0" i="0" lang="en-US">
                          <a:solidFill>
                            <a:srgbClr val="1C2333"/>
                          </a:solidFill>
                          <a:latin typeface="Segoe UI"/>
                        </a:rPr>
                        <a:t>theirs</a:t>
                      </a:r>
                    </a:p>
                  </a:txBody>
                  <a:tcPr>
                    <a:solidFill>
                      <a:srgbClr val="FFFFFF"/>
                    </a:solidFill>
                  </a:tcPr>
                </a:tc>
                <a:tc>
                  <a:txBody>
                    <a:bodyPr/>
                    <a:lstStyle/>
                    <a:p>
                      <a:pPr rtl="0" algn="l"/>
                      <a:r>
                        <a:rPr sz="1300" b="0" i="0" lang="en-US">
                          <a:solidFill>
                            <a:srgbClr val="1C2333"/>
                          </a:solidFill>
                          <a:latin typeface="Segoe UI"/>
                        </a:rPr>
                        <a:t>themselves</a:t>
                      </a:r>
                    </a:p>
                  </a:txBody>
                  <a:tcPr>
                    <a:solidFill>
                      <a:srgbClr val="FFFFFF"/>
                    </a:solidFill>
                  </a:tcPr>
                </a:tc>
              </a:tr>
              <a:tr h="347472">
                <a:tc>
                  <a:txBody>
                    <a:bodyPr/>
                    <a:lstStyle/>
                    <a:p>
                      <a:pPr rtl="1" algn="r"/>
                      <a:r>
                        <a:rPr sz="1600" b="0" i="0" lang="ar-EG" altLang="en-US">
                          <a:solidFill>
                            <a:srgbClr val="1C2333"/>
                          </a:solidFill>
                          <a:latin typeface="Traditional Arabic"/>
                        </a:rPr>
                        <a:t>You (مفرد)</a:t>
                      </a:r>
                    </a:p>
                  </a:txBody>
                  <a:tcPr>
                    <a:solidFill>
                      <a:srgbClr val="EEF3FA"/>
                    </a:solidFill>
                  </a:tcPr>
                </a:tc>
                <a:tc>
                  <a:txBody>
                    <a:bodyPr/>
                    <a:lstStyle/>
                    <a:p>
                      <a:pPr rtl="0" algn="l"/>
                      <a:r>
                        <a:rPr sz="1300" b="0" i="0" lang="en-US">
                          <a:solidFill>
                            <a:srgbClr val="1C2333"/>
                          </a:solidFill>
                          <a:latin typeface="Segoe UI"/>
                        </a:rPr>
                        <a:t>you</a:t>
                      </a:r>
                    </a:p>
                  </a:txBody>
                  <a:tcPr>
                    <a:solidFill>
                      <a:srgbClr val="EEF3FA"/>
                    </a:solidFill>
                  </a:tcPr>
                </a:tc>
                <a:tc>
                  <a:txBody>
                    <a:bodyPr/>
                    <a:lstStyle/>
                    <a:p>
                      <a:pPr rtl="0" algn="l"/>
                      <a:r>
                        <a:rPr sz="1300" b="0" i="0" lang="en-US">
                          <a:solidFill>
                            <a:srgbClr val="1C2333"/>
                          </a:solidFill>
                          <a:latin typeface="Segoe UI"/>
                        </a:rPr>
                        <a:t>your</a:t>
                      </a:r>
                    </a:p>
                  </a:txBody>
                  <a:tcPr>
                    <a:solidFill>
                      <a:srgbClr val="EEF3FA"/>
                    </a:solidFill>
                  </a:tcPr>
                </a:tc>
                <a:tc>
                  <a:txBody>
                    <a:bodyPr/>
                    <a:lstStyle/>
                    <a:p>
                      <a:pPr rtl="0" algn="l"/>
                      <a:r>
                        <a:rPr sz="1300" b="0" i="0" lang="en-US">
                          <a:solidFill>
                            <a:srgbClr val="1C2333"/>
                          </a:solidFill>
                          <a:latin typeface="Segoe UI"/>
                        </a:rPr>
                        <a:t>yours</a:t>
                      </a:r>
                    </a:p>
                  </a:txBody>
                  <a:tcPr>
                    <a:solidFill>
                      <a:srgbClr val="EEF3FA"/>
                    </a:solidFill>
                  </a:tcPr>
                </a:tc>
                <a:tc>
                  <a:txBody>
                    <a:bodyPr/>
                    <a:lstStyle/>
                    <a:p>
                      <a:pPr rtl="0" algn="l"/>
                      <a:r>
                        <a:rPr sz="1300" b="0" i="0" lang="en-US">
                          <a:solidFill>
                            <a:srgbClr val="1C2333"/>
                          </a:solidFill>
                          <a:latin typeface="Segoe UI"/>
                        </a:rPr>
                        <a:t>yourself</a:t>
                      </a:r>
                    </a:p>
                  </a:txBody>
                  <a:tcPr>
                    <a:solidFill>
                      <a:srgbClr val="EEF3FA"/>
                    </a:solidFill>
                  </a:tcPr>
                </a:tc>
              </a:tr>
              <a:tr h="347472">
                <a:tc>
                  <a:txBody>
                    <a:bodyPr/>
                    <a:lstStyle/>
                    <a:p>
                      <a:pPr rtl="0" algn="l"/>
                      <a:r>
                        <a:rPr sz="1300" b="0" i="0" lang="en-US">
                          <a:solidFill>
                            <a:srgbClr val="1C2333"/>
                          </a:solidFill>
                          <a:latin typeface="Segoe UI"/>
                        </a:rPr>
                        <a:t>You (جمع)</a:t>
                      </a:r>
                    </a:p>
                  </a:txBody>
                  <a:tcPr>
                    <a:solidFill>
                      <a:srgbClr val="FFFFFF"/>
                    </a:solidFill>
                  </a:tcPr>
                </a:tc>
                <a:tc>
                  <a:txBody>
                    <a:bodyPr/>
                    <a:lstStyle/>
                    <a:p>
                      <a:pPr rtl="0" algn="l"/>
                      <a:r>
                        <a:rPr sz="1300" b="0" i="0" lang="en-US">
                          <a:solidFill>
                            <a:srgbClr val="1C2333"/>
                          </a:solidFill>
                          <a:latin typeface="Segoe UI"/>
                        </a:rPr>
                        <a:t>you</a:t>
                      </a:r>
                    </a:p>
                  </a:txBody>
                  <a:tcPr>
                    <a:solidFill>
                      <a:srgbClr val="FFFFFF"/>
                    </a:solidFill>
                  </a:tcPr>
                </a:tc>
                <a:tc>
                  <a:txBody>
                    <a:bodyPr/>
                    <a:lstStyle/>
                    <a:p>
                      <a:pPr rtl="0" algn="l"/>
                      <a:r>
                        <a:rPr sz="1300" b="0" i="0" lang="en-US">
                          <a:solidFill>
                            <a:srgbClr val="1C2333"/>
                          </a:solidFill>
                          <a:latin typeface="Segoe UI"/>
                        </a:rPr>
                        <a:t>your</a:t>
                      </a:r>
                    </a:p>
                  </a:txBody>
                  <a:tcPr>
                    <a:solidFill>
                      <a:srgbClr val="FFFFFF"/>
                    </a:solidFill>
                  </a:tcPr>
                </a:tc>
                <a:tc>
                  <a:txBody>
                    <a:bodyPr/>
                    <a:lstStyle/>
                    <a:p>
                      <a:pPr rtl="0" algn="l"/>
                      <a:r>
                        <a:rPr sz="1300" b="0" i="0" lang="en-US">
                          <a:solidFill>
                            <a:srgbClr val="1C2333"/>
                          </a:solidFill>
                          <a:latin typeface="Segoe UI"/>
                        </a:rPr>
                        <a:t>yours</a:t>
                      </a:r>
                    </a:p>
                  </a:txBody>
                  <a:tcPr>
                    <a:solidFill>
                      <a:srgbClr val="FFFFFF"/>
                    </a:solidFill>
                  </a:tcPr>
                </a:tc>
                <a:tc>
                  <a:txBody>
                    <a:bodyPr/>
                    <a:lstStyle/>
                    <a:p>
                      <a:pPr rtl="0" algn="l"/>
                      <a:r>
                        <a:rPr sz="1300" b="0" i="0" lang="en-US">
                          <a:solidFill>
                            <a:srgbClr val="1C2333"/>
                          </a:solidFill>
                          <a:latin typeface="Segoe UI"/>
                        </a:rPr>
                        <a:t>yourselves</a:t>
                      </a:r>
                    </a:p>
                  </a:txBody>
                  <a:tcPr>
                    <a:solidFill>
                      <a:srgbClr val="FFFFFF"/>
                    </a:solidFill>
                  </a:tcPr>
                </a:tc>
              </a:tr>
              <a:tr h="347472">
                <a:tc>
                  <a:txBody>
                    <a:bodyPr/>
                    <a:lstStyle/>
                    <a:p>
                      <a:pPr rtl="0" algn="l"/>
                      <a:r>
                        <a:rPr sz="1300" b="0" i="0" lang="en-US">
                          <a:solidFill>
                            <a:srgbClr val="1C2333"/>
                          </a:solidFill>
                          <a:latin typeface="Segoe UI"/>
                        </a:rPr>
                        <a:t>We</a:t>
                      </a:r>
                    </a:p>
                  </a:txBody>
                  <a:tcPr>
                    <a:solidFill>
                      <a:srgbClr val="EEF3FA"/>
                    </a:solidFill>
                  </a:tcPr>
                </a:tc>
                <a:tc>
                  <a:txBody>
                    <a:bodyPr/>
                    <a:lstStyle/>
                    <a:p>
                      <a:pPr rtl="0" algn="l"/>
                      <a:r>
                        <a:rPr sz="1300" b="0" i="0" lang="en-US">
                          <a:solidFill>
                            <a:srgbClr val="1C2333"/>
                          </a:solidFill>
                          <a:latin typeface="Segoe UI"/>
                        </a:rPr>
                        <a:t>us</a:t>
                      </a:r>
                    </a:p>
                  </a:txBody>
                  <a:tcPr>
                    <a:solidFill>
                      <a:srgbClr val="EEF3FA"/>
                    </a:solidFill>
                  </a:tcPr>
                </a:tc>
                <a:tc>
                  <a:txBody>
                    <a:bodyPr/>
                    <a:lstStyle/>
                    <a:p>
                      <a:pPr rtl="0" algn="l"/>
                      <a:r>
                        <a:rPr sz="1300" b="0" i="0" lang="en-US">
                          <a:solidFill>
                            <a:srgbClr val="1C2333"/>
                          </a:solidFill>
                          <a:latin typeface="Segoe UI"/>
                        </a:rPr>
                        <a:t>our</a:t>
                      </a:r>
                    </a:p>
                  </a:txBody>
                  <a:tcPr>
                    <a:solidFill>
                      <a:srgbClr val="EEF3FA"/>
                    </a:solidFill>
                  </a:tcPr>
                </a:tc>
                <a:tc>
                  <a:txBody>
                    <a:bodyPr/>
                    <a:lstStyle/>
                    <a:p>
                      <a:pPr rtl="0" algn="l"/>
                      <a:r>
                        <a:rPr sz="1300" b="0" i="0" lang="en-US">
                          <a:solidFill>
                            <a:srgbClr val="1C2333"/>
                          </a:solidFill>
                          <a:latin typeface="Segoe UI"/>
                        </a:rPr>
                        <a:t>ours</a:t>
                      </a:r>
                    </a:p>
                  </a:txBody>
                  <a:tcPr>
                    <a:solidFill>
                      <a:srgbClr val="EEF3FA"/>
                    </a:solidFill>
                  </a:tcPr>
                </a:tc>
                <a:tc>
                  <a:txBody>
                    <a:bodyPr/>
                    <a:lstStyle/>
                    <a:p>
                      <a:pPr rtl="0" algn="l"/>
                      <a:r>
                        <a:rPr sz="1300" b="0" i="0" lang="en-US">
                          <a:solidFill>
                            <a:srgbClr val="1C2333"/>
                          </a:solidFill>
                          <a:latin typeface="Segoe UI"/>
                        </a:rPr>
                        <a:t>ourselves</a:t>
                      </a:r>
                    </a:p>
                  </a:txBody>
                  <a:tcPr>
                    <a:solidFill>
                      <a:srgbClr val="EEF3FA"/>
                    </a:solidFill>
                  </a:tcPr>
                </a:tc>
              </a:tr>
            </a:tbl>
          </a:graphicData>
        </a:graphic>
      </p:graphicFrame>
    </p:spTree>
  </p:cSld>
  <p:clrMapOvr>
    <a:masterClrMapping/>
  </p:clrMapOvr>
  <p:transition spd="med">
    <p:diamond/>
  </p:transition>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 likes him a lot.   (She – her – him)</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saw …… at the mall.   (he – they – them)</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them</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Mona can help …… .   (your – you – he)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 can jump high.   (Him – Its – It)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Let …… help you.   (my – me – they)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 can run fast.   (Him – Her – He)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He met …… in the club.   (our – us – your)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us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 read …… yesterday.   (its – it – they)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give …… a story.   (he – she – him)</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him</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 are swimming.   (Them – They – Her)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It makes …… happy.   (they – his – me)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 was talking to …… .   (he – I – her)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her</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Let's do …… .   (it – They – It)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played with …… .   (they – him – she)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him</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house is …… .   (her – ours – our)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ours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 shirt.   (mine – me – my)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 red car is …… .   (him – hers – them)</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We like …… teacher.   (theirs – him – our)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our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 blue pen is …… .   (his – it – my)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These bags are …… .   (their – our – hers)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 mother is a doctor.   (Me – My – Yours)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We visited …… yesterday.   (hers – him – your)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car is …… .   (him – her – mine)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mine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 dog.   (him – theirs – his)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 pens.   (yours – him – your)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 ear is long.   (It – Its – Theirs)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She is …… sister.   (yours – ours – our)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our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This house is …… .   (our – their – yours)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yours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They are …… friends.   (yours – him – my)</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 name is Ali.   (Yours – His – Her)</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 name is Mona.   (Her – His – Their)</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Her</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gave …… a present.   (he – him – mine)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him</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 car is black.   (Them – hers – Our)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loves to read books.   (His – She – Them)</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They cooked dinner by …… .   (themselves – her – they)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themselves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 parents are doctors.   (Them – My – Him)</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fixed the car by …… .   (myself – herself – himself)</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himself</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This car is …… .   (your – mine – them)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mine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Those books are …… .   (your – them – ours)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 team won the match.   (Them – Our – Yours)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This bag is …… .   (ours – my – yours)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ride my bike by …… .   (himself – itself – myself)</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myself</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 listen to music.   (Them – I – our)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Dogs drink milk by …… .   (itself – themselves – their)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themselves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 the laundry by …… .   (myself – yourself – itself)</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yourself</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 house is …… .   (our – their – his)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These are …… pens.   (him – your – ours)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 make my bed.   (They – He – I)</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This dog is …… .   (him – her – his)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Make the bed by …… .   (myself – yourself – himself)</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yourself</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 listen to music every day.   (His – They – Her)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The cat cleaned its tail by …… .   (myself – itself – hers)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itself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Him is very happy.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very happy.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 go to school by myself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go to school by ourselves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is my friend. Her name is Ali.</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my friend. His name is Ali.</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It's hers birthday.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her birthday.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are my parents. Them car is red.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my parents. Their car is red.</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did the laundry by herself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 the laundry by himself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Me shoes are black.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shoes are black.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What is yours birthday?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is your birthday?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That is my friend. His name is Mona.</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my friend. Her name is Mona.</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She did it by myself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 it by herself .</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We enjoyed myself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enjoyed ourselves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That is ours house.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our house.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Tidy the room by myself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Tidy the room by yourself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My parents painted them house.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painted their house.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Him name is Ahmed.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 name is Ahmed.</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Cats clean theirselves .</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clean themselves .</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go to school with myself.</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by myself.</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name – What – your – 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is your name?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are – They – friends – my.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my friends.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by – the – myself – I – birds – feed.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feed the birds by myself.</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is – That – book – your.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your book.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book – This – yours – is.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This book is yours.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are – My – teachers – parents.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are teachers.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is – birthday – When – your?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is your birthday?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did – She – homework – herself – by.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 homework by herself.</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nurse – is – My – mother.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mother is a nurse.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are – The – yours – pens.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pens are yours.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your – is – How – family?</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is your family?</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by – go – myself – I – school – to.</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by myself.</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12</a:t>
            </a:r>
          </a:p>
          <a:p>
            <a:pPr algn="ctr" rtl="0"/>
            <a:r>
              <a:rPr sz="4600" b="1" i="0" lang="en-US">
                <a:solidFill>
                  <a:srgbClr val="FFFFFF"/>
                </a:solidFill>
                <a:latin typeface="Segoe UI"/>
              </a:rPr>
              <a:t>Like + v-ing / to + inf.</a:t>
            </a:r>
          </a:p>
          <a:p>
            <a:pPr algn="ctr" rtl="1"/>
            <a:r>
              <a:rPr sz="2900" b="0" i="0" lang="ar-EG" altLang="en-US">
                <a:solidFill>
                  <a:srgbClr val="FFFFFF"/>
                </a:solidFill>
                <a:latin typeface="Traditional Arabic"/>
              </a:rPr>
              <a:t>فعل الإعجاب</a:t>
            </a:r>
          </a:p>
        </p:txBody>
      </p:sp>
    </p:spTree>
  </p:cSld>
  <p:clrMapOvr>
    <a:masterClrMapping/>
  </p:clrMapOvr>
  <p:transition spd="med">
    <p:zoom dir="in"/>
  </p:transition>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5B"/>
                </a:solidFill>
                <a:latin typeface="Segoe UI"/>
              </a:rPr>
              <a:t>▶ He – She – It – الاسم المفرد + likes</a:t>
            </a:r>
          </a:p>
          <a:p>
            <a:pPr rtl="1" algn="r">
              <a:spcAft>
                <a:spcPts val="600"/>
              </a:spcAft>
            </a:pPr>
            <a:r>
              <a:rPr sz="2100" b="0" i="0" lang="ar-EG" altLang="en-US">
                <a:solidFill>
                  <a:srgbClr val="1C2333"/>
                </a:solidFill>
                <a:latin typeface="Traditional Arabic"/>
              </a:rPr>
              <a:t>    نستخدم (likes) مع المفرد.</a:t>
            </a:r>
          </a:p>
          <a:p>
            <a:pPr rtl="0" algn="l">
              <a:spcAft>
                <a:spcPts val="600"/>
              </a:spcAft>
            </a:pPr>
            <a:r>
              <a:rPr sz="2000" b="1" i="0" lang="en-US">
                <a:solidFill>
                  <a:srgbClr val="94225B"/>
                </a:solidFill>
                <a:latin typeface="Segoe UI"/>
              </a:rPr>
              <a:t>▶ I – They – You – We + like</a:t>
            </a:r>
          </a:p>
          <a:p>
            <a:pPr rtl="1" algn="r">
              <a:spcAft>
                <a:spcPts val="600"/>
              </a:spcAft>
            </a:pPr>
            <a:r>
              <a:rPr sz="2100" b="0" i="0" lang="ar-EG" altLang="en-US">
                <a:solidFill>
                  <a:srgbClr val="1C2333"/>
                </a:solidFill>
                <a:latin typeface="Traditional Arabic"/>
              </a:rPr>
              <a:t>    نستخدم (like) مع الجمع و I.</a:t>
            </a:r>
          </a:p>
          <a:p>
            <a:pPr rtl="0" algn="l">
              <a:spcAft>
                <a:spcPts val="600"/>
              </a:spcAft>
            </a:pPr>
            <a:r>
              <a:rPr sz="2000" b="1" i="0" lang="en-US">
                <a:solidFill>
                  <a:srgbClr val="94225B"/>
                </a:solidFill>
                <a:latin typeface="Segoe UI"/>
              </a:rPr>
              <a:t>▶ like + v-ing / like + to + inf.</a:t>
            </a:r>
          </a:p>
          <a:p>
            <a:pPr rtl="1" algn="r">
              <a:spcAft>
                <a:spcPts val="600"/>
              </a:spcAft>
            </a:pPr>
            <a:r>
              <a:rPr sz="2100" b="0" i="0" lang="ar-EG" altLang="en-US">
                <a:solidFill>
                  <a:srgbClr val="1C2333"/>
                </a:solidFill>
                <a:latin typeface="Traditional Arabic"/>
              </a:rPr>
              <a:t>    يأتي بعد like الفعل مضافاً إليه ing أو المصدر مسبوقاً بـ to.</a:t>
            </a:r>
          </a:p>
          <a:p>
            <a:pPr rtl="0" algn="l">
              <a:spcAft>
                <a:spcPts val="600"/>
              </a:spcAft>
            </a:pPr>
            <a:r>
              <a:rPr sz="1700" b="0" i="1" lang="en-US">
                <a:solidFill>
                  <a:srgbClr val="5B6478"/>
                </a:solidFill>
                <a:latin typeface="Segoe UI"/>
              </a:rPr>
              <a:t>   e.g. She likes reading. – I like to study English.</a:t>
            </a:r>
          </a:p>
        </p:txBody>
      </p:sp>
    </p:spTree>
  </p:cSld>
  <p:clrMapOvr>
    <a:masterClrMapping/>
  </p:clrMapOvr>
  <p:transition spd="med">
    <p:zoom dir="in"/>
  </p:transition>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5B"/>
                </a:solidFill>
                <a:latin typeface="Segoe UI"/>
              </a:rPr>
              <a:t>▶ He / She / It + doesn't like +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94225B"/>
                </a:solidFill>
                <a:latin typeface="Segoe UI"/>
              </a:rPr>
              <a:t>▶ I / They / You / We + don't like + …</a:t>
            </a:r>
          </a:p>
          <a:p>
            <a:pPr rtl="1" algn="r">
              <a:spcAft>
                <a:spcPts val="600"/>
              </a:spcAft>
            </a:pPr>
            <a:r>
              <a:rPr sz="2100" b="0" i="0" lang="ar-EG" altLang="en-US">
                <a:solidFill>
                  <a:srgbClr val="1C2333"/>
                </a:solidFill>
                <a:latin typeface="Traditional Arabic"/>
              </a:rPr>
              <a:t>نفي الجمع.</a:t>
            </a:r>
          </a:p>
          <a:p>
            <a:pPr rtl="0" algn="l">
              <a:spcAft>
                <a:spcPts val="600"/>
              </a:spcAft>
            </a:pPr>
            <a:r>
              <a:rPr sz="2000" b="1" i="0" lang="en-US">
                <a:solidFill>
                  <a:srgbClr val="94225B"/>
                </a:solidFill>
                <a:latin typeface="Segoe UI"/>
              </a:rPr>
              <a:t>▶ Does + he / she / it + like … ? | Do + I / they / you / we + like … ?</a:t>
            </a:r>
          </a:p>
          <a:p>
            <a:pPr rtl="1" algn="r">
              <a:spcAft>
                <a:spcPts val="600"/>
              </a:spcAft>
            </a:pPr>
            <a:r>
              <a:rPr sz="2100" b="0" i="0" lang="ar-EG" altLang="en-US">
                <a:solidFill>
                  <a:srgbClr val="1C2333"/>
                </a:solidFill>
                <a:latin typeface="Traditional Arabic"/>
              </a:rPr>
              <a:t>    السؤال بـ Does للمفرد و Do للجمع.</a:t>
            </a:r>
          </a:p>
        </p:txBody>
      </p:sp>
    </p:spTree>
  </p:cSld>
  <p:clrMapOvr>
    <a:masterClrMapping/>
  </p:clrMapOvr>
  <p:transition spd="med">
    <p:comb dir="horz"/>
  </p:transition>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She …… reading.   (like – likes)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 to study English.   (like – likes)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My mother …… chocolate.   (like – likes)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Lions …… to eat meat.   (like – likes)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They …… swimming.   (like – likes)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It …… drinking milk.   (like – likes)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He …… mangoes.   (like – likes)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We …… reading stories.   (like – likes)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You …… watching TV.   (like – likes)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My parents …… running.   (like – likes)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My sister …… chips.   (like – likes)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You …… listening to music.   (like – likes)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It …… climbing mountains.   (like – likes)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 to study English.   (like – likes)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like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like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likes to study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to study English.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Lions like eating grass.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 don't like eating grass.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mum likes reading English.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doesn't like reading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likes running.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running.</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They like to play football.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like to play football.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sister likes chips.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doesn't like chips.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 like drinking coffee.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like drinking coffee.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It likes to drink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like to drink milk.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Birds like to fly high in the sky.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Birds don't like to fly high in the sky.</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like playing football.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like playing football?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likes to eat meat.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like to eat meat?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like studying English.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studying English?</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Sara likes mangoes.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Sara like mangoes?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Dogs like drinking milk.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dogs like drinking milk?</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parents like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your parents like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likes to get up early.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like to get up early?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She likes listening to music.</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listening to music?</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like climbing trees.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I like climbing trees?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like to help my father.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to help your father?</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Do you like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 she like to study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they like oranges?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 your parents like reading?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 we like to swim?</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we do. / No, we don't.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Do dogs like fish?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Does your sister like apples?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Does it like fish?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 you like swimming?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Does he like juice?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your brother like to play football?</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I don't like reading French.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reading French?</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she likes to play tennis.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to play tennis?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my parents don't like running.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your parents like running?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they like studying English.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like studying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my sister doesn't like chips.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sister like chips?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 we don't like to swim in the sea.</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to swim in the sea?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Yes, it likes to drink milk.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like to drink milk?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No, he doesn't like playing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like playing football?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Yes, I like chips.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chips?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No, my brother doesn't like watching TV.</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brother like watching TV?</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Yes, we like to get up early.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to get up early?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likes reading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he like reading?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I like to play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to play?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They like meat.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they like?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likes milk.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it like?</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She likes fish.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she like?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We like to drink coffee.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to drink?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 like swimming.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My parents like running.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your parents like?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My sister likes chips.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your sister like?</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to – football – play – He – likes.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likes to play football.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like – They – reading – don't.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like reading.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like – Does – she – chocolate?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chocolate?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like – TV – watch – don't – I – to.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like to watch TV.</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swimming – doesn't – She – like.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swimming.</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to – it – milk – likes – drink – Yes,.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likes to drink milk.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like – No, – don't – I – football – playing.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I don't like playing football.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sister – Does – like – your – milk – drinking?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sister like drinking milk?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 Do – swimming – like?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swimming?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like – you – What – do?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 like – What – play – to – she?</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she like to play?</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you – like – What – do – doing?</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doing?</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like to reading English.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like to read English.</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doesn't like to reads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to read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you like play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playing football?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parents likes to run.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like to run.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don't likes to come early.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like to come early.</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They doesn't like to walk to school.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like to walk to school.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It doesn't like eat fish.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like eating fish.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He doesn't like play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like playing football.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doesn't like watch TV.</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don't like watching TV.</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 they like study Arabic?</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like studying Arabic?</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Mona don't like meat.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Mona doesn't like meat.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like eating mango.</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likes eating mango.</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Does she likes travelling?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travelling?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Lions like eat meat.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 like eating meat.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Birds like to eats beans.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Birds like to eat beans.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 you like playing tennis?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playing tennis?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Does it likes swimming?</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like swimming?</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My brother like eating chips.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likes eating chips.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like chips.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أنا أحب البطاطس المقلية.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doesn't like playing football.</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هي لا تحب لعب كرة القدم.</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like to run every day.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هم يحبون الجري كل يوم.</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Do you like reading English?</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تحب قراءة الإنجليزية؟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It likes drinking milk.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هو يحب شرب الحليب.</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What do you like?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ماذا تحب؟</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Lions like eating meat.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الأسود تحب أكل اللحم.</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Does he like travelling?</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يحب السفر؟</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brother likes to eat apples.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أخي يحب أكل التفاح.</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Birds like to eat beans.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الطيور تحب أكل الفول.</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He likes eating mangoes.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يحب أكل المانجو.</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I'm Rawan. I like to go to the market with my mum. We make a list of all things we need to buy before going. Today we're going to the market because we need to buy some nuts. We also need to buy bread, cheese and honey. We also need one chicken to have for lunch. When we arrive home, we need to put everything in the fridge and in the cupboard.</a:t>
            </a:r>
          </a:p>
          <a:p>
            <a:pPr rtl="0" algn="r">
              <a:spcBef>
                <a:spcPts val="800"/>
              </a:spcBef>
            </a:pPr>
            <a:r>
              <a:rPr sz="1400" b="0" i="0" lang="en-US">
                <a:solidFill>
                  <a:srgbClr val="5B6478"/>
                </a:solidFill>
                <a:latin typeface="Segoe UI"/>
              </a:rPr>
              <a:t>market: سوق   list: قائمة   nuts: مكسرات   honey: عسل   fridge: ثلاجة   cupboard: دولاب</a:t>
            </a:r>
          </a:p>
        </p:txBody>
      </p:sp>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Rawan likes to go to the …… with her mum.   (park – market – school)</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market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 need to buy some …… .   (things – books – shoes)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things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What do they need to buy for lunch?</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need to buy one chicken for lunch.</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What do they do when they arrive home?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put everything in the fridge and in the cupboard .</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Why do you need to go to the supermarket?</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Because we need to buy some nuts, bread, cheese and honey .</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13</a:t>
            </a:r>
          </a:p>
          <a:p>
            <a:pPr algn="ctr" rtl="0"/>
            <a:r>
              <a:rPr sz="4600" b="1" i="0" lang="en-US">
                <a:solidFill>
                  <a:srgbClr val="FFFFFF"/>
                </a:solidFill>
                <a:latin typeface="Segoe UI"/>
              </a:rPr>
              <a:t>How much / How many</a:t>
            </a:r>
          </a:p>
          <a:p>
            <a:pPr algn="ctr" rtl="1"/>
            <a:r>
              <a:rPr sz="2900" b="0" i="0" lang="ar-EG" altLang="en-US">
                <a:solidFill>
                  <a:srgbClr val="FFFFFF"/>
                </a:solidFill>
                <a:latin typeface="Traditional Arabic"/>
              </a:rPr>
              <a:t>السؤال عن العدد والثمن</a:t>
            </a:r>
          </a:p>
        </p:txBody>
      </p:sp>
    </p:spTree>
  </p:cSld>
  <p:clrMapOvr>
    <a:masterClrMapping/>
  </p:clrMapOvr>
  <p:transition spd="med">
    <p:zoom dir="in"/>
  </p:transition>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94"/>
                </a:solidFill>
                <a:latin typeface="Segoe UI"/>
              </a:rPr>
              <a:t>▶ How many + اسم جمع + are there … ?</a:t>
            </a:r>
          </a:p>
          <a:p>
            <a:pPr rtl="1" algn="r">
              <a:spcAft>
                <a:spcPts val="600"/>
              </a:spcAft>
            </a:pPr>
            <a:r>
              <a:rPr sz="2100" b="0" i="0" lang="ar-EG" altLang="en-US">
                <a:solidFill>
                  <a:srgbClr val="1C2333"/>
                </a:solidFill>
                <a:latin typeface="Traditional Arabic"/>
              </a:rPr>
              <a:t>للسؤال عن العدد (المعدود).</a:t>
            </a:r>
          </a:p>
          <a:p>
            <a:pPr rtl="0" algn="l">
              <a:spcAft>
                <a:spcPts val="600"/>
              </a:spcAft>
            </a:pPr>
            <a:r>
              <a:rPr sz="2000" b="1" i="0" lang="en-US">
                <a:solidFill>
                  <a:srgbClr val="229494"/>
                </a:solidFill>
                <a:latin typeface="Segoe UI"/>
              </a:rPr>
              <a:t>▶ How much + is / are + … ?</a:t>
            </a:r>
          </a:p>
          <a:p>
            <a:pPr rtl="1" algn="r">
              <a:spcAft>
                <a:spcPts val="600"/>
              </a:spcAft>
            </a:pPr>
            <a:r>
              <a:rPr sz="2100" b="0" i="0" lang="ar-EG" altLang="en-US">
                <a:solidFill>
                  <a:srgbClr val="1C2333"/>
                </a:solidFill>
                <a:latin typeface="Traditional Arabic"/>
              </a:rPr>
              <a:t>للسؤال عن الثمن.</a:t>
            </a:r>
          </a:p>
          <a:p>
            <a:pPr rtl="1" algn="r">
              <a:spcAft>
                <a:spcPts val="600"/>
              </a:spcAft>
            </a:pPr>
            <a:r>
              <a:rPr sz="2300" b="1" i="0" lang="ar-EG" altLang="en-US">
                <a:solidFill>
                  <a:srgbClr val="229494"/>
                </a:solidFill>
                <a:latin typeface="Traditional Arabic"/>
              </a:rPr>
              <a:t>▶ How much + اسم غير معدود … ?</a:t>
            </a:r>
          </a:p>
          <a:p>
            <a:pPr rtl="1" algn="r">
              <a:spcAft>
                <a:spcPts val="600"/>
              </a:spcAft>
            </a:pPr>
            <a:r>
              <a:rPr sz="2100" b="0" i="0" lang="ar-EG" altLang="en-US">
                <a:solidFill>
                  <a:srgbClr val="1C2333"/>
                </a:solidFill>
                <a:latin typeface="Traditional Arabic"/>
              </a:rPr>
              <a:t>    للسؤال عن كمية الأسماء غير المعدودة (water – milk – rice).</a:t>
            </a:r>
          </a:p>
          <a:p>
            <a:pPr rtl="0" algn="l">
              <a:spcAft>
                <a:spcPts val="600"/>
              </a:spcAft>
            </a:pPr>
            <a:r>
              <a:rPr sz="1700" b="0" i="1" lang="en-US">
                <a:solidFill>
                  <a:srgbClr val="5B6478"/>
                </a:solidFill>
                <a:latin typeface="Segoe UI"/>
              </a:rPr>
              <a:t>   e.g. How many girls are there? – How much is the book?</a:t>
            </a:r>
          </a:p>
        </p:txBody>
      </p:sp>
    </p:spTree>
  </p:cSld>
  <p:clrMapOvr>
    <a:masterClrMapping/>
  </p:clrMapOvr>
  <p:transition spd="med">
    <p:split orient="vert" dir="out"/>
  </p:transition>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are 10 girls.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girls are there?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are 5 skirts.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skirts are there?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are 2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pens are there?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are 9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books are there?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are 3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toys are there?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are 7 girls.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girls are there?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are 6 rulers.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rulers are there?</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4 pants.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pants are there?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 12 boys.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boys are there?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 book is 10 pounds.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is the book?</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 pens are 50 pounds.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are the pens?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 toy is 20 pounds.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is the toy?</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 apples are 30 pounds.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are the apples?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 rulers are 5 pounds.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are the rulers?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This ball is 60 pounds.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this ball?</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That cat is 100 pounds.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that cat?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These shoes are 200 pounds.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these shoes?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Those pencils are 15 pounds.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those pencils?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many – there – are – How – boys?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boys are there?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is – How – much – book – the?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book?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apples – many – How – there – are?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apples are there?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 is – How – toy – much?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toy?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there – girls – many – How – are?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girls are there?</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ruler – much – is – How – the?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ruler?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pants – many – How – there – are?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pants are there?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 How – the – much – apples?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apples?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lions – many – How – there – are?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lions are there?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tomatoes – much – are – How – the?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tomatoes?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there – How – bananas – are – many?</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bananas are there?</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is – much – How – the – door?</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door?</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much birds are there?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birds are there?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How many toy are there?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toys are there?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Who much are the apples?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apples?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How much are the book?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book?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How many is the goat?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goat?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How many glasses there are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glasses are there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How much are the flower?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flower?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What many doctors are there?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doctors are there?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How much are the dog?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dog?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How many child are there?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children are there?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How many friends is there?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friends are there?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How much are the apple?</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apple?</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How much is the bananas?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bananas?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How many tomato are there?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tomatoes are there?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14</a:t>
            </a:r>
          </a:p>
          <a:p>
            <a:pPr algn="ctr" rtl="0"/>
            <a:r>
              <a:rPr sz="4600" b="1" i="0" lang="en-US">
                <a:solidFill>
                  <a:srgbClr val="FFFFFF"/>
                </a:solidFill>
                <a:latin typeface="Segoe UI"/>
              </a:rPr>
              <a:t>Verb to be in the past (was / were)</a:t>
            </a:r>
          </a:p>
          <a:p>
            <a:pPr algn="ctr" rtl="1"/>
            <a:r>
              <a:rPr sz="2900" b="0" i="0" lang="ar-EG" altLang="en-US">
                <a:solidFill>
                  <a:srgbClr val="FFFFFF"/>
                </a:solidFill>
                <a:latin typeface="Traditional Arabic"/>
              </a:rPr>
              <a:t>فعل الكون في الماضي</a:t>
            </a:r>
          </a:p>
        </p:txBody>
      </p:sp>
    </p:spTree>
  </p:cSld>
  <p:clrMapOvr>
    <a:masterClrMapping/>
  </p:clrMapOvr>
  <p:transition spd="med">
    <p:zoom dir="in"/>
  </p:transition>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22"/>
                </a:solidFill>
                <a:latin typeface="Segoe UI"/>
              </a:rPr>
              <a:t>▶ I – He – She – It – الاسم المفرد + was</a:t>
            </a:r>
          </a:p>
          <a:p>
            <a:pPr rtl="1" algn="r">
              <a:spcAft>
                <a:spcPts val="600"/>
              </a:spcAft>
            </a:pPr>
            <a:r>
              <a:rPr sz="2100" b="0" i="0" lang="ar-EG" altLang="en-US">
                <a:solidFill>
                  <a:srgbClr val="1C2333"/>
                </a:solidFill>
                <a:latin typeface="Traditional Arabic"/>
              </a:rPr>
              <a:t>كنتُ / كان / كانت.</a:t>
            </a:r>
          </a:p>
          <a:p>
            <a:pPr rtl="0" algn="l">
              <a:spcAft>
                <a:spcPts val="600"/>
              </a:spcAft>
            </a:pPr>
            <a:r>
              <a:rPr sz="2000" b="1" i="0" lang="en-US">
                <a:solidFill>
                  <a:srgbClr val="942222"/>
                </a:solidFill>
                <a:latin typeface="Segoe UI"/>
              </a:rPr>
              <a:t>▶ They – You – We – الاسم الجمع + were</a:t>
            </a:r>
          </a:p>
          <a:p>
            <a:pPr rtl="1" algn="r">
              <a:spcAft>
                <a:spcPts val="600"/>
              </a:spcAft>
            </a:pPr>
            <a:r>
              <a:rPr sz="2100" b="0" i="0" lang="ar-EG" altLang="en-US">
                <a:solidFill>
                  <a:srgbClr val="1C2333"/>
                </a:solidFill>
                <a:latin typeface="Traditional Arabic"/>
              </a:rPr>
              <a:t>كانوا / كنا / كنتم.</a:t>
            </a:r>
          </a:p>
        </p:txBody>
      </p:sp>
    </p:spTree>
  </p:cSld>
  <p:clrMapOvr>
    <a:masterClrMapping/>
  </p:clrMapOvr>
  <p:transition spd="med">
    <p:wheel spokes="4"/>
  </p:transition>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22"/>
                </a:solidFill>
                <a:latin typeface="Segoe UI"/>
              </a:rPr>
              <a:t>▶ was not = wasn't | were not = weren't</a:t>
            </a:r>
          </a:p>
          <a:p>
            <a:pPr rtl="0" algn="l">
              <a:spcAft>
                <a:spcPts val="600"/>
              </a:spcAft>
            </a:pPr>
            <a:r>
              <a:rPr sz="1800" b="0" i="0" lang="en-US">
                <a:solidFill>
                  <a:srgbClr val="1C2333"/>
                </a:solidFill>
                <a:latin typeface="Segoe UI"/>
              </a:rPr>
              <a:t>    نضع not بعد was أو were.</a:t>
            </a:r>
          </a:p>
        </p:txBody>
      </p:sp>
    </p:spTree>
  </p:cSld>
  <p:clrMapOvr>
    <a:masterClrMapping/>
  </p:clrMapOvr>
  <p:transition spd="med">
    <p:pull dir="r"/>
  </p:transition>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2"/>
                </a:solidFill>
                <a:latin typeface="Traditional Arabic"/>
              </a:rPr>
              <a:t>▶ Was + فاعل + باقي الجملة ? | Were + فاعل + باقي الجملة ?</a:t>
            </a:r>
          </a:p>
          <a:p>
            <a:pPr rtl="0" algn="l">
              <a:spcAft>
                <a:spcPts val="600"/>
              </a:spcAft>
            </a:pPr>
            <a:r>
              <a:rPr sz="1800" b="0" i="0" lang="en-US">
                <a:solidFill>
                  <a:srgbClr val="1C2333"/>
                </a:solidFill>
                <a:latin typeface="Segoe UI"/>
              </a:rPr>
              <a:t>    نقدّم was / were على الفاعل. لاحظ: I was → Were you …? We were → Were you …?</a:t>
            </a:r>
          </a:p>
        </p:txBody>
      </p:sp>
    </p:spTree>
  </p:cSld>
  <p:clrMapOvr>
    <a:masterClrMapping/>
  </p:clrMapOvr>
  <p:transition spd="med">
    <p:random/>
  </p:transition>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22"/>
                          </a:solidFill>
                          <a:latin typeface="Segoe UI"/>
                        </a:rPr>
                        <a:t>fast</a:t>
                      </a:r>
                    </a:p>
                  </a:txBody>
                  <a:tcPr>
                    <a:solidFill>
                      <a:srgbClr val="FFFFFF"/>
                    </a:solidFill>
                  </a:tcPr>
                </a:tc>
                <a:tc>
                  <a:txBody>
                    <a:bodyPr/>
                    <a:lstStyle/>
                    <a:p>
                      <a:pPr rtl="1" algn="r"/>
                      <a:r>
                        <a:rPr sz="1700" b="0" i="0" lang="ar-EG" altLang="en-US">
                          <a:solidFill>
                            <a:srgbClr val="1C2333"/>
                          </a:solidFill>
                          <a:latin typeface="Traditional Arabic"/>
                        </a:rPr>
                        <a:t>سريع</a:t>
                      </a:r>
                    </a:p>
                  </a:txBody>
                  <a:tcPr>
                    <a:solidFill>
                      <a:srgbClr val="FFFFFF"/>
                    </a:solidFill>
                  </a:tcPr>
                </a:tc>
                <a:tc>
                  <a:txBody>
                    <a:bodyPr/>
                    <a:lstStyle/>
                    <a:p>
                      <a:pPr rtl="0" algn="l"/>
                      <a:r>
                        <a:rPr sz="1500" b="1" i="0" lang="en-US">
                          <a:solidFill>
                            <a:srgbClr val="942222"/>
                          </a:solidFill>
                          <a:latin typeface="Segoe UI"/>
                        </a:rPr>
                        <a:t>old</a:t>
                      </a:r>
                    </a:p>
                  </a:txBody>
                  <a:tcPr>
                    <a:solidFill>
                      <a:srgbClr val="FFFFFF"/>
                    </a:solidFill>
                  </a:tcPr>
                </a:tc>
                <a:tc>
                  <a:txBody>
                    <a:bodyPr/>
                    <a:lstStyle/>
                    <a:p>
                      <a:pPr rtl="1" algn="r"/>
                      <a:r>
                        <a:rPr sz="1700" b="0" i="0" lang="ar-EG" altLang="en-US">
                          <a:solidFill>
                            <a:srgbClr val="1C2333"/>
                          </a:solidFill>
                          <a:latin typeface="Traditional Arabic"/>
                        </a:rPr>
                        <a:t>كبير السن</a:t>
                      </a:r>
                    </a:p>
                  </a:txBody>
                  <a:tcPr>
                    <a:solidFill>
                      <a:srgbClr val="FFFFFF"/>
                    </a:solidFill>
                  </a:tcPr>
                </a:tc>
                <a:tc>
                  <a:txBody>
                    <a:bodyPr/>
                    <a:lstStyle/>
                    <a:p>
                      <a:pPr rtl="0" algn="l"/>
                      <a:r>
                        <a:rPr sz="1500" b="1" i="0" lang="en-US">
                          <a:solidFill>
                            <a:srgbClr val="942222"/>
                          </a:solidFill>
                          <a:latin typeface="Segoe UI"/>
                        </a:rPr>
                        <a:t>thin</a:t>
                      </a:r>
                    </a:p>
                  </a:txBody>
                  <a:tcPr>
                    <a:solidFill>
                      <a:srgbClr val="FFFFFF"/>
                    </a:solidFill>
                  </a:tcPr>
                </a:tc>
                <a:tc>
                  <a:txBody>
                    <a:bodyPr/>
                    <a:lstStyle/>
                    <a:p>
                      <a:pPr rtl="1" algn="r"/>
                      <a:r>
                        <a:rPr sz="1700" b="0" i="0" lang="ar-EG" altLang="en-US">
                          <a:solidFill>
                            <a:srgbClr val="1C2333"/>
                          </a:solidFill>
                          <a:latin typeface="Traditional Arabic"/>
                        </a:rPr>
                        <a:t>نحيف</a:t>
                      </a:r>
                    </a:p>
                  </a:txBody>
                  <a:tcPr>
                    <a:solidFill>
                      <a:srgbClr val="FFFFFF"/>
                    </a:solidFill>
                  </a:tcPr>
                </a:tc>
              </a:tr>
              <a:tr h="384048">
                <a:tc>
                  <a:txBody>
                    <a:bodyPr/>
                    <a:lstStyle/>
                    <a:p>
                      <a:pPr rtl="0" algn="l"/>
                      <a:r>
                        <a:rPr sz="1500" b="1" i="0" lang="en-US">
                          <a:solidFill>
                            <a:srgbClr val="942222"/>
                          </a:solidFill>
                          <a:latin typeface="Segoe UI"/>
                        </a:rPr>
                        <a:t>slow</a:t>
                      </a:r>
                    </a:p>
                  </a:txBody>
                  <a:tcPr>
                    <a:solidFill>
                      <a:srgbClr val="EEF3FA"/>
                    </a:solidFill>
                  </a:tcPr>
                </a:tc>
                <a:tc>
                  <a:txBody>
                    <a:bodyPr/>
                    <a:lstStyle/>
                    <a:p>
                      <a:pPr rtl="1" algn="r"/>
                      <a:r>
                        <a:rPr sz="1700" b="0" i="0" lang="ar-EG" altLang="en-US">
                          <a:solidFill>
                            <a:srgbClr val="1C2333"/>
                          </a:solidFill>
                          <a:latin typeface="Traditional Arabic"/>
                        </a:rPr>
                        <a:t>بطيء</a:t>
                      </a:r>
                    </a:p>
                  </a:txBody>
                  <a:tcPr>
                    <a:solidFill>
                      <a:srgbClr val="EEF3FA"/>
                    </a:solidFill>
                  </a:tcPr>
                </a:tc>
                <a:tc>
                  <a:txBody>
                    <a:bodyPr/>
                    <a:lstStyle/>
                    <a:p>
                      <a:pPr rtl="0" algn="l"/>
                      <a:r>
                        <a:rPr sz="1500" b="1" i="0" lang="en-US">
                          <a:solidFill>
                            <a:srgbClr val="942222"/>
                          </a:solidFill>
                          <a:latin typeface="Segoe UI"/>
                        </a:rPr>
                        <a:t>bad</a:t>
                      </a:r>
                    </a:p>
                  </a:txBody>
                  <a:tcPr>
                    <a:solidFill>
                      <a:srgbClr val="EEF3FA"/>
                    </a:solidFill>
                  </a:tcPr>
                </a:tc>
                <a:tc>
                  <a:txBody>
                    <a:bodyPr/>
                    <a:lstStyle/>
                    <a:p>
                      <a:pPr rtl="1" algn="r"/>
                      <a:r>
                        <a:rPr sz="1700" b="0" i="0" lang="ar-EG" altLang="en-US">
                          <a:solidFill>
                            <a:srgbClr val="1C2333"/>
                          </a:solidFill>
                          <a:latin typeface="Traditional Arabic"/>
                        </a:rPr>
                        <a:t>سيئ</a:t>
                      </a:r>
                    </a:p>
                  </a:txBody>
                  <a:tcPr>
                    <a:solidFill>
                      <a:srgbClr val="EEF3FA"/>
                    </a:solidFill>
                  </a:tcPr>
                </a:tc>
                <a:tc>
                  <a:txBody>
                    <a:bodyPr/>
                    <a:lstStyle/>
                    <a:p>
                      <a:pPr rtl="0" algn="l"/>
                      <a:r>
                        <a:rPr sz="1500" b="1" i="0" lang="en-US">
                          <a:solidFill>
                            <a:srgbClr val="942222"/>
                          </a:solidFill>
                          <a:latin typeface="Segoe UI"/>
                        </a:rPr>
                        <a:t>heavy</a:t>
                      </a:r>
                    </a:p>
                  </a:txBody>
                  <a:tcPr>
                    <a:solidFill>
                      <a:srgbClr val="EEF3FA"/>
                    </a:solidFill>
                  </a:tcPr>
                </a:tc>
                <a:tc>
                  <a:txBody>
                    <a:bodyPr/>
                    <a:lstStyle/>
                    <a:p>
                      <a:pPr rtl="1" algn="r"/>
                      <a:r>
                        <a:rPr sz="1700" b="0" i="0" lang="ar-EG" altLang="en-US">
                          <a:solidFill>
                            <a:srgbClr val="1C2333"/>
                          </a:solidFill>
                          <a:latin typeface="Traditional Arabic"/>
                        </a:rPr>
                        <a:t>ثقيل</a:t>
                      </a:r>
                    </a:p>
                  </a:txBody>
                  <a:tcPr>
                    <a:solidFill>
                      <a:srgbClr val="EEF3FA"/>
                    </a:solidFill>
                  </a:tcPr>
                </a:tc>
              </a:tr>
              <a:tr h="384048">
                <a:tc>
                  <a:txBody>
                    <a:bodyPr/>
                    <a:lstStyle/>
                    <a:p>
                      <a:pPr rtl="0" algn="l"/>
                      <a:r>
                        <a:rPr sz="1500" b="1" i="0" lang="en-US">
                          <a:solidFill>
                            <a:srgbClr val="942222"/>
                          </a:solidFill>
                          <a:latin typeface="Segoe UI"/>
                        </a:rPr>
                        <a:t>easy</a:t>
                      </a:r>
                    </a:p>
                  </a:txBody>
                  <a:tcPr>
                    <a:solidFill>
                      <a:srgbClr val="FFFFFF"/>
                    </a:solidFill>
                  </a:tcPr>
                </a:tc>
                <a:tc>
                  <a:txBody>
                    <a:bodyPr/>
                    <a:lstStyle/>
                    <a:p>
                      <a:pPr rtl="1" algn="r"/>
                      <a:r>
                        <a:rPr sz="1700" b="0" i="0" lang="ar-EG" altLang="en-US">
                          <a:solidFill>
                            <a:srgbClr val="1C2333"/>
                          </a:solidFill>
                          <a:latin typeface="Traditional Arabic"/>
                        </a:rPr>
                        <a:t>سهل</a:t>
                      </a:r>
                    </a:p>
                  </a:txBody>
                  <a:tcPr>
                    <a:solidFill>
                      <a:srgbClr val="FFFFFF"/>
                    </a:solidFill>
                  </a:tcPr>
                </a:tc>
                <a:tc>
                  <a:txBody>
                    <a:bodyPr/>
                    <a:lstStyle/>
                    <a:p>
                      <a:pPr rtl="0" algn="l"/>
                      <a:r>
                        <a:rPr sz="1500" b="1" i="0" lang="en-US">
                          <a:solidFill>
                            <a:srgbClr val="942222"/>
                          </a:solidFill>
                          <a:latin typeface="Segoe UI"/>
                        </a:rPr>
                        <a:t>good</a:t>
                      </a:r>
                    </a:p>
                  </a:txBody>
                  <a:tcPr>
                    <a:solidFill>
                      <a:srgbClr val="FFFFFF"/>
                    </a:solidFill>
                  </a:tcPr>
                </a:tc>
                <a:tc>
                  <a:txBody>
                    <a:bodyPr/>
                    <a:lstStyle/>
                    <a:p>
                      <a:pPr rtl="1" algn="r"/>
                      <a:r>
                        <a:rPr sz="1700" b="0" i="0" lang="ar-EG" altLang="en-US">
                          <a:solidFill>
                            <a:srgbClr val="1C2333"/>
                          </a:solidFill>
                          <a:latin typeface="Traditional Arabic"/>
                        </a:rPr>
                        <a:t>جيد</a:t>
                      </a:r>
                    </a:p>
                  </a:txBody>
                  <a:tcPr>
                    <a:solidFill>
                      <a:srgbClr val="FFFFFF"/>
                    </a:solidFill>
                  </a:tcPr>
                </a:tc>
                <a:tc>
                  <a:txBody>
                    <a:bodyPr/>
                    <a:lstStyle/>
                    <a:p>
                      <a:pPr rtl="0" algn="l"/>
                      <a:r>
                        <a:rPr sz="1500" b="1" i="0" lang="en-US">
                          <a:solidFill>
                            <a:srgbClr val="942222"/>
                          </a:solidFill>
                          <a:latin typeface="Segoe UI"/>
                        </a:rPr>
                        <a:t>long</a:t>
                      </a:r>
                    </a:p>
                  </a:txBody>
                  <a:tcPr>
                    <a:solidFill>
                      <a:srgbClr val="FFFFFF"/>
                    </a:solidFill>
                  </a:tcPr>
                </a:tc>
                <a:tc>
                  <a:txBody>
                    <a:bodyPr/>
                    <a:lstStyle/>
                    <a:p>
                      <a:pPr rtl="1" algn="r"/>
                      <a:r>
                        <a:rPr sz="1700" b="0" i="0" lang="ar-EG" altLang="en-US">
                          <a:solidFill>
                            <a:srgbClr val="1C2333"/>
                          </a:solidFill>
                          <a:latin typeface="Traditional Arabic"/>
                        </a:rPr>
                        <a:t>طويل</a:t>
                      </a:r>
                    </a:p>
                  </a:txBody>
                  <a:tcPr>
                    <a:solidFill>
                      <a:srgbClr val="FFFFFF"/>
                    </a:solidFill>
                  </a:tcPr>
                </a:tc>
              </a:tr>
              <a:tr h="384048">
                <a:tc>
                  <a:txBody>
                    <a:bodyPr/>
                    <a:lstStyle/>
                    <a:p>
                      <a:pPr rtl="0" algn="l"/>
                      <a:r>
                        <a:rPr sz="1500" b="1" i="0" lang="en-US">
                          <a:solidFill>
                            <a:srgbClr val="942222"/>
                          </a:solidFill>
                          <a:latin typeface="Segoe UI"/>
                        </a:rPr>
                        <a:t>strong</a:t>
                      </a:r>
                    </a:p>
                  </a:txBody>
                  <a:tcPr>
                    <a:solidFill>
                      <a:srgbClr val="EEF3FA"/>
                    </a:solidFill>
                  </a:tcPr>
                </a:tc>
                <a:tc>
                  <a:txBody>
                    <a:bodyPr/>
                    <a:lstStyle/>
                    <a:p>
                      <a:pPr rtl="1" algn="r"/>
                      <a:r>
                        <a:rPr sz="1700" b="0" i="0" lang="ar-EG" altLang="en-US">
                          <a:solidFill>
                            <a:srgbClr val="1C2333"/>
                          </a:solidFill>
                          <a:latin typeface="Traditional Arabic"/>
                        </a:rPr>
                        <a:t>قوي</a:t>
                      </a:r>
                    </a:p>
                  </a:txBody>
                  <a:tcPr>
                    <a:solidFill>
                      <a:srgbClr val="EEF3FA"/>
                    </a:solidFill>
                  </a:tcPr>
                </a:tc>
                <a:tc>
                  <a:txBody>
                    <a:bodyPr/>
                    <a:lstStyle/>
                    <a:p>
                      <a:pPr rtl="0" algn="l"/>
                      <a:r>
                        <a:rPr sz="1500" b="1" i="0" lang="en-US">
                          <a:solidFill>
                            <a:srgbClr val="942222"/>
                          </a:solidFill>
                          <a:latin typeface="Segoe UI"/>
                        </a:rPr>
                        <a:t>nice</a:t>
                      </a:r>
                    </a:p>
                  </a:txBody>
                  <a:tcPr>
                    <a:solidFill>
                      <a:srgbClr val="EEF3FA"/>
                    </a:solidFill>
                  </a:tcPr>
                </a:tc>
                <a:tc>
                  <a:txBody>
                    <a:bodyPr/>
                    <a:lstStyle/>
                    <a:p>
                      <a:pPr rtl="1" algn="r"/>
                      <a:r>
                        <a:rPr sz="1700" b="0" i="0" lang="ar-EG" altLang="en-US">
                          <a:solidFill>
                            <a:srgbClr val="1C2333"/>
                          </a:solidFill>
                          <a:latin typeface="Traditional Arabic"/>
                        </a:rPr>
                        <a:t>جميل</a:t>
                      </a:r>
                    </a:p>
                  </a:txBody>
                  <a:tcPr>
                    <a:solidFill>
                      <a:srgbClr val="EEF3FA"/>
                    </a:solidFill>
                  </a:tcPr>
                </a:tc>
                <a:tc>
                  <a:txBody>
                    <a:bodyPr/>
                    <a:lstStyle/>
                    <a:p>
                      <a:pPr rtl="0" algn="l"/>
                      <a:r>
                        <a:rPr sz="1500" b="1" i="0" lang="en-US">
                          <a:solidFill>
                            <a:srgbClr val="942222"/>
                          </a:solidFill>
                          <a:latin typeface="Segoe UI"/>
                        </a:rPr>
                        <a:t>short</a:t>
                      </a:r>
                    </a:p>
                  </a:txBody>
                  <a:tcPr>
                    <a:solidFill>
                      <a:srgbClr val="EEF3FA"/>
                    </a:solidFill>
                  </a:tcPr>
                </a:tc>
                <a:tc>
                  <a:txBody>
                    <a:bodyPr/>
                    <a:lstStyle/>
                    <a:p>
                      <a:pPr rtl="1" algn="r"/>
                      <a:r>
                        <a:rPr sz="1700" b="0" i="0" lang="ar-EG" altLang="en-US">
                          <a:solidFill>
                            <a:srgbClr val="1C2333"/>
                          </a:solidFill>
                          <a:latin typeface="Traditional Arabic"/>
                        </a:rPr>
                        <a:t>قصير</a:t>
                      </a:r>
                    </a:p>
                  </a:txBody>
                  <a:tcPr>
                    <a:solidFill>
                      <a:srgbClr val="EEF3FA"/>
                    </a:solidFill>
                  </a:tcPr>
                </a:tc>
              </a:tr>
              <a:tr h="384048">
                <a:tc>
                  <a:txBody>
                    <a:bodyPr/>
                    <a:lstStyle/>
                    <a:p>
                      <a:pPr rtl="0" algn="l"/>
                      <a:r>
                        <a:rPr sz="1500" b="1" i="0" lang="en-US">
                          <a:solidFill>
                            <a:srgbClr val="942222"/>
                          </a:solidFill>
                          <a:latin typeface="Segoe UI"/>
                        </a:rPr>
                        <a:t>dirty</a:t>
                      </a:r>
                    </a:p>
                  </a:txBody>
                  <a:tcPr>
                    <a:solidFill>
                      <a:srgbClr val="FFFFFF"/>
                    </a:solidFill>
                  </a:tcPr>
                </a:tc>
                <a:tc>
                  <a:txBody>
                    <a:bodyPr/>
                    <a:lstStyle/>
                    <a:p>
                      <a:pPr rtl="1" algn="r"/>
                      <a:r>
                        <a:rPr sz="1700" b="0" i="0" lang="ar-EG" altLang="en-US">
                          <a:solidFill>
                            <a:srgbClr val="1C2333"/>
                          </a:solidFill>
                          <a:latin typeface="Traditional Arabic"/>
                        </a:rPr>
                        <a:t>قذر</a:t>
                      </a:r>
                    </a:p>
                  </a:txBody>
                  <a:tcPr>
                    <a:solidFill>
                      <a:srgbClr val="FFFFFF"/>
                    </a:solidFill>
                  </a:tcPr>
                </a:tc>
                <a:tc>
                  <a:txBody>
                    <a:bodyPr/>
                    <a:lstStyle/>
                    <a:p>
                      <a:pPr rtl="0" algn="l"/>
                      <a:r>
                        <a:rPr sz="1500" b="1" i="0" lang="en-US">
                          <a:solidFill>
                            <a:srgbClr val="942222"/>
                          </a:solidFill>
                          <a:latin typeface="Segoe UI"/>
                        </a:rPr>
                        <a:t>happy</a:t>
                      </a:r>
                    </a:p>
                  </a:txBody>
                  <a:tcPr>
                    <a:solidFill>
                      <a:srgbClr val="FFFFFF"/>
                    </a:solidFill>
                  </a:tcPr>
                </a:tc>
                <a:tc>
                  <a:txBody>
                    <a:bodyPr/>
                    <a:lstStyle/>
                    <a:p>
                      <a:pPr rtl="1" algn="r"/>
                      <a:r>
                        <a:rPr sz="1700" b="0" i="0" lang="ar-EG" altLang="en-US">
                          <a:solidFill>
                            <a:srgbClr val="1C2333"/>
                          </a:solidFill>
                          <a:latin typeface="Traditional Arabic"/>
                        </a:rPr>
                        <a:t>سعيد</a:t>
                      </a:r>
                    </a:p>
                  </a:txBody>
                  <a:tcPr>
                    <a:solidFill>
                      <a:srgbClr val="FFFFFF"/>
                    </a:solidFill>
                  </a:tcPr>
                </a:tc>
                <a:tc>
                  <a:txBody>
                    <a:bodyPr/>
                    <a:lstStyle/>
                    <a:p>
                      <a:pPr rtl="0" algn="l"/>
                      <a:r>
                        <a:rPr sz="1500" b="1" i="0" lang="en-US">
                          <a:solidFill>
                            <a:srgbClr val="942222"/>
                          </a:solidFill>
                          <a:latin typeface="Segoe UI"/>
                        </a:rPr>
                        <a:t>warm</a:t>
                      </a:r>
                    </a:p>
                  </a:txBody>
                  <a:tcPr>
                    <a:solidFill>
                      <a:srgbClr val="FFFFFF"/>
                    </a:solidFill>
                  </a:tcPr>
                </a:tc>
                <a:tc>
                  <a:txBody>
                    <a:bodyPr/>
                    <a:lstStyle/>
                    <a:p>
                      <a:pPr rtl="1" algn="r"/>
                      <a:r>
                        <a:rPr sz="1700" b="0" i="0" lang="ar-EG" altLang="en-US">
                          <a:solidFill>
                            <a:srgbClr val="1C2333"/>
                          </a:solidFill>
                          <a:latin typeface="Traditional Arabic"/>
                        </a:rPr>
                        <a:t>دافئ</a:t>
                      </a:r>
                    </a:p>
                  </a:txBody>
                  <a:tcPr>
                    <a:solidFill>
                      <a:srgbClr val="FFFFFF"/>
                    </a:solidFill>
                  </a:tcPr>
                </a:tc>
              </a:tr>
              <a:tr h="384048">
                <a:tc>
                  <a:txBody>
                    <a:bodyPr/>
                    <a:lstStyle/>
                    <a:p>
                      <a:pPr rtl="0" algn="l"/>
                      <a:r>
                        <a:rPr sz="1500" b="1" i="0" lang="en-US">
                          <a:solidFill>
                            <a:srgbClr val="942222"/>
                          </a:solidFill>
                          <a:latin typeface="Segoe UI"/>
                        </a:rPr>
                        <a:t>clean</a:t>
                      </a:r>
                    </a:p>
                  </a:txBody>
                  <a:tcPr>
                    <a:solidFill>
                      <a:srgbClr val="EEF3FA"/>
                    </a:solidFill>
                  </a:tcPr>
                </a:tc>
                <a:tc>
                  <a:txBody>
                    <a:bodyPr/>
                    <a:lstStyle/>
                    <a:p>
                      <a:pPr rtl="1" algn="r"/>
                      <a:r>
                        <a:rPr sz="1700" b="0" i="0" lang="ar-EG" altLang="en-US">
                          <a:solidFill>
                            <a:srgbClr val="1C2333"/>
                          </a:solidFill>
                          <a:latin typeface="Traditional Arabic"/>
                        </a:rPr>
                        <a:t>نظيف</a:t>
                      </a:r>
                    </a:p>
                  </a:txBody>
                  <a:tcPr>
                    <a:solidFill>
                      <a:srgbClr val="EEF3FA"/>
                    </a:solidFill>
                  </a:tcPr>
                </a:tc>
                <a:tc>
                  <a:txBody>
                    <a:bodyPr/>
                    <a:lstStyle/>
                    <a:p>
                      <a:pPr rtl="0" algn="l"/>
                      <a:r>
                        <a:rPr sz="1500" b="1" i="0" lang="en-US">
                          <a:solidFill>
                            <a:srgbClr val="942222"/>
                          </a:solidFill>
                          <a:latin typeface="Segoe UI"/>
                        </a:rPr>
                        <a:t>angry</a:t>
                      </a:r>
                    </a:p>
                  </a:txBody>
                  <a:tcPr>
                    <a:solidFill>
                      <a:srgbClr val="EEF3FA"/>
                    </a:solidFill>
                  </a:tcPr>
                </a:tc>
                <a:tc>
                  <a:txBody>
                    <a:bodyPr/>
                    <a:lstStyle/>
                    <a:p>
                      <a:pPr rtl="1" algn="r"/>
                      <a:r>
                        <a:rPr sz="1700" b="0" i="0" lang="ar-EG" altLang="en-US">
                          <a:solidFill>
                            <a:srgbClr val="1C2333"/>
                          </a:solidFill>
                          <a:latin typeface="Traditional Arabic"/>
                        </a:rPr>
                        <a:t>غاضب</a:t>
                      </a:r>
                    </a:p>
                  </a:txBody>
                  <a:tcPr>
                    <a:solidFill>
                      <a:srgbClr val="EEF3FA"/>
                    </a:solidFill>
                  </a:tcPr>
                </a:tc>
                <a:tc>
                  <a:txBody>
                    <a:bodyPr/>
                    <a:lstStyle/>
                    <a:p>
                      <a:pPr rtl="0" algn="l"/>
                      <a:r>
                        <a:rPr sz="1500" b="1" i="0" lang="en-US">
                          <a:solidFill>
                            <a:srgbClr val="942222"/>
                          </a:solidFill>
                          <a:latin typeface="Segoe UI"/>
                        </a:rPr>
                        <a:t>expensive</a:t>
                      </a:r>
                    </a:p>
                  </a:txBody>
                  <a:tcPr>
                    <a:solidFill>
                      <a:srgbClr val="EEF3FA"/>
                    </a:solidFill>
                  </a:tcPr>
                </a:tc>
                <a:tc>
                  <a:txBody>
                    <a:bodyPr/>
                    <a:lstStyle/>
                    <a:p>
                      <a:pPr rtl="1" algn="r"/>
                      <a:r>
                        <a:rPr sz="1700" b="0" i="0" lang="ar-EG" altLang="en-US">
                          <a:solidFill>
                            <a:srgbClr val="1C2333"/>
                          </a:solidFill>
                          <a:latin typeface="Traditional Arabic"/>
                        </a:rPr>
                        <a:t>غالي الثمن</a:t>
                      </a:r>
                    </a:p>
                  </a:txBody>
                  <a:tcPr>
                    <a:solidFill>
                      <a:srgbClr val="EEF3FA"/>
                    </a:solidFill>
                  </a:tcPr>
                </a:tc>
              </a:tr>
              <a:tr h="384048">
                <a:tc>
                  <a:txBody>
                    <a:bodyPr/>
                    <a:lstStyle/>
                    <a:p>
                      <a:pPr rtl="0" algn="l"/>
                      <a:r>
                        <a:rPr sz="1500" b="1" i="0" lang="en-US">
                          <a:solidFill>
                            <a:srgbClr val="942222"/>
                          </a:solidFill>
                          <a:latin typeface="Segoe UI"/>
                        </a:rPr>
                        <a:t>small</a:t>
                      </a:r>
                    </a:p>
                  </a:txBody>
                  <a:tcPr>
                    <a:solidFill>
                      <a:srgbClr val="FFFFFF"/>
                    </a:solidFill>
                  </a:tcPr>
                </a:tc>
                <a:tc>
                  <a:txBody>
                    <a:bodyPr/>
                    <a:lstStyle/>
                    <a:p>
                      <a:pPr rtl="1" algn="r"/>
                      <a:r>
                        <a:rPr sz="1700" b="0" i="0" lang="ar-EG" altLang="en-US">
                          <a:solidFill>
                            <a:srgbClr val="1C2333"/>
                          </a:solidFill>
                          <a:latin typeface="Traditional Arabic"/>
                        </a:rPr>
                        <a:t>صغير</a:t>
                      </a:r>
                    </a:p>
                  </a:txBody>
                  <a:tcPr>
                    <a:solidFill>
                      <a:srgbClr val="FFFFFF"/>
                    </a:solidFill>
                  </a:tcPr>
                </a:tc>
                <a:tc>
                  <a:txBody>
                    <a:bodyPr/>
                    <a:lstStyle/>
                    <a:p>
                      <a:pPr rtl="0" algn="l"/>
                      <a:r>
                        <a:rPr sz="1500" b="1" i="0" lang="en-US">
                          <a:solidFill>
                            <a:srgbClr val="942222"/>
                          </a:solidFill>
                          <a:latin typeface="Segoe UI"/>
                        </a:rPr>
                        <a:t>cold</a:t>
                      </a:r>
                    </a:p>
                  </a:txBody>
                  <a:tcPr>
                    <a:solidFill>
                      <a:srgbClr val="FFFFFF"/>
                    </a:solidFill>
                  </a:tcPr>
                </a:tc>
                <a:tc>
                  <a:txBody>
                    <a:bodyPr/>
                    <a:lstStyle/>
                    <a:p>
                      <a:pPr rtl="1" algn="r"/>
                      <a:r>
                        <a:rPr sz="1700" b="0" i="0" lang="ar-EG" altLang="en-US">
                          <a:solidFill>
                            <a:srgbClr val="1C2333"/>
                          </a:solidFill>
                          <a:latin typeface="Traditional Arabic"/>
                        </a:rPr>
                        <a:t>بارد</a:t>
                      </a:r>
                    </a:p>
                  </a:txBody>
                  <a:tcPr>
                    <a:solidFill>
                      <a:srgbClr val="FFFFFF"/>
                    </a:solidFill>
                  </a:tcPr>
                </a:tc>
                <a:tc>
                  <a:txBody>
                    <a:bodyPr/>
                    <a:lstStyle/>
                    <a:p>
                      <a:pPr rtl="0" algn="l"/>
                      <a:r>
                        <a:rPr sz="1500" b="1" i="0" lang="en-US">
                          <a:solidFill>
                            <a:srgbClr val="942222"/>
                          </a:solidFill>
                          <a:latin typeface="Segoe UI"/>
                        </a:rPr>
                        <a:t>modern</a:t>
                      </a:r>
                    </a:p>
                  </a:txBody>
                  <a:tcPr>
                    <a:solidFill>
                      <a:srgbClr val="FFFFFF"/>
                    </a:solidFill>
                  </a:tcPr>
                </a:tc>
                <a:tc>
                  <a:txBody>
                    <a:bodyPr/>
                    <a:lstStyle/>
                    <a:p>
                      <a:pPr rtl="1" algn="r"/>
                      <a:r>
                        <a:rPr sz="1700" b="0" i="0" lang="ar-EG" altLang="en-US">
                          <a:solidFill>
                            <a:srgbClr val="1C2333"/>
                          </a:solidFill>
                          <a:latin typeface="Traditional Arabic"/>
                        </a:rPr>
                        <a:t>حديث</a:t>
                      </a:r>
                    </a:p>
                  </a:txBody>
                  <a:tcPr>
                    <a:solidFill>
                      <a:srgbClr val="FFFFFF"/>
                    </a:solidFill>
                  </a:tcPr>
                </a:tc>
              </a:tr>
              <a:tr h="384048">
                <a:tc>
                  <a:txBody>
                    <a:bodyPr/>
                    <a:lstStyle/>
                    <a:p>
                      <a:pPr rtl="0" algn="l"/>
                      <a:r>
                        <a:rPr sz="1500" b="1" i="0" lang="en-US">
                          <a:solidFill>
                            <a:srgbClr val="942222"/>
                          </a:solidFill>
                          <a:latin typeface="Segoe UI"/>
                        </a:rPr>
                        <a:t>big</a:t>
                      </a:r>
                    </a:p>
                  </a:txBody>
                  <a:tcPr>
                    <a:solidFill>
                      <a:srgbClr val="EEF3FA"/>
                    </a:solidFill>
                  </a:tcPr>
                </a:tc>
                <a:tc>
                  <a:txBody>
                    <a:bodyPr/>
                    <a:lstStyle/>
                    <a:p>
                      <a:pPr rtl="1" algn="r"/>
                      <a:r>
                        <a:rPr sz="1700" b="0" i="0" lang="ar-EG" altLang="en-US">
                          <a:solidFill>
                            <a:srgbClr val="1C2333"/>
                          </a:solidFill>
                          <a:latin typeface="Traditional Arabic"/>
                        </a:rPr>
                        <a:t>كبير الحجم</a:t>
                      </a:r>
                    </a:p>
                  </a:txBody>
                  <a:tcPr>
                    <a:solidFill>
                      <a:srgbClr val="EEF3FA"/>
                    </a:solidFill>
                  </a:tcPr>
                </a:tc>
                <a:tc>
                  <a:txBody>
                    <a:bodyPr/>
                    <a:lstStyle/>
                    <a:p>
                      <a:pPr rtl="0" algn="l"/>
                      <a:r>
                        <a:rPr sz="1500" b="1" i="0" lang="en-US">
                          <a:solidFill>
                            <a:srgbClr val="942222"/>
                          </a:solidFill>
                          <a:latin typeface="Segoe UI"/>
                        </a:rPr>
                        <a:t>fat</a:t>
                      </a:r>
                    </a:p>
                  </a:txBody>
                  <a:tcPr>
                    <a:solidFill>
                      <a:srgbClr val="EEF3FA"/>
                    </a:solidFill>
                  </a:tcPr>
                </a:tc>
                <a:tc>
                  <a:txBody>
                    <a:bodyPr/>
                    <a:lstStyle/>
                    <a:p>
                      <a:pPr rtl="1" algn="r"/>
                      <a:r>
                        <a:rPr sz="1700" b="0" i="0" lang="ar-EG" altLang="en-US">
                          <a:solidFill>
                            <a:srgbClr val="1C2333"/>
                          </a:solidFill>
                          <a:latin typeface="Traditional Arabic"/>
                        </a:rPr>
                        <a:t>سمين</a:t>
                      </a:r>
                    </a:p>
                  </a:txBody>
                  <a:tcPr>
                    <a:solidFill>
                      <a:srgbClr val="EEF3FA"/>
                    </a:solidFill>
                  </a:tcPr>
                </a:tc>
                <a:tc>
                  <a:txBody>
                    <a:bodyPr/>
                    <a:lstStyle/>
                    <a:p>
                      <a:pPr rtl="0" algn="l"/>
                      <a:r>
                        <a:rPr sz="1500" b="1" i="0" lang="en-US">
                          <a:solidFill>
                            <a:srgbClr val="942222"/>
                          </a:solidFill>
                          <a:latin typeface="Segoe UI"/>
                        </a:rPr>
                        <a:t>dangerous</a:t>
                      </a:r>
                    </a:p>
                  </a:txBody>
                  <a:tcPr>
                    <a:solidFill>
                      <a:srgbClr val="EEF3FA"/>
                    </a:solidFill>
                  </a:tcPr>
                </a:tc>
                <a:tc>
                  <a:txBody>
                    <a:bodyPr/>
                    <a:lstStyle/>
                    <a:p>
                      <a:pPr rtl="1" algn="r"/>
                      <a:r>
                        <a:rPr sz="1700" b="0" i="0" lang="ar-EG" altLang="en-US">
                          <a:solidFill>
                            <a:srgbClr val="1C2333"/>
                          </a:solidFill>
                          <a:latin typeface="Traditional Arabic"/>
                        </a:rPr>
                        <a:t>خطير</a:t>
                      </a:r>
                    </a:p>
                  </a:txBody>
                  <a:tcPr>
                    <a:solidFill>
                      <a:srgbClr val="EEF3FA"/>
                    </a:solidFill>
                  </a:tcPr>
                </a:tc>
              </a:tr>
            </a:tbl>
          </a:graphicData>
        </a:graphic>
      </p:graphicFrame>
    </p:spTree>
  </p:cSld>
  <p:clrMapOvr>
    <a:masterClrMapping/>
  </p:clrMapOvr>
  <p:transition spd="med">
    <p:fade/>
  </p:transition>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22"/>
                          </a:solidFill>
                          <a:latin typeface="Segoe UI"/>
                        </a:rPr>
                        <a:t>beautiful</a:t>
                      </a:r>
                    </a:p>
                  </a:txBody>
                  <a:tcPr>
                    <a:solidFill>
                      <a:srgbClr val="FFFFFF"/>
                    </a:solidFill>
                  </a:tcPr>
                </a:tc>
                <a:tc>
                  <a:txBody>
                    <a:bodyPr/>
                    <a:lstStyle/>
                    <a:p>
                      <a:pPr rtl="1" algn="r"/>
                      <a:r>
                        <a:rPr sz="1700" b="0" i="0" lang="ar-EG" altLang="en-US">
                          <a:solidFill>
                            <a:srgbClr val="1C2333"/>
                          </a:solidFill>
                          <a:latin typeface="Traditional Arabic"/>
                        </a:rPr>
                        <a:t>جميل</a:t>
                      </a:r>
                    </a:p>
                  </a:txBody>
                  <a:tcPr>
                    <a:solidFill>
                      <a:srgbClr val="FFFFFF"/>
                    </a:solidFill>
                  </a:tcPr>
                </a:tc>
                <a:tc>
                  <a:txBody>
                    <a:bodyPr/>
                    <a:lstStyle/>
                    <a:p>
                      <a:pPr rtl="0" algn="l"/>
                      <a:r>
                        <a:rPr sz="1500" b="1" i="0" lang="en-US">
                          <a:solidFill>
                            <a:srgbClr val="942222"/>
                          </a:solidFill>
                          <a:latin typeface="Segoe UI"/>
                        </a:rPr>
                        <a:t>thirsty</a:t>
                      </a:r>
                    </a:p>
                  </a:txBody>
                  <a:tcPr>
                    <a:solidFill>
                      <a:srgbClr val="FFFFFF"/>
                    </a:solidFill>
                  </a:tcPr>
                </a:tc>
                <a:tc>
                  <a:txBody>
                    <a:bodyPr/>
                    <a:lstStyle/>
                    <a:p>
                      <a:pPr rtl="1" algn="r"/>
                      <a:r>
                        <a:rPr sz="1700" b="0" i="0" lang="ar-EG" altLang="en-US">
                          <a:solidFill>
                            <a:srgbClr val="1C2333"/>
                          </a:solidFill>
                          <a:latin typeface="Traditional Arabic"/>
                        </a:rPr>
                        <a:t>عطشان</a:t>
                      </a:r>
                    </a:p>
                  </a:txBody>
                  <a:tcPr>
                    <a:solidFill>
                      <a:srgbClr val="FFFFFF"/>
                    </a:solidFill>
                  </a:tcPr>
                </a:tc>
                <a:tc>
                  <a:txBody>
                    <a:bodyPr/>
                    <a:lstStyle/>
                    <a:p>
                      <a:pPr rtl="0" algn="l"/>
                      <a:r>
                        <a:rPr sz="1500" b="1" i="0" lang="en-US">
                          <a:solidFill>
                            <a:srgbClr val="942222"/>
                          </a:solidFill>
                          <a:latin typeface="Segoe UI"/>
                        </a:rPr>
                        <a:t>yesterday</a:t>
                      </a:r>
                    </a:p>
                  </a:txBody>
                  <a:tcPr>
                    <a:solidFill>
                      <a:srgbClr val="FFFFFF"/>
                    </a:solidFill>
                  </a:tcPr>
                </a:tc>
                <a:tc>
                  <a:txBody>
                    <a:bodyPr/>
                    <a:lstStyle/>
                    <a:p>
                      <a:pPr rtl="1" algn="r"/>
                      <a:r>
                        <a:rPr sz="1700" b="0" i="0" lang="ar-EG" altLang="en-US">
                          <a:solidFill>
                            <a:srgbClr val="1C2333"/>
                          </a:solidFill>
                          <a:latin typeface="Traditional Arabic"/>
                        </a:rPr>
                        <a:t>أمس</a:t>
                      </a:r>
                    </a:p>
                  </a:txBody>
                  <a:tcPr>
                    <a:solidFill>
                      <a:srgbClr val="FFFFFF"/>
                    </a:solidFill>
                  </a:tcPr>
                </a:tc>
              </a:tr>
              <a:tr h="384048">
                <a:tc>
                  <a:txBody>
                    <a:bodyPr/>
                    <a:lstStyle/>
                    <a:p>
                      <a:pPr rtl="0" algn="l"/>
                      <a:r>
                        <a:rPr sz="1500" b="1" i="0" lang="en-US">
                          <a:solidFill>
                            <a:srgbClr val="942222"/>
                          </a:solidFill>
                          <a:latin typeface="Segoe UI"/>
                        </a:rPr>
                        <a:t>clever</a:t>
                      </a:r>
                    </a:p>
                  </a:txBody>
                  <a:tcPr>
                    <a:solidFill>
                      <a:srgbClr val="EEF3FA"/>
                    </a:solidFill>
                  </a:tcPr>
                </a:tc>
                <a:tc>
                  <a:txBody>
                    <a:bodyPr/>
                    <a:lstStyle/>
                    <a:p>
                      <a:pPr rtl="1" algn="r"/>
                      <a:r>
                        <a:rPr sz="1700" b="0" i="0" lang="ar-EG" altLang="en-US">
                          <a:solidFill>
                            <a:srgbClr val="1C2333"/>
                          </a:solidFill>
                          <a:latin typeface="Traditional Arabic"/>
                        </a:rPr>
                        <a:t>ماهر</a:t>
                      </a:r>
                    </a:p>
                  </a:txBody>
                  <a:tcPr>
                    <a:solidFill>
                      <a:srgbClr val="EEF3FA"/>
                    </a:solidFill>
                  </a:tcPr>
                </a:tc>
                <a:tc>
                  <a:txBody>
                    <a:bodyPr/>
                    <a:lstStyle/>
                    <a:p>
                      <a:pPr rtl="0" algn="l"/>
                      <a:r>
                        <a:rPr sz="1500" b="1" i="0" lang="en-US">
                          <a:solidFill>
                            <a:srgbClr val="942222"/>
                          </a:solidFill>
                          <a:latin typeface="Segoe UI"/>
                        </a:rPr>
                        <a:t>hungry</a:t>
                      </a:r>
                    </a:p>
                  </a:txBody>
                  <a:tcPr>
                    <a:solidFill>
                      <a:srgbClr val="EEF3FA"/>
                    </a:solidFill>
                  </a:tcPr>
                </a:tc>
                <a:tc>
                  <a:txBody>
                    <a:bodyPr/>
                    <a:lstStyle/>
                    <a:p>
                      <a:pPr rtl="1" algn="r"/>
                      <a:r>
                        <a:rPr sz="1700" b="0" i="0" lang="ar-EG" altLang="en-US">
                          <a:solidFill>
                            <a:srgbClr val="1C2333"/>
                          </a:solidFill>
                          <a:latin typeface="Traditional Arabic"/>
                        </a:rPr>
                        <a:t>جوعان</a:t>
                      </a:r>
                    </a:p>
                  </a:txBody>
                  <a:tcPr>
                    <a:solidFill>
                      <a:srgbClr val="EEF3FA"/>
                    </a:solidFill>
                  </a:tcPr>
                </a:tc>
                <a:tc>
                  <a:txBody>
                    <a:bodyPr/>
                    <a:lstStyle/>
                    <a:p>
                      <a:pPr rtl="0" algn="l"/>
                      <a:r>
                        <a:rPr sz="1500" b="1" i="0" lang="en-US">
                          <a:solidFill>
                            <a:srgbClr val="942222"/>
                          </a:solidFill>
                          <a:latin typeface="Segoe UI"/>
                        </a:rPr>
                        <a:t>last night</a:t>
                      </a:r>
                    </a:p>
                  </a:txBody>
                  <a:tcPr>
                    <a:solidFill>
                      <a:srgbClr val="EEF3FA"/>
                    </a:solidFill>
                  </a:tcPr>
                </a:tc>
                <a:tc>
                  <a:txBody>
                    <a:bodyPr/>
                    <a:lstStyle/>
                    <a:p>
                      <a:pPr rtl="1" algn="r"/>
                      <a:r>
                        <a:rPr sz="1700" b="0" i="0" lang="ar-EG" altLang="en-US">
                          <a:solidFill>
                            <a:srgbClr val="1C2333"/>
                          </a:solidFill>
                          <a:latin typeface="Traditional Arabic"/>
                        </a:rPr>
                        <a:t>الليلة الماضية</a:t>
                      </a:r>
                    </a:p>
                  </a:txBody>
                  <a:tcPr>
                    <a:solidFill>
                      <a:srgbClr val="EEF3FA"/>
                    </a:solidFill>
                  </a:tcPr>
                </a:tc>
              </a:tr>
              <a:tr h="384048">
                <a:tc>
                  <a:txBody>
                    <a:bodyPr/>
                    <a:lstStyle/>
                    <a:p>
                      <a:pPr rtl="0" algn="l"/>
                      <a:r>
                        <a:rPr sz="1500" b="1" i="0" lang="en-US">
                          <a:solidFill>
                            <a:srgbClr val="942222"/>
                          </a:solidFill>
                          <a:latin typeface="Segoe UI"/>
                        </a:rPr>
                        <a:t>busy</a:t>
                      </a:r>
                    </a:p>
                  </a:txBody>
                  <a:tcPr>
                    <a:solidFill>
                      <a:srgbClr val="FFFFFF"/>
                    </a:solidFill>
                  </a:tcPr>
                </a:tc>
                <a:tc>
                  <a:txBody>
                    <a:bodyPr/>
                    <a:lstStyle/>
                    <a:p>
                      <a:pPr rtl="1" algn="r"/>
                      <a:r>
                        <a:rPr sz="1700" b="0" i="0" lang="ar-EG" altLang="en-US">
                          <a:solidFill>
                            <a:srgbClr val="1C2333"/>
                          </a:solidFill>
                          <a:latin typeface="Traditional Arabic"/>
                        </a:rPr>
                        <a:t>مشغول</a:t>
                      </a:r>
                    </a:p>
                  </a:txBody>
                  <a:tcPr>
                    <a:solidFill>
                      <a:srgbClr val="FFFFFF"/>
                    </a:solidFill>
                  </a:tcPr>
                </a:tc>
                <a:tc>
                  <a:txBody>
                    <a:bodyPr/>
                    <a:lstStyle/>
                    <a:p>
                      <a:pPr rtl="0" algn="l"/>
                      <a:r>
                        <a:rPr sz="1500" b="1" i="0" lang="en-US">
                          <a:solidFill>
                            <a:srgbClr val="942222"/>
                          </a:solidFill>
                          <a:latin typeface="Segoe UI"/>
                        </a:rPr>
                        <a:t>hospital</a:t>
                      </a:r>
                    </a:p>
                  </a:txBody>
                  <a:tcPr>
                    <a:solidFill>
                      <a:srgbClr val="FFFFFF"/>
                    </a:solidFill>
                  </a:tcPr>
                </a:tc>
                <a:tc>
                  <a:txBody>
                    <a:bodyPr/>
                    <a:lstStyle/>
                    <a:p>
                      <a:pPr rtl="1" algn="r"/>
                      <a:r>
                        <a:rPr sz="1700" b="0" i="0" lang="ar-EG" altLang="en-US">
                          <a:solidFill>
                            <a:srgbClr val="1C2333"/>
                          </a:solidFill>
                          <a:latin typeface="Traditional Arabic"/>
                        </a:rPr>
                        <a:t>مستشفى</a:t>
                      </a:r>
                    </a:p>
                  </a:txBody>
                  <a:tcPr>
                    <a:solidFill>
                      <a:srgbClr val="FFFFFF"/>
                    </a:solidFill>
                  </a:tcPr>
                </a:tc>
                <a:tc>
                  <a:txBody>
                    <a:bodyPr/>
                    <a:lstStyle/>
                    <a:p>
                      <a:pPr rtl="0" algn="l"/>
                      <a:r>
                        <a:rPr sz="1500" b="1" i="0" lang="en-US">
                          <a:solidFill>
                            <a:srgbClr val="942222"/>
                          </a:solidFill>
                          <a:latin typeface="Segoe UI"/>
                        </a:rPr>
                        <a:t>last week</a:t>
                      </a:r>
                    </a:p>
                  </a:txBody>
                  <a:tcPr>
                    <a:solidFill>
                      <a:srgbClr val="FFFFFF"/>
                    </a:solidFill>
                  </a:tcPr>
                </a:tc>
                <a:tc>
                  <a:txBody>
                    <a:bodyPr/>
                    <a:lstStyle/>
                    <a:p>
                      <a:pPr rtl="1" algn="r"/>
                      <a:r>
                        <a:rPr sz="1700" b="0" i="0" lang="ar-EG" altLang="en-US">
                          <a:solidFill>
                            <a:srgbClr val="1C2333"/>
                          </a:solidFill>
                          <a:latin typeface="Traditional Arabic"/>
                        </a:rPr>
                        <a:t>الأسبوع الماضي</a:t>
                      </a:r>
                    </a:p>
                  </a:txBody>
                  <a:tcPr>
                    <a:solidFill>
                      <a:srgbClr val="FFFFFF"/>
                    </a:solidFill>
                  </a:tcPr>
                </a:tc>
              </a:tr>
            </a:tbl>
          </a:graphicData>
        </a:graphic>
      </p:graphicFrame>
    </p:spTree>
  </p:cSld>
  <p:clrMapOvr>
    <a:masterClrMapping/>
  </p:clrMapOvr>
  <p:transition spd="med">
    <p:push dir="l"/>
  </p:transition>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We …… at school.   (was – is – were)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It …… a good day.   (were – was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Rody …… at the club.   (was – are – were)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They …… late.   (was – is – were)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Mido and Rody …… sleeping.   (was – were –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She …… thin.   (was – are – were)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 busy.   (was – were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He …… fast.   (were – are – was)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 at home.   (were – was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Sara …… reading.   (are – were – was)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My friends …… playing.   (were – was –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My sister …… studying.   (were – was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Lions …… hungry.   (is – was – were)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 happy yesterday.   (is – was – were)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was at home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wasn't at home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were hungry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weren't hungry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was at school last week.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wasn't at school last week.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 was hot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wasn't hot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were playing football.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weren't playing football.</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She was in the hospital last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wasn't in the hospital last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Rody was studying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wasn't studying English.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were very fast.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weren't very fast.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mum was cooking lunch.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wasn't cooking lunch.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My friends were reading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friends weren't reading yesterday.</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was hungry.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he hungry?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were very clever.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very clever?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was in the park.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in the park?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 was hot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it hot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You were playing football.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I playing football?</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Leen was studying English.</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Leen studying English?</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Lions were hungry last night.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lions hungry last night?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 were happy yesterday.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happy yesterday?</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was at the hospital last night.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at the hospital last night?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Was he at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was. / No, he wasn't.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Were you playing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was. / No, I wasn't.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Was it thirsty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was. / No, it wasn't.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Were they happy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were. / No, they weren't.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Was Sara at the hospital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was. / No, she wasn't.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Were lions hungry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were. / No, they weren't.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Was he in the park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was. / No, he wasn't.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Were you watching TV at 5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was. / No, I wasn't.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Were birds flying high in the sky?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were. / No, they weren't.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Was she studying English?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was. / No, she wasn't.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they weren't at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at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she was at the garden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she at the garden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there wasn't a bench in the park.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there a bench in the park?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there were cars next to the school.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there cars next to the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I wasn't listening to music.</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listening to music?</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Yes, she was a nurse.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she a nurse?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No, it wasn't hungry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it hungry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Yes, he was a dentist.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he a dentist?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No, we weren't watching TV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watching TV last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lions were thirsty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lions thirsty yesterday?</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No, my mum wasn't angry yesterday.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your mum angry yesterday?</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 school – Were – yesterday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at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busy – was – night – She – last.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 busy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playing – and – Rody – yesterday – Rawan – were.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and Rawan were playing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were – yesterday – Where – you?</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were you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week – was – I – last – the library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 at the library last week.</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weren't – We – late –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weren't late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happy – Was – night – Haneen – last?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Haneen happy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at – Were – the – you – party?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at the party?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wasn't – It – thirsty –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wasn't thirsty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wasn't – there – No, – park – 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there wasn't a park.</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there – Was – school – a?</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there a school?</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 they at the park yesterday?   (Was – Were – 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 playing football last night.   (am – was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were happy yesterday.   (He – She – We)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tired after the match.   (was – are – were)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Where …… they yesterday?   (was – are – were)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 I …… not angry yesterday.   (is – was – were)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 it a good day?   (Are – Were – Was)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 was sad last night.   (They – She – We)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 at home yesterday.   (were – are – was)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My parents …… proud of me.   (is – was – were)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 cat …… running fast.   (are – was – were)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We …… in Cairo last summer.   (are – was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The children …… in the park.   (is – were – was)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The weather …… hot yesterday.   (was – were – is)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You …… late yesterday.   (was – were – are)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 he at the cinema?   (Were – Are – Was)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My mum …… at the hospital.   (was – are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Yes, there …… a park.   (were – was – are)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No, there …… not cars.   (were – was – is)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I …… busy last night.   (am – were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was at the hospital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were at the hospital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were at the hospital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 at the hospital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was late for school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 late for school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weren't at home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wasn't at home last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weren't happy about the test.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wasn't happy about the test.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brothers was on vacation last week.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brothers were on vacation last week.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You wasn't in the meeting.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weren't in the meeting.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cat were on the sofa.</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cat was on the sofa.</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friends was very happy.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friends were very happy.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Were he at the party?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he at the party?</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Was they at the cinema last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at the cinema last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They wasn't ready for the exam.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weren't ready for the exam.</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We was in London in 2010.</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 in London in 2010.</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Was your parents at home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your parents at home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Were she your teacher last year?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she your teacher last year?</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Where was you yesterday?</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were you yesterday?</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When were his birthday?</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was his birthday?</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was playing football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كنت ألعب كرة القدم أمس.</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was at school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 في المدرسة الأسبوع الماضي.</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Were you thirsty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كنت عطشاناً أمس؟</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was listening to music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كانت تستمع إلى الموسيقى أمس.</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mum was cooking breakfast.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كانت أمي تطبخ الإفطار.</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It wasn't a lion.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لم يكن أسداً.</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They were doctors.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كانوا أطباء.</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Birds were flying in the sky.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كانت الطيور تطير في السماء.</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were studying English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كنت تذاكر الإنجليزية أمس.</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they were boys.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نعم، كانوا أولاداً.</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was happy yesterday.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كنت سعيداً أمس.</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How are you, Ahmed?</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How are you, Ahmed?</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I'm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Where were you yesterday?</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Where were you yesterday?</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I …… at the zoo.</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I was at the zoo.</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Do you like animals?</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Do you like animals?</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Yes, I …… animals.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Yes, I like animals.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 you happy at the zoo?</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Were you happy at the zoo?</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Yes, I …… happy at the zoo.</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Yes, I was happy at the zoo.</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box(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ox(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ox(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ox(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ox(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Why …… you late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Why were you late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Because I …… sick.</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Because I was sick.</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 your brother sick too?</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Was your brother sick too?</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No, he …… okay.</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No, he was okay.</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I hope you …… better today.</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I hope you are better today.</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Thank you.</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Thank you.</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You are welcome.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You are welcome.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heel(1)">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1)">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heel(1)">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heel(1)">
                                      <p:cBhvr>
                                        <p:cTn id="3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Lst>
  </p:timing>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K) Read the text and answer (1)</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We have a fish tank in our room. There are ten fish in the tank. We put green plants in the water. We put rocks on the bottom. We put a snail in the tank. The snail keeps the tank clean. My sister feeds the fish every morning.</a:t>
            </a:r>
          </a:p>
          <a:p>
            <a:pPr rtl="0" algn="r">
              <a:spcBef>
                <a:spcPts val="800"/>
              </a:spcBef>
            </a:pPr>
            <a:r>
              <a:rPr sz="1400" b="0" i="0" lang="en-US">
                <a:solidFill>
                  <a:srgbClr val="5B6478"/>
                </a:solidFill>
                <a:latin typeface="Segoe UI"/>
              </a:rPr>
              <a:t>fish tank: حوض سمك   rocks: صخور   bottom: القاع   snail: حلزون   feeds: تُطعم</a:t>
            </a:r>
          </a:p>
        </p:txBody>
      </p:sp>
    </p:spTree>
  </p:cSld>
  <p:clrMapOvr>
    <a:masterClrMapping/>
  </p:clrMapOvr>
  <p:transition spd="med">
    <p:wheel spokes="4"/>
  </p:transition>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K) Read the text and answer (1)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put …… plants in the tank.   (red – green – yellow)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green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sister feeds the fish every …… .   (morning – night –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morning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many fish are in the tank?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 ten fish in the tank.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Who feeds the fish every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feeds the fish every morning.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Where did we put rocks?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put rocks on the bottom of the tank.</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L) Read the text and answer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I want to be a teacher. For me, the teacher's job is the best in the world. For a teacher every day is different. Students always ask surprising questions. Teachers need to think quickly. They need to encourage their students. They need to be very patient. They work for many hours every day. It's a hard job, but it's exciting. A teacher can change his students' lives.</a:t>
            </a:r>
          </a:p>
          <a:p>
            <a:pPr rtl="0" algn="r">
              <a:spcBef>
                <a:spcPts val="800"/>
              </a:spcBef>
            </a:pPr>
            <a:r>
              <a:rPr sz="1400" b="0" i="0" lang="en-US">
                <a:solidFill>
                  <a:srgbClr val="5B6478"/>
                </a:solidFill>
                <a:latin typeface="Segoe UI"/>
              </a:rPr>
              <a:t>surprising: مفاجئة   encourage: يشجع   patient: صبور   exciting: مثير   lives: حياة</a:t>
            </a:r>
          </a:p>
        </p:txBody>
      </p:sp>
    </p:spTree>
  </p:cSld>
  <p:clrMapOvr>
    <a:masterClrMapping/>
  </p:clrMapOvr>
  <p:transition spd="med">
    <p:random/>
  </p:transition>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L) Read the text and answer (2)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This text is about a …… job.   (doctor's – teacher's – engineer's)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teacher's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Teachers need to be very …… .   (nervous – unkind – patient)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patient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What do students usually ask their teacher?</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ask surprising questions .</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Who can change the students' lives?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teacher can change his students' lives.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15</a:t>
            </a:r>
          </a:p>
          <a:p>
            <a:pPr algn="ctr" rtl="0"/>
            <a:r>
              <a:rPr sz="4600" b="1" i="0" lang="en-US">
                <a:solidFill>
                  <a:srgbClr val="FFFFFF"/>
                </a:solidFill>
                <a:latin typeface="Segoe UI"/>
              </a:rPr>
              <a:t>Writing: A paragraph about an animal or a bird</a:t>
            </a:r>
          </a:p>
          <a:p>
            <a:pPr algn="ctr" rtl="1"/>
            <a:r>
              <a:rPr sz="2900" b="0" i="0" lang="ar-EG" altLang="en-US">
                <a:solidFill>
                  <a:srgbClr val="FFFFFF"/>
                </a:solidFill>
                <a:latin typeface="Traditional Arabic"/>
              </a:rPr>
              <a:t>كيف تكتب براجراف عن حيوان أو طائر</a:t>
            </a:r>
          </a:p>
        </p:txBody>
      </p:sp>
    </p:spTree>
  </p:cSld>
  <p:clrMapOvr>
    <a:masterClrMapping/>
  </p:clrMapOvr>
  <p:transition spd="med">
    <p:zoom dir="in"/>
  </p:transition>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Model paragraph — نموذج</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It's a lion. It's an animal. It lives in the forest. It's strong and dangerous. It has four legs and strong teeth. It eats meat.</a:t>
            </a:r>
          </a:p>
        </p:txBody>
      </p:sp>
    </p:spTree>
  </p:cSld>
  <p:clrMapOvr>
    <a:masterClrMapping/>
  </p:clrMapOvr>
  <p:transition spd="med">
    <p:push dir="l"/>
  </p:transition>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2084832"/>
        </p:xfrm>
        <a:graphic>
          <a:graphicData uri="http://schemas.openxmlformats.org/drawingml/2006/table">
            <a:tbl>
              <a:tblPr firstRow="1" bandRow="1">
                <a:tableStyleId>{5C22544A-7EE6-4342-B048-85BDC9FD1C3A}</a:tableStyleId>
              </a:tblPr>
              <a:tblGrid>
                <a:gridCol w="5638647"/>
                <a:gridCol w="5638648"/>
              </a:tblGrid>
              <a:tr h="347472">
                <a:tc>
                  <a:txBody>
                    <a:bodyPr/>
                    <a:lstStyle/>
                    <a:p>
                      <a:pPr rtl="0" algn="l"/>
                      <a:r>
                        <a:rPr sz="1400" b="1" i="0" lang="en-US">
                          <a:solidFill>
                            <a:srgbClr val="FFFFFF"/>
                          </a:solidFill>
                          <a:latin typeface="Segoe UI"/>
                        </a:rPr>
                        <a:t>Sentence</a:t>
                      </a:r>
                    </a:p>
                  </a:txBody>
                  <a:tcPr>
                    <a:solidFill>
                      <a:srgbClr val="489422"/>
                    </a:solidFill>
                  </a:tcPr>
                </a:tc>
                <a:tc>
                  <a:txBody>
                    <a:bodyPr/>
                    <a:lstStyle/>
                    <a:p>
                      <a:pPr rtl="1" algn="r"/>
                      <a:r>
                        <a:rPr sz="1700" b="1" i="0" lang="ar-EG" altLang="en-US">
                          <a:solidFill>
                            <a:srgbClr val="FFFFFF"/>
                          </a:solidFill>
                          <a:latin typeface="Traditional Arabic"/>
                        </a:rPr>
                        <a:t>Choices — الاختيارات</a:t>
                      </a:r>
                    </a:p>
                  </a:txBody>
                  <a:tcPr>
                    <a:solidFill>
                      <a:srgbClr val="489422"/>
                    </a:solidFill>
                  </a:tcPr>
                </a:tc>
              </a:tr>
              <a:tr h="347472">
                <a:tc>
                  <a:txBody>
                    <a:bodyPr/>
                    <a:lstStyle/>
                    <a:p>
                      <a:pPr rtl="1" algn="r"/>
                      <a:r>
                        <a:rPr sz="1600" b="0" i="0" lang="ar-EG" altLang="en-US">
                          <a:solidFill>
                            <a:srgbClr val="1C2333"/>
                          </a:solidFill>
                          <a:latin typeface="Traditional Arabic"/>
                        </a:rPr>
                        <a:t>It's a / an … (اسم الحيوان أو الطائر)</a:t>
                      </a:r>
                    </a:p>
                  </a:txBody>
                  <a:tcPr>
                    <a:solidFill>
                      <a:srgbClr val="FFFFFF"/>
                    </a:solidFill>
                  </a:tcPr>
                </a:tc>
                <a:tc>
                  <a:txBody>
                    <a:bodyPr/>
                    <a:lstStyle/>
                    <a:p>
                      <a:pPr rtl="0" algn="l"/>
                      <a:r>
                        <a:rPr sz="1300" b="0" i="0" lang="en-US">
                          <a:solidFill>
                            <a:srgbClr val="1C2333"/>
                          </a:solidFill>
                          <a:latin typeface="Segoe UI"/>
                        </a:rPr>
                        <a:t>It's an animal / It's a bird</a:t>
                      </a:r>
                    </a:p>
                  </a:txBody>
                  <a:tcPr>
                    <a:solidFill>
                      <a:srgbClr val="FFFFFF"/>
                    </a:solidFill>
                  </a:tcPr>
                </a:tc>
              </a:tr>
              <a:tr h="347472">
                <a:tc>
                  <a:txBody>
                    <a:bodyPr/>
                    <a:lstStyle/>
                    <a:p>
                      <a:pPr rtl="0" algn="l"/>
                      <a:r>
                        <a:rPr sz="1300" b="0" i="0" lang="en-US">
                          <a:solidFill>
                            <a:srgbClr val="1C2333"/>
                          </a:solidFill>
                          <a:latin typeface="Segoe UI"/>
                        </a:rPr>
                        <a:t>It lives in the …</a:t>
                      </a:r>
                    </a:p>
                  </a:txBody>
                  <a:tcPr>
                    <a:solidFill>
                      <a:srgbClr val="EEF3FA"/>
                    </a:solidFill>
                  </a:tcPr>
                </a:tc>
                <a:tc>
                  <a:txBody>
                    <a:bodyPr/>
                    <a:lstStyle/>
                    <a:p>
                      <a:pPr rtl="1" algn="r"/>
                      <a:r>
                        <a:rPr sz="1600" b="0" i="0" lang="ar-EG" altLang="en-US">
                          <a:solidFill>
                            <a:srgbClr val="1C2333"/>
                          </a:solidFill>
                          <a:latin typeface="Traditional Arabic"/>
                        </a:rPr>
                        <a:t>barn الحظيرة – forest الغابة – desert الصحراء – zoo حديقة الحيوان – field الحقل – farm المزرعة – sea البحر</a:t>
                      </a:r>
                    </a:p>
                  </a:txBody>
                  <a:tcPr>
                    <a:solidFill>
                      <a:srgbClr val="EEF3FA"/>
                    </a:solidFill>
                  </a:tcPr>
                </a:tc>
              </a:tr>
              <a:tr h="347472">
                <a:tc>
                  <a:txBody>
                    <a:bodyPr/>
                    <a:lstStyle/>
                    <a:p>
                      <a:pPr rtl="0" algn="l"/>
                      <a:r>
                        <a:rPr sz="1300" b="0" i="0" lang="en-US">
                          <a:solidFill>
                            <a:srgbClr val="1C2333"/>
                          </a:solidFill>
                          <a:latin typeface="Segoe UI"/>
                        </a:rPr>
                        <a:t>It's …</a:t>
                      </a:r>
                    </a:p>
                  </a:txBody>
                  <a:tcPr>
                    <a:solidFill>
                      <a:srgbClr val="FFFFFF"/>
                    </a:solidFill>
                  </a:tcPr>
                </a:tc>
                <a:tc>
                  <a:txBody>
                    <a:bodyPr/>
                    <a:lstStyle/>
                    <a:p>
                      <a:pPr rtl="0" algn="l"/>
                      <a:r>
                        <a:rPr sz="1300" b="0" i="0" lang="en-US">
                          <a:solidFill>
                            <a:srgbClr val="1C2333"/>
                          </a:solidFill>
                          <a:latin typeface="Segoe UI"/>
                        </a:rPr>
                        <a:t>strong قوي – dangerous خطير – huge ضخم – helpful متعاون – small صغير – fast سريع – slow بطيء</a:t>
                      </a:r>
                    </a:p>
                  </a:txBody>
                  <a:tcPr>
                    <a:solidFill>
                      <a:srgbClr val="FFFFFF"/>
                    </a:solidFill>
                  </a:tcPr>
                </a:tc>
              </a:tr>
              <a:tr h="347472">
                <a:tc>
                  <a:txBody>
                    <a:bodyPr/>
                    <a:lstStyle/>
                    <a:p>
                      <a:pPr rtl="0" algn="l"/>
                      <a:r>
                        <a:rPr sz="1300" b="0" i="0" lang="en-US">
                          <a:solidFill>
                            <a:srgbClr val="1C2333"/>
                          </a:solidFill>
                          <a:latin typeface="Segoe UI"/>
                        </a:rPr>
                        <a:t>It has …</a:t>
                      </a:r>
                    </a:p>
                  </a:txBody>
                  <a:tcPr>
                    <a:solidFill>
                      <a:srgbClr val="EEF3FA"/>
                    </a:solidFill>
                  </a:tcPr>
                </a:tc>
                <a:tc>
                  <a:txBody>
                    <a:bodyPr/>
                    <a:lstStyle/>
                    <a:p>
                      <a:pPr rtl="0" algn="l"/>
                      <a:r>
                        <a:rPr sz="1300" b="0" i="0" lang="en-US">
                          <a:solidFill>
                            <a:srgbClr val="1C2333"/>
                          </a:solidFill>
                          <a:latin typeface="Segoe UI"/>
                        </a:rPr>
                        <a:t>four legs أربع أرجل – two legs رجلان – wings أجنحة – strong teeth أسنان قوية – a beak منقار – claws مخالب – a long tail ذيل طويل – a trunk خرطوم</a:t>
                      </a:r>
                    </a:p>
                  </a:txBody>
                  <a:tcPr>
                    <a:solidFill>
                      <a:srgbClr val="EEF3FA"/>
                    </a:solidFill>
                  </a:tcPr>
                </a:tc>
              </a:tr>
              <a:tr h="347472">
                <a:tc>
                  <a:txBody>
                    <a:bodyPr/>
                    <a:lstStyle/>
                    <a:p>
                      <a:pPr rtl="0" algn="l"/>
                      <a:r>
                        <a:rPr sz="1300" b="0" i="0" lang="en-US">
                          <a:solidFill>
                            <a:srgbClr val="1C2333"/>
                          </a:solidFill>
                          <a:latin typeface="Segoe UI"/>
                        </a:rPr>
                        <a:t>It eats …</a:t>
                      </a:r>
                    </a:p>
                  </a:txBody>
                  <a:tcPr>
                    <a:solidFill>
                      <a:srgbClr val="FFFFFF"/>
                    </a:solidFill>
                  </a:tcPr>
                </a:tc>
                <a:tc>
                  <a:txBody>
                    <a:bodyPr/>
                    <a:lstStyle/>
                    <a:p>
                      <a:pPr rtl="0" algn="l"/>
                      <a:r>
                        <a:rPr sz="1300" b="0" i="0" lang="en-US">
                          <a:solidFill>
                            <a:srgbClr val="1C2333"/>
                          </a:solidFill>
                          <a:latin typeface="Segoe UI"/>
                        </a:rPr>
                        <a:t>animals حيوانات – plants نباتات – grass حشائش – insects حشرات – meat لحم – corn ذرة</a:t>
                      </a:r>
                    </a:p>
                  </a:txBody>
                  <a:tcPr>
                    <a:solidFill>
                      <a:srgbClr val="FFFFFF"/>
                    </a:solidFill>
                  </a:tcPr>
                </a:tc>
              </a:tr>
            </a:tbl>
          </a:graphicData>
        </a:graphic>
      </p:graphicFrame>
    </p:spTree>
  </p:cSld>
  <p:clrMapOvr>
    <a:masterClrMapping/>
  </p:clrMapOvr>
  <p:transition spd="med">
    <p:wipe dir="r"/>
  </p:transition>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A) Write a paragraph about an animal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Write a paragraph about an animal — اكتب براجراف عن حيوان (a camel)</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camel. It's an animal. It lives in the desert. It's strong and helpful. It has four legs and a long neck. It eats plants and grass.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Write a paragraph about an animal (an elephant)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an elephant. It's an animal. It lives in the forest and in the zoo. It's huge and strong. It has four legs, two big ears and a trunk. It eats plants and grass.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Write a paragraph about an animal (a cow)</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cow. It's an animal. It lives in the barn on the farm. It's helpful and slow. It has four legs and a long tail. It eats grass and corn. It gives us milk.</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B) Write a paragraph about a bird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Write a paragraph about a bird — اكتب براجراف عن طائر (an eagle)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an eagle. It's a bird. It lives in the mountains. It's strong, fast and dangerous. It has two legs, two big wings, a beak and sharp claws. It eats small animals.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Write a paragraph about a bird (a hen)</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hen. It's a bird. It lives on the farm. It's small and helpful. It has two legs, two wings and a beak. It eats corn and insects. It gives us eggs.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Write a paragraph about a bird (a parrot)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parrot. It's a bird. It lives in the forest. It's small, fast and beautiful. It has two legs, two colourful wings and a beak. It eats fruit and seeds. It can talk.</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16</a:t>
            </a:r>
          </a:p>
          <a:p>
            <a:pPr algn="ctr" rtl="0"/>
            <a:r>
              <a:rPr sz="4600" b="1" i="0" lang="en-US">
                <a:solidFill>
                  <a:srgbClr val="FFFFFF"/>
                </a:solidFill>
                <a:latin typeface="Segoe UI"/>
              </a:rPr>
              <a:t>Comparative &amp; Superlative Adjectives</a:t>
            </a:r>
          </a:p>
          <a:p>
            <a:pPr algn="ctr" rtl="1"/>
            <a:r>
              <a:rPr sz="2900" b="0" i="0" lang="ar-EG" altLang="en-US">
                <a:solidFill>
                  <a:srgbClr val="FFFFFF"/>
                </a:solidFill>
                <a:latin typeface="Traditional Arabic"/>
              </a:rPr>
              <a:t>صفات المقارنة والتفضيل</a:t>
            </a:r>
          </a:p>
        </p:txBody>
      </p:sp>
    </p:spTree>
  </p:cSld>
  <p:clrMapOvr>
    <a:masterClrMapping/>
  </p:clrMapOvr>
  <p:transition spd="med">
    <p:zoom dir="in"/>
  </p:transition>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1" algn="r"/>
            <a:r>
              <a:rPr sz="1700" b="0" i="0" lang="ar-EG" altLang="en-US">
                <a:solidFill>
                  <a:srgbClr val="DDE6F3"/>
                </a:solidFill>
                <a:latin typeface="Traditional Arabic"/>
              </a:rPr>
              <a:t>Comparative — صفات المقارنة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فاعل + am / is / are + صفة + er + than + …</a:t>
            </a:r>
          </a:p>
          <a:p>
            <a:pPr rtl="1" algn="r">
              <a:spcAft>
                <a:spcPts val="600"/>
              </a:spcAft>
            </a:pPr>
            <a:r>
              <a:rPr sz="2100" b="0" i="0" lang="ar-EG" altLang="en-US">
                <a:solidFill>
                  <a:srgbClr val="1C2333"/>
                </a:solidFill>
                <a:latin typeface="Traditional Arabic"/>
              </a:rPr>
              <a:t>تُستخدم للمقارنة بين شخصين أو شيئين أو مجموعتين.</a:t>
            </a:r>
          </a:p>
          <a:p>
            <a:pPr rtl="1" algn="r">
              <a:spcAft>
                <a:spcPts val="600"/>
              </a:spcAft>
            </a:pPr>
            <a:r>
              <a:rPr sz="2100" b="0" i="0" lang="ar-EG" altLang="en-US">
                <a:solidFill>
                  <a:srgbClr val="1C2333"/>
                </a:solidFill>
                <a:latin typeface="Traditional Arabic"/>
              </a:rPr>
              <a:t>• fat → fat ter thin → thin ner big → big ger — إذا كانت الصفة من مقطع واحد وتنتهي بحرف ساكن قبله حرف متحرك، نضعّف الحرف الأخير قبل إضافة er.</a:t>
            </a:r>
          </a:p>
          <a:p>
            <a:pPr rtl="1" algn="r">
              <a:spcAft>
                <a:spcPts val="600"/>
              </a:spcAft>
            </a:pPr>
            <a:r>
              <a:rPr sz="2100" b="0" i="0" lang="ar-EG" altLang="en-US">
                <a:solidFill>
                  <a:srgbClr val="1C2333"/>
                </a:solidFill>
                <a:latin typeface="Traditional Arabic"/>
              </a:rPr>
              <a:t>• happy → happ ier than easy → eas ier than — إذا انتهت الصفة بـ y وقبلها حرف ساكن، تُحذف الـ y ونضيف ier.</a:t>
            </a:r>
          </a:p>
          <a:p>
            <a:pPr rtl="1" algn="r">
              <a:spcAft>
                <a:spcPts val="600"/>
              </a:spcAft>
            </a:pPr>
            <a:r>
              <a:rPr sz="2100" b="0" i="0" lang="ar-EG" altLang="en-US">
                <a:solidFill>
                  <a:srgbClr val="1C2333"/>
                </a:solidFill>
                <a:latin typeface="Traditional Arabic"/>
              </a:rPr>
              <a:t>• good → better than bad → worse than — صفات شاذة غير منتظمة تُحفظ كما هي.</a:t>
            </a:r>
          </a:p>
          <a:p>
            <a:pPr rtl="0" algn="l">
              <a:spcAft>
                <a:spcPts val="600"/>
              </a:spcAft>
            </a:pPr>
            <a:r>
              <a:rPr sz="1800" b="0" i="0" lang="en-US">
                <a:solidFill>
                  <a:srgbClr val="1C2333"/>
                </a:solidFill>
                <a:latin typeface="Segoe UI"/>
              </a:rPr>
              <a:t>• fast → fast er than tall → tall er than — باقي الصفات المنتظمة يضاف لها er.</a:t>
            </a:r>
          </a:p>
        </p:txBody>
      </p:sp>
    </p:spTree>
  </p:cSld>
  <p:clrMapOvr>
    <a:masterClrMapping/>
  </p:clrMapOvr>
  <p:transition spd="med">
    <p:circle/>
  </p:transition>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Superlative — صفات التفضيل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the + صفة + est</a:t>
            </a:r>
          </a:p>
          <a:p>
            <a:pPr rtl="1" algn="r">
              <a:spcAft>
                <a:spcPts val="600"/>
              </a:spcAft>
            </a:pPr>
            <a:r>
              <a:rPr sz="2100" b="0" i="0" lang="ar-EG" altLang="en-US">
                <a:solidFill>
                  <a:srgbClr val="1C2333"/>
                </a:solidFill>
                <a:latin typeface="Traditional Arabic"/>
              </a:rPr>
              <a:t>تُستخدم لتفضيل شخص أو شيء عن الباقي.</a:t>
            </a:r>
          </a:p>
          <a:p>
            <a:pPr rtl="1" algn="r">
              <a:spcAft>
                <a:spcPts val="600"/>
              </a:spcAft>
            </a:pPr>
            <a:r>
              <a:rPr sz="2100" b="0" i="0" lang="ar-EG" altLang="en-US">
                <a:solidFill>
                  <a:srgbClr val="1C2333"/>
                </a:solidFill>
                <a:latin typeface="Traditional Arabic"/>
              </a:rPr>
              <a:t>• happy → the happ iest easy → the eas iest — إذا انتهت الصفة بـ y وقبلها ساكن، تُحذف ونضيف iest.</a:t>
            </a:r>
          </a:p>
          <a:p>
            <a:pPr rtl="1" algn="r">
              <a:spcAft>
                <a:spcPts val="600"/>
              </a:spcAft>
            </a:pPr>
            <a:r>
              <a:rPr sz="2100" b="0" i="0" lang="ar-EG" altLang="en-US">
                <a:solidFill>
                  <a:srgbClr val="1C2333"/>
                </a:solidFill>
                <a:latin typeface="Traditional Arabic"/>
              </a:rPr>
              <a:t>• big → the big gest fat → the fat test — إذا كانت من مقطع واحد وتنتهي بساكن قبله متحرك، نضعّف الحرف الأخير ونضيف est.</a:t>
            </a:r>
          </a:p>
          <a:p>
            <a:pPr rtl="0" algn="l">
              <a:spcAft>
                <a:spcPts val="600"/>
              </a:spcAft>
            </a:pPr>
            <a:r>
              <a:rPr sz="1800" b="0" i="0" lang="en-US">
                <a:solidFill>
                  <a:srgbClr val="1C2333"/>
                </a:solidFill>
                <a:latin typeface="Segoe UI"/>
              </a:rPr>
              <a:t>• good → the best bad → the worst — صفات شاذة تُحفظ.</a:t>
            </a:r>
          </a:p>
        </p:txBody>
      </p:sp>
    </p:spTree>
  </p:cSld>
  <p:clrMapOvr>
    <a:masterClrMapping/>
  </p:clrMapOvr>
  <p:transition spd="med">
    <p:diamond/>
  </p:transition>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Long adjectives — الصفات الطويلة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more + long adjective + than</a:t>
            </a:r>
          </a:p>
          <a:p>
            <a:pPr rtl="1" algn="r">
              <a:spcAft>
                <a:spcPts val="600"/>
              </a:spcAft>
            </a:pPr>
            <a:r>
              <a:rPr sz="2100" b="0" i="0" lang="ar-EG" altLang="en-US">
                <a:solidFill>
                  <a:srgbClr val="1C2333"/>
                </a:solidFill>
                <a:latin typeface="Traditional Arabic"/>
              </a:rPr>
              <a:t>المقارنة مع الصفات الطويلة (المكوّنة من مقطعين أو أكثر).</a:t>
            </a:r>
          </a:p>
          <a:p>
            <a:pPr rtl="0" algn="l">
              <a:spcAft>
                <a:spcPts val="600"/>
              </a:spcAft>
            </a:pPr>
            <a:r>
              <a:rPr sz="2000" b="1" i="0" lang="en-US">
                <a:solidFill>
                  <a:srgbClr val="782294"/>
                </a:solidFill>
                <a:latin typeface="Segoe UI"/>
              </a:rPr>
              <a:t>▶ the most + long adjective</a:t>
            </a:r>
          </a:p>
          <a:p>
            <a:pPr rtl="1" algn="r">
              <a:spcAft>
                <a:spcPts val="600"/>
              </a:spcAft>
            </a:pPr>
            <a:r>
              <a:rPr sz="2100" b="0" i="0" lang="ar-EG" altLang="en-US">
                <a:solidFill>
                  <a:srgbClr val="1C2333"/>
                </a:solidFill>
                <a:latin typeface="Traditional Arabic"/>
              </a:rPr>
              <a:t>التفضيل مع الصفات الطويلة.</a:t>
            </a:r>
          </a:p>
          <a:p>
            <a:pPr rtl="0" algn="l">
              <a:spcAft>
                <a:spcPts val="600"/>
              </a:spcAft>
            </a:pPr>
            <a:r>
              <a:rPr sz="1800" b="0" i="0" lang="en-US">
                <a:solidFill>
                  <a:srgbClr val="1C2333"/>
                </a:solidFill>
                <a:latin typeface="Segoe UI"/>
              </a:rPr>
              <a:t>   beautiful – dangerous – expensive – modern – important – interesting</a:t>
            </a:r>
          </a:p>
        </p:txBody>
      </p:sp>
    </p:spTree>
  </p:cSld>
  <p:clrMapOvr>
    <a:masterClrMapping/>
  </p:clrMapOvr>
  <p:transition spd="med">
    <p:wedge/>
  </p:transition>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fast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faster than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small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smaller than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thin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thinner than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angry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angrier than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easy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easier than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bad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worse than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nice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nicer than</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long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longer than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slow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slower than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happy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happier than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heavy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heavier than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good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better than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strong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stronger than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cold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colder than</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old → ……</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older than</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clean → ……</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cleaner than</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dirty → ……</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dirtier than</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fat → ……</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fatter than</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big → ……</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bigger than</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short → ……</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shorter than</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B) Choose the correct answer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Ali is …… than Ahmed.   (tall – taller – tallest)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taller</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lion is stronger …… the dog.   (that – then – than)</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than</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My car is …… than yours.   (faster – fast – fastest)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faster</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fast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fastest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small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smallest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thin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thinnest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angry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angriest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easy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easiest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bad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worst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nice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nicest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long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longest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slow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slowest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happy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happiest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heavy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heaviest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good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best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strong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strongest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cold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coldest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old → ……</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oldest</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clean → ……</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cleanest</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dirty → ……</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dirtiest</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fat → ……</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fattest</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big → ……</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biggest</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short → ……</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shortest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elephant is the …… .   (big – bigger – biggest)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biggest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Shahd is …… than Hoda.   (nicer – nice – nicest)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nicer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River Nile is the …… in the world.   (longer – long – longest)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longest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bike is …… than the car.   (cheap – cheapest – cheaper)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cheaper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Ali is the …… boy in the class.   (tallest – taller – tall)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tallest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Dina is …… than Salma.   (fattest – fatter – fat)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fatter</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elephant is the …… animal.   (strong – stronger – strongest)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strongest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Nancy is …… girl in the team.   (young – younger – the youngest)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youngest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 tiger is the …… animal.   (strong – strongest – stronger)</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strongest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Cairo is …… than Alex.   (crowded – more crowded – most crowded)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more crowded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giraffe is …… than the cow.   (the tallest – tall – taller)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taller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Mona is …… beautiful girl in the class.   (more – the most – less)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most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Cats are …… than dogs.   (nicer – nice – nicest)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nicer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Are you taller …… your brother?   (that – than – then)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than</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This place is the …… one in Cairo.   (noisy – noisier – noisiest)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noisiest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Mona is the …… in the class.   (fast – faster – fastest)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fastest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Alex is …… relaxing than Cairo.   (the most – the least – more)</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more</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A bus is …… a car.   (slower than – the slowest – slow)</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slower than</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Ahmed is …… (tall) than Ali.</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is taller than Ali.</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plane is the …… (more) expensive.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plane is the most expensive.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Bats are …… (small) than rats.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Bats are smaller than rats.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Cats are …… (more nice) than dogs.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are nicer than dogs.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Snakes are …… (dangerous) than foxes.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Snakes are more dangerous than foxes.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Elephants are the …… (big) animal.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Elephants are the biggest animal.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Ahmed is the …… (taller) boy in the class.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is the tallest boy in the class.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River Nile is the …… (long) in the world.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River Nile is the longest in the world.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Cairo is the …… (more crowded) in Egypt.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Cairo is the most crowded in Egypt.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Lions are stronger …… (then) dogs.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 are stronger than dogs.</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Crocodiles are …… (most dangerous) than snakes.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Crocodiles are more dangerous than snakes.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Planes are the …… (more comfortable).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Planes are the most comfortable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Snakes are …… (thin) than crocodiles.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Snakes are thinner than crocodiles.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Dogs are …… (the fastest) than monkeys.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Dogs are faster than monkeys.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Camels are …… (big) than horses.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Camels are bigger than horses.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 tiger is the …… (fast) animal.</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tiger is the fastest animal.</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Ahmed is taller …… (that) Ali.</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is taller than Ali.</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than – is – Heba – taller – Mona.</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Heba is taller than Mona.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more – The crocodile – dangerous – is – than – the lion.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crocodile is more dangerous than the lion.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are – than – cars – Planes – faster.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Planes are faster than cars.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less – is – Cairo – crowded – Alexandria – than.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Alexandria is less crowded than Cairo.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than – are – camels – Elephants – bigger.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Elephants are bigger than camels.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crowded – most – Cairo – the – is – Egypt – in.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Cairo is the most crowded in Egypt.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are – Horses – helpful – more – than – donkeys.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Horses are more helpful than donkeys.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 Cats – than – nicer – dogs.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are nicer than dogs.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is – The – biggest – elephant – the.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elephant is the biggest.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are – elephants – Dogs – than – thinner.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Dogs are thinner than elephants.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17</a:t>
            </a:r>
          </a:p>
          <a:p>
            <a:pPr algn="ctr" rtl="0"/>
            <a:r>
              <a:rPr sz="4600" b="1" i="0" lang="en-US">
                <a:solidFill>
                  <a:srgbClr val="FFFFFF"/>
                </a:solidFill>
                <a:latin typeface="Segoe UI"/>
              </a:rPr>
              <a:t>Can</a:t>
            </a:r>
          </a:p>
          <a:p>
            <a:pPr algn="ctr" rtl="1"/>
            <a:r>
              <a:rPr sz="2900" b="0" i="0" lang="ar-EG" altLang="en-US">
                <a:solidFill>
                  <a:srgbClr val="FFFFFF"/>
                </a:solidFill>
                <a:latin typeface="Traditional Arabic"/>
              </a:rPr>
              <a:t>فعل الاستطاعة</a:t>
            </a:r>
          </a:p>
        </p:txBody>
      </p:sp>
    </p:spTree>
  </p:cSld>
  <p:clrMapOvr>
    <a:masterClrMapping/>
  </p:clrMapOvr>
  <p:transition spd="med">
    <p:zoom dir="in"/>
  </p:transition>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9478"/>
                </a:solidFill>
                <a:latin typeface="Traditional Arabic"/>
              </a:rPr>
              <a:t>▶ فاعل + can + مصدر + باقي الجملة .</a:t>
            </a:r>
          </a:p>
          <a:p>
            <a:pPr rtl="1" algn="r">
              <a:spcAft>
                <a:spcPts val="600"/>
              </a:spcAft>
            </a:pPr>
            <a:r>
              <a:rPr sz="2100" b="0" i="0" lang="ar-EG" altLang="en-US">
                <a:solidFill>
                  <a:srgbClr val="1C2333"/>
                </a:solidFill>
                <a:latin typeface="Traditional Arabic"/>
              </a:rPr>
              <a:t>    تُستخدم can للتعبير عن القدرة، ويأتي بعدها الفعل في المصدر.</a:t>
            </a:r>
          </a:p>
          <a:p>
            <a:pPr rtl="0" algn="l">
              <a:spcAft>
                <a:spcPts val="600"/>
              </a:spcAft>
            </a:pPr>
            <a:r>
              <a:rPr sz="2000" b="1" i="0" lang="en-US">
                <a:solidFill>
                  <a:srgbClr val="229478"/>
                </a:solidFill>
                <a:latin typeface="Segoe UI"/>
              </a:rPr>
              <a:t>▶ can not = can't</a:t>
            </a:r>
          </a:p>
          <a:p>
            <a:pPr rtl="1" algn="r">
              <a:spcAft>
                <a:spcPts val="600"/>
              </a:spcAft>
            </a:pPr>
            <a:r>
              <a:rPr sz="2100" b="0" i="0" lang="ar-EG" altLang="en-US">
                <a:solidFill>
                  <a:srgbClr val="1C2333"/>
                </a:solidFill>
                <a:latin typeface="Traditional Arabic"/>
              </a:rPr>
              <a:t>    النفي بإضافة not بعد can.</a:t>
            </a:r>
          </a:p>
          <a:p>
            <a:pPr rtl="1" algn="r">
              <a:spcAft>
                <a:spcPts val="600"/>
              </a:spcAft>
            </a:pPr>
            <a:r>
              <a:rPr sz="2300" b="1" i="0" lang="ar-EG" altLang="en-US">
                <a:solidFill>
                  <a:srgbClr val="229478"/>
                </a:solidFill>
                <a:latin typeface="Traditional Arabic"/>
              </a:rPr>
              <a:t>▶ Can + فاعل + مصدر … ?</a:t>
            </a:r>
          </a:p>
          <a:p>
            <a:pPr rtl="1" algn="r">
              <a:spcAft>
                <a:spcPts val="600"/>
              </a:spcAft>
            </a:pPr>
            <a:r>
              <a:rPr sz="2100" b="0" i="0" lang="ar-EG" altLang="en-US">
                <a:solidFill>
                  <a:srgbClr val="1C2333"/>
                </a:solidFill>
                <a:latin typeface="Traditional Arabic"/>
              </a:rPr>
              <a:t>    السؤال بتقديم can على الفاعل.</a:t>
            </a:r>
          </a:p>
          <a:p>
            <a:pPr rtl="0" algn="l">
              <a:spcAft>
                <a:spcPts val="600"/>
              </a:spcAft>
            </a:pPr>
            <a:r>
              <a:rPr sz="1700" b="0" i="1" lang="en-US">
                <a:solidFill>
                  <a:srgbClr val="5B6478"/>
                </a:solidFill>
                <a:latin typeface="Segoe UI"/>
              </a:rPr>
              <a:t>   e.g. I can swim. – He can't speak English. – Can you run fast? Yes, I can. / No, I can't.</a:t>
            </a:r>
          </a:p>
        </p:txBody>
      </p:sp>
    </p:spTree>
  </p:cSld>
  <p:clrMapOvr>
    <a:masterClrMapping/>
  </p:clrMapOvr>
  <p:transition spd="med">
    <p:comb dir="horz"/>
  </p:transition>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can run but I can't swim.</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أستطيع أن أجري لكن لا أستطيع أن أسبح.</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can't speak English but he can speak Arabic.</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لا يستطيع التحدث بالإنجليزية لكن يستطيع التحدث بالعربية.</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can play tennis.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يستطيع لعب التنس.</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can swim.</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أستطيع أن أسبح.</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can speak English.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هم يستطيعون التحدث بالإنجليزية.</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can count to ten.</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نستطيع العد إلى عشرة.</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It can run fast.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يستطيع أن يجري بسرعة.</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She can sing a song.</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تستطيع أن تغني أغنية.</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can play football.</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أستطيع لعب كرة القدم.</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Can you run fast?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can. / No, I can't.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Can she play music?</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can. / No, she can't.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Can they swim in the sea?</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can. / No, they can't.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Can he ride a bike?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can. / No, he can't.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Can it climb a tree?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can. / No, it can't.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Can we help each other?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we can. / No, we can't.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Can Ali count to ten?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can. / No, he can't.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Can your sister drive a car?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can. / No, she can't.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Can you play football?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can. / No, I can't.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Can he wash the car?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can. / No, he can't.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I can't walk to school alone.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 walk to school alone?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he can play the piano.</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he play the piano?</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they can't play tennis.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they play tennis?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it can climb the mountain.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it climb the mountain?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she can't cook lunch.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she cook lunch?</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Yes, we can wash the car.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 wash the car?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No, Ali can't play the guitar.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Ali play the guitar?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Yes, I can count to twenty.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 count to twenty?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No, my brother can't read English.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your brother read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my parents can speak French.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your parents speak French?</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18</a:t>
            </a:r>
          </a:p>
          <a:p>
            <a:pPr algn="ctr" rtl="0"/>
            <a:r>
              <a:rPr sz="4600" b="1" i="0" lang="en-US">
                <a:solidFill>
                  <a:srgbClr val="FFFFFF"/>
                </a:solidFill>
                <a:latin typeface="Segoe UI"/>
              </a:rPr>
              <a:t>The Present Simple Tense</a:t>
            </a:r>
          </a:p>
          <a:p>
            <a:pPr algn="ctr" rtl="1"/>
            <a:r>
              <a:rPr sz="2900" b="0" i="0" lang="ar-EG" altLang="en-US">
                <a:solidFill>
                  <a:srgbClr val="FFFFFF"/>
                </a:solidFill>
                <a:latin typeface="Traditional Arabic"/>
              </a:rPr>
              <a:t>زمن المضارع البسيط</a:t>
            </a:r>
          </a:p>
        </p:txBody>
      </p:sp>
    </p:spTree>
  </p:cSld>
  <p:clrMapOvr>
    <a:masterClrMapping/>
  </p:clrMapOvr>
  <p:transition spd="med">
    <p:zoom dir="in"/>
  </p:transition>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6E94"/>
                </a:solidFill>
                <a:latin typeface="Traditional Arabic"/>
              </a:rPr>
              <a:t>▶ He – She – It – الاسم المفرد + الفعل + s / es / ies</a:t>
            </a:r>
          </a:p>
          <a:p>
            <a:pPr rtl="1" algn="r">
              <a:spcAft>
                <a:spcPts val="600"/>
              </a:spcAft>
            </a:pPr>
            <a:r>
              <a:rPr sz="2100" b="0" i="0" lang="ar-EG" altLang="en-US">
                <a:solidFill>
                  <a:srgbClr val="1C2333"/>
                </a:solidFill>
                <a:latin typeface="Traditional Arabic"/>
              </a:rPr>
              <a:t>مع المفرد نضيف (s) للفعل.</a:t>
            </a:r>
          </a:p>
          <a:p>
            <a:pPr rtl="1" algn="r">
              <a:spcAft>
                <a:spcPts val="600"/>
              </a:spcAft>
            </a:pPr>
            <a:r>
              <a:rPr sz="2300" b="1" i="0" lang="ar-EG" altLang="en-US">
                <a:solidFill>
                  <a:srgbClr val="226E94"/>
                </a:solidFill>
                <a:latin typeface="Traditional Arabic"/>
              </a:rPr>
              <a:t>▶ I – They – You – We + الفعل في المصدر</a:t>
            </a:r>
          </a:p>
          <a:p>
            <a:pPr rtl="1" algn="r">
              <a:spcAft>
                <a:spcPts val="600"/>
              </a:spcAft>
            </a:pPr>
            <a:r>
              <a:rPr sz="2100" b="0" i="0" lang="ar-EG" altLang="en-US">
                <a:solidFill>
                  <a:srgbClr val="1C2333"/>
                </a:solidFill>
                <a:latin typeface="Traditional Arabic"/>
              </a:rPr>
              <a:t>مع الجمع يبقى الفعل في المصدر.</a:t>
            </a:r>
          </a:p>
          <a:p>
            <a:pPr rtl="0" algn="l">
              <a:spcAft>
                <a:spcPts val="600"/>
              </a:spcAft>
            </a:pPr>
            <a:r>
              <a:rPr sz="1800" b="0" i="0" lang="en-US">
                <a:solidFill>
                  <a:srgbClr val="1C2333"/>
                </a:solidFill>
                <a:latin typeface="Segoe UI"/>
              </a:rPr>
              <a:t>• go → go es watch → watch es — تضاف es إذا انتهى الفعل بـ o - s - sh - ch - x</a:t>
            </a:r>
          </a:p>
          <a:p>
            <a:pPr rtl="1" algn="r">
              <a:spcAft>
                <a:spcPts val="600"/>
              </a:spcAft>
            </a:pPr>
            <a:r>
              <a:rPr sz="2100" b="0" i="0" lang="ar-EG" altLang="en-US">
                <a:solidFill>
                  <a:srgbClr val="1C2333"/>
                </a:solidFill>
                <a:latin typeface="Traditional Arabic"/>
              </a:rPr>
              <a:t>• study → stud ies — تُحذف y ونضيف ies إذا سبقها ساكن</a:t>
            </a:r>
          </a:p>
          <a:p>
            <a:pPr rtl="0" algn="l">
              <a:spcAft>
                <a:spcPts val="600"/>
              </a:spcAft>
            </a:pPr>
            <a:r>
              <a:rPr sz="1800" b="0" i="0" lang="en-US">
                <a:solidFill>
                  <a:srgbClr val="1C2333"/>
                </a:solidFill>
                <a:latin typeface="Segoe UI"/>
              </a:rPr>
              <a:t>• play → play s</a:t>
            </a:r>
          </a:p>
          <a:p>
            <a:pPr rtl="0" algn="l">
              <a:spcAft>
                <a:spcPts val="600"/>
              </a:spcAft>
            </a:pPr>
            <a:r>
              <a:rPr sz="1800" b="0" i="0" lang="en-US">
                <a:solidFill>
                  <a:srgbClr val="1C2333"/>
                </a:solidFill>
                <a:latin typeface="Segoe UI"/>
              </a:rPr>
              <a:t>   every day – every morning – always – usually – often – sometimes – never – on Fridays</a:t>
            </a:r>
          </a:p>
        </p:txBody>
      </p:sp>
    </p:spTree>
  </p:cSld>
  <p:clrMapOvr>
    <a:masterClrMapping/>
  </p:clrMapOvr>
  <p:transition spd="med">
    <p:fade/>
  </p:transition>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6E94"/>
                </a:solidFill>
                <a:latin typeface="Segoe UI"/>
              </a:rPr>
              <a:t>▶ He – She – It + doesn't + مصدر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226E94"/>
                </a:solidFill>
                <a:latin typeface="Segoe UI"/>
              </a:rPr>
              <a:t>▶ I – They – You – We + don't + مصدر .</a:t>
            </a:r>
          </a:p>
          <a:p>
            <a:pPr rtl="1" algn="r">
              <a:spcAft>
                <a:spcPts val="600"/>
              </a:spcAft>
            </a:pPr>
            <a:r>
              <a:rPr sz="2100" b="0" i="0" lang="ar-EG" altLang="en-US">
                <a:solidFill>
                  <a:srgbClr val="1C2333"/>
                </a:solidFill>
                <a:latin typeface="Traditional Arabic"/>
              </a:rPr>
              <a:t>نفي الجمع.</a:t>
            </a:r>
          </a:p>
          <a:p>
            <a:pPr rtl="0" algn="l">
              <a:spcAft>
                <a:spcPts val="600"/>
              </a:spcAft>
            </a:pPr>
            <a:r>
              <a:rPr sz="2000" b="1" i="0" lang="en-US">
                <a:solidFill>
                  <a:srgbClr val="226E94"/>
                </a:solidFill>
                <a:latin typeface="Segoe UI"/>
              </a:rPr>
              <a:t>▶ Does + he / she / it + مصدر …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226E94"/>
                </a:solidFill>
                <a:latin typeface="Segoe UI"/>
              </a:rPr>
              <a:t>▶ Do + I / they / you / we + مصدر … ?</a:t>
            </a:r>
          </a:p>
          <a:p>
            <a:pPr rtl="1" algn="r">
              <a:spcAft>
                <a:spcPts val="600"/>
              </a:spcAft>
            </a:pPr>
            <a:r>
              <a:rPr sz="2100" b="0" i="0" lang="ar-EG" altLang="en-US">
                <a:solidFill>
                  <a:srgbClr val="1C2333"/>
                </a:solidFill>
                <a:latin typeface="Traditional Arabic"/>
              </a:rPr>
              <a:t>السؤال للجمع.</a:t>
            </a:r>
          </a:p>
        </p:txBody>
      </p:sp>
    </p:spTree>
  </p:cSld>
  <p:clrMapOvr>
    <a:masterClrMapping/>
  </p:clrMapOvr>
  <p:transition spd="med">
    <p:push dir="l"/>
  </p:transition>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1" algn="r"/>
            <a:r>
              <a:rPr sz="1700" b="0" i="0" lang="ar-EG" altLang="en-US">
                <a:solidFill>
                  <a:srgbClr val="DDE6F3"/>
                </a:solidFill>
                <a:latin typeface="Traditional Arabic"/>
              </a:rPr>
              <a:t>أدوات الاستفهام</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الأداة | الاستخدام | الإجابة تكون بـ</a:t>
            </a:r>
          </a:p>
          <a:p>
            <a:pPr rtl="0" algn="l">
              <a:spcAft>
                <a:spcPts val="600"/>
              </a:spcAft>
            </a:pPr>
            <a:r>
              <a:rPr sz="1800" b="0" i="0" lang="en-US">
                <a:solidFill>
                  <a:srgbClr val="1C2333"/>
                </a:solidFill>
                <a:latin typeface="Segoe UI"/>
              </a:rPr>
              <a:t>Where | للسؤال عن المكان | in – here – there</a:t>
            </a:r>
          </a:p>
          <a:p>
            <a:pPr rtl="0" algn="l">
              <a:spcAft>
                <a:spcPts val="600"/>
              </a:spcAft>
            </a:pPr>
            <a:r>
              <a:rPr sz="1800" b="0" i="0" lang="en-US">
                <a:solidFill>
                  <a:srgbClr val="1C2333"/>
                </a:solidFill>
                <a:latin typeface="Segoe UI"/>
              </a:rPr>
              <a:t>When | للسؤال عن الوقت | in – on – at – every</a:t>
            </a:r>
          </a:p>
          <a:p>
            <a:pPr rtl="0" algn="l">
              <a:spcAft>
                <a:spcPts val="600"/>
              </a:spcAft>
            </a:pPr>
            <a:r>
              <a:rPr sz="1800" b="0" i="0" lang="en-US">
                <a:solidFill>
                  <a:srgbClr val="1C2333"/>
                </a:solidFill>
                <a:latin typeface="Segoe UI"/>
              </a:rPr>
              <a:t>Why | للسؤال عن السبب | as – because – to</a:t>
            </a:r>
          </a:p>
          <a:p>
            <a:pPr rtl="1" algn="r">
              <a:spcAft>
                <a:spcPts val="600"/>
              </a:spcAft>
            </a:pPr>
            <a:r>
              <a:rPr sz="2100" b="0" i="0" lang="ar-EG" altLang="en-US">
                <a:solidFill>
                  <a:srgbClr val="1C2333"/>
                </a:solidFill>
                <a:latin typeface="Traditional Arabic"/>
              </a:rPr>
              <a:t>Who | للسؤال عن الفاعل العاقل | اسم شخص</a:t>
            </a:r>
          </a:p>
          <a:p>
            <a:pPr rtl="1" algn="r">
              <a:spcAft>
                <a:spcPts val="600"/>
              </a:spcAft>
            </a:pPr>
            <a:r>
              <a:rPr sz="2100" b="0" i="0" lang="ar-EG" altLang="en-US">
                <a:solidFill>
                  <a:srgbClr val="1C2333"/>
                </a:solidFill>
                <a:latin typeface="Traditional Arabic"/>
              </a:rPr>
              <a:t>How | للسؤال عن وسيلة المواصلات أو الحال | in – on – by</a:t>
            </a:r>
          </a:p>
          <a:p>
            <a:pPr rtl="0" algn="l">
              <a:spcAft>
                <a:spcPts val="600"/>
              </a:spcAft>
            </a:pPr>
            <a:r>
              <a:rPr sz="1800" b="0" i="0" lang="en-US">
                <a:solidFill>
                  <a:srgbClr val="1C2333"/>
                </a:solidFill>
                <a:latin typeface="Segoe UI"/>
              </a:rPr>
              <a:t>How often | للسؤال عن عدد المرات | once – twice – three times</a:t>
            </a:r>
          </a:p>
          <a:p>
            <a:pPr rtl="1" algn="r">
              <a:spcAft>
                <a:spcPts val="600"/>
              </a:spcAft>
            </a:pPr>
            <a:r>
              <a:rPr sz="2100" b="0" i="0" lang="ar-EG" altLang="en-US">
                <a:solidFill>
                  <a:srgbClr val="1C2333"/>
                </a:solidFill>
                <a:latin typeface="Traditional Arabic"/>
              </a:rPr>
              <a:t>Whose | للسؤال عن صاحب الشيء | ضمير ملكية</a:t>
            </a:r>
          </a:p>
          <a:p>
            <a:pPr rtl="1" algn="r">
              <a:spcAft>
                <a:spcPts val="600"/>
              </a:spcAft>
            </a:pPr>
            <a:r>
              <a:rPr sz="2100" b="0" i="0" lang="ar-EG" altLang="en-US">
                <a:solidFill>
                  <a:srgbClr val="1C2333"/>
                </a:solidFill>
                <a:latin typeface="Traditional Arabic"/>
              </a:rPr>
              <a:t>What | للسؤال عن الأشياء (المفعول) | اسم شيء</a:t>
            </a:r>
          </a:p>
        </p:txBody>
      </p:sp>
    </p:spTree>
  </p:cSld>
  <p:clrMapOvr>
    <a:masterClrMapping/>
  </p:clrMapOvr>
  <p:transition spd="med">
    <p:wipe dir="r"/>
  </p:transition>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1" algn="r"/>
            <a:r>
              <a:rPr sz="1700" b="0" i="0" lang="ar-EG" altLang="en-US">
                <a:solidFill>
                  <a:srgbClr val="DDE6F3"/>
                </a:solidFill>
                <a:latin typeface="Traditional Arabic"/>
              </a:rPr>
              <a:t>أدوات الاستفهام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6E94"/>
                </a:solidFill>
                <a:latin typeface="Traditional Arabic"/>
              </a:rPr>
              <a:t>▶ أداة استفهام + do / does + فاعل + مصدر + باقي الجملة ?</a:t>
            </a:r>
          </a:p>
        </p:txBody>
      </p:sp>
    </p:spTree>
  </p:cSld>
  <p:clrMapOvr>
    <a:masterClrMapping/>
  </p:clrMapOvr>
  <p:transition spd="med">
    <p:split orient="vert" dir="out"/>
  </p:transition>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sun …… in the east.   (rise – rises – rose)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rises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 to music every day.   (listen – listens – listening)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listen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 in Cairo.   (live – living – lives)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lives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English at night.   (studies always – always studies – always study)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always studies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 my cousin every week.   (visits – visiting – visit)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visit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 train …… in Cairo at 7 o'clock.   (arrive – arrives – arrived)</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arrives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usually …… football in the morning.   (played – playing – play)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play</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She often …… pasta.   (eats – eat – ate)</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eats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 late for school.   (am never – never am – never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am never</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study English every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study English every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listens to music every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listen to music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go to school by bus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go to school by bus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studies Arabic every 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study Arabic every 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go to the beach every summer.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go to the beach every summer.</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Rody drinks milk every morning.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doesn't drink milk every morning.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mum cooks lunch every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doesn't cook lunch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lion eats meat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lion doesn't eat meat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She does her homework every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do her homework every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washes the car every morning.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wash the car every morning.</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live in Cairo.</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live in Cairo?</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studies English at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study English at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play football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play football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like reading stories.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reading stories?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watches TV every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watch TV every night?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It gets hot in summer.</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get hot in summer?</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mum cleans the kitchen every day.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mum clean the kitchen every day?</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come to school on foot every day.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I come to school on foot every day?</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He goes to work by plane.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go to work by plane?</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Do you go to school by bus?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 your mum like reading stories?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they study English at school?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 you listen to music every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 your parents live in Cairo?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Does he like riding a bike?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Does she read books at the library?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 they drink coffee every morning?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Does it like drinking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Does he play football every Friday?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 lions eat meat?</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I don't watch TV at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watch TV at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he plays football every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play football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they don't listen to music.</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listen to music?</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she studies English every 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study English every 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they don't want milk.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want milk?</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Yes, my mum likes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mum like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No, he doesn't walk to school.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walk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Yes, it climbs trees.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climb trees?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No, she doesn't like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milk?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he studies English every 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study English every day?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No, I don't have a car.</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a car?</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live in Cairo. (where)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do you live?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goes to school by car. (How)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does she go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study English at night. (when)</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do they study English?</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go to school to learn. (why)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do you go to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like playing football. (what)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playing?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mum goes to work by car. (How)</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does your mum go to work?</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gets up at 7 o'clock. (when)</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does she get up?</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 study English with my mum. (Who)</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do you study English with?</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parents watch TV every day. (When)</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do your parents watch TV?</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do you go to school? (by bus)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by bus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Who does he play football with? (his brother)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with his brother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What subject do you like?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like English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When do they go to school?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go to school at 7 o'clock every morning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Where do you study French?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study French at school .</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How does your father go to work?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goes to work by car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Who do you go to school with?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with my friends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When do you get up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get up at 6 o'clock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How often do you play football?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 football twice a week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How often does he get up early?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always gets up early.</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Why do you go to the club?</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the club to play football .</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always …… to school by bus.   (goes – go – going)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go</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never …… to music at night.   (listens – listening – listen)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listens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you like reading English?   (Is – Does – Do)</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play football in the morning.   (doesn't – don't – hasn't)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 happy.   (always is – is always – are always)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always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parents …… have a car.   (doesn't – aren't – don't)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It …… in the summer.   (rains never – never rains – never rain)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never rains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Where do you …… football?   (play – playing – plays)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 she clean her teeth every morning?   (Do – Does – Did)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When …… Rody get up every day?   (is – does – do)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 you like reading? Yes, …… .   (I can – I does – I do)</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play football every 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doesn't go to school on foot.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go to school on foot.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doesn't drinks milk.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drink milk.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 don't get hot in the summer.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get hot in the summer.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mum don't like chips.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doesn't like chips.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always is happy.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always happy.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They walk usually to school.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usually walk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Is he watch TV at night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watch TV at night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 she listen to music?</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listen to music?</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We studies English at school.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study English at school.</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it drinks milk?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drink milk?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Are your parents have a car?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your parents have a car?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My cat don't climb the tree.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cat doesn't climb the tree.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 you watch TV yesterday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watch TV every day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He don't go to school on foot.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go to school on foot.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He never play tennis.</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never plays tennis.</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She doesn't likes meat.</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meat.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walk to school every day. (She)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walks to school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doesn't like eating meat. (You)</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don't like eating meat.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play football every day. (He)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mum likes reading English. (My parents)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like reading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studies English every day. (I)</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study English every day.</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don't go to school by bus. (My sister)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doesn't go to school by bus.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doesn't watch TV at night. (We)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watch TV at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Ali and Mona go to school by car. (Ahmed)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goes to school by car.</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friends help me at school. (My friend)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 helps me at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My cat climbs the tree. (They)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climb the tree.</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every day – football – plays – 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don't – I – to – school – every day – walk.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walk to school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at night – They – TV – watch.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watch TV at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 to – go – Do – school – every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go to school every morning?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meat – He – like – doesn't.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like meat.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every – studies – He – day – English.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studies English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hospital – Doctors – in – work – the.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Doctors work in the hospital.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by – school – bus – We – to – go.</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go to school by bus.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Friday – plays – He – football – every.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Friday.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hot – doesn't – It – get – winter – in.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get hot in winter.</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swim – don't – the – sea – They – in.</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swim in the sea.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go to school by bus every 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أذهب إلى المدرسة بالأتوبيس كل يوم.</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plays football every morning.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يلعب كرة القدم كل صباح.</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studies English every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تذاكر الإنجليزية كل ليلة.</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cooks breakfast every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تطبخ الإفطار كل صباح.</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friend watches TV every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صديقي يشاهد التلفاز كل ليلة.</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Mona always helps her mum in the kitchen.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منى دائماً تساعد أمها في المطبخ.</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lives in the countryside.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تعيش في الريف.</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 study English because I like it.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أذاكر الإنجليزية لأنني أحبها.</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father works in Cairo.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أبي يعمل في القاهرة.</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doesn't listen to music.</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لا يستمع إلى الموسيقى.</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do my homework at night every 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أعمل واجبي في الليل كل يوم.</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Good morning, Haneen.</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Good morning, Haneen.</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Good morning, Nada.</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When …… you usually get up?</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When do you usually get up?</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I usually …… at 7 o'clock.</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I usually get up at 7 o'clock.</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 you eat breakfast?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Do you eat breakfast?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Yes, I …… breakfast.</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Yes, I eat breakfast.</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Have a nice time.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Thank you.</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heel(1)">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1)">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heel(1)">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heel(1)">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are you?</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are you?</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Where …… you study?</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Where do you study?</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 …… Green Valley School.</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 study at Green Valley School.</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What subject …… you like?</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What subject do you like?</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 …… English and Arabic.</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 like English and Arabic.</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Nice to meet you.</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Nice to meet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Nice to meet you, too.</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Nice to meet you, too.</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Good evening.</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Good evening.</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Good evening.</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What …… you do in your free time?</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What do you do in your free time?</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I …… tennis and watch TV.</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I play tennis and watch TV.</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Do you …… tennis every day?</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Do you play tennis every day?</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No,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No, I don't. I play it twice a week.</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Thank you.</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Thank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You are welcome.</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You are welcome.</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Hi, Youssef.</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Hi, Youssef.</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Hi, Mohamed.</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Hi, Mohamed.</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 you have a pet?</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Do you have a pet?</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Yes, I …… a cat.</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Yes, I have a cat.</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What …… it eat?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What does it eat?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It …… fish and meat.</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It eats fish and meat.</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Goodbye.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Goodbye.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Goodbye.</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19</a:t>
            </a:r>
          </a:p>
          <a:p>
            <a:pPr algn="ctr" rtl="0"/>
            <a:r>
              <a:rPr sz="4600" b="1" i="0" lang="en-US">
                <a:solidFill>
                  <a:srgbClr val="FFFFFF"/>
                </a:solidFill>
                <a:latin typeface="Segoe UI"/>
              </a:rPr>
              <a:t>The Present Continuous Tense</a:t>
            </a:r>
          </a:p>
          <a:p>
            <a:pPr algn="ctr" rtl="1"/>
            <a:r>
              <a:rPr sz="2900" b="0" i="0" lang="ar-EG" altLang="en-US">
                <a:solidFill>
                  <a:srgbClr val="FFFFFF"/>
                </a:solidFill>
                <a:latin typeface="Traditional Arabic"/>
              </a:rPr>
              <a:t>زمن المضارع المستمر</a:t>
            </a:r>
          </a:p>
        </p:txBody>
      </p:sp>
    </p:spTree>
  </p:cSld>
  <p:clrMapOvr>
    <a:masterClrMapping/>
  </p:clrMapOvr>
  <p:transition spd="med">
    <p:zoom dir="in"/>
  </p:transition>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81"/>
                </a:solidFill>
                <a:latin typeface="Segoe UI"/>
              </a:rPr>
              <a:t>▶ I + am + الفعل + ing</a:t>
            </a:r>
          </a:p>
          <a:p>
            <a:pPr rtl="1" algn="r">
              <a:spcAft>
                <a:spcPts val="600"/>
              </a:spcAft>
            </a:pPr>
            <a:r>
              <a:rPr sz="2100" b="0" i="0" lang="ar-EG" altLang="en-US">
                <a:solidFill>
                  <a:srgbClr val="1C2333"/>
                </a:solidFill>
                <a:latin typeface="Traditional Arabic"/>
              </a:rPr>
              <a:t>التكوين مع I.</a:t>
            </a:r>
          </a:p>
          <a:p>
            <a:pPr rtl="1" algn="r">
              <a:spcAft>
                <a:spcPts val="600"/>
              </a:spcAft>
            </a:pPr>
            <a:r>
              <a:rPr sz="2300" b="1" i="0" lang="ar-EG" altLang="en-US">
                <a:solidFill>
                  <a:srgbClr val="229481"/>
                </a:solidFill>
                <a:latin typeface="Traditional Arabic"/>
              </a:rPr>
              <a:t>▶ He – She – It – الاسم المفرد + is + الفعل + ing</a:t>
            </a:r>
          </a:p>
          <a:p>
            <a:pPr rtl="1" algn="r">
              <a:spcAft>
                <a:spcPts val="600"/>
              </a:spcAft>
            </a:pPr>
            <a:r>
              <a:rPr sz="2100" b="0" i="0" lang="ar-EG" altLang="en-US">
                <a:solidFill>
                  <a:srgbClr val="1C2333"/>
                </a:solidFill>
                <a:latin typeface="Traditional Arabic"/>
              </a:rPr>
              <a:t>التكوين مع المفرد.</a:t>
            </a:r>
          </a:p>
          <a:p>
            <a:pPr rtl="0" algn="l">
              <a:spcAft>
                <a:spcPts val="600"/>
              </a:spcAft>
            </a:pPr>
            <a:r>
              <a:rPr sz="2000" b="1" i="0" lang="en-US">
                <a:solidFill>
                  <a:srgbClr val="229481"/>
                </a:solidFill>
                <a:latin typeface="Segoe UI"/>
              </a:rPr>
              <a:t>▶ They – You – We – الاسم الجمع + are + الفعل + ing</a:t>
            </a:r>
          </a:p>
          <a:p>
            <a:pPr rtl="1" algn="r">
              <a:spcAft>
                <a:spcPts val="600"/>
              </a:spcAft>
            </a:pPr>
            <a:r>
              <a:rPr sz="2100" b="0" i="0" lang="ar-EG" altLang="en-US">
                <a:solidFill>
                  <a:srgbClr val="1C2333"/>
                </a:solidFill>
                <a:latin typeface="Traditional Arabic"/>
              </a:rPr>
              <a:t>التكوين مع الجمع.</a:t>
            </a:r>
          </a:p>
          <a:p>
            <a:pPr rtl="0" algn="l">
              <a:spcAft>
                <a:spcPts val="600"/>
              </a:spcAft>
            </a:pPr>
            <a:r>
              <a:rPr sz="1700" b="0" i="1" lang="en-US">
                <a:solidFill>
                  <a:srgbClr val="5B6478"/>
                </a:solidFill>
                <a:latin typeface="Segoe UI"/>
              </a:rPr>
              <a:t>   e.g. I am reading. – She is cooking. – They are playing.</a:t>
            </a:r>
          </a:p>
        </p:txBody>
      </p:sp>
    </p:spTree>
  </p:cSld>
  <p:clrMapOvr>
    <a:masterClrMapping/>
  </p:clrMapOvr>
  <p:transition spd="med">
    <p:zoom dir="in"/>
  </p:transition>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81"/>
                </a:solidFill>
                <a:latin typeface="Segoe UI"/>
              </a:rPr>
              <a:t>▶ am not / isn't / aren't + الفعل + ing</a:t>
            </a:r>
          </a:p>
          <a:p>
            <a:pPr rtl="1" algn="r">
              <a:spcAft>
                <a:spcPts val="600"/>
              </a:spcAft>
            </a:pPr>
            <a:r>
              <a:rPr sz="2100" b="0" i="0" lang="ar-EG" altLang="en-US">
                <a:solidFill>
                  <a:srgbClr val="1C2333"/>
                </a:solidFill>
                <a:latin typeface="Traditional Arabic"/>
              </a:rPr>
              <a:t>    نضع not بعد فعل الكون.</a:t>
            </a:r>
          </a:p>
          <a:p>
            <a:pPr rtl="0" algn="l">
              <a:spcAft>
                <a:spcPts val="600"/>
              </a:spcAft>
            </a:pPr>
            <a:r>
              <a:rPr sz="2000" b="1" i="0" lang="en-US">
                <a:solidFill>
                  <a:srgbClr val="229481"/>
                </a:solidFill>
                <a:latin typeface="Segoe UI"/>
              </a:rPr>
              <a:t>▶ Am / Is / Are + فاعل + الفعل + ing … ?</a:t>
            </a:r>
          </a:p>
          <a:p>
            <a:pPr rtl="1" algn="r">
              <a:spcAft>
                <a:spcPts val="600"/>
              </a:spcAft>
            </a:pPr>
            <a:r>
              <a:rPr sz="2100" b="0" i="0" lang="ar-EG" altLang="en-US">
                <a:solidFill>
                  <a:srgbClr val="1C2333"/>
                </a:solidFill>
                <a:latin typeface="Traditional Arabic"/>
              </a:rPr>
              <a:t>نقدّم فعل الكون على الفاعل.</a:t>
            </a:r>
          </a:p>
        </p:txBody>
      </p:sp>
    </p:spTree>
  </p:cSld>
  <p:clrMapOvr>
    <a:masterClrMapping/>
  </p:clrMapOvr>
  <p:transition spd="med">
    <p:comb dir="horz"/>
  </p:transition>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81"/>
                          </a:solidFill>
                          <a:latin typeface="Segoe UI"/>
                        </a:rPr>
                        <a:t>now</a:t>
                      </a:r>
                    </a:p>
                  </a:txBody>
                  <a:tcPr>
                    <a:solidFill>
                      <a:srgbClr val="FFFFFF"/>
                    </a:solidFill>
                  </a:tcPr>
                </a:tc>
                <a:tc>
                  <a:txBody>
                    <a:bodyPr/>
                    <a:lstStyle/>
                    <a:p>
                      <a:pPr rtl="1" algn="r"/>
                      <a:r>
                        <a:rPr sz="1700" b="0" i="0" lang="ar-EG" altLang="en-US">
                          <a:solidFill>
                            <a:srgbClr val="1C2333"/>
                          </a:solidFill>
                          <a:latin typeface="Traditional Arabic"/>
                        </a:rPr>
                        <a:t>الآن</a:t>
                      </a:r>
                    </a:p>
                  </a:txBody>
                  <a:tcPr>
                    <a:solidFill>
                      <a:srgbClr val="FFFFFF"/>
                    </a:solidFill>
                  </a:tcPr>
                </a:tc>
                <a:tc>
                  <a:txBody>
                    <a:bodyPr/>
                    <a:lstStyle/>
                    <a:p>
                      <a:pPr rtl="0" algn="l"/>
                      <a:r>
                        <a:rPr sz="1500" b="1" i="0" lang="en-US">
                          <a:solidFill>
                            <a:srgbClr val="229481"/>
                          </a:solidFill>
                          <a:latin typeface="Segoe UI"/>
                        </a:rPr>
                        <a:t>Listen!</a:t>
                      </a:r>
                    </a:p>
                  </a:txBody>
                  <a:tcPr>
                    <a:solidFill>
                      <a:srgbClr val="FFFFFF"/>
                    </a:solidFill>
                  </a:tcPr>
                </a:tc>
                <a:tc>
                  <a:txBody>
                    <a:bodyPr/>
                    <a:lstStyle/>
                    <a:p>
                      <a:pPr rtl="1" algn="r"/>
                      <a:r>
                        <a:rPr sz="1700" b="0" i="0" lang="ar-EG" altLang="en-US">
                          <a:solidFill>
                            <a:srgbClr val="1C2333"/>
                          </a:solidFill>
                          <a:latin typeface="Traditional Arabic"/>
                        </a:rPr>
                        <a:t>استمع</a:t>
                      </a:r>
                    </a:p>
                  </a:txBody>
                  <a:tcPr>
                    <a:solidFill>
                      <a:srgbClr val="FFFFFF"/>
                    </a:solidFill>
                  </a:tcPr>
                </a:tc>
                <a:tc>
                  <a:txBody>
                    <a:bodyPr/>
                    <a:lstStyle/>
                    <a:p>
                      <a:pPr rtl="0" algn="l"/>
                      <a:r>
                        <a:rPr sz="1500" b="1" i="0" lang="en-US">
                          <a:solidFill>
                            <a:srgbClr val="229481"/>
                          </a:solidFill>
                          <a:latin typeface="Segoe UI"/>
                        </a:rPr>
                        <a:t>Take care!</a:t>
                      </a:r>
                    </a:p>
                  </a:txBody>
                  <a:tcPr>
                    <a:solidFill>
                      <a:srgbClr val="FFFFFF"/>
                    </a:solidFill>
                  </a:tcPr>
                </a:tc>
                <a:tc>
                  <a:txBody>
                    <a:bodyPr/>
                    <a:lstStyle/>
                    <a:p>
                      <a:pPr rtl="1" algn="r"/>
                      <a:r>
                        <a:rPr sz="1700" b="0" i="0" lang="ar-EG" altLang="en-US">
                          <a:solidFill>
                            <a:srgbClr val="1C2333"/>
                          </a:solidFill>
                          <a:latin typeface="Traditional Arabic"/>
                        </a:rPr>
                        <a:t>احذر</a:t>
                      </a:r>
                    </a:p>
                  </a:txBody>
                  <a:tcPr>
                    <a:solidFill>
                      <a:srgbClr val="FFFFFF"/>
                    </a:solidFill>
                  </a:tcPr>
                </a:tc>
              </a:tr>
              <a:tr h="384048">
                <a:tc>
                  <a:txBody>
                    <a:bodyPr/>
                    <a:lstStyle/>
                    <a:p>
                      <a:pPr rtl="0" algn="l"/>
                      <a:r>
                        <a:rPr sz="1500" b="1" i="0" lang="en-US">
                          <a:solidFill>
                            <a:srgbClr val="229481"/>
                          </a:solidFill>
                          <a:latin typeface="Segoe UI"/>
                        </a:rPr>
                        <a:t>at present</a:t>
                      </a:r>
                    </a:p>
                  </a:txBody>
                  <a:tcPr>
                    <a:solidFill>
                      <a:srgbClr val="EEF3FA"/>
                    </a:solidFill>
                  </a:tcPr>
                </a:tc>
                <a:tc>
                  <a:txBody>
                    <a:bodyPr/>
                    <a:lstStyle/>
                    <a:p>
                      <a:pPr rtl="1" algn="r"/>
                      <a:r>
                        <a:rPr sz="1700" b="0" i="0" lang="ar-EG" altLang="en-US">
                          <a:solidFill>
                            <a:srgbClr val="1C2333"/>
                          </a:solidFill>
                          <a:latin typeface="Traditional Arabic"/>
                        </a:rPr>
                        <a:t>في الوقت الحاضر</a:t>
                      </a:r>
                    </a:p>
                  </a:txBody>
                  <a:tcPr>
                    <a:solidFill>
                      <a:srgbClr val="EEF3FA"/>
                    </a:solidFill>
                  </a:tcPr>
                </a:tc>
                <a:tc>
                  <a:txBody>
                    <a:bodyPr/>
                    <a:lstStyle/>
                    <a:p>
                      <a:pPr rtl="0" algn="l"/>
                      <a:r>
                        <a:rPr sz="1500" b="1" i="0" lang="en-US">
                          <a:solidFill>
                            <a:srgbClr val="229481"/>
                          </a:solidFill>
                          <a:latin typeface="Segoe UI"/>
                        </a:rPr>
                        <a:t>Look!</a:t>
                      </a:r>
                    </a:p>
                  </a:txBody>
                  <a:tcPr>
                    <a:solidFill>
                      <a:srgbClr val="EEF3FA"/>
                    </a:solidFill>
                  </a:tcPr>
                </a:tc>
                <a:tc>
                  <a:txBody>
                    <a:bodyPr/>
                    <a:lstStyle/>
                    <a:p>
                      <a:pPr rtl="1" algn="r"/>
                      <a:r>
                        <a:rPr sz="1700" b="0" i="0" lang="ar-EG" altLang="en-US">
                          <a:solidFill>
                            <a:srgbClr val="1C2333"/>
                          </a:solidFill>
                          <a:latin typeface="Traditional Arabic"/>
                        </a:rPr>
                        <a:t>انظر</a:t>
                      </a:r>
                    </a:p>
                  </a:txBody>
                  <a:tcPr>
                    <a:solidFill>
                      <a:srgbClr val="EEF3FA"/>
                    </a:solidFill>
                  </a:tcPr>
                </a:tc>
                <a:tc>
                  <a:txBody>
                    <a:bodyPr/>
                    <a:lstStyle/>
                    <a:p>
                      <a:pPr rtl="0" algn="l"/>
                      <a:r>
                        <a:rPr sz="1500" b="1" i="0" lang="en-US">
                          <a:solidFill>
                            <a:srgbClr val="229481"/>
                          </a:solidFill>
                          <a:latin typeface="Segoe UI"/>
                        </a:rPr>
                        <a:t>tonight</a:t>
                      </a:r>
                    </a:p>
                  </a:txBody>
                  <a:tcPr>
                    <a:solidFill>
                      <a:srgbClr val="EEF3FA"/>
                    </a:solidFill>
                  </a:tcPr>
                </a:tc>
                <a:tc>
                  <a:txBody>
                    <a:bodyPr/>
                    <a:lstStyle/>
                    <a:p>
                      <a:pPr rtl="1" algn="r"/>
                      <a:r>
                        <a:rPr sz="1700" b="0" i="0" lang="ar-EG" altLang="en-US">
                          <a:solidFill>
                            <a:srgbClr val="1C2333"/>
                          </a:solidFill>
                          <a:latin typeface="Traditional Arabic"/>
                        </a:rPr>
                        <a:t>في هذه الليلة</a:t>
                      </a:r>
                    </a:p>
                  </a:txBody>
                  <a:tcPr>
                    <a:solidFill>
                      <a:srgbClr val="EEF3FA"/>
                    </a:solidFill>
                  </a:tcPr>
                </a:tc>
              </a:tr>
              <a:tr h="384048">
                <a:tc>
                  <a:txBody>
                    <a:bodyPr/>
                    <a:lstStyle/>
                    <a:p>
                      <a:pPr rtl="0" algn="l"/>
                      <a:r>
                        <a:rPr sz="1500" b="1" i="0" lang="en-US">
                          <a:solidFill>
                            <a:srgbClr val="229481"/>
                          </a:solidFill>
                          <a:latin typeface="Segoe UI"/>
                        </a:rPr>
                        <a:t>at the moment</a:t>
                      </a:r>
                    </a:p>
                  </a:txBody>
                  <a:tcPr>
                    <a:solidFill>
                      <a:srgbClr val="FFFFFF"/>
                    </a:solidFill>
                  </a:tcPr>
                </a:tc>
                <a:tc>
                  <a:txBody>
                    <a:bodyPr/>
                    <a:lstStyle/>
                    <a:p>
                      <a:pPr rtl="1" algn="r"/>
                      <a:r>
                        <a:rPr sz="1700" b="0" i="0" lang="ar-EG" altLang="en-US">
                          <a:solidFill>
                            <a:srgbClr val="1C2333"/>
                          </a:solidFill>
                          <a:latin typeface="Traditional Arabic"/>
                        </a:rPr>
                        <a:t>في هذه اللحظة</a:t>
                      </a:r>
                    </a:p>
                  </a:txBody>
                  <a:tcPr>
                    <a:solidFill>
                      <a:srgbClr val="FFFFFF"/>
                    </a:solidFill>
                  </a:tcPr>
                </a:tc>
                <a:tc>
                  <a:txBody>
                    <a:bodyPr/>
                    <a:lstStyle/>
                    <a:p>
                      <a:pPr rtl="0" algn="l"/>
                      <a:r>
                        <a:rPr sz="1500" b="1" i="0" lang="en-US">
                          <a:solidFill>
                            <a:srgbClr val="229481"/>
                          </a:solidFill>
                          <a:latin typeface="Segoe UI"/>
                        </a:rPr>
                        <a:t>Look out!</a:t>
                      </a:r>
                    </a:p>
                  </a:txBody>
                  <a:tcPr>
                    <a:solidFill>
                      <a:srgbClr val="FFFFFF"/>
                    </a:solidFill>
                  </a:tcPr>
                </a:tc>
                <a:tc>
                  <a:txBody>
                    <a:bodyPr/>
                    <a:lstStyle/>
                    <a:p>
                      <a:pPr rtl="1" algn="r"/>
                      <a:r>
                        <a:rPr sz="1700" b="0" i="0" lang="ar-EG" altLang="en-US">
                          <a:solidFill>
                            <a:srgbClr val="1C2333"/>
                          </a:solidFill>
                          <a:latin typeface="Traditional Arabic"/>
                        </a:rPr>
                        <a:t>احترس</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229481"/>
                          </a:solidFill>
                          <a:latin typeface="Segoe UI"/>
                        </a:rPr>
                        <a:t>still</a:t>
                      </a:r>
                    </a:p>
                  </a:txBody>
                  <a:tcPr>
                    <a:solidFill>
                      <a:srgbClr val="EEF3FA"/>
                    </a:solidFill>
                  </a:tcPr>
                </a:tc>
                <a:tc>
                  <a:txBody>
                    <a:bodyPr/>
                    <a:lstStyle/>
                    <a:p>
                      <a:pPr rtl="1" algn="r"/>
                      <a:r>
                        <a:rPr sz="1700" b="0" i="0" lang="ar-EG" altLang="en-US">
                          <a:solidFill>
                            <a:srgbClr val="1C2333"/>
                          </a:solidFill>
                          <a:latin typeface="Traditional Arabic"/>
                        </a:rPr>
                        <a:t>ما زال</a:t>
                      </a:r>
                    </a:p>
                  </a:txBody>
                  <a:tcPr>
                    <a:solidFill>
                      <a:srgbClr val="EEF3FA"/>
                    </a:solidFill>
                  </a:tcPr>
                </a:tc>
                <a:tc>
                  <a:txBody>
                    <a:bodyPr/>
                    <a:lstStyle/>
                    <a:p>
                      <a:pPr rtl="0" algn="l"/>
                      <a:r>
                        <a:rPr sz="1500" b="1" i="0" lang="en-US">
                          <a:solidFill>
                            <a:srgbClr val="229481"/>
                          </a:solidFill>
                          <a:latin typeface="Segoe UI"/>
                        </a:rPr>
                        <a:t>Watch out!</a:t>
                      </a:r>
                    </a:p>
                  </a:txBody>
                  <a:tcPr>
                    <a:solidFill>
                      <a:srgbClr val="EEF3FA"/>
                    </a:solidFill>
                  </a:tcPr>
                </a:tc>
                <a:tc>
                  <a:txBody>
                    <a:bodyPr/>
                    <a:lstStyle/>
                    <a:p>
                      <a:pPr rtl="1" algn="r"/>
                      <a:r>
                        <a:rPr sz="1700" b="0" i="0" lang="ar-EG" altLang="en-US">
                          <a:solidFill>
                            <a:srgbClr val="1C2333"/>
                          </a:solidFill>
                          <a:latin typeface="Traditional Arabic"/>
                        </a:rPr>
                        <a:t>احترس</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newsflash/>
  </p:transition>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A) Negation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am reading a new book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not reading a new book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are watching TV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aren't watching TV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is playing football at present.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isn't playing football at present.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aren't having lunch now.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are having lunch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It isn't raining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raining now.</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My mum …… her story at the moment.   (reading – reads – is reading – read)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Watch out, the car is …… fast.   (come – is coming – comes – coming)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coming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Look, they …… football.   (is playing – are playing – am playing – play)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playing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Take care, it is …… outside.   (rained – raining – rains – rain)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raining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 having a party tonight.   (were – are – is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parents …… watching TV at the moment.   (isn't – weren't – aren't – don't)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brother and I …… playing chess now.   (is – are – were – was)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sister isn't …… a cake at the moment.   (makes – made – making – is making)</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making</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 listening to music now.   (isn't – am not – aren't – don't)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aren't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It is raining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it raining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are playing football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they playing football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is making a cake at present.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making a cake at present?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am listening to music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listening to music at the moment?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is washing the car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he washing the car now?</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are walking to school at the moment.</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walking to school at the moment?</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parents are having a party at the moment.</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your parents having a party at the moment?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is watching TV at the moment. (When)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is he watching TV?</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are playing football now. (What)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they playing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am listening to music in my room. (Where)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are you listening to music?</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are travelling to Cairo by plane. (How)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are you travelling to Cairo?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is running with her brother. (Who)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is she running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am visiting Alexandria tonight. (When)</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are you visiting Alexandria?</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brother is reading a new story. (What)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is your brother reading?</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parents are working in Cairo. (Where)</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are your parents working?</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Is they reading a new book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they reading a new book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Mona is listen to music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Mona is listening to music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is making an apple pie.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are making an apple pie.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What are your mum doing?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is your mum doing?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am drink coffee at the moment.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drinking coffee at the moment.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Omar is takes a photo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Omar is taking a photo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doesn't sending a letter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isn't sending a letter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you watching TV? No, I am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watching TV? No, I am not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don't playing football now.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not playing football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Who are Ali playing with?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is Ali playing with?</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Are Ali's father reading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Ali's father reading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My sister sleeps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is sleeping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 you wearing new shoes?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wearing new shoes?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Mido is still does his homework.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Mido is still doing his homework.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No , he is playing chess.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 he is playing chess.</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What is you reading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you reading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You are draw a picture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are drawing a picture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 don't have lunch now.</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not having lunch now.</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It doesn't raining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isn't raining at the moment.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Are she baking a cake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baking a cake now?</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taking – am – I – now – photo – a.</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taking a photo now.</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music – is – the moment – She – listening – at – to.</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 listening to music at the moment.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moment – mum – making – is – My – cake – a – at.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is making a cake at the moment.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TV – they – Are – watching – now?</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they watching TV now?</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to – you – Cairo – When – travelling – are?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are you travelling to Cairo?</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now – Ali – What – doing – are – Mona – and?</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Ali and Mona doing now?</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school – are – They – to – walking – now.</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walking to school now.</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football – brother – My – now – playing –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is playing football now.</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is – The – flying – moment – bird – at – the sky – in – the.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bird is flying in the sky at the moment.</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The – hopping – is – rabbit – the garden – in.</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rabbit is hopping in the garden.</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in – The – playing – children – are – the park.</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children are playing in the park.</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is eating dinner now. (not)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isn't eating dinner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is raining at the moment.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it raining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are playing football now. (He)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playing football now.</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aren't listening to music now. (She)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isn't listening to music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What is he doing now? (they)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they doing now?</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is reading English at the moment. (I)</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reading English at the moment.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parents are sleeping now. (My mum)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is sleeping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you travelling to Cairo now? (she)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travelling to Cairo now?</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are drinking milk now. (not)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aren't drinking milk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She is cleaning the room at the moment. (We)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are cleaning the room at the moment.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We are walking in the park now. (?)</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walking in the park now?</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 TV now.   (watches – is watching – watch)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watching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 …… our homework at the moment.   (do – does – are doing)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doing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 to music now.   (listens – am listening – listen)</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am listening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They …… in the park now.   (are playing – play – plays)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playing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What …… you doing at the moment?   (do – are – have)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brother …… a book now.   (is reading – reads – read)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children …… in the garden.   (is playing – are playing – play)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playing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 you sleeping at the moment?   (Is – Do – Are)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It …… outside now.   (is raining – rain – rains)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raining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Listen! The baby …… now.   (cries – cry – is crying)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crying</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am reading a book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أنا أقرأ كتاباً الآن.</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is raining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إنها تمطر في هذه اللحظة.</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My mum is cooking lunch at the moment.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أمي تطبخ الغداء في هذه اللحظة.</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is playing tennis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تلعب التنس في هذه اللحظة.</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Are you listening to music at the moment?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تستمع إلى الموسيقى في هذه اللحظة؟</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They are taking photos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هم يلتقطون صوراً الآن.</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are playing chess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نحن نلعب الشطرنج الآن.</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Is he visiting Cairo tomorrow?</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سيزور القاهرة غداً؟</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parents are watching TV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والداي يشاهدان التلفاز في هذه اللحظة.</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am walking to school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أنا أمشي إلى المدرسة الآن.</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How are you?</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How are you?</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I'm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What …… you doing now?</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What are you doing now?</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I am …… football with my friends.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I am playing football with my friends.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 they having fun?</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Are they having fun?</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Yes, they …… having fun.</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Yes, they are having fun.</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Have a nice time.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Thank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Where …… Rody?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Where is Rody?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She is in the kitchen.</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She is in the kitchen.</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What is she doing?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What is she doing?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She is …… lunch.</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She is cooking lunch.</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she good at cooking?</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Is she good at cooking?</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Yes, ……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Yes, she is .</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Thank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You are welcome.</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You are welcome.</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Good morning, Mazen.</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Good morning, Mazen.</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Good morning, Ahmed.</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 are you doing?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What are you doing?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I …… English.</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I am studying English.</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 you having a test?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Are you having a test?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Yes, ……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Yes, I am .</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Have a nice time.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Thank you.</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Nader: Hello, Ahmed. What are you …… ?</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Nader: Hello, Ahmed. What are you doing ?</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Hello, Nader. I …… doing my homework.</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Hello, Nader. I am doing my homework.</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Nader: What …… your brother doing?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Nader: What is your brother doing?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He is …… TV in the living room.</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He is watching TV in the living room.</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Nader: Have a nice time.</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Nader: Have a nice time.</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Thank you.</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circle(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ircle(in)">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Lst>
  </p:timing>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20</a:t>
            </a:r>
          </a:p>
          <a:p>
            <a:pPr algn="ctr" rtl="0"/>
            <a:r>
              <a:rPr sz="4600" b="1" i="0" lang="en-US">
                <a:solidFill>
                  <a:srgbClr val="FFFFFF"/>
                </a:solidFill>
                <a:latin typeface="Segoe UI"/>
              </a:rPr>
              <a:t>Irregular Verbs</a:t>
            </a:r>
          </a:p>
          <a:p>
            <a:pPr algn="ctr" rtl="1"/>
            <a:r>
              <a:rPr sz="2900" b="0" i="0" lang="ar-EG" altLang="en-US">
                <a:solidFill>
                  <a:srgbClr val="FFFFFF"/>
                </a:solidFill>
                <a:latin typeface="Traditional Arabic"/>
              </a:rPr>
              <a:t>الأفعال الشاذة</a:t>
            </a:r>
          </a:p>
        </p:txBody>
      </p:sp>
    </p:spTree>
  </p:cSld>
  <p:clrMapOvr>
    <a:masterClrMapping/>
  </p:clrMapOvr>
  <p:transition spd="med">
    <p:zoom dir="in"/>
  </p:transition>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يذهب</a:t>
                      </a:r>
                    </a:p>
                  </a:txBody>
                  <a:tcPr>
                    <a:solidFill>
                      <a:srgbClr val="FFFFFF"/>
                    </a:solidFill>
                  </a:tcPr>
                </a:tc>
                <a:tc>
                  <a:txBody>
                    <a:bodyPr/>
                    <a:lstStyle/>
                    <a:p>
                      <a:pPr rtl="0" algn="l"/>
                      <a:r>
                        <a:rPr sz="1300" b="0" i="0" lang="en-US">
                          <a:solidFill>
                            <a:srgbClr val="1C2333"/>
                          </a:solidFill>
                          <a:latin typeface="Segoe UI"/>
                        </a:rPr>
                        <a:t>go</a:t>
                      </a:r>
                    </a:p>
                  </a:txBody>
                  <a:tcPr>
                    <a:solidFill>
                      <a:srgbClr val="FFFFFF"/>
                    </a:solidFill>
                  </a:tcPr>
                </a:tc>
                <a:tc>
                  <a:txBody>
                    <a:bodyPr/>
                    <a:lstStyle/>
                    <a:p>
                      <a:pPr rtl="0" algn="l"/>
                      <a:r>
                        <a:rPr sz="1300" b="0" i="0" lang="en-US">
                          <a:solidFill>
                            <a:srgbClr val="1C2333"/>
                          </a:solidFill>
                          <a:latin typeface="Segoe UI"/>
                        </a:rPr>
                        <a:t>went</a:t>
                      </a:r>
                    </a:p>
                  </a:txBody>
                  <a:tcPr>
                    <a:solidFill>
                      <a:srgbClr val="FFFFFF"/>
                    </a:solidFill>
                  </a:tcPr>
                </a:tc>
                <a:tc>
                  <a:txBody>
                    <a:bodyPr/>
                    <a:lstStyle/>
                    <a:p>
                      <a:pPr rtl="0" algn="l"/>
                      <a:r>
                        <a:rPr sz="1300" b="0" i="0" lang="en-US">
                          <a:solidFill>
                            <a:srgbClr val="1C2333"/>
                          </a:solidFill>
                          <a:latin typeface="Segoe UI"/>
                        </a:rPr>
                        <a:t>gone</a:t>
                      </a:r>
                    </a:p>
                  </a:txBody>
                  <a:tcPr>
                    <a:solidFill>
                      <a:srgbClr val="FFFFFF"/>
                    </a:solidFill>
                  </a:tcPr>
                </a:tc>
              </a:tr>
              <a:tr h="347472">
                <a:tc>
                  <a:txBody>
                    <a:bodyPr/>
                    <a:lstStyle/>
                    <a:p>
                      <a:pPr rtl="1" algn="r"/>
                      <a:r>
                        <a:rPr sz="1600" b="0" i="0" lang="ar-EG" altLang="en-US">
                          <a:solidFill>
                            <a:srgbClr val="1C2333"/>
                          </a:solidFill>
                          <a:latin typeface="Traditional Arabic"/>
                        </a:rPr>
                        <a:t>يشتري</a:t>
                      </a:r>
                    </a:p>
                  </a:txBody>
                  <a:tcPr>
                    <a:solidFill>
                      <a:srgbClr val="EEF3FA"/>
                    </a:solidFill>
                  </a:tcPr>
                </a:tc>
                <a:tc>
                  <a:txBody>
                    <a:bodyPr/>
                    <a:lstStyle/>
                    <a:p>
                      <a:pPr rtl="0" algn="l"/>
                      <a:r>
                        <a:rPr sz="1300" b="0" i="0" lang="en-US">
                          <a:solidFill>
                            <a:srgbClr val="1C2333"/>
                          </a:solidFill>
                          <a:latin typeface="Segoe UI"/>
                        </a:rPr>
                        <a:t>buy</a:t>
                      </a:r>
                    </a:p>
                  </a:txBody>
                  <a:tcPr>
                    <a:solidFill>
                      <a:srgbClr val="EEF3FA"/>
                    </a:solidFill>
                  </a:tcPr>
                </a:tc>
                <a:tc>
                  <a:txBody>
                    <a:bodyPr/>
                    <a:lstStyle/>
                    <a:p>
                      <a:pPr rtl="0" algn="l"/>
                      <a:r>
                        <a:rPr sz="1300" b="0" i="0" lang="en-US">
                          <a:solidFill>
                            <a:srgbClr val="1C2333"/>
                          </a:solidFill>
                          <a:latin typeface="Segoe UI"/>
                        </a:rPr>
                        <a:t>bought</a:t>
                      </a:r>
                    </a:p>
                  </a:txBody>
                  <a:tcPr>
                    <a:solidFill>
                      <a:srgbClr val="EEF3FA"/>
                    </a:solidFill>
                  </a:tcPr>
                </a:tc>
                <a:tc>
                  <a:txBody>
                    <a:bodyPr/>
                    <a:lstStyle/>
                    <a:p>
                      <a:pPr rtl="0" algn="l"/>
                      <a:r>
                        <a:rPr sz="1300" b="0" i="0" lang="en-US">
                          <a:solidFill>
                            <a:srgbClr val="1C2333"/>
                          </a:solidFill>
                          <a:latin typeface="Segoe UI"/>
                        </a:rPr>
                        <a:t>bought</a:t>
                      </a:r>
                    </a:p>
                  </a:txBody>
                  <a:tcPr>
                    <a:solidFill>
                      <a:srgbClr val="EEF3FA"/>
                    </a:solidFill>
                  </a:tcPr>
                </a:tc>
              </a:tr>
              <a:tr h="347472">
                <a:tc>
                  <a:txBody>
                    <a:bodyPr/>
                    <a:lstStyle/>
                    <a:p>
                      <a:pPr rtl="1" algn="r"/>
                      <a:r>
                        <a:rPr sz="1600" b="0" i="0" lang="ar-EG" altLang="en-US">
                          <a:solidFill>
                            <a:srgbClr val="1C2333"/>
                          </a:solidFill>
                          <a:latin typeface="Traditional Arabic"/>
                        </a:rPr>
                        <a:t>يشرب</a:t>
                      </a:r>
                    </a:p>
                  </a:txBody>
                  <a:tcPr>
                    <a:solidFill>
                      <a:srgbClr val="FFFFFF"/>
                    </a:solidFill>
                  </a:tcPr>
                </a:tc>
                <a:tc>
                  <a:txBody>
                    <a:bodyPr/>
                    <a:lstStyle/>
                    <a:p>
                      <a:pPr rtl="0" algn="l"/>
                      <a:r>
                        <a:rPr sz="1300" b="0" i="0" lang="en-US">
                          <a:solidFill>
                            <a:srgbClr val="1C2333"/>
                          </a:solidFill>
                          <a:latin typeface="Segoe UI"/>
                        </a:rPr>
                        <a:t>drink</a:t>
                      </a:r>
                    </a:p>
                  </a:txBody>
                  <a:tcPr>
                    <a:solidFill>
                      <a:srgbClr val="FFFFFF"/>
                    </a:solidFill>
                  </a:tcPr>
                </a:tc>
                <a:tc>
                  <a:txBody>
                    <a:bodyPr/>
                    <a:lstStyle/>
                    <a:p>
                      <a:pPr rtl="0" algn="l"/>
                      <a:r>
                        <a:rPr sz="1300" b="0" i="0" lang="en-US">
                          <a:solidFill>
                            <a:srgbClr val="1C2333"/>
                          </a:solidFill>
                          <a:latin typeface="Segoe UI"/>
                        </a:rPr>
                        <a:t>drank</a:t>
                      </a:r>
                    </a:p>
                  </a:txBody>
                  <a:tcPr>
                    <a:solidFill>
                      <a:srgbClr val="FFFFFF"/>
                    </a:solidFill>
                  </a:tcPr>
                </a:tc>
                <a:tc>
                  <a:txBody>
                    <a:bodyPr/>
                    <a:lstStyle/>
                    <a:p>
                      <a:pPr rtl="0" algn="l"/>
                      <a:r>
                        <a:rPr sz="1300" b="0" i="0" lang="en-US">
                          <a:solidFill>
                            <a:srgbClr val="1C2333"/>
                          </a:solidFill>
                          <a:latin typeface="Segoe UI"/>
                        </a:rPr>
                        <a:t>drunk</a:t>
                      </a:r>
                    </a:p>
                  </a:txBody>
                  <a:tcPr>
                    <a:solidFill>
                      <a:srgbClr val="FFFFFF"/>
                    </a:solidFill>
                  </a:tcPr>
                </a:tc>
              </a:tr>
              <a:tr h="347472">
                <a:tc>
                  <a:txBody>
                    <a:bodyPr/>
                    <a:lstStyle/>
                    <a:p>
                      <a:pPr rtl="1" algn="r"/>
                      <a:r>
                        <a:rPr sz="1600" b="0" i="0" lang="ar-EG" altLang="en-US">
                          <a:solidFill>
                            <a:srgbClr val="1C2333"/>
                          </a:solidFill>
                          <a:latin typeface="Traditional Arabic"/>
                        </a:rPr>
                        <a:t>يقابل</a:t>
                      </a:r>
                    </a:p>
                  </a:txBody>
                  <a:tcPr>
                    <a:solidFill>
                      <a:srgbClr val="EEF3FA"/>
                    </a:solidFill>
                  </a:tcPr>
                </a:tc>
                <a:tc>
                  <a:txBody>
                    <a:bodyPr/>
                    <a:lstStyle/>
                    <a:p>
                      <a:pPr rtl="0" algn="l"/>
                      <a:r>
                        <a:rPr sz="1300" b="0" i="0" lang="en-US">
                          <a:solidFill>
                            <a:srgbClr val="1C2333"/>
                          </a:solidFill>
                          <a:latin typeface="Segoe UI"/>
                        </a:rPr>
                        <a:t>meet</a:t>
                      </a:r>
                    </a:p>
                  </a:txBody>
                  <a:tcPr>
                    <a:solidFill>
                      <a:srgbClr val="EEF3FA"/>
                    </a:solidFill>
                  </a:tcPr>
                </a:tc>
                <a:tc>
                  <a:txBody>
                    <a:bodyPr/>
                    <a:lstStyle/>
                    <a:p>
                      <a:pPr rtl="0" algn="l"/>
                      <a:r>
                        <a:rPr sz="1300" b="0" i="0" lang="en-US">
                          <a:solidFill>
                            <a:srgbClr val="1C2333"/>
                          </a:solidFill>
                          <a:latin typeface="Segoe UI"/>
                        </a:rPr>
                        <a:t>met</a:t>
                      </a:r>
                    </a:p>
                  </a:txBody>
                  <a:tcPr>
                    <a:solidFill>
                      <a:srgbClr val="EEF3FA"/>
                    </a:solidFill>
                  </a:tcPr>
                </a:tc>
                <a:tc>
                  <a:txBody>
                    <a:bodyPr/>
                    <a:lstStyle/>
                    <a:p>
                      <a:pPr rtl="0" algn="l"/>
                      <a:r>
                        <a:rPr sz="1300" b="0" i="0" lang="en-US">
                          <a:solidFill>
                            <a:srgbClr val="1C2333"/>
                          </a:solidFill>
                          <a:latin typeface="Segoe UI"/>
                        </a:rPr>
                        <a:t>met</a:t>
                      </a:r>
                    </a:p>
                  </a:txBody>
                  <a:tcPr>
                    <a:solidFill>
                      <a:srgbClr val="EEF3FA"/>
                    </a:solidFill>
                  </a:tcPr>
                </a:tc>
              </a:tr>
              <a:tr h="347472">
                <a:tc>
                  <a:txBody>
                    <a:bodyPr/>
                    <a:lstStyle/>
                    <a:p>
                      <a:pPr rtl="1" algn="r"/>
                      <a:r>
                        <a:rPr sz="1600" b="0" i="0" lang="ar-EG" altLang="en-US">
                          <a:solidFill>
                            <a:srgbClr val="1C2333"/>
                          </a:solidFill>
                          <a:latin typeface="Traditional Arabic"/>
                        </a:rPr>
                        <a:t>يسبح</a:t>
                      </a:r>
                    </a:p>
                  </a:txBody>
                  <a:tcPr>
                    <a:solidFill>
                      <a:srgbClr val="FFFFFF"/>
                    </a:solidFill>
                  </a:tcPr>
                </a:tc>
                <a:tc>
                  <a:txBody>
                    <a:bodyPr/>
                    <a:lstStyle/>
                    <a:p>
                      <a:pPr rtl="0" algn="l"/>
                      <a:r>
                        <a:rPr sz="1300" b="0" i="0" lang="en-US">
                          <a:solidFill>
                            <a:srgbClr val="1C2333"/>
                          </a:solidFill>
                          <a:latin typeface="Segoe UI"/>
                        </a:rPr>
                        <a:t>swim</a:t>
                      </a:r>
                    </a:p>
                  </a:txBody>
                  <a:tcPr>
                    <a:solidFill>
                      <a:srgbClr val="FFFFFF"/>
                    </a:solidFill>
                  </a:tcPr>
                </a:tc>
                <a:tc>
                  <a:txBody>
                    <a:bodyPr/>
                    <a:lstStyle/>
                    <a:p>
                      <a:pPr rtl="0" algn="l"/>
                      <a:r>
                        <a:rPr sz="1300" b="0" i="0" lang="en-US">
                          <a:solidFill>
                            <a:srgbClr val="1C2333"/>
                          </a:solidFill>
                          <a:latin typeface="Segoe UI"/>
                        </a:rPr>
                        <a:t>swam</a:t>
                      </a:r>
                    </a:p>
                  </a:txBody>
                  <a:tcPr>
                    <a:solidFill>
                      <a:srgbClr val="FFFFFF"/>
                    </a:solidFill>
                  </a:tcPr>
                </a:tc>
                <a:tc>
                  <a:txBody>
                    <a:bodyPr/>
                    <a:lstStyle/>
                    <a:p>
                      <a:pPr rtl="0" algn="l"/>
                      <a:r>
                        <a:rPr sz="1300" b="0" i="0" lang="en-US">
                          <a:solidFill>
                            <a:srgbClr val="1C2333"/>
                          </a:solidFill>
                          <a:latin typeface="Segoe UI"/>
                        </a:rPr>
                        <a:t>swum</a:t>
                      </a:r>
                    </a:p>
                  </a:txBody>
                  <a:tcPr>
                    <a:solidFill>
                      <a:srgbClr val="FFFFFF"/>
                    </a:solidFill>
                  </a:tcPr>
                </a:tc>
              </a:tr>
              <a:tr h="347472">
                <a:tc>
                  <a:txBody>
                    <a:bodyPr/>
                    <a:lstStyle/>
                    <a:p>
                      <a:pPr rtl="1" algn="r"/>
                      <a:r>
                        <a:rPr sz="1600" b="0" i="0" lang="ar-EG" altLang="en-US">
                          <a:solidFill>
                            <a:srgbClr val="1C2333"/>
                          </a:solidFill>
                          <a:latin typeface="Traditional Arabic"/>
                        </a:rPr>
                        <a:t>يأكل</a:t>
                      </a:r>
                    </a:p>
                  </a:txBody>
                  <a:tcPr>
                    <a:solidFill>
                      <a:srgbClr val="EEF3FA"/>
                    </a:solidFill>
                  </a:tcPr>
                </a:tc>
                <a:tc>
                  <a:txBody>
                    <a:bodyPr/>
                    <a:lstStyle/>
                    <a:p>
                      <a:pPr rtl="0" algn="l"/>
                      <a:r>
                        <a:rPr sz="1300" b="0" i="0" lang="en-US">
                          <a:solidFill>
                            <a:srgbClr val="1C2333"/>
                          </a:solidFill>
                          <a:latin typeface="Segoe UI"/>
                        </a:rPr>
                        <a:t>eat</a:t>
                      </a:r>
                    </a:p>
                  </a:txBody>
                  <a:tcPr>
                    <a:solidFill>
                      <a:srgbClr val="EEF3FA"/>
                    </a:solidFill>
                  </a:tcPr>
                </a:tc>
                <a:tc>
                  <a:txBody>
                    <a:bodyPr/>
                    <a:lstStyle/>
                    <a:p>
                      <a:pPr rtl="0" algn="l"/>
                      <a:r>
                        <a:rPr sz="1300" b="0" i="0" lang="en-US">
                          <a:solidFill>
                            <a:srgbClr val="1C2333"/>
                          </a:solidFill>
                          <a:latin typeface="Segoe UI"/>
                        </a:rPr>
                        <a:t>ate</a:t>
                      </a:r>
                    </a:p>
                  </a:txBody>
                  <a:tcPr>
                    <a:solidFill>
                      <a:srgbClr val="EEF3FA"/>
                    </a:solidFill>
                  </a:tcPr>
                </a:tc>
                <a:tc>
                  <a:txBody>
                    <a:bodyPr/>
                    <a:lstStyle/>
                    <a:p>
                      <a:pPr rtl="0" algn="l"/>
                      <a:r>
                        <a:rPr sz="1300" b="0" i="0" lang="en-US">
                          <a:solidFill>
                            <a:srgbClr val="1C2333"/>
                          </a:solidFill>
                          <a:latin typeface="Segoe UI"/>
                        </a:rPr>
                        <a:t>eaten</a:t>
                      </a:r>
                    </a:p>
                  </a:txBody>
                  <a:tcPr>
                    <a:solidFill>
                      <a:srgbClr val="EEF3FA"/>
                    </a:solidFill>
                  </a:tcPr>
                </a:tc>
              </a:tr>
              <a:tr h="347472">
                <a:tc>
                  <a:txBody>
                    <a:bodyPr/>
                    <a:lstStyle/>
                    <a:p>
                      <a:pPr rtl="1" algn="r"/>
                      <a:r>
                        <a:rPr sz="1600" b="0" i="0" lang="ar-EG" altLang="en-US">
                          <a:solidFill>
                            <a:srgbClr val="1C2333"/>
                          </a:solidFill>
                          <a:latin typeface="Traditional Arabic"/>
                        </a:rPr>
                        <a:t>يبيع</a:t>
                      </a:r>
                    </a:p>
                  </a:txBody>
                  <a:tcPr>
                    <a:solidFill>
                      <a:srgbClr val="FFFFFF"/>
                    </a:solidFill>
                  </a:tcPr>
                </a:tc>
                <a:tc>
                  <a:txBody>
                    <a:bodyPr/>
                    <a:lstStyle/>
                    <a:p>
                      <a:pPr rtl="0" algn="l"/>
                      <a:r>
                        <a:rPr sz="1300" b="0" i="0" lang="en-US">
                          <a:solidFill>
                            <a:srgbClr val="1C2333"/>
                          </a:solidFill>
                          <a:latin typeface="Segoe UI"/>
                        </a:rPr>
                        <a:t>sell</a:t>
                      </a:r>
                    </a:p>
                  </a:txBody>
                  <a:tcPr>
                    <a:solidFill>
                      <a:srgbClr val="FFFFFF"/>
                    </a:solidFill>
                  </a:tcPr>
                </a:tc>
                <a:tc>
                  <a:txBody>
                    <a:bodyPr/>
                    <a:lstStyle/>
                    <a:p>
                      <a:pPr rtl="0" algn="l"/>
                      <a:r>
                        <a:rPr sz="1300" b="0" i="0" lang="en-US">
                          <a:solidFill>
                            <a:srgbClr val="1C2333"/>
                          </a:solidFill>
                          <a:latin typeface="Segoe UI"/>
                        </a:rPr>
                        <a:t>sold</a:t>
                      </a:r>
                    </a:p>
                  </a:txBody>
                  <a:tcPr>
                    <a:solidFill>
                      <a:srgbClr val="FFFFFF"/>
                    </a:solidFill>
                  </a:tcPr>
                </a:tc>
                <a:tc>
                  <a:txBody>
                    <a:bodyPr/>
                    <a:lstStyle/>
                    <a:p>
                      <a:pPr rtl="0" algn="l"/>
                      <a:r>
                        <a:rPr sz="1300" b="0" i="0" lang="en-US">
                          <a:solidFill>
                            <a:srgbClr val="1C2333"/>
                          </a:solidFill>
                          <a:latin typeface="Segoe UI"/>
                        </a:rPr>
                        <a:t>sold</a:t>
                      </a:r>
                    </a:p>
                  </a:txBody>
                  <a:tcPr>
                    <a:solidFill>
                      <a:srgbClr val="FFFFFF"/>
                    </a:solidFill>
                  </a:tcPr>
                </a:tc>
              </a:tr>
              <a:tr h="347472">
                <a:tc>
                  <a:txBody>
                    <a:bodyPr/>
                    <a:lstStyle/>
                    <a:p>
                      <a:pPr rtl="1" algn="r"/>
                      <a:r>
                        <a:rPr sz="1600" b="0" i="0" lang="ar-EG" altLang="en-US">
                          <a:solidFill>
                            <a:srgbClr val="1C2333"/>
                          </a:solidFill>
                          <a:latin typeface="Traditional Arabic"/>
                        </a:rPr>
                        <a:t>يصنع</a:t>
                      </a:r>
                    </a:p>
                  </a:txBody>
                  <a:tcPr>
                    <a:solidFill>
                      <a:srgbClr val="EEF3FA"/>
                    </a:solidFill>
                  </a:tcPr>
                </a:tc>
                <a:tc>
                  <a:txBody>
                    <a:bodyPr/>
                    <a:lstStyle/>
                    <a:p>
                      <a:pPr rtl="0" algn="l"/>
                      <a:r>
                        <a:rPr sz="1300" b="0" i="0" lang="en-US">
                          <a:solidFill>
                            <a:srgbClr val="1C2333"/>
                          </a:solidFill>
                          <a:latin typeface="Segoe UI"/>
                        </a:rPr>
                        <a:t>make</a:t>
                      </a:r>
                    </a:p>
                  </a:txBody>
                  <a:tcPr>
                    <a:solidFill>
                      <a:srgbClr val="EEF3FA"/>
                    </a:solidFill>
                  </a:tcPr>
                </a:tc>
                <a:tc>
                  <a:txBody>
                    <a:bodyPr/>
                    <a:lstStyle/>
                    <a:p>
                      <a:pPr rtl="0" algn="l"/>
                      <a:r>
                        <a:rPr sz="1300" b="0" i="0" lang="en-US">
                          <a:solidFill>
                            <a:srgbClr val="1C2333"/>
                          </a:solidFill>
                          <a:latin typeface="Segoe UI"/>
                        </a:rPr>
                        <a:t>made</a:t>
                      </a:r>
                    </a:p>
                  </a:txBody>
                  <a:tcPr>
                    <a:solidFill>
                      <a:srgbClr val="EEF3FA"/>
                    </a:solidFill>
                  </a:tcPr>
                </a:tc>
                <a:tc>
                  <a:txBody>
                    <a:bodyPr/>
                    <a:lstStyle/>
                    <a:p>
                      <a:pPr rtl="0" algn="l"/>
                      <a:r>
                        <a:rPr sz="1300" b="0" i="0" lang="en-US">
                          <a:solidFill>
                            <a:srgbClr val="1C2333"/>
                          </a:solidFill>
                          <a:latin typeface="Segoe UI"/>
                        </a:rPr>
                        <a:t>made</a:t>
                      </a:r>
                    </a:p>
                  </a:txBody>
                  <a:tcPr>
                    <a:solidFill>
                      <a:srgbClr val="EEF3FA"/>
                    </a:solidFill>
                  </a:tcPr>
                </a:tc>
              </a:tr>
              <a:tr h="347472">
                <a:tc>
                  <a:txBody>
                    <a:bodyPr/>
                    <a:lstStyle/>
                    <a:p>
                      <a:pPr rtl="1" algn="r"/>
                      <a:r>
                        <a:rPr sz="1600" b="0" i="0" lang="ar-EG" altLang="en-US">
                          <a:solidFill>
                            <a:srgbClr val="1C2333"/>
                          </a:solidFill>
                          <a:latin typeface="Traditional Arabic"/>
                        </a:rPr>
                        <a:t>يجري</a:t>
                      </a:r>
                    </a:p>
                  </a:txBody>
                  <a:tcPr>
                    <a:solidFill>
                      <a:srgbClr val="FFFFFF"/>
                    </a:solidFill>
                  </a:tcPr>
                </a:tc>
                <a:tc>
                  <a:txBody>
                    <a:bodyPr/>
                    <a:lstStyle/>
                    <a:p>
                      <a:pPr rtl="0" algn="l"/>
                      <a:r>
                        <a:rPr sz="1300" b="0" i="0" lang="en-US">
                          <a:solidFill>
                            <a:srgbClr val="1C2333"/>
                          </a:solidFill>
                          <a:latin typeface="Segoe UI"/>
                        </a:rPr>
                        <a:t>run</a:t>
                      </a:r>
                    </a:p>
                  </a:txBody>
                  <a:tcPr>
                    <a:solidFill>
                      <a:srgbClr val="FFFFFF"/>
                    </a:solidFill>
                  </a:tcPr>
                </a:tc>
                <a:tc>
                  <a:txBody>
                    <a:bodyPr/>
                    <a:lstStyle/>
                    <a:p>
                      <a:pPr rtl="0" algn="l"/>
                      <a:r>
                        <a:rPr sz="1300" b="0" i="0" lang="en-US">
                          <a:solidFill>
                            <a:srgbClr val="1C2333"/>
                          </a:solidFill>
                          <a:latin typeface="Segoe UI"/>
                        </a:rPr>
                        <a:t>ran</a:t>
                      </a:r>
                    </a:p>
                  </a:txBody>
                  <a:tcPr>
                    <a:solidFill>
                      <a:srgbClr val="FFFFFF"/>
                    </a:solidFill>
                  </a:tcPr>
                </a:tc>
                <a:tc>
                  <a:txBody>
                    <a:bodyPr/>
                    <a:lstStyle/>
                    <a:p>
                      <a:pPr rtl="0" algn="l"/>
                      <a:r>
                        <a:rPr sz="1300" b="0" i="0" lang="en-US">
                          <a:solidFill>
                            <a:srgbClr val="1C2333"/>
                          </a:solidFill>
                          <a:latin typeface="Segoe UI"/>
                        </a:rPr>
                        <a:t>run</a:t>
                      </a:r>
                    </a:p>
                  </a:txBody>
                  <a:tcPr>
                    <a:solidFill>
                      <a:srgbClr val="FFFFFF"/>
                    </a:solidFill>
                  </a:tcPr>
                </a:tc>
              </a:tr>
              <a:tr h="347472">
                <a:tc>
                  <a:txBody>
                    <a:bodyPr/>
                    <a:lstStyle/>
                    <a:p>
                      <a:pPr rtl="1" algn="r"/>
                      <a:r>
                        <a:rPr sz="1600" b="0" i="0" lang="ar-EG" altLang="en-US">
                          <a:solidFill>
                            <a:srgbClr val="1C2333"/>
                          </a:solidFill>
                          <a:latin typeface="Traditional Arabic"/>
                        </a:rPr>
                        <a:t>يمتلك</a:t>
                      </a:r>
                    </a:p>
                  </a:txBody>
                  <a:tcPr>
                    <a:solidFill>
                      <a:srgbClr val="EEF3FA"/>
                    </a:solidFill>
                  </a:tcPr>
                </a:tc>
                <a:tc>
                  <a:txBody>
                    <a:bodyPr/>
                    <a:lstStyle/>
                    <a:p>
                      <a:pPr rtl="0" algn="l"/>
                      <a:r>
                        <a:rPr sz="1300" b="0" i="0" lang="en-US">
                          <a:solidFill>
                            <a:srgbClr val="1C2333"/>
                          </a:solidFill>
                          <a:latin typeface="Segoe UI"/>
                        </a:rPr>
                        <a:t>have / has</a:t>
                      </a:r>
                    </a:p>
                  </a:txBody>
                  <a:tcPr>
                    <a:solidFill>
                      <a:srgbClr val="EEF3FA"/>
                    </a:solidFill>
                  </a:tcPr>
                </a:tc>
                <a:tc>
                  <a:txBody>
                    <a:bodyPr/>
                    <a:lstStyle/>
                    <a:p>
                      <a:pPr rtl="0" algn="l"/>
                      <a:r>
                        <a:rPr sz="1300" b="0" i="0" lang="en-US">
                          <a:solidFill>
                            <a:srgbClr val="1C2333"/>
                          </a:solidFill>
                          <a:latin typeface="Segoe UI"/>
                        </a:rPr>
                        <a:t>had</a:t>
                      </a:r>
                    </a:p>
                  </a:txBody>
                  <a:tcPr>
                    <a:solidFill>
                      <a:srgbClr val="EEF3FA"/>
                    </a:solidFill>
                  </a:tcPr>
                </a:tc>
                <a:tc>
                  <a:txBody>
                    <a:bodyPr/>
                    <a:lstStyle/>
                    <a:p>
                      <a:pPr rtl="0" algn="l"/>
                      <a:r>
                        <a:rPr sz="1300" b="0" i="0" lang="en-US">
                          <a:solidFill>
                            <a:srgbClr val="1C2333"/>
                          </a:solidFill>
                          <a:latin typeface="Segoe UI"/>
                        </a:rPr>
                        <a:t>had</a:t>
                      </a:r>
                    </a:p>
                  </a:txBody>
                  <a:tcPr>
                    <a:solidFill>
                      <a:srgbClr val="EEF3FA"/>
                    </a:solidFill>
                  </a:tcPr>
                </a:tc>
              </a:tr>
              <a:tr h="347472">
                <a:tc>
                  <a:txBody>
                    <a:bodyPr/>
                    <a:lstStyle/>
                    <a:p>
                      <a:pPr rtl="1" algn="r"/>
                      <a:r>
                        <a:rPr sz="1600" b="0" i="0" lang="ar-EG" altLang="en-US">
                          <a:solidFill>
                            <a:srgbClr val="1C2333"/>
                          </a:solidFill>
                          <a:latin typeface="Traditional Arabic"/>
                        </a:rPr>
                        <a:t>يكون</a:t>
                      </a:r>
                    </a:p>
                  </a:txBody>
                  <a:tcPr>
                    <a:solidFill>
                      <a:srgbClr val="FFFFFF"/>
                    </a:solidFill>
                  </a:tcPr>
                </a:tc>
                <a:tc>
                  <a:txBody>
                    <a:bodyPr/>
                    <a:lstStyle/>
                    <a:p>
                      <a:pPr rtl="0" algn="l"/>
                      <a:r>
                        <a:rPr sz="1300" b="0" i="0" lang="en-US">
                          <a:solidFill>
                            <a:srgbClr val="1C2333"/>
                          </a:solidFill>
                          <a:latin typeface="Segoe UI"/>
                        </a:rPr>
                        <a:t>is / am</a:t>
                      </a:r>
                    </a:p>
                  </a:txBody>
                  <a:tcPr>
                    <a:solidFill>
                      <a:srgbClr val="FFFFFF"/>
                    </a:solidFill>
                  </a:tcPr>
                </a:tc>
                <a:tc>
                  <a:txBody>
                    <a:bodyPr/>
                    <a:lstStyle/>
                    <a:p>
                      <a:pPr rtl="0" algn="l"/>
                      <a:r>
                        <a:rPr sz="1300" b="0" i="0" lang="en-US">
                          <a:solidFill>
                            <a:srgbClr val="1C2333"/>
                          </a:solidFill>
                          <a:latin typeface="Segoe UI"/>
                        </a:rPr>
                        <a:t>was</a:t>
                      </a:r>
                    </a:p>
                  </a:txBody>
                  <a:tcPr>
                    <a:solidFill>
                      <a:srgbClr val="FFFFFF"/>
                    </a:solidFill>
                  </a:tcPr>
                </a:tc>
                <a:tc>
                  <a:txBody>
                    <a:bodyPr/>
                    <a:lstStyle/>
                    <a:p>
                      <a:pPr rtl="0" algn="l"/>
                      <a:r>
                        <a:rPr sz="1300" b="0" i="0" lang="en-US">
                          <a:solidFill>
                            <a:srgbClr val="1C2333"/>
                          </a:solidFill>
                          <a:latin typeface="Segoe UI"/>
                        </a:rPr>
                        <a:t>been</a:t>
                      </a:r>
                    </a:p>
                  </a:txBody>
                  <a:tcPr>
                    <a:solidFill>
                      <a:srgbClr val="FFFFFF"/>
                    </a:solidFill>
                  </a:tcPr>
                </a:tc>
              </a:tr>
              <a:tr h="347472">
                <a:tc>
                  <a:txBody>
                    <a:bodyPr/>
                    <a:lstStyle/>
                    <a:p>
                      <a:pPr rtl="1" algn="r"/>
                      <a:r>
                        <a:rPr sz="1600" b="0" i="0" lang="ar-EG" altLang="en-US">
                          <a:solidFill>
                            <a:srgbClr val="1C2333"/>
                          </a:solidFill>
                          <a:latin typeface="Traditional Arabic"/>
                        </a:rPr>
                        <a:t>يكونون</a:t>
                      </a:r>
                    </a:p>
                  </a:txBody>
                  <a:tcPr>
                    <a:solidFill>
                      <a:srgbClr val="EEF3FA"/>
                    </a:solidFill>
                  </a:tcPr>
                </a:tc>
                <a:tc>
                  <a:txBody>
                    <a:bodyPr/>
                    <a:lstStyle/>
                    <a:p>
                      <a:pPr rtl="0" algn="l"/>
                      <a:r>
                        <a:rPr sz="1300" b="0" i="0" lang="en-US">
                          <a:solidFill>
                            <a:srgbClr val="1C2333"/>
                          </a:solidFill>
                          <a:latin typeface="Segoe UI"/>
                        </a:rPr>
                        <a:t>are</a:t>
                      </a:r>
                    </a:p>
                  </a:txBody>
                  <a:tcPr>
                    <a:solidFill>
                      <a:srgbClr val="EEF3FA"/>
                    </a:solidFill>
                  </a:tcPr>
                </a:tc>
                <a:tc>
                  <a:txBody>
                    <a:bodyPr/>
                    <a:lstStyle/>
                    <a:p>
                      <a:pPr rtl="0" algn="l"/>
                      <a:r>
                        <a:rPr sz="1300" b="0" i="0" lang="en-US">
                          <a:solidFill>
                            <a:srgbClr val="1C2333"/>
                          </a:solidFill>
                          <a:latin typeface="Segoe UI"/>
                        </a:rPr>
                        <a:t>were</a:t>
                      </a:r>
                    </a:p>
                  </a:txBody>
                  <a:tcPr>
                    <a:solidFill>
                      <a:srgbClr val="EEF3FA"/>
                    </a:solidFill>
                  </a:tcPr>
                </a:tc>
                <a:tc>
                  <a:txBody>
                    <a:bodyPr/>
                    <a:lstStyle/>
                    <a:p>
                      <a:pPr rtl="0" algn="l"/>
                      <a:r>
                        <a:rPr sz="1300" b="0" i="0" lang="en-US">
                          <a:solidFill>
                            <a:srgbClr val="1C2333"/>
                          </a:solidFill>
                          <a:latin typeface="Segoe UI"/>
                        </a:rPr>
                        <a:t>been</a:t>
                      </a:r>
                    </a:p>
                  </a:txBody>
                  <a:tcPr>
                    <a:solidFill>
                      <a:srgbClr val="EEF3FA"/>
                    </a:solidFill>
                  </a:tcPr>
                </a:tc>
              </a:tr>
            </a:tbl>
          </a:graphicData>
        </a:graphic>
      </p:graphicFrame>
    </p:spTree>
  </p:cSld>
  <p:clrMapOvr>
    <a:masterClrMapping/>
  </p:clrMapOvr>
  <p:transition spd="med">
    <p:cover dir="d"/>
  </p:transition>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يفعل</a:t>
                      </a:r>
                    </a:p>
                  </a:txBody>
                  <a:tcPr>
                    <a:solidFill>
                      <a:srgbClr val="FFFFFF"/>
                    </a:solidFill>
                  </a:tcPr>
                </a:tc>
                <a:tc>
                  <a:txBody>
                    <a:bodyPr/>
                    <a:lstStyle/>
                    <a:p>
                      <a:pPr rtl="0" algn="l"/>
                      <a:r>
                        <a:rPr sz="1300" b="0" i="0" lang="en-US">
                          <a:solidFill>
                            <a:srgbClr val="1C2333"/>
                          </a:solidFill>
                          <a:latin typeface="Segoe UI"/>
                        </a:rPr>
                        <a:t>do / does</a:t>
                      </a:r>
                    </a:p>
                  </a:txBody>
                  <a:tcPr>
                    <a:solidFill>
                      <a:srgbClr val="FFFFFF"/>
                    </a:solidFill>
                  </a:tcPr>
                </a:tc>
                <a:tc>
                  <a:txBody>
                    <a:bodyPr/>
                    <a:lstStyle/>
                    <a:p>
                      <a:pPr rtl="0" algn="l"/>
                      <a:r>
                        <a:rPr sz="1300" b="0" i="0" lang="en-US">
                          <a:solidFill>
                            <a:srgbClr val="1C2333"/>
                          </a:solidFill>
                          <a:latin typeface="Segoe UI"/>
                        </a:rPr>
                        <a:t>did</a:t>
                      </a:r>
                    </a:p>
                  </a:txBody>
                  <a:tcPr>
                    <a:solidFill>
                      <a:srgbClr val="FFFFFF"/>
                    </a:solidFill>
                  </a:tcPr>
                </a:tc>
                <a:tc>
                  <a:txBody>
                    <a:bodyPr/>
                    <a:lstStyle/>
                    <a:p>
                      <a:pPr rtl="0" algn="l"/>
                      <a:r>
                        <a:rPr sz="1300" b="0" i="0" lang="en-US">
                          <a:solidFill>
                            <a:srgbClr val="1C2333"/>
                          </a:solidFill>
                          <a:latin typeface="Segoe UI"/>
                        </a:rPr>
                        <a:t>done</a:t>
                      </a:r>
                    </a:p>
                  </a:txBody>
                  <a:tcPr>
                    <a:solidFill>
                      <a:srgbClr val="FFFFFF"/>
                    </a:solidFill>
                  </a:tcPr>
                </a:tc>
              </a:tr>
              <a:tr h="347472">
                <a:tc>
                  <a:txBody>
                    <a:bodyPr/>
                    <a:lstStyle/>
                    <a:p>
                      <a:pPr rtl="1" algn="r"/>
                      <a:r>
                        <a:rPr sz="1600" b="0" i="0" lang="ar-EG" altLang="en-US">
                          <a:solidFill>
                            <a:srgbClr val="1C2333"/>
                          </a:solidFill>
                          <a:latin typeface="Traditional Arabic"/>
                        </a:rPr>
                        <a:t>يشعر</a:t>
                      </a:r>
                    </a:p>
                  </a:txBody>
                  <a:tcPr>
                    <a:solidFill>
                      <a:srgbClr val="EEF3FA"/>
                    </a:solidFill>
                  </a:tcPr>
                </a:tc>
                <a:tc>
                  <a:txBody>
                    <a:bodyPr/>
                    <a:lstStyle/>
                    <a:p>
                      <a:pPr rtl="0" algn="l"/>
                      <a:r>
                        <a:rPr sz="1300" b="0" i="0" lang="en-US">
                          <a:solidFill>
                            <a:srgbClr val="1C2333"/>
                          </a:solidFill>
                          <a:latin typeface="Segoe UI"/>
                        </a:rPr>
                        <a:t>feel</a:t>
                      </a:r>
                    </a:p>
                  </a:txBody>
                  <a:tcPr>
                    <a:solidFill>
                      <a:srgbClr val="EEF3FA"/>
                    </a:solidFill>
                  </a:tcPr>
                </a:tc>
                <a:tc>
                  <a:txBody>
                    <a:bodyPr/>
                    <a:lstStyle/>
                    <a:p>
                      <a:pPr rtl="0" algn="l"/>
                      <a:r>
                        <a:rPr sz="1300" b="0" i="0" lang="en-US">
                          <a:solidFill>
                            <a:srgbClr val="1C2333"/>
                          </a:solidFill>
                          <a:latin typeface="Segoe UI"/>
                        </a:rPr>
                        <a:t>felt</a:t>
                      </a:r>
                    </a:p>
                  </a:txBody>
                  <a:tcPr>
                    <a:solidFill>
                      <a:srgbClr val="EEF3FA"/>
                    </a:solidFill>
                  </a:tcPr>
                </a:tc>
                <a:tc>
                  <a:txBody>
                    <a:bodyPr/>
                    <a:lstStyle/>
                    <a:p>
                      <a:pPr rtl="0" algn="l"/>
                      <a:r>
                        <a:rPr sz="1300" b="0" i="0" lang="en-US">
                          <a:solidFill>
                            <a:srgbClr val="1C2333"/>
                          </a:solidFill>
                          <a:latin typeface="Segoe UI"/>
                        </a:rPr>
                        <a:t>felt</a:t>
                      </a:r>
                    </a:p>
                  </a:txBody>
                  <a:tcPr>
                    <a:solidFill>
                      <a:srgbClr val="EEF3FA"/>
                    </a:solidFill>
                  </a:tcPr>
                </a:tc>
              </a:tr>
              <a:tr h="347472">
                <a:tc>
                  <a:txBody>
                    <a:bodyPr/>
                    <a:lstStyle/>
                    <a:p>
                      <a:pPr rtl="1" algn="r"/>
                      <a:r>
                        <a:rPr sz="1600" b="0" i="0" lang="ar-EG" altLang="en-US">
                          <a:solidFill>
                            <a:srgbClr val="1C2333"/>
                          </a:solidFill>
                          <a:latin typeface="Traditional Arabic"/>
                        </a:rPr>
                        <a:t>يسمع</a:t>
                      </a:r>
                    </a:p>
                  </a:txBody>
                  <a:tcPr>
                    <a:solidFill>
                      <a:srgbClr val="FFFFFF"/>
                    </a:solidFill>
                  </a:tcPr>
                </a:tc>
                <a:tc>
                  <a:txBody>
                    <a:bodyPr/>
                    <a:lstStyle/>
                    <a:p>
                      <a:pPr rtl="0" algn="l"/>
                      <a:r>
                        <a:rPr sz="1300" b="0" i="0" lang="en-US">
                          <a:solidFill>
                            <a:srgbClr val="1C2333"/>
                          </a:solidFill>
                          <a:latin typeface="Segoe UI"/>
                        </a:rPr>
                        <a:t>hear</a:t>
                      </a:r>
                    </a:p>
                  </a:txBody>
                  <a:tcPr>
                    <a:solidFill>
                      <a:srgbClr val="FFFFFF"/>
                    </a:solidFill>
                  </a:tcPr>
                </a:tc>
                <a:tc>
                  <a:txBody>
                    <a:bodyPr/>
                    <a:lstStyle/>
                    <a:p>
                      <a:pPr rtl="0" algn="l"/>
                      <a:r>
                        <a:rPr sz="1300" b="0" i="0" lang="en-US">
                          <a:solidFill>
                            <a:srgbClr val="1C2333"/>
                          </a:solidFill>
                          <a:latin typeface="Segoe UI"/>
                        </a:rPr>
                        <a:t>heard</a:t>
                      </a:r>
                    </a:p>
                  </a:txBody>
                  <a:tcPr>
                    <a:solidFill>
                      <a:srgbClr val="FFFFFF"/>
                    </a:solidFill>
                  </a:tcPr>
                </a:tc>
                <a:tc>
                  <a:txBody>
                    <a:bodyPr/>
                    <a:lstStyle/>
                    <a:p>
                      <a:pPr rtl="0" algn="l"/>
                      <a:r>
                        <a:rPr sz="1300" b="0" i="0" lang="en-US">
                          <a:solidFill>
                            <a:srgbClr val="1C2333"/>
                          </a:solidFill>
                          <a:latin typeface="Segoe UI"/>
                        </a:rPr>
                        <a:t>heard</a:t>
                      </a:r>
                    </a:p>
                  </a:txBody>
                  <a:tcPr>
                    <a:solidFill>
                      <a:srgbClr val="FFFFFF"/>
                    </a:solidFill>
                  </a:tcPr>
                </a:tc>
              </a:tr>
              <a:tr h="347472">
                <a:tc>
                  <a:txBody>
                    <a:bodyPr/>
                    <a:lstStyle/>
                    <a:p>
                      <a:pPr rtl="1" algn="r"/>
                      <a:r>
                        <a:rPr sz="1600" b="0" i="0" lang="ar-EG" altLang="en-US">
                          <a:solidFill>
                            <a:srgbClr val="1C2333"/>
                          </a:solidFill>
                          <a:latin typeface="Traditional Arabic"/>
                        </a:rPr>
                        <a:t>يأخذ</a:t>
                      </a:r>
                    </a:p>
                  </a:txBody>
                  <a:tcPr>
                    <a:solidFill>
                      <a:srgbClr val="EEF3FA"/>
                    </a:solidFill>
                  </a:tcPr>
                </a:tc>
                <a:tc>
                  <a:txBody>
                    <a:bodyPr/>
                    <a:lstStyle/>
                    <a:p>
                      <a:pPr rtl="0" algn="l"/>
                      <a:r>
                        <a:rPr sz="1300" b="0" i="0" lang="en-US">
                          <a:solidFill>
                            <a:srgbClr val="1C2333"/>
                          </a:solidFill>
                          <a:latin typeface="Segoe UI"/>
                        </a:rPr>
                        <a:t>take</a:t>
                      </a:r>
                    </a:p>
                  </a:txBody>
                  <a:tcPr>
                    <a:solidFill>
                      <a:srgbClr val="EEF3FA"/>
                    </a:solidFill>
                  </a:tcPr>
                </a:tc>
                <a:tc>
                  <a:txBody>
                    <a:bodyPr/>
                    <a:lstStyle/>
                    <a:p>
                      <a:pPr rtl="0" algn="l"/>
                      <a:r>
                        <a:rPr sz="1300" b="0" i="0" lang="en-US">
                          <a:solidFill>
                            <a:srgbClr val="1C2333"/>
                          </a:solidFill>
                          <a:latin typeface="Segoe UI"/>
                        </a:rPr>
                        <a:t>took</a:t>
                      </a:r>
                    </a:p>
                  </a:txBody>
                  <a:tcPr>
                    <a:solidFill>
                      <a:srgbClr val="EEF3FA"/>
                    </a:solidFill>
                  </a:tcPr>
                </a:tc>
                <a:tc>
                  <a:txBody>
                    <a:bodyPr/>
                    <a:lstStyle/>
                    <a:p>
                      <a:pPr rtl="0" algn="l"/>
                      <a:r>
                        <a:rPr sz="1300" b="0" i="0" lang="en-US">
                          <a:solidFill>
                            <a:srgbClr val="1C2333"/>
                          </a:solidFill>
                          <a:latin typeface="Segoe UI"/>
                        </a:rPr>
                        <a:t>taken</a:t>
                      </a:r>
                    </a:p>
                  </a:txBody>
                  <a:tcPr>
                    <a:solidFill>
                      <a:srgbClr val="EEF3FA"/>
                    </a:solidFill>
                  </a:tcPr>
                </a:tc>
              </a:tr>
              <a:tr h="347472">
                <a:tc>
                  <a:txBody>
                    <a:bodyPr/>
                    <a:lstStyle/>
                    <a:p>
                      <a:pPr rtl="1" algn="r"/>
                      <a:r>
                        <a:rPr sz="1600" b="0" i="0" lang="ar-EG" altLang="en-US">
                          <a:solidFill>
                            <a:srgbClr val="1C2333"/>
                          </a:solidFill>
                          <a:latin typeface="Traditional Arabic"/>
                        </a:rPr>
                        <a:t>يفوز</a:t>
                      </a:r>
                    </a:p>
                  </a:txBody>
                  <a:tcPr>
                    <a:solidFill>
                      <a:srgbClr val="FFFFFF"/>
                    </a:solidFill>
                  </a:tcPr>
                </a:tc>
                <a:tc>
                  <a:txBody>
                    <a:bodyPr/>
                    <a:lstStyle/>
                    <a:p>
                      <a:pPr rtl="0" algn="l"/>
                      <a:r>
                        <a:rPr sz="1300" b="0" i="0" lang="en-US">
                          <a:solidFill>
                            <a:srgbClr val="1C2333"/>
                          </a:solidFill>
                          <a:latin typeface="Segoe UI"/>
                        </a:rPr>
                        <a:t>win</a:t>
                      </a:r>
                    </a:p>
                  </a:txBody>
                  <a:tcPr>
                    <a:solidFill>
                      <a:srgbClr val="FFFFFF"/>
                    </a:solidFill>
                  </a:tcPr>
                </a:tc>
                <a:tc>
                  <a:txBody>
                    <a:bodyPr/>
                    <a:lstStyle/>
                    <a:p>
                      <a:pPr rtl="0" algn="l"/>
                      <a:r>
                        <a:rPr sz="1300" b="0" i="0" lang="en-US">
                          <a:solidFill>
                            <a:srgbClr val="1C2333"/>
                          </a:solidFill>
                          <a:latin typeface="Segoe UI"/>
                        </a:rPr>
                        <a:t>won</a:t>
                      </a:r>
                    </a:p>
                  </a:txBody>
                  <a:tcPr>
                    <a:solidFill>
                      <a:srgbClr val="FFFFFF"/>
                    </a:solidFill>
                  </a:tcPr>
                </a:tc>
                <a:tc>
                  <a:txBody>
                    <a:bodyPr/>
                    <a:lstStyle/>
                    <a:p>
                      <a:pPr rtl="0" algn="l"/>
                      <a:r>
                        <a:rPr sz="1300" b="0" i="0" lang="en-US">
                          <a:solidFill>
                            <a:srgbClr val="1C2333"/>
                          </a:solidFill>
                          <a:latin typeface="Segoe UI"/>
                        </a:rPr>
                        <a:t>won</a:t>
                      </a:r>
                    </a:p>
                  </a:txBody>
                  <a:tcPr>
                    <a:solidFill>
                      <a:srgbClr val="FFFFFF"/>
                    </a:solidFill>
                  </a:tcPr>
                </a:tc>
              </a:tr>
              <a:tr h="347472">
                <a:tc>
                  <a:txBody>
                    <a:bodyPr/>
                    <a:lstStyle/>
                    <a:p>
                      <a:pPr rtl="1" algn="r"/>
                      <a:r>
                        <a:rPr sz="1600" b="0" i="0" lang="ar-EG" altLang="en-US">
                          <a:solidFill>
                            <a:srgbClr val="1C2333"/>
                          </a:solidFill>
                          <a:latin typeface="Traditional Arabic"/>
                        </a:rPr>
                        <a:t>يفكر</a:t>
                      </a:r>
                    </a:p>
                  </a:txBody>
                  <a:tcPr>
                    <a:solidFill>
                      <a:srgbClr val="EEF3FA"/>
                    </a:solidFill>
                  </a:tcPr>
                </a:tc>
                <a:tc>
                  <a:txBody>
                    <a:bodyPr/>
                    <a:lstStyle/>
                    <a:p>
                      <a:pPr rtl="0" algn="l"/>
                      <a:r>
                        <a:rPr sz="1300" b="0" i="0" lang="en-US">
                          <a:solidFill>
                            <a:srgbClr val="1C2333"/>
                          </a:solidFill>
                          <a:latin typeface="Segoe UI"/>
                        </a:rPr>
                        <a:t>think</a:t>
                      </a:r>
                    </a:p>
                  </a:txBody>
                  <a:tcPr>
                    <a:solidFill>
                      <a:srgbClr val="EEF3FA"/>
                    </a:solidFill>
                  </a:tcPr>
                </a:tc>
                <a:tc>
                  <a:txBody>
                    <a:bodyPr/>
                    <a:lstStyle/>
                    <a:p>
                      <a:pPr rtl="0" algn="l"/>
                      <a:r>
                        <a:rPr sz="1300" b="0" i="0" lang="en-US">
                          <a:solidFill>
                            <a:srgbClr val="1C2333"/>
                          </a:solidFill>
                          <a:latin typeface="Segoe UI"/>
                        </a:rPr>
                        <a:t>thought</a:t>
                      </a:r>
                    </a:p>
                  </a:txBody>
                  <a:tcPr>
                    <a:solidFill>
                      <a:srgbClr val="EEF3FA"/>
                    </a:solidFill>
                  </a:tcPr>
                </a:tc>
                <a:tc>
                  <a:txBody>
                    <a:bodyPr/>
                    <a:lstStyle/>
                    <a:p>
                      <a:pPr rtl="0" algn="l"/>
                      <a:r>
                        <a:rPr sz="1300" b="0" i="0" lang="en-US">
                          <a:solidFill>
                            <a:srgbClr val="1C2333"/>
                          </a:solidFill>
                          <a:latin typeface="Segoe UI"/>
                        </a:rPr>
                        <a:t>thought</a:t>
                      </a:r>
                    </a:p>
                  </a:txBody>
                  <a:tcPr>
                    <a:solidFill>
                      <a:srgbClr val="EEF3FA"/>
                    </a:solidFill>
                  </a:tcPr>
                </a:tc>
              </a:tr>
              <a:tr h="347472">
                <a:tc>
                  <a:txBody>
                    <a:bodyPr/>
                    <a:lstStyle/>
                    <a:p>
                      <a:pPr rtl="1" algn="r"/>
                      <a:r>
                        <a:rPr sz="1600" b="0" i="0" lang="ar-EG" altLang="en-US">
                          <a:solidFill>
                            <a:srgbClr val="1C2333"/>
                          </a:solidFill>
                          <a:latin typeface="Traditional Arabic"/>
                        </a:rPr>
                        <a:t>يفقد</a:t>
                      </a:r>
                    </a:p>
                  </a:txBody>
                  <a:tcPr>
                    <a:solidFill>
                      <a:srgbClr val="FFFFFF"/>
                    </a:solidFill>
                  </a:tcPr>
                </a:tc>
                <a:tc>
                  <a:txBody>
                    <a:bodyPr/>
                    <a:lstStyle/>
                    <a:p>
                      <a:pPr rtl="0" algn="l"/>
                      <a:r>
                        <a:rPr sz="1300" b="0" i="0" lang="en-US">
                          <a:solidFill>
                            <a:srgbClr val="1C2333"/>
                          </a:solidFill>
                          <a:latin typeface="Segoe UI"/>
                        </a:rPr>
                        <a:t>lose</a:t>
                      </a:r>
                    </a:p>
                  </a:txBody>
                  <a:tcPr>
                    <a:solidFill>
                      <a:srgbClr val="FFFFFF"/>
                    </a:solidFill>
                  </a:tcPr>
                </a:tc>
                <a:tc>
                  <a:txBody>
                    <a:bodyPr/>
                    <a:lstStyle/>
                    <a:p>
                      <a:pPr rtl="0" algn="l"/>
                      <a:r>
                        <a:rPr sz="1300" b="0" i="0" lang="en-US">
                          <a:solidFill>
                            <a:srgbClr val="1C2333"/>
                          </a:solidFill>
                          <a:latin typeface="Segoe UI"/>
                        </a:rPr>
                        <a:t>lost</a:t>
                      </a:r>
                    </a:p>
                  </a:txBody>
                  <a:tcPr>
                    <a:solidFill>
                      <a:srgbClr val="FFFFFF"/>
                    </a:solidFill>
                  </a:tcPr>
                </a:tc>
                <a:tc>
                  <a:txBody>
                    <a:bodyPr/>
                    <a:lstStyle/>
                    <a:p>
                      <a:pPr rtl="0" algn="l"/>
                      <a:r>
                        <a:rPr sz="1300" b="0" i="0" lang="en-US">
                          <a:solidFill>
                            <a:srgbClr val="1C2333"/>
                          </a:solidFill>
                          <a:latin typeface="Segoe UI"/>
                        </a:rPr>
                        <a:t>lost</a:t>
                      </a:r>
                    </a:p>
                  </a:txBody>
                  <a:tcPr>
                    <a:solidFill>
                      <a:srgbClr val="FFFFFF"/>
                    </a:solidFill>
                  </a:tcPr>
                </a:tc>
              </a:tr>
              <a:tr h="347472">
                <a:tc>
                  <a:txBody>
                    <a:bodyPr/>
                    <a:lstStyle/>
                    <a:p>
                      <a:pPr rtl="1" algn="r"/>
                      <a:r>
                        <a:rPr sz="1600" b="0" i="0" lang="ar-EG" altLang="en-US">
                          <a:solidFill>
                            <a:srgbClr val="1C2333"/>
                          </a:solidFill>
                          <a:latin typeface="Traditional Arabic"/>
                        </a:rPr>
                        <a:t>يستيقظ</a:t>
                      </a:r>
                    </a:p>
                  </a:txBody>
                  <a:tcPr>
                    <a:solidFill>
                      <a:srgbClr val="EEF3FA"/>
                    </a:solidFill>
                  </a:tcPr>
                </a:tc>
                <a:tc>
                  <a:txBody>
                    <a:bodyPr/>
                    <a:lstStyle/>
                    <a:p>
                      <a:pPr rtl="0" algn="l"/>
                      <a:r>
                        <a:rPr sz="1300" b="0" i="0" lang="en-US">
                          <a:solidFill>
                            <a:srgbClr val="1C2333"/>
                          </a:solidFill>
                          <a:latin typeface="Segoe UI"/>
                        </a:rPr>
                        <a:t>get up</a:t>
                      </a:r>
                    </a:p>
                  </a:txBody>
                  <a:tcPr>
                    <a:solidFill>
                      <a:srgbClr val="EEF3FA"/>
                    </a:solidFill>
                  </a:tcPr>
                </a:tc>
                <a:tc>
                  <a:txBody>
                    <a:bodyPr/>
                    <a:lstStyle/>
                    <a:p>
                      <a:pPr rtl="0" algn="l"/>
                      <a:r>
                        <a:rPr sz="1300" b="0" i="0" lang="en-US">
                          <a:solidFill>
                            <a:srgbClr val="1C2333"/>
                          </a:solidFill>
                          <a:latin typeface="Segoe UI"/>
                        </a:rPr>
                        <a:t>got up</a:t>
                      </a:r>
                    </a:p>
                  </a:txBody>
                  <a:tcPr>
                    <a:solidFill>
                      <a:srgbClr val="EEF3FA"/>
                    </a:solidFill>
                  </a:tcPr>
                </a:tc>
                <a:tc>
                  <a:txBody>
                    <a:bodyPr/>
                    <a:lstStyle/>
                    <a:p>
                      <a:pPr rtl="0" algn="l"/>
                      <a:r>
                        <a:rPr sz="1300" b="0" i="0" lang="en-US">
                          <a:solidFill>
                            <a:srgbClr val="1C2333"/>
                          </a:solidFill>
                          <a:latin typeface="Segoe UI"/>
                        </a:rPr>
                        <a:t>got up</a:t>
                      </a:r>
                    </a:p>
                  </a:txBody>
                  <a:tcPr>
                    <a:solidFill>
                      <a:srgbClr val="EEF3FA"/>
                    </a:solidFill>
                  </a:tcPr>
                </a:tc>
              </a:tr>
              <a:tr h="347472">
                <a:tc>
                  <a:txBody>
                    <a:bodyPr/>
                    <a:lstStyle/>
                    <a:p>
                      <a:pPr rtl="1" algn="r"/>
                      <a:r>
                        <a:rPr sz="1600" b="0" i="0" lang="ar-EG" altLang="en-US">
                          <a:solidFill>
                            <a:srgbClr val="1C2333"/>
                          </a:solidFill>
                          <a:latin typeface="Traditional Arabic"/>
                        </a:rPr>
                        <a:t>يرتدي</a:t>
                      </a:r>
                    </a:p>
                  </a:txBody>
                  <a:tcPr>
                    <a:solidFill>
                      <a:srgbClr val="FFFFFF"/>
                    </a:solidFill>
                  </a:tcPr>
                </a:tc>
                <a:tc>
                  <a:txBody>
                    <a:bodyPr/>
                    <a:lstStyle/>
                    <a:p>
                      <a:pPr rtl="0" algn="l"/>
                      <a:r>
                        <a:rPr sz="1300" b="0" i="0" lang="en-US">
                          <a:solidFill>
                            <a:srgbClr val="1C2333"/>
                          </a:solidFill>
                          <a:latin typeface="Segoe UI"/>
                        </a:rPr>
                        <a:t>wear</a:t>
                      </a:r>
                    </a:p>
                  </a:txBody>
                  <a:tcPr>
                    <a:solidFill>
                      <a:srgbClr val="FFFFFF"/>
                    </a:solidFill>
                  </a:tcPr>
                </a:tc>
                <a:tc>
                  <a:txBody>
                    <a:bodyPr/>
                    <a:lstStyle/>
                    <a:p>
                      <a:pPr rtl="0" algn="l"/>
                      <a:r>
                        <a:rPr sz="1300" b="0" i="0" lang="en-US">
                          <a:solidFill>
                            <a:srgbClr val="1C2333"/>
                          </a:solidFill>
                          <a:latin typeface="Segoe UI"/>
                        </a:rPr>
                        <a:t>wore</a:t>
                      </a:r>
                    </a:p>
                  </a:txBody>
                  <a:tcPr>
                    <a:solidFill>
                      <a:srgbClr val="FFFFFF"/>
                    </a:solidFill>
                  </a:tcPr>
                </a:tc>
                <a:tc>
                  <a:txBody>
                    <a:bodyPr/>
                    <a:lstStyle/>
                    <a:p>
                      <a:pPr rtl="0" algn="l"/>
                      <a:r>
                        <a:rPr sz="1300" b="0" i="0" lang="en-US">
                          <a:solidFill>
                            <a:srgbClr val="1C2333"/>
                          </a:solidFill>
                          <a:latin typeface="Segoe UI"/>
                        </a:rPr>
                        <a:t>worn</a:t>
                      </a:r>
                    </a:p>
                  </a:txBody>
                  <a:tcPr>
                    <a:solidFill>
                      <a:srgbClr val="FFFFFF"/>
                    </a:solidFill>
                  </a:tcPr>
                </a:tc>
              </a:tr>
              <a:tr h="347472">
                <a:tc>
                  <a:txBody>
                    <a:bodyPr/>
                    <a:lstStyle/>
                    <a:p>
                      <a:pPr rtl="1" algn="r"/>
                      <a:r>
                        <a:rPr sz="1600" b="0" i="0" lang="ar-EG" altLang="en-US">
                          <a:solidFill>
                            <a:srgbClr val="1C2333"/>
                          </a:solidFill>
                          <a:latin typeface="Traditional Arabic"/>
                        </a:rPr>
                        <a:t>ينسى</a:t>
                      </a:r>
                    </a:p>
                  </a:txBody>
                  <a:tcPr>
                    <a:solidFill>
                      <a:srgbClr val="EEF3FA"/>
                    </a:solidFill>
                  </a:tcPr>
                </a:tc>
                <a:tc>
                  <a:txBody>
                    <a:bodyPr/>
                    <a:lstStyle/>
                    <a:p>
                      <a:pPr rtl="0" algn="l"/>
                      <a:r>
                        <a:rPr sz="1300" b="0" i="0" lang="en-US">
                          <a:solidFill>
                            <a:srgbClr val="1C2333"/>
                          </a:solidFill>
                          <a:latin typeface="Segoe UI"/>
                        </a:rPr>
                        <a:t>forget</a:t>
                      </a:r>
                    </a:p>
                  </a:txBody>
                  <a:tcPr>
                    <a:solidFill>
                      <a:srgbClr val="EEF3FA"/>
                    </a:solidFill>
                  </a:tcPr>
                </a:tc>
                <a:tc>
                  <a:txBody>
                    <a:bodyPr/>
                    <a:lstStyle/>
                    <a:p>
                      <a:pPr rtl="0" algn="l"/>
                      <a:r>
                        <a:rPr sz="1300" b="0" i="0" lang="en-US">
                          <a:solidFill>
                            <a:srgbClr val="1C2333"/>
                          </a:solidFill>
                          <a:latin typeface="Segoe UI"/>
                        </a:rPr>
                        <a:t>forgot</a:t>
                      </a:r>
                    </a:p>
                  </a:txBody>
                  <a:tcPr>
                    <a:solidFill>
                      <a:srgbClr val="EEF3FA"/>
                    </a:solidFill>
                  </a:tcPr>
                </a:tc>
                <a:tc>
                  <a:txBody>
                    <a:bodyPr/>
                    <a:lstStyle/>
                    <a:p>
                      <a:pPr rtl="0" algn="l"/>
                      <a:r>
                        <a:rPr sz="1300" b="0" i="0" lang="en-US">
                          <a:solidFill>
                            <a:srgbClr val="1C2333"/>
                          </a:solidFill>
                          <a:latin typeface="Segoe UI"/>
                        </a:rPr>
                        <a:t>forgotten</a:t>
                      </a:r>
                    </a:p>
                  </a:txBody>
                  <a:tcPr>
                    <a:solidFill>
                      <a:srgbClr val="EEF3FA"/>
                    </a:solidFill>
                  </a:tcPr>
                </a:tc>
              </a:tr>
              <a:tr h="347472">
                <a:tc>
                  <a:txBody>
                    <a:bodyPr/>
                    <a:lstStyle/>
                    <a:p>
                      <a:pPr rtl="1" algn="r"/>
                      <a:r>
                        <a:rPr sz="1600" b="0" i="0" lang="ar-EG" altLang="en-US">
                          <a:solidFill>
                            <a:srgbClr val="1C2333"/>
                          </a:solidFill>
                          <a:latin typeface="Traditional Arabic"/>
                        </a:rPr>
                        <a:t>يقول</a:t>
                      </a:r>
                    </a:p>
                  </a:txBody>
                  <a:tcPr>
                    <a:solidFill>
                      <a:srgbClr val="FFFFFF"/>
                    </a:solidFill>
                  </a:tcPr>
                </a:tc>
                <a:tc>
                  <a:txBody>
                    <a:bodyPr/>
                    <a:lstStyle/>
                    <a:p>
                      <a:pPr rtl="0" algn="l"/>
                      <a:r>
                        <a:rPr sz="1300" b="0" i="0" lang="en-US">
                          <a:solidFill>
                            <a:srgbClr val="1C2333"/>
                          </a:solidFill>
                          <a:latin typeface="Segoe UI"/>
                        </a:rPr>
                        <a:t>say</a:t>
                      </a:r>
                    </a:p>
                  </a:txBody>
                  <a:tcPr>
                    <a:solidFill>
                      <a:srgbClr val="FFFFFF"/>
                    </a:solidFill>
                  </a:tcPr>
                </a:tc>
                <a:tc>
                  <a:txBody>
                    <a:bodyPr/>
                    <a:lstStyle/>
                    <a:p>
                      <a:pPr rtl="0" algn="l"/>
                      <a:r>
                        <a:rPr sz="1300" b="0" i="0" lang="en-US">
                          <a:solidFill>
                            <a:srgbClr val="1C2333"/>
                          </a:solidFill>
                          <a:latin typeface="Segoe UI"/>
                        </a:rPr>
                        <a:t>said</a:t>
                      </a:r>
                    </a:p>
                  </a:txBody>
                  <a:tcPr>
                    <a:solidFill>
                      <a:srgbClr val="FFFFFF"/>
                    </a:solidFill>
                  </a:tcPr>
                </a:tc>
                <a:tc>
                  <a:txBody>
                    <a:bodyPr/>
                    <a:lstStyle/>
                    <a:p>
                      <a:pPr rtl="0" algn="l"/>
                      <a:r>
                        <a:rPr sz="1300" b="0" i="0" lang="en-US">
                          <a:solidFill>
                            <a:srgbClr val="1C2333"/>
                          </a:solidFill>
                          <a:latin typeface="Segoe UI"/>
                        </a:rPr>
                        <a:t>said</a:t>
                      </a:r>
                    </a:p>
                  </a:txBody>
                  <a:tcPr>
                    <a:solidFill>
                      <a:srgbClr val="FFFFFF"/>
                    </a:solidFill>
                  </a:tcPr>
                </a:tc>
              </a:tr>
              <a:tr h="347472">
                <a:tc>
                  <a:txBody>
                    <a:bodyPr/>
                    <a:lstStyle/>
                    <a:p>
                      <a:pPr rtl="1" algn="r"/>
                      <a:r>
                        <a:rPr sz="1600" b="0" i="0" lang="ar-EG" altLang="en-US">
                          <a:solidFill>
                            <a:srgbClr val="1C2333"/>
                          </a:solidFill>
                          <a:latin typeface="Traditional Arabic"/>
                        </a:rPr>
                        <a:t>يعرف</a:t>
                      </a:r>
                    </a:p>
                  </a:txBody>
                  <a:tcPr>
                    <a:solidFill>
                      <a:srgbClr val="EEF3FA"/>
                    </a:solidFill>
                  </a:tcPr>
                </a:tc>
                <a:tc>
                  <a:txBody>
                    <a:bodyPr/>
                    <a:lstStyle/>
                    <a:p>
                      <a:pPr rtl="0" algn="l"/>
                      <a:r>
                        <a:rPr sz="1300" b="0" i="0" lang="en-US">
                          <a:solidFill>
                            <a:srgbClr val="1C2333"/>
                          </a:solidFill>
                          <a:latin typeface="Segoe UI"/>
                        </a:rPr>
                        <a:t>know</a:t>
                      </a:r>
                    </a:p>
                  </a:txBody>
                  <a:tcPr>
                    <a:solidFill>
                      <a:srgbClr val="EEF3FA"/>
                    </a:solidFill>
                  </a:tcPr>
                </a:tc>
                <a:tc>
                  <a:txBody>
                    <a:bodyPr/>
                    <a:lstStyle/>
                    <a:p>
                      <a:pPr rtl="0" algn="l"/>
                      <a:r>
                        <a:rPr sz="1300" b="0" i="0" lang="en-US">
                          <a:solidFill>
                            <a:srgbClr val="1C2333"/>
                          </a:solidFill>
                          <a:latin typeface="Segoe UI"/>
                        </a:rPr>
                        <a:t>knew</a:t>
                      </a:r>
                    </a:p>
                  </a:txBody>
                  <a:tcPr>
                    <a:solidFill>
                      <a:srgbClr val="EEF3FA"/>
                    </a:solidFill>
                  </a:tcPr>
                </a:tc>
                <a:tc>
                  <a:txBody>
                    <a:bodyPr/>
                    <a:lstStyle/>
                    <a:p>
                      <a:pPr rtl="0" algn="l"/>
                      <a:r>
                        <a:rPr sz="1300" b="0" i="0" lang="en-US">
                          <a:solidFill>
                            <a:srgbClr val="1C2333"/>
                          </a:solidFill>
                          <a:latin typeface="Segoe UI"/>
                        </a:rPr>
                        <a:t>known</a:t>
                      </a:r>
                    </a:p>
                  </a:txBody>
                  <a:tcPr>
                    <a:solidFill>
                      <a:srgbClr val="EEF3FA"/>
                    </a:solidFill>
                  </a:tcPr>
                </a:tc>
              </a:tr>
            </a:tbl>
          </a:graphicData>
        </a:graphic>
      </p:graphicFrame>
    </p:spTree>
  </p:cSld>
  <p:clrMapOvr>
    <a:masterClrMapping/>
  </p:clrMapOvr>
  <p:transition spd="med">
    <p:circle/>
  </p:transition>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يبني</a:t>
                      </a:r>
                    </a:p>
                  </a:txBody>
                  <a:tcPr>
                    <a:solidFill>
                      <a:srgbClr val="FFFFFF"/>
                    </a:solidFill>
                  </a:tcPr>
                </a:tc>
                <a:tc>
                  <a:txBody>
                    <a:bodyPr/>
                    <a:lstStyle/>
                    <a:p>
                      <a:pPr rtl="0" algn="l"/>
                      <a:r>
                        <a:rPr sz="1300" b="0" i="0" lang="en-US">
                          <a:solidFill>
                            <a:srgbClr val="1C2333"/>
                          </a:solidFill>
                          <a:latin typeface="Segoe UI"/>
                        </a:rPr>
                        <a:t>build</a:t>
                      </a:r>
                    </a:p>
                  </a:txBody>
                  <a:tcPr>
                    <a:solidFill>
                      <a:srgbClr val="FFFFFF"/>
                    </a:solidFill>
                  </a:tcPr>
                </a:tc>
                <a:tc>
                  <a:txBody>
                    <a:bodyPr/>
                    <a:lstStyle/>
                    <a:p>
                      <a:pPr rtl="0" algn="l"/>
                      <a:r>
                        <a:rPr sz="1300" b="0" i="0" lang="en-US">
                          <a:solidFill>
                            <a:srgbClr val="1C2333"/>
                          </a:solidFill>
                          <a:latin typeface="Segoe UI"/>
                        </a:rPr>
                        <a:t>built</a:t>
                      </a:r>
                    </a:p>
                  </a:txBody>
                  <a:tcPr>
                    <a:solidFill>
                      <a:srgbClr val="FFFFFF"/>
                    </a:solidFill>
                  </a:tcPr>
                </a:tc>
                <a:tc>
                  <a:txBody>
                    <a:bodyPr/>
                    <a:lstStyle/>
                    <a:p>
                      <a:pPr rtl="0" algn="l"/>
                      <a:r>
                        <a:rPr sz="1300" b="0" i="0" lang="en-US">
                          <a:solidFill>
                            <a:srgbClr val="1C2333"/>
                          </a:solidFill>
                          <a:latin typeface="Segoe UI"/>
                        </a:rPr>
                        <a:t>built</a:t>
                      </a:r>
                    </a:p>
                  </a:txBody>
                  <a:tcPr>
                    <a:solidFill>
                      <a:srgbClr val="FFFFFF"/>
                    </a:solidFill>
                  </a:tcPr>
                </a:tc>
              </a:tr>
              <a:tr h="347472">
                <a:tc>
                  <a:txBody>
                    <a:bodyPr/>
                    <a:lstStyle/>
                    <a:p>
                      <a:pPr rtl="1" algn="r"/>
                      <a:r>
                        <a:rPr sz="1600" b="0" i="0" lang="ar-EG" altLang="en-US">
                          <a:solidFill>
                            <a:srgbClr val="1C2333"/>
                          </a:solidFill>
                          <a:latin typeface="Traditional Arabic"/>
                        </a:rPr>
                        <a:t>يحفظ</a:t>
                      </a:r>
                    </a:p>
                  </a:txBody>
                  <a:tcPr>
                    <a:solidFill>
                      <a:srgbClr val="EEF3FA"/>
                    </a:solidFill>
                  </a:tcPr>
                </a:tc>
                <a:tc>
                  <a:txBody>
                    <a:bodyPr/>
                    <a:lstStyle/>
                    <a:p>
                      <a:pPr rtl="0" algn="l"/>
                      <a:r>
                        <a:rPr sz="1300" b="0" i="0" lang="en-US">
                          <a:solidFill>
                            <a:srgbClr val="1C2333"/>
                          </a:solidFill>
                          <a:latin typeface="Segoe UI"/>
                        </a:rPr>
                        <a:t>keep</a:t>
                      </a:r>
                    </a:p>
                  </a:txBody>
                  <a:tcPr>
                    <a:solidFill>
                      <a:srgbClr val="EEF3FA"/>
                    </a:solidFill>
                  </a:tcPr>
                </a:tc>
                <a:tc>
                  <a:txBody>
                    <a:bodyPr/>
                    <a:lstStyle/>
                    <a:p>
                      <a:pPr rtl="0" algn="l"/>
                      <a:r>
                        <a:rPr sz="1300" b="0" i="0" lang="en-US">
                          <a:solidFill>
                            <a:srgbClr val="1C2333"/>
                          </a:solidFill>
                          <a:latin typeface="Segoe UI"/>
                        </a:rPr>
                        <a:t>kept</a:t>
                      </a:r>
                    </a:p>
                  </a:txBody>
                  <a:tcPr>
                    <a:solidFill>
                      <a:srgbClr val="EEF3FA"/>
                    </a:solidFill>
                  </a:tcPr>
                </a:tc>
                <a:tc>
                  <a:txBody>
                    <a:bodyPr/>
                    <a:lstStyle/>
                    <a:p>
                      <a:pPr rtl="0" algn="l"/>
                      <a:r>
                        <a:rPr sz="1300" b="0" i="0" lang="en-US">
                          <a:solidFill>
                            <a:srgbClr val="1C2333"/>
                          </a:solidFill>
                          <a:latin typeface="Segoe UI"/>
                        </a:rPr>
                        <a:t>kept</a:t>
                      </a:r>
                    </a:p>
                  </a:txBody>
                  <a:tcPr>
                    <a:solidFill>
                      <a:srgbClr val="EEF3FA"/>
                    </a:solidFill>
                  </a:tcPr>
                </a:tc>
              </a:tr>
              <a:tr h="347472">
                <a:tc>
                  <a:txBody>
                    <a:bodyPr/>
                    <a:lstStyle/>
                    <a:p>
                      <a:pPr rtl="1" algn="r"/>
                      <a:r>
                        <a:rPr sz="1600" b="0" i="0" lang="ar-EG" altLang="en-US">
                          <a:solidFill>
                            <a:srgbClr val="1C2333"/>
                          </a:solidFill>
                          <a:latin typeface="Traditional Arabic"/>
                        </a:rPr>
                        <a:t>ينام</a:t>
                      </a:r>
                    </a:p>
                  </a:txBody>
                  <a:tcPr>
                    <a:solidFill>
                      <a:srgbClr val="FFFFFF"/>
                    </a:solidFill>
                  </a:tcPr>
                </a:tc>
                <a:tc>
                  <a:txBody>
                    <a:bodyPr/>
                    <a:lstStyle/>
                    <a:p>
                      <a:pPr rtl="0" algn="l"/>
                      <a:r>
                        <a:rPr sz="1300" b="0" i="0" lang="en-US">
                          <a:solidFill>
                            <a:srgbClr val="1C2333"/>
                          </a:solidFill>
                          <a:latin typeface="Segoe UI"/>
                        </a:rPr>
                        <a:t>sleep</a:t>
                      </a:r>
                    </a:p>
                  </a:txBody>
                  <a:tcPr>
                    <a:solidFill>
                      <a:srgbClr val="FFFFFF"/>
                    </a:solidFill>
                  </a:tcPr>
                </a:tc>
                <a:tc>
                  <a:txBody>
                    <a:bodyPr/>
                    <a:lstStyle/>
                    <a:p>
                      <a:pPr rtl="0" algn="l"/>
                      <a:r>
                        <a:rPr sz="1300" b="0" i="0" lang="en-US">
                          <a:solidFill>
                            <a:srgbClr val="1C2333"/>
                          </a:solidFill>
                          <a:latin typeface="Segoe UI"/>
                        </a:rPr>
                        <a:t>slept</a:t>
                      </a:r>
                    </a:p>
                  </a:txBody>
                  <a:tcPr>
                    <a:solidFill>
                      <a:srgbClr val="FFFFFF"/>
                    </a:solidFill>
                  </a:tcPr>
                </a:tc>
                <a:tc>
                  <a:txBody>
                    <a:bodyPr/>
                    <a:lstStyle/>
                    <a:p>
                      <a:pPr rtl="0" algn="l"/>
                      <a:r>
                        <a:rPr sz="1300" b="0" i="0" lang="en-US">
                          <a:solidFill>
                            <a:srgbClr val="1C2333"/>
                          </a:solidFill>
                          <a:latin typeface="Segoe UI"/>
                        </a:rPr>
                        <a:t>slept</a:t>
                      </a:r>
                    </a:p>
                  </a:txBody>
                  <a:tcPr>
                    <a:solidFill>
                      <a:srgbClr val="FFFFFF"/>
                    </a:solidFill>
                  </a:tcPr>
                </a:tc>
              </a:tr>
              <a:tr h="347472">
                <a:tc>
                  <a:txBody>
                    <a:bodyPr/>
                    <a:lstStyle/>
                    <a:p>
                      <a:pPr rtl="1" algn="r"/>
                      <a:r>
                        <a:rPr sz="1600" b="0" i="0" lang="ar-EG" altLang="en-US">
                          <a:solidFill>
                            <a:srgbClr val="1C2333"/>
                          </a:solidFill>
                          <a:latin typeface="Traditional Arabic"/>
                        </a:rPr>
                        <a:t>يأتي</a:t>
                      </a:r>
                    </a:p>
                  </a:txBody>
                  <a:tcPr>
                    <a:solidFill>
                      <a:srgbClr val="EEF3FA"/>
                    </a:solidFill>
                  </a:tcPr>
                </a:tc>
                <a:tc>
                  <a:txBody>
                    <a:bodyPr/>
                    <a:lstStyle/>
                    <a:p>
                      <a:pPr rtl="0" algn="l"/>
                      <a:r>
                        <a:rPr sz="1300" b="0" i="0" lang="en-US">
                          <a:solidFill>
                            <a:srgbClr val="1C2333"/>
                          </a:solidFill>
                          <a:latin typeface="Segoe UI"/>
                        </a:rPr>
                        <a:t>come</a:t>
                      </a:r>
                    </a:p>
                  </a:txBody>
                  <a:tcPr>
                    <a:solidFill>
                      <a:srgbClr val="EEF3FA"/>
                    </a:solidFill>
                  </a:tcPr>
                </a:tc>
                <a:tc>
                  <a:txBody>
                    <a:bodyPr/>
                    <a:lstStyle/>
                    <a:p>
                      <a:pPr rtl="0" algn="l"/>
                      <a:r>
                        <a:rPr sz="1300" b="0" i="0" lang="en-US">
                          <a:solidFill>
                            <a:srgbClr val="1C2333"/>
                          </a:solidFill>
                          <a:latin typeface="Segoe UI"/>
                        </a:rPr>
                        <a:t>came</a:t>
                      </a:r>
                    </a:p>
                  </a:txBody>
                  <a:tcPr>
                    <a:solidFill>
                      <a:srgbClr val="EEF3FA"/>
                    </a:solidFill>
                  </a:tcPr>
                </a:tc>
                <a:tc>
                  <a:txBody>
                    <a:bodyPr/>
                    <a:lstStyle/>
                    <a:p>
                      <a:pPr rtl="0" algn="l"/>
                      <a:r>
                        <a:rPr sz="1300" b="0" i="0" lang="en-US">
                          <a:solidFill>
                            <a:srgbClr val="1C2333"/>
                          </a:solidFill>
                          <a:latin typeface="Segoe UI"/>
                        </a:rPr>
                        <a:t>come</a:t>
                      </a:r>
                    </a:p>
                  </a:txBody>
                  <a:tcPr>
                    <a:solidFill>
                      <a:srgbClr val="EEF3FA"/>
                    </a:solidFill>
                  </a:tcPr>
                </a:tc>
              </a:tr>
              <a:tr h="347472">
                <a:tc>
                  <a:txBody>
                    <a:bodyPr/>
                    <a:lstStyle/>
                    <a:p>
                      <a:pPr rtl="1" algn="r"/>
                      <a:r>
                        <a:rPr sz="1600" b="0" i="0" lang="ar-EG" altLang="en-US">
                          <a:solidFill>
                            <a:srgbClr val="1C2333"/>
                          </a:solidFill>
                          <a:latin typeface="Traditional Arabic"/>
                        </a:rPr>
                        <a:t>يلحق</a:t>
                      </a:r>
                    </a:p>
                  </a:txBody>
                  <a:tcPr>
                    <a:solidFill>
                      <a:srgbClr val="FFFFFF"/>
                    </a:solidFill>
                  </a:tcPr>
                </a:tc>
                <a:tc>
                  <a:txBody>
                    <a:bodyPr/>
                    <a:lstStyle/>
                    <a:p>
                      <a:pPr rtl="0" algn="l"/>
                      <a:r>
                        <a:rPr sz="1300" b="0" i="0" lang="en-US">
                          <a:solidFill>
                            <a:srgbClr val="1C2333"/>
                          </a:solidFill>
                          <a:latin typeface="Segoe UI"/>
                        </a:rPr>
                        <a:t>catch</a:t>
                      </a:r>
                    </a:p>
                  </a:txBody>
                  <a:tcPr>
                    <a:solidFill>
                      <a:srgbClr val="FFFFFF"/>
                    </a:solidFill>
                  </a:tcPr>
                </a:tc>
                <a:tc>
                  <a:txBody>
                    <a:bodyPr/>
                    <a:lstStyle/>
                    <a:p>
                      <a:pPr rtl="0" algn="l"/>
                      <a:r>
                        <a:rPr sz="1300" b="0" i="0" lang="en-US">
                          <a:solidFill>
                            <a:srgbClr val="1C2333"/>
                          </a:solidFill>
                          <a:latin typeface="Segoe UI"/>
                        </a:rPr>
                        <a:t>caught</a:t>
                      </a:r>
                    </a:p>
                  </a:txBody>
                  <a:tcPr>
                    <a:solidFill>
                      <a:srgbClr val="FFFFFF"/>
                    </a:solidFill>
                  </a:tcPr>
                </a:tc>
                <a:tc>
                  <a:txBody>
                    <a:bodyPr/>
                    <a:lstStyle/>
                    <a:p>
                      <a:pPr rtl="0" algn="l"/>
                      <a:r>
                        <a:rPr sz="1300" b="0" i="0" lang="en-US">
                          <a:solidFill>
                            <a:srgbClr val="1C2333"/>
                          </a:solidFill>
                          <a:latin typeface="Segoe UI"/>
                        </a:rPr>
                        <a:t>caught</a:t>
                      </a:r>
                    </a:p>
                  </a:txBody>
                  <a:tcPr>
                    <a:solidFill>
                      <a:srgbClr val="FFFFFF"/>
                    </a:solidFill>
                  </a:tcPr>
                </a:tc>
              </a:tr>
              <a:tr h="347472">
                <a:tc>
                  <a:txBody>
                    <a:bodyPr/>
                    <a:lstStyle/>
                    <a:p>
                      <a:pPr rtl="1" algn="r"/>
                      <a:r>
                        <a:rPr sz="1600" b="0" i="0" lang="ar-EG" altLang="en-US">
                          <a:solidFill>
                            <a:srgbClr val="1C2333"/>
                          </a:solidFill>
                          <a:latin typeface="Traditional Arabic"/>
                        </a:rPr>
                        <a:t>ينمو</a:t>
                      </a:r>
                    </a:p>
                  </a:txBody>
                  <a:tcPr>
                    <a:solidFill>
                      <a:srgbClr val="EEF3FA"/>
                    </a:solidFill>
                  </a:tcPr>
                </a:tc>
                <a:tc>
                  <a:txBody>
                    <a:bodyPr/>
                    <a:lstStyle/>
                    <a:p>
                      <a:pPr rtl="0" algn="l"/>
                      <a:r>
                        <a:rPr sz="1300" b="0" i="0" lang="en-US">
                          <a:solidFill>
                            <a:srgbClr val="1C2333"/>
                          </a:solidFill>
                          <a:latin typeface="Segoe UI"/>
                        </a:rPr>
                        <a:t>grow</a:t>
                      </a:r>
                    </a:p>
                  </a:txBody>
                  <a:tcPr>
                    <a:solidFill>
                      <a:srgbClr val="EEF3FA"/>
                    </a:solidFill>
                  </a:tcPr>
                </a:tc>
                <a:tc>
                  <a:txBody>
                    <a:bodyPr/>
                    <a:lstStyle/>
                    <a:p>
                      <a:pPr rtl="0" algn="l"/>
                      <a:r>
                        <a:rPr sz="1300" b="0" i="0" lang="en-US">
                          <a:solidFill>
                            <a:srgbClr val="1C2333"/>
                          </a:solidFill>
                          <a:latin typeface="Segoe UI"/>
                        </a:rPr>
                        <a:t>grew</a:t>
                      </a:r>
                    </a:p>
                  </a:txBody>
                  <a:tcPr>
                    <a:solidFill>
                      <a:srgbClr val="EEF3FA"/>
                    </a:solidFill>
                  </a:tcPr>
                </a:tc>
                <a:tc>
                  <a:txBody>
                    <a:bodyPr/>
                    <a:lstStyle/>
                    <a:p>
                      <a:pPr rtl="0" algn="l"/>
                      <a:r>
                        <a:rPr sz="1300" b="0" i="0" lang="en-US">
                          <a:solidFill>
                            <a:srgbClr val="1C2333"/>
                          </a:solidFill>
                          <a:latin typeface="Segoe UI"/>
                        </a:rPr>
                        <a:t>grown</a:t>
                      </a:r>
                    </a:p>
                  </a:txBody>
                  <a:tcPr>
                    <a:solidFill>
                      <a:srgbClr val="EEF3FA"/>
                    </a:solidFill>
                  </a:tcPr>
                </a:tc>
              </a:tr>
              <a:tr h="347472">
                <a:tc>
                  <a:txBody>
                    <a:bodyPr/>
                    <a:lstStyle/>
                    <a:p>
                      <a:pPr rtl="1" algn="r"/>
                      <a:r>
                        <a:rPr sz="1600" b="0" i="0" lang="ar-EG" altLang="en-US">
                          <a:solidFill>
                            <a:srgbClr val="1C2333"/>
                          </a:solidFill>
                          <a:latin typeface="Traditional Arabic"/>
                        </a:rPr>
                        <a:t>يدفع</a:t>
                      </a:r>
                    </a:p>
                  </a:txBody>
                  <a:tcPr>
                    <a:solidFill>
                      <a:srgbClr val="FFFFFF"/>
                    </a:solidFill>
                  </a:tcPr>
                </a:tc>
                <a:tc>
                  <a:txBody>
                    <a:bodyPr/>
                    <a:lstStyle/>
                    <a:p>
                      <a:pPr rtl="0" algn="l"/>
                      <a:r>
                        <a:rPr sz="1300" b="0" i="0" lang="en-US">
                          <a:solidFill>
                            <a:srgbClr val="1C2333"/>
                          </a:solidFill>
                          <a:latin typeface="Segoe UI"/>
                        </a:rPr>
                        <a:t>pay</a:t>
                      </a:r>
                    </a:p>
                  </a:txBody>
                  <a:tcPr>
                    <a:solidFill>
                      <a:srgbClr val="FFFFFF"/>
                    </a:solidFill>
                  </a:tcPr>
                </a:tc>
                <a:tc>
                  <a:txBody>
                    <a:bodyPr/>
                    <a:lstStyle/>
                    <a:p>
                      <a:pPr rtl="0" algn="l"/>
                      <a:r>
                        <a:rPr sz="1300" b="0" i="0" lang="en-US">
                          <a:solidFill>
                            <a:srgbClr val="1C2333"/>
                          </a:solidFill>
                          <a:latin typeface="Segoe UI"/>
                        </a:rPr>
                        <a:t>paid</a:t>
                      </a:r>
                    </a:p>
                  </a:txBody>
                  <a:tcPr>
                    <a:solidFill>
                      <a:srgbClr val="FFFFFF"/>
                    </a:solidFill>
                  </a:tcPr>
                </a:tc>
                <a:tc>
                  <a:txBody>
                    <a:bodyPr/>
                    <a:lstStyle/>
                    <a:p>
                      <a:pPr rtl="0" algn="l"/>
                      <a:r>
                        <a:rPr sz="1300" b="0" i="0" lang="en-US">
                          <a:solidFill>
                            <a:srgbClr val="1C2333"/>
                          </a:solidFill>
                          <a:latin typeface="Segoe UI"/>
                        </a:rPr>
                        <a:t>paid</a:t>
                      </a:r>
                    </a:p>
                  </a:txBody>
                  <a:tcPr>
                    <a:solidFill>
                      <a:srgbClr val="FFFFFF"/>
                    </a:solidFill>
                  </a:tcPr>
                </a:tc>
              </a:tr>
              <a:tr h="347472">
                <a:tc>
                  <a:txBody>
                    <a:bodyPr/>
                    <a:lstStyle/>
                    <a:p>
                      <a:pPr rtl="1" algn="r"/>
                      <a:r>
                        <a:rPr sz="1600" b="0" i="0" lang="ar-EG" altLang="en-US">
                          <a:solidFill>
                            <a:srgbClr val="1C2333"/>
                          </a:solidFill>
                          <a:latin typeface="Traditional Arabic"/>
                        </a:rPr>
                        <a:t>يجد</a:t>
                      </a:r>
                    </a:p>
                  </a:txBody>
                  <a:tcPr>
                    <a:solidFill>
                      <a:srgbClr val="EEF3FA"/>
                    </a:solidFill>
                  </a:tcPr>
                </a:tc>
                <a:tc>
                  <a:txBody>
                    <a:bodyPr/>
                    <a:lstStyle/>
                    <a:p>
                      <a:pPr rtl="0" algn="l"/>
                      <a:r>
                        <a:rPr sz="1300" b="0" i="0" lang="en-US">
                          <a:solidFill>
                            <a:srgbClr val="1C2333"/>
                          </a:solidFill>
                          <a:latin typeface="Segoe UI"/>
                        </a:rPr>
                        <a:t>find</a:t>
                      </a:r>
                    </a:p>
                  </a:txBody>
                  <a:tcPr>
                    <a:solidFill>
                      <a:srgbClr val="EEF3FA"/>
                    </a:solidFill>
                  </a:tcPr>
                </a:tc>
                <a:tc>
                  <a:txBody>
                    <a:bodyPr/>
                    <a:lstStyle/>
                    <a:p>
                      <a:pPr rtl="0" algn="l"/>
                      <a:r>
                        <a:rPr sz="1300" b="0" i="0" lang="en-US">
                          <a:solidFill>
                            <a:srgbClr val="1C2333"/>
                          </a:solidFill>
                          <a:latin typeface="Segoe UI"/>
                        </a:rPr>
                        <a:t>found</a:t>
                      </a:r>
                    </a:p>
                  </a:txBody>
                  <a:tcPr>
                    <a:solidFill>
                      <a:srgbClr val="EEF3FA"/>
                    </a:solidFill>
                  </a:tcPr>
                </a:tc>
                <a:tc>
                  <a:txBody>
                    <a:bodyPr/>
                    <a:lstStyle/>
                    <a:p>
                      <a:pPr rtl="0" algn="l"/>
                      <a:r>
                        <a:rPr sz="1300" b="0" i="0" lang="en-US">
                          <a:solidFill>
                            <a:srgbClr val="1C2333"/>
                          </a:solidFill>
                          <a:latin typeface="Segoe UI"/>
                        </a:rPr>
                        <a:t>found</a:t>
                      </a:r>
                    </a:p>
                  </a:txBody>
                  <a:tcPr>
                    <a:solidFill>
                      <a:srgbClr val="EEF3FA"/>
                    </a:solidFill>
                  </a:tcPr>
                </a:tc>
              </a:tr>
              <a:tr h="347472">
                <a:tc>
                  <a:txBody>
                    <a:bodyPr/>
                    <a:lstStyle/>
                    <a:p>
                      <a:pPr rtl="1" algn="r"/>
                      <a:r>
                        <a:rPr sz="1600" b="0" i="0" lang="ar-EG" altLang="en-US">
                          <a:solidFill>
                            <a:srgbClr val="1C2333"/>
                          </a:solidFill>
                          <a:latin typeface="Traditional Arabic"/>
                        </a:rPr>
                        <a:t>يقف</a:t>
                      </a:r>
                    </a:p>
                  </a:txBody>
                  <a:tcPr>
                    <a:solidFill>
                      <a:srgbClr val="FFFFFF"/>
                    </a:solidFill>
                  </a:tcPr>
                </a:tc>
                <a:tc>
                  <a:txBody>
                    <a:bodyPr/>
                    <a:lstStyle/>
                    <a:p>
                      <a:pPr rtl="0" algn="l"/>
                      <a:r>
                        <a:rPr sz="1300" b="0" i="0" lang="en-US">
                          <a:solidFill>
                            <a:srgbClr val="1C2333"/>
                          </a:solidFill>
                          <a:latin typeface="Segoe UI"/>
                        </a:rPr>
                        <a:t>stand</a:t>
                      </a:r>
                    </a:p>
                  </a:txBody>
                  <a:tcPr>
                    <a:solidFill>
                      <a:srgbClr val="FFFFFF"/>
                    </a:solidFill>
                  </a:tcPr>
                </a:tc>
                <a:tc>
                  <a:txBody>
                    <a:bodyPr/>
                    <a:lstStyle/>
                    <a:p>
                      <a:pPr rtl="0" algn="l"/>
                      <a:r>
                        <a:rPr sz="1300" b="0" i="0" lang="en-US">
                          <a:solidFill>
                            <a:srgbClr val="1C2333"/>
                          </a:solidFill>
                          <a:latin typeface="Segoe UI"/>
                        </a:rPr>
                        <a:t>stood</a:t>
                      </a:r>
                    </a:p>
                  </a:txBody>
                  <a:tcPr>
                    <a:solidFill>
                      <a:srgbClr val="FFFFFF"/>
                    </a:solidFill>
                  </a:tcPr>
                </a:tc>
                <a:tc>
                  <a:txBody>
                    <a:bodyPr/>
                    <a:lstStyle/>
                    <a:p>
                      <a:pPr rtl="0" algn="l"/>
                      <a:r>
                        <a:rPr sz="1300" b="0" i="0" lang="en-US">
                          <a:solidFill>
                            <a:srgbClr val="1C2333"/>
                          </a:solidFill>
                          <a:latin typeface="Segoe UI"/>
                        </a:rPr>
                        <a:t>stood</a:t>
                      </a:r>
                    </a:p>
                  </a:txBody>
                  <a:tcPr>
                    <a:solidFill>
                      <a:srgbClr val="FFFFFF"/>
                    </a:solidFill>
                  </a:tcPr>
                </a:tc>
              </a:tr>
              <a:tr h="347472">
                <a:tc>
                  <a:txBody>
                    <a:bodyPr/>
                    <a:lstStyle/>
                    <a:p>
                      <a:pPr rtl="1" algn="r"/>
                      <a:r>
                        <a:rPr sz="1600" b="0" i="0" lang="ar-EG" altLang="en-US">
                          <a:solidFill>
                            <a:srgbClr val="1C2333"/>
                          </a:solidFill>
                          <a:latin typeface="Traditional Arabic"/>
                        </a:rPr>
                        <a:t>يغادر</a:t>
                      </a:r>
                    </a:p>
                  </a:txBody>
                  <a:tcPr>
                    <a:solidFill>
                      <a:srgbClr val="EEF3FA"/>
                    </a:solidFill>
                  </a:tcPr>
                </a:tc>
                <a:tc>
                  <a:txBody>
                    <a:bodyPr/>
                    <a:lstStyle/>
                    <a:p>
                      <a:pPr rtl="0" algn="l"/>
                      <a:r>
                        <a:rPr sz="1300" b="0" i="0" lang="en-US">
                          <a:solidFill>
                            <a:srgbClr val="1C2333"/>
                          </a:solidFill>
                          <a:latin typeface="Segoe UI"/>
                        </a:rPr>
                        <a:t>leave</a:t>
                      </a:r>
                    </a:p>
                  </a:txBody>
                  <a:tcPr>
                    <a:solidFill>
                      <a:srgbClr val="EEF3FA"/>
                    </a:solidFill>
                  </a:tcPr>
                </a:tc>
                <a:tc>
                  <a:txBody>
                    <a:bodyPr/>
                    <a:lstStyle/>
                    <a:p>
                      <a:pPr rtl="0" algn="l"/>
                      <a:r>
                        <a:rPr sz="1300" b="0" i="0" lang="en-US">
                          <a:solidFill>
                            <a:srgbClr val="1C2333"/>
                          </a:solidFill>
                          <a:latin typeface="Segoe UI"/>
                        </a:rPr>
                        <a:t>left</a:t>
                      </a:r>
                    </a:p>
                  </a:txBody>
                  <a:tcPr>
                    <a:solidFill>
                      <a:srgbClr val="EEF3FA"/>
                    </a:solidFill>
                  </a:tcPr>
                </a:tc>
                <a:tc>
                  <a:txBody>
                    <a:bodyPr/>
                    <a:lstStyle/>
                    <a:p>
                      <a:pPr rtl="0" algn="l"/>
                      <a:r>
                        <a:rPr sz="1300" b="0" i="0" lang="en-US">
                          <a:solidFill>
                            <a:srgbClr val="1C2333"/>
                          </a:solidFill>
                          <a:latin typeface="Segoe UI"/>
                        </a:rPr>
                        <a:t>left</a:t>
                      </a:r>
                    </a:p>
                  </a:txBody>
                  <a:tcPr>
                    <a:solidFill>
                      <a:srgbClr val="EEF3FA"/>
                    </a:solidFill>
                  </a:tcPr>
                </a:tc>
              </a:tr>
              <a:tr h="347472">
                <a:tc>
                  <a:txBody>
                    <a:bodyPr/>
                    <a:lstStyle/>
                    <a:p>
                      <a:pPr rtl="1" algn="r"/>
                      <a:r>
                        <a:rPr sz="1600" b="0" i="0" lang="ar-EG" altLang="en-US">
                          <a:solidFill>
                            <a:srgbClr val="1C2333"/>
                          </a:solidFill>
                          <a:latin typeface="Traditional Arabic"/>
                        </a:rPr>
                        <a:t>يتحدث</a:t>
                      </a:r>
                    </a:p>
                  </a:txBody>
                  <a:tcPr>
                    <a:solidFill>
                      <a:srgbClr val="FFFFFF"/>
                    </a:solidFill>
                  </a:tcPr>
                </a:tc>
                <a:tc>
                  <a:txBody>
                    <a:bodyPr/>
                    <a:lstStyle/>
                    <a:p>
                      <a:pPr rtl="0" algn="l"/>
                      <a:r>
                        <a:rPr sz="1300" b="0" i="0" lang="en-US">
                          <a:solidFill>
                            <a:srgbClr val="1C2333"/>
                          </a:solidFill>
                          <a:latin typeface="Segoe UI"/>
                        </a:rPr>
                        <a:t>speak</a:t>
                      </a:r>
                    </a:p>
                  </a:txBody>
                  <a:tcPr>
                    <a:solidFill>
                      <a:srgbClr val="FFFFFF"/>
                    </a:solidFill>
                  </a:tcPr>
                </a:tc>
                <a:tc>
                  <a:txBody>
                    <a:bodyPr/>
                    <a:lstStyle/>
                    <a:p>
                      <a:pPr rtl="0" algn="l"/>
                      <a:r>
                        <a:rPr sz="1300" b="0" i="0" lang="en-US">
                          <a:solidFill>
                            <a:srgbClr val="1C2333"/>
                          </a:solidFill>
                          <a:latin typeface="Segoe UI"/>
                        </a:rPr>
                        <a:t>spoke</a:t>
                      </a:r>
                    </a:p>
                  </a:txBody>
                  <a:tcPr>
                    <a:solidFill>
                      <a:srgbClr val="FFFFFF"/>
                    </a:solidFill>
                  </a:tcPr>
                </a:tc>
                <a:tc>
                  <a:txBody>
                    <a:bodyPr/>
                    <a:lstStyle/>
                    <a:p>
                      <a:pPr rtl="0" algn="l"/>
                      <a:r>
                        <a:rPr sz="1300" b="0" i="0" lang="en-US">
                          <a:solidFill>
                            <a:srgbClr val="1C2333"/>
                          </a:solidFill>
                          <a:latin typeface="Segoe UI"/>
                        </a:rPr>
                        <a:t>spoken</a:t>
                      </a:r>
                    </a:p>
                  </a:txBody>
                  <a:tcPr>
                    <a:solidFill>
                      <a:srgbClr val="FFFFFF"/>
                    </a:solidFill>
                  </a:tcPr>
                </a:tc>
              </a:tr>
              <a:tr h="347472">
                <a:tc>
                  <a:txBody>
                    <a:bodyPr/>
                    <a:lstStyle/>
                    <a:p>
                      <a:pPr rtl="1" algn="r"/>
                      <a:r>
                        <a:rPr sz="1600" b="0" i="0" lang="ar-EG" altLang="en-US">
                          <a:solidFill>
                            <a:srgbClr val="1C2333"/>
                          </a:solidFill>
                          <a:latin typeface="Traditional Arabic"/>
                        </a:rPr>
                        <a:t>يعطي</a:t>
                      </a:r>
                    </a:p>
                  </a:txBody>
                  <a:tcPr>
                    <a:solidFill>
                      <a:srgbClr val="EEF3FA"/>
                    </a:solidFill>
                  </a:tcPr>
                </a:tc>
                <a:tc>
                  <a:txBody>
                    <a:bodyPr/>
                    <a:lstStyle/>
                    <a:p>
                      <a:pPr rtl="0" algn="l"/>
                      <a:r>
                        <a:rPr sz="1300" b="0" i="0" lang="en-US">
                          <a:solidFill>
                            <a:srgbClr val="1C2333"/>
                          </a:solidFill>
                          <a:latin typeface="Segoe UI"/>
                        </a:rPr>
                        <a:t>give</a:t>
                      </a:r>
                    </a:p>
                  </a:txBody>
                  <a:tcPr>
                    <a:solidFill>
                      <a:srgbClr val="EEF3FA"/>
                    </a:solidFill>
                  </a:tcPr>
                </a:tc>
                <a:tc>
                  <a:txBody>
                    <a:bodyPr/>
                    <a:lstStyle/>
                    <a:p>
                      <a:pPr rtl="0" algn="l"/>
                      <a:r>
                        <a:rPr sz="1300" b="0" i="0" lang="en-US">
                          <a:solidFill>
                            <a:srgbClr val="1C2333"/>
                          </a:solidFill>
                          <a:latin typeface="Segoe UI"/>
                        </a:rPr>
                        <a:t>gave</a:t>
                      </a:r>
                    </a:p>
                  </a:txBody>
                  <a:tcPr>
                    <a:solidFill>
                      <a:srgbClr val="EEF3FA"/>
                    </a:solidFill>
                  </a:tcPr>
                </a:tc>
                <a:tc>
                  <a:txBody>
                    <a:bodyPr/>
                    <a:lstStyle/>
                    <a:p>
                      <a:pPr rtl="0" algn="l"/>
                      <a:r>
                        <a:rPr sz="1300" b="0" i="0" lang="en-US">
                          <a:solidFill>
                            <a:srgbClr val="1C2333"/>
                          </a:solidFill>
                          <a:latin typeface="Segoe UI"/>
                        </a:rPr>
                        <a:t>given</a:t>
                      </a:r>
                    </a:p>
                  </a:txBody>
                  <a:tcPr>
                    <a:solidFill>
                      <a:srgbClr val="EEF3FA"/>
                    </a:solidFill>
                  </a:tcPr>
                </a:tc>
              </a:tr>
            </a:tbl>
          </a:graphicData>
        </a:graphic>
      </p:graphicFrame>
    </p:spTree>
  </p:cSld>
  <p:clrMapOvr>
    <a:masterClrMapping/>
  </p:clrMapOvr>
  <p:transition spd="med">
    <p:diamond/>
  </p:transition>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822192"/>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يقرأ</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r>
              <a:tr h="347472">
                <a:tc>
                  <a:txBody>
                    <a:bodyPr/>
                    <a:lstStyle/>
                    <a:p>
                      <a:pPr rtl="1" algn="r"/>
                      <a:r>
                        <a:rPr sz="1600" b="0" i="0" lang="ar-EG" altLang="en-US">
                          <a:solidFill>
                            <a:srgbClr val="1C2333"/>
                          </a:solidFill>
                          <a:latin typeface="Traditional Arabic"/>
                        </a:rPr>
                        <a:t>يركب</a:t>
                      </a:r>
                    </a:p>
                  </a:txBody>
                  <a:tcPr>
                    <a:solidFill>
                      <a:srgbClr val="EEF3FA"/>
                    </a:solidFill>
                  </a:tcPr>
                </a:tc>
                <a:tc>
                  <a:txBody>
                    <a:bodyPr/>
                    <a:lstStyle/>
                    <a:p>
                      <a:pPr rtl="0" algn="l"/>
                      <a:r>
                        <a:rPr sz="1300" b="0" i="0" lang="en-US">
                          <a:solidFill>
                            <a:srgbClr val="1C2333"/>
                          </a:solidFill>
                          <a:latin typeface="Segoe UI"/>
                        </a:rPr>
                        <a:t>ride</a:t>
                      </a:r>
                    </a:p>
                  </a:txBody>
                  <a:tcPr>
                    <a:solidFill>
                      <a:srgbClr val="EEF3FA"/>
                    </a:solidFill>
                  </a:tcPr>
                </a:tc>
                <a:tc>
                  <a:txBody>
                    <a:bodyPr/>
                    <a:lstStyle/>
                    <a:p>
                      <a:pPr rtl="0" algn="l"/>
                      <a:r>
                        <a:rPr sz="1300" b="0" i="0" lang="en-US">
                          <a:solidFill>
                            <a:srgbClr val="1C2333"/>
                          </a:solidFill>
                          <a:latin typeface="Segoe UI"/>
                        </a:rPr>
                        <a:t>rode</a:t>
                      </a:r>
                    </a:p>
                  </a:txBody>
                  <a:tcPr>
                    <a:solidFill>
                      <a:srgbClr val="EEF3FA"/>
                    </a:solidFill>
                  </a:tcPr>
                </a:tc>
                <a:tc>
                  <a:txBody>
                    <a:bodyPr/>
                    <a:lstStyle/>
                    <a:p>
                      <a:pPr rtl="0" algn="l"/>
                      <a:r>
                        <a:rPr sz="1300" b="0" i="0" lang="en-US">
                          <a:solidFill>
                            <a:srgbClr val="1C2333"/>
                          </a:solidFill>
                          <a:latin typeface="Segoe UI"/>
                        </a:rPr>
                        <a:t>ridden</a:t>
                      </a:r>
                    </a:p>
                  </a:txBody>
                  <a:tcPr>
                    <a:solidFill>
                      <a:srgbClr val="EEF3FA"/>
                    </a:solidFill>
                  </a:tcPr>
                </a:tc>
              </a:tr>
              <a:tr h="347472">
                <a:tc>
                  <a:txBody>
                    <a:bodyPr/>
                    <a:lstStyle/>
                    <a:p>
                      <a:pPr rtl="1" algn="r"/>
                      <a:r>
                        <a:rPr sz="1600" b="0" i="0" lang="ar-EG" altLang="en-US">
                          <a:solidFill>
                            <a:srgbClr val="1C2333"/>
                          </a:solidFill>
                          <a:latin typeface="Traditional Arabic"/>
                        </a:rPr>
                        <a:t>يرى</a:t>
                      </a:r>
                    </a:p>
                  </a:txBody>
                  <a:tcPr>
                    <a:solidFill>
                      <a:srgbClr val="FFFFFF"/>
                    </a:solidFill>
                  </a:tcPr>
                </a:tc>
                <a:tc>
                  <a:txBody>
                    <a:bodyPr/>
                    <a:lstStyle/>
                    <a:p>
                      <a:pPr rtl="0" algn="l"/>
                      <a:r>
                        <a:rPr sz="1300" b="0" i="0" lang="en-US">
                          <a:solidFill>
                            <a:srgbClr val="1C2333"/>
                          </a:solidFill>
                          <a:latin typeface="Segoe UI"/>
                        </a:rPr>
                        <a:t>see</a:t>
                      </a:r>
                    </a:p>
                  </a:txBody>
                  <a:tcPr>
                    <a:solidFill>
                      <a:srgbClr val="FFFFFF"/>
                    </a:solidFill>
                  </a:tcPr>
                </a:tc>
                <a:tc>
                  <a:txBody>
                    <a:bodyPr/>
                    <a:lstStyle/>
                    <a:p>
                      <a:pPr rtl="0" algn="l"/>
                      <a:r>
                        <a:rPr sz="1300" b="0" i="0" lang="en-US">
                          <a:solidFill>
                            <a:srgbClr val="1C2333"/>
                          </a:solidFill>
                          <a:latin typeface="Segoe UI"/>
                        </a:rPr>
                        <a:t>saw</a:t>
                      </a:r>
                    </a:p>
                  </a:txBody>
                  <a:tcPr>
                    <a:solidFill>
                      <a:srgbClr val="FFFFFF"/>
                    </a:solidFill>
                  </a:tcPr>
                </a:tc>
                <a:tc>
                  <a:txBody>
                    <a:bodyPr/>
                    <a:lstStyle/>
                    <a:p>
                      <a:pPr rtl="0" algn="l"/>
                      <a:r>
                        <a:rPr sz="1300" b="0" i="0" lang="en-US">
                          <a:solidFill>
                            <a:srgbClr val="1C2333"/>
                          </a:solidFill>
                          <a:latin typeface="Segoe UI"/>
                        </a:rPr>
                        <a:t>seen</a:t>
                      </a:r>
                    </a:p>
                  </a:txBody>
                  <a:tcPr>
                    <a:solidFill>
                      <a:srgbClr val="FFFFFF"/>
                    </a:solidFill>
                  </a:tcPr>
                </a:tc>
              </a:tr>
              <a:tr h="347472">
                <a:tc>
                  <a:txBody>
                    <a:bodyPr/>
                    <a:lstStyle/>
                    <a:p>
                      <a:pPr rtl="1" algn="r"/>
                      <a:r>
                        <a:rPr sz="1600" b="0" i="0" lang="ar-EG" altLang="en-US">
                          <a:solidFill>
                            <a:srgbClr val="1C2333"/>
                          </a:solidFill>
                          <a:latin typeface="Traditional Arabic"/>
                        </a:rPr>
                        <a:t>يطير</a:t>
                      </a:r>
                    </a:p>
                  </a:txBody>
                  <a:tcPr>
                    <a:solidFill>
                      <a:srgbClr val="EEF3FA"/>
                    </a:solidFill>
                  </a:tcPr>
                </a:tc>
                <a:tc>
                  <a:txBody>
                    <a:bodyPr/>
                    <a:lstStyle/>
                    <a:p>
                      <a:pPr rtl="0" algn="l"/>
                      <a:r>
                        <a:rPr sz="1300" b="0" i="0" lang="en-US">
                          <a:solidFill>
                            <a:srgbClr val="1C2333"/>
                          </a:solidFill>
                          <a:latin typeface="Segoe UI"/>
                        </a:rPr>
                        <a:t>fly</a:t>
                      </a:r>
                    </a:p>
                  </a:txBody>
                  <a:tcPr>
                    <a:solidFill>
                      <a:srgbClr val="EEF3FA"/>
                    </a:solidFill>
                  </a:tcPr>
                </a:tc>
                <a:tc>
                  <a:txBody>
                    <a:bodyPr/>
                    <a:lstStyle/>
                    <a:p>
                      <a:pPr rtl="0" algn="l"/>
                      <a:r>
                        <a:rPr sz="1300" b="0" i="0" lang="en-US">
                          <a:solidFill>
                            <a:srgbClr val="1C2333"/>
                          </a:solidFill>
                          <a:latin typeface="Segoe UI"/>
                        </a:rPr>
                        <a:t>flew</a:t>
                      </a:r>
                    </a:p>
                  </a:txBody>
                  <a:tcPr>
                    <a:solidFill>
                      <a:srgbClr val="EEF3FA"/>
                    </a:solidFill>
                  </a:tcPr>
                </a:tc>
                <a:tc>
                  <a:txBody>
                    <a:bodyPr/>
                    <a:lstStyle/>
                    <a:p>
                      <a:pPr rtl="0" algn="l"/>
                      <a:r>
                        <a:rPr sz="1300" b="0" i="0" lang="en-US">
                          <a:solidFill>
                            <a:srgbClr val="1C2333"/>
                          </a:solidFill>
                          <a:latin typeface="Segoe UI"/>
                        </a:rPr>
                        <a:t>flown</a:t>
                      </a:r>
                    </a:p>
                  </a:txBody>
                  <a:tcPr>
                    <a:solidFill>
                      <a:srgbClr val="EEF3FA"/>
                    </a:solidFill>
                  </a:tcPr>
                </a:tc>
              </a:tr>
              <a:tr h="347472">
                <a:tc>
                  <a:txBody>
                    <a:bodyPr/>
                    <a:lstStyle/>
                    <a:p>
                      <a:pPr rtl="1" algn="r"/>
                      <a:r>
                        <a:rPr sz="1600" b="0" i="0" lang="ar-EG" altLang="en-US">
                          <a:solidFill>
                            <a:srgbClr val="1C2333"/>
                          </a:solidFill>
                          <a:latin typeface="Traditional Arabic"/>
                        </a:rPr>
                        <a:t>يرسل</a:t>
                      </a:r>
                    </a:p>
                  </a:txBody>
                  <a:tcPr>
                    <a:solidFill>
                      <a:srgbClr val="FFFFFF"/>
                    </a:solidFill>
                  </a:tcPr>
                </a:tc>
                <a:tc>
                  <a:txBody>
                    <a:bodyPr/>
                    <a:lstStyle/>
                    <a:p>
                      <a:pPr rtl="0" algn="l"/>
                      <a:r>
                        <a:rPr sz="1300" b="0" i="0" lang="en-US">
                          <a:solidFill>
                            <a:srgbClr val="1C2333"/>
                          </a:solidFill>
                          <a:latin typeface="Segoe UI"/>
                        </a:rPr>
                        <a:t>send</a:t>
                      </a:r>
                    </a:p>
                  </a:txBody>
                  <a:tcPr>
                    <a:solidFill>
                      <a:srgbClr val="FFFFFF"/>
                    </a:solidFill>
                  </a:tcPr>
                </a:tc>
                <a:tc>
                  <a:txBody>
                    <a:bodyPr/>
                    <a:lstStyle/>
                    <a:p>
                      <a:pPr rtl="0" algn="l"/>
                      <a:r>
                        <a:rPr sz="1300" b="0" i="0" lang="en-US">
                          <a:solidFill>
                            <a:srgbClr val="1C2333"/>
                          </a:solidFill>
                          <a:latin typeface="Segoe UI"/>
                        </a:rPr>
                        <a:t>sent</a:t>
                      </a:r>
                    </a:p>
                  </a:txBody>
                  <a:tcPr>
                    <a:solidFill>
                      <a:srgbClr val="FFFFFF"/>
                    </a:solidFill>
                  </a:tcPr>
                </a:tc>
                <a:tc>
                  <a:txBody>
                    <a:bodyPr/>
                    <a:lstStyle/>
                    <a:p>
                      <a:pPr rtl="0" algn="l"/>
                      <a:r>
                        <a:rPr sz="1300" b="0" i="0" lang="en-US">
                          <a:solidFill>
                            <a:srgbClr val="1C2333"/>
                          </a:solidFill>
                          <a:latin typeface="Segoe UI"/>
                        </a:rPr>
                        <a:t>sent</a:t>
                      </a:r>
                    </a:p>
                  </a:txBody>
                  <a:tcPr>
                    <a:solidFill>
                      <a:srgbClr val="FFFFFF"/>
                    </a:solidFill>
                  </a:tcPr>
                </a:tc>
              </a:tr>
              <a:tr h="347472">
                <a:tc>
                  <a:txBody>
                    <a:bodyPr/>
                    <a:lstStyle/>
                    <a:p>
                      <a:pPr rtl="1" algn="r"/>
                      <a:r>
                        <a:rPr sz="1600" b="0" i="0" lang="ar-EG" altLang="en-US">
                          <a:solidFill>
                            <a:srgbClr val="1C2333"/>
                          </a:solidFill>
                          <a:latin typeface="Traditional Arabic"/>
                        </a:rPr>
                        <a:t>يحضر</a:t>
                      </a:r>
                    </a:p>
                  </a:txBody>
                  <a:tcPr>
                    <a:solidFill>
                      <a:srgbClr val="EEF3FA"/>
                    </a:solidFill>
                  </a:tcPr>
                </a:tc>
                <a:tc>
                  <a:txBody>
                    <a:bodyPr/>
                    <a:lstStyle/>
                    <a:p>
                      <a:pPr rtl="0" algn="l"/>
                      <a:r>
                        <a:rPr sz="1300" b="0" i="0" lang="en-US">
                          <a:solidFill>
                            <a:srgbClr val="1C2333"/>
                          </a:solidFill>
                          <a:latin typeface="Segoe UI"/>
                        </a:rPr>
                        <a:t>bring</a:t>
                      </a:r>
                    </a:p>
                  </a:txBody>
                  <a:tcPr>
                    <a:solidFill>
                      <a:srgbClr val="EEF3FA"/>
                    </a:solidFill>
                  </a:tcPr>
                </a:tc>
                <a:tc>
                  <a:txBody>
                    <a:bodyPr/>
                    <a:lstStyle/>
                    <a:p>
                      <a:pPr rtl="0" algn="l"/>
                      <a:r>
                        <a:rPr sz="1300" b="0" i="0" lang="en-US">
                          <a:solidFill>
                            <a:srgbClr val="1C2333"/>
                          </a:solidFill>
                          <a:latin typeface="Segoe UI"/>
                        </a:rPr>
                        <a:t>brought</a:t>
                      </a:r>
                    </a:p>
                  </a:txBody>
                  <a:tcPr>
                    <a:solidFill>
                      <a:srgbClr val="EEF3FA"/>
                    </a:solidFill>
                  </a:tcPr>
                </a:tc>
                <a:tc>
                  <a:txBody>
                    <a:bodyPr/>
                    <a:lstStyle/>
                    <a:p>
                      <a:pPr rtl="0" algn="l"/>
                      <a:r>
                        <a:rPr sz="1300" b="0" i="0" lang="en-US">
                          <a:solidFill>
                            <a:srgbClr val="1C2333"/>
                          </a:solidFill>
                          <a:latin typeface="Segoe UI"/>
                        </a:rPr>
                        <a:t>brought</a:t>
                      </a:r>
                    </a:p>
                  </a:txBody>
                  <a:tcPr>
                    <a:solidFill>
                      <a:srgbClr val="EEF3FA"/>
                    </a:solidFill>
                  </a:tcPr>
                </a:tc>
              </a:tr>
              <a:tr h="347472">
                <a:tc>
                  <a:txBody>
                    <a:bodyPr/>
                    <a:lstStyle/>
                    <a:p>
                      <a:pPr rtl="1" algn="r"/>
                      <a:r>
                        <a:rPr sz="1600" b="0" i="0" lang="ar-EG" altLang="en-US">
                          <a:solidFill>
                            <a:srgbClr val="1C2333"/>
                          </a:solidFill>
                          <a:latin typeface="Traditional Arabic"/>
                        </a:rPr>
                        <a:t>يختار</a:t>
                      </a:r>
                    </a:p>
                  </a:txBody>
                  <a:tcPr>
                    <a:solidFill>
                      <a:srgbClr val="FFFFFF"/>
                    </a:solidFill>
                  </a:tcPr>
                </a:tc>
                <a:tc>
                  <a:txBody>
                    <a:bodyPr/>
                    <a:lstStyle/>
                    <a:p>
                      <a:pPr rtl="0" algn="l"/>
                      <a:r>
                        <a:rPr sz="1300" b="0" i="0" lang="en-US">
                          <a:solidFill>
                            <a:srgbClr val="1C2333"/>
                          </a:solidFill>
                          <a:latin typeface="Segoe UI"/>
                        </a:rPr>
                        <a:t>choose</a:t>
                      </a:r>
                    </a:p>
                  </a:txBody>
                  <a:tcPr>
                    <a:solidFill>
                      <a:srgbClr val="FFFFFF"/>
                    </a:solidFill>
                  </a:tcPr>
                </a:tc>
                <a:tc>
                  <a:txBody>
                    <a:bodyPr/>
                    <a:lstStyle/>
                    <a:p>
                      <a:pPr rtl="0" algn="l"/>
                      <a:r>
                        <a:rPr sz="1300" b="0" i="0" lang="en-US">
                          <a:solidFill>
                            <a:srgbClr val="1C2333"/>
                          </a:solidFill>
                          <a:latin typeface="Segoe UI"/>
                        </a:rPr>
                        <a:t>chose</a:t>
                      </a:r>
                    </a:p>
                  </a:txBody>
                  <a:tcPr>
                    <a:solidFill>
                      <a:srgbClr val="FFFFFF"/>
                    </a:solidFill>
                  </a:tcPr>
                </a:tc>
                <a:tc>
                  <a:txBody>
                    <a:bodyPr/>
                    <a:lstStyle/>
                    <a:p>
                      <a:pPr rtl="0" algn="l"/>
                      <a:r>
                        <a:rPr sz="1300" b="0" i="0" lang="en-US">
                          <a:solidFill>
                            <a:srgbClr val="1C2333"/>
                          </a:solidFill>
                          <a:latin typeface="Segoe UI"/>
                        </a:rPr>
                        <a:t>chosen</a:t>
                      </a:r>
                    </a:p>
                  </a:txBody>
                  <a:tcPr>
                    <a:solidFill>
                      <a:srgbClr val="FFFFFF"/>
                    </a:solidFill>
                  </a:tcPr>
                </a:tc>
              </a:tr>
              <a:tr h="347472">
                <a:tc>
                  <a:txBody>
                    <a:bodyPr/>
                    <a:lstStyle/>
                    <a:p>
                      <a:pPr rtl="1" algn="r"/>
                      <a:r>
                        <a:rPr sz="1600" b="0" i="0" lang="ar-EG" altLang="en-US">
                          <a:solidFill>
                            <a:srgbClr val="1C2333"/>
                          </a:solidFill>
                          <a:latin typeface="Traditional Arabic"/>
                        </a:rPr>
                        <a:t>يكنس</a:t>
                      </a:r>
                    </a:p>
                  </a:txBody>
                  <a:tcPr>
                    <a:solidFill>
                      <a:srgbClr val="EEF3FA"/>
                    </a:solidFill>
                  </a:tcPr>
                </a:tc>
                <a:tc>
                  <a:txBody>
                    <a:bodyPr/>
                    <a:lstStyle/>
                    <a:p>
                      <a:pPr rtl="0" algn="l"/>
                      <a:r>
                        <a:rPr sz="1300" b="0" i="0" lang="en-US">
                          <a:solidFill>
                            <a:srgbClr val="1C2333"/>
                          </a:solidFill>
                          <a:latin typeface="Segoe UI"/>
                        </a:rPr>
                        <a:t>sweep</a:t>
                      </a:r>
                    </a:p>
                  </a:txBody>
                  <a:tcPr>
                    <a:solidFill>
                      <a:srgbClr val="EEF3FA"/>
                    </a:solidFill>
                  </a:tcPr>
                </a:tc>
                <a:tc>
                  <a:txBody>
                    <a:bodyPr/>
                    <a:lstStyle/>
                    <a:p>
                      <a:pPr rtl="0" algn="l"/>
                      <a:r>
                        <a:rPr sz="1300" b="0" i="0" lang="en-US">
                          <a:solidFill>
                            <a:srgbClr val="1C2333"/>
                          </a:solidFill>
                          <a:latin typeface="Segoe UI"/>
                        </a:rPr>
                        <a:t>swept</a:t>
                      </a:r>
                    </a:p>
                  </a:txBody>
                  <a:tcPr>
                    <a:solidFill>
                      <a:srgbClr val="EEF3FA"/>
                    </a:solidFill>
                  </a:tcPr>
                </a:tc>
                <a:tc>
                  <a:txBody>
                    <a:bodyPr/>
                    <a:lstStyle/>
                    <a:p>
                      <a:pPr rtl="0" algn="l"/>
                      <a:r>
                        <a:rPr sz="1300" b="0" i="0" lang="en-US">
                          <a:solidFill>
                            <a:srgbClr val="1C2333"/>
                          </a:solidFill>
                          <a:latin typeface="Segoe UI"/>
                        </a:rPr>
                        <a:t>swept</a:t>
                      </a:r>
                    </a:p>
                  </a:txBody>
                  <a:tcPr>
                    <a:solidFill>
                      <a:srgbClr val="EEF3FA"/>
                    </a:solidFill>
                  </a:tcPr>
                </a:tc>
              </a:tr>
              <a:tr h="347472">
                <a:tc>
                  <a:txBody>
                    <a:bodyPr/>
                    <a:lstStyle/>
                    <a:p>
                      <a:pPr rtl="1" algn="r"/>
                      <a:r>
                        <a:rPr sz="1600" b="0" i="0" lang="ar-EG" altLang="en-US">
                          <a:solidFill>
                            <a:srgbClr val="1C2333"/>
                          </a:solidFill>
                          <a:latin typeface="Traditional Arabic"/>
                        </a:rPr>
                        <a:t>يتعلم</a:t>
                      </a:r>
                    </a:p>
                  </a:txBody>
                  <a:tcPr>
                    <a:solidFill>
                      <a:srgbClr val="FFFFFF"/>
                    </a:solidFill>
                  </a:tcPr>
                </a:tc>
                <a:tc>
                  <a:txBody>
                    <a:bodyPr/>
                    <a:lstStyle/>
                    <a:p>
                      <a:pPr rtl="0" algn="l"/>
                      <a:r>
                        <a:rPr sz="1300" b="0" i="0" lang="en-US">
                          <a:solidFill>
                            <a:srgbClr val="1C2333"/>
                          </a:solidFill>
                          <a:latin typeface="Segoe UI"/>
                        </a:rPr>
                        <a:t>learn</a:t>
                      </a:r>
                    </a:p>
                  </a:txBody>
                  <a:tcPr>
                    <a:solidFill>
                      <a:srgbClr val="FFFFFF"/>
                    </a:solidFill>
                  </a:tcPr>
                </a:tc>
                <a:tc>
                  <a:txBody>
                    <a:bodyPr/>
                    <a:lstStyle/>
                    <a:p>
                      <a:pPr rtl="0" algn="l"/>
                      <a:r>
                        <a:rPr sz="1300" b="0" i="0" lang="en-US">
                          <a:solidFill>
                            <a:srgbClr val="1C2333"/>
                          </a:solidFill>
                          <a:latin typeface="Segoe UI"/>
                        </a:rPr>
                        <a:t>learnt</a:t>
                      </a:r>
                    </a:p>
                  </a:txBody>
                  <a:tcPr>
                    <a:solidFill>
                      <a:srgbClr val="FFFFFF"/>
                    </a:solidFill>
                  </a:tcPr>
                </a:tc>
                <a:tc>
                  <a:txBody>
                    <a:bodyPr/>
                    <a:lstStyle/>
                    <a:p>
                      <a:pPr rtl="0" algn="l"/>
                      <a:r>
                        <a:rPr sz="1300" b="0" i="0" lang="en-US">
                          <a:solidFill>
                            <a:srgbClr val="1C2333"/>
                          </a:solidFill>
                          <a:latin typeface="Segoe UI"/>
                        </a:rPr>
                        <a:t>learnt</a:t>
                      </a:r>
                    </a:p>
                  </a:txBody>
                  <a:tcPr>
                    <a:solidFill>
                      <a:srgbClr val="FFFFFF"/>
                    </a:solidFill>
                  </a:tcPr>
                </a:tc>
              </a:tr>
              <a:tr h="347472">
                <a:tc>
                  <a:txBody>
                    <a:bodyPr/>
                    <a:lstStyle/>
                    <a:p>
                      <a:pPr rtl="1" algn="r"/>
                      <a:r>
                        <a:rPr sz="1600" b="0" i="0" lang="ar-EG" altLang="en-US">
                          <a:solidFill>
                            <a:srgbClr val="1C2333"/>
                          </a:solidFill>
                          <a:latin typeface="Traditional Arabic"/>
                        </a:rPr>
                        <a:t>يقود</a:t>
                      </a:r>
                    </a:p>
                  </a:txBody>
                  <a:tcPr>
                    <a:solidFill>
                      <a:srgbClr val="EEF3FA"/>
                    </a:solidFill>
                  </a:tcPr>
                </a:tc>
                <a:tc>
                  <a:txBody>
                    <a:bodyPr/>
                    <a:lstStyle/>
                    <a:p>
                      <a:pPr rtl="0" algn="l"/>
                      <a:r>
                        <a:rPr sz="1300" b="0" i="0" lang="en-US">
                          <a:solidFill>
                            <a:srgbClr val="1C2333"/>
                          </a:solidFill>
                          <a:latin typeface="Segoe UI"/>
                        </a:rPr>
                        <a:t>drive</a:t>
                      </a:r>
                    </a:p>
                  </a:txBody>
                  <a:tcPr>
                    <a:solidFill>
                      <a:srgbClr val="EEF3FA"/>
                    </a:solidFill>
                  </a:tcPr>
                </a:tc>
                <a:tc>
                  <a:txBody>
                    <a:bodyPr/>
                    <a:lstStyle/>
                    <a:p>
                      <a:pPr rtl="0" algn="l"/>
                      <a:r>
                        <a:rPr sz="1300" b="0" i="0" lang="en-US">
                          <a:solidFill>
                            <a:srgbClr val="1C2333"/>
                          </a:solidFill>
                          <a:latin typeface="Segoe UI"/>
                        </a:rPr>
                        <a:t>drove</a:t>
                      </a:r>
                    </a:p>
                  </a:txBody>
                  <a:tcPr>
                    <a:solidFill>
                      <a:srgbClr val="EEF3FA"/>
                    </a:solidFill>
                  </a:tcPr>
                </a:tc>
                <a:tc>
                  <a:txBody>
                    <a:bodyPr/>
                    <a:lstStyle/>
                    <a:p>
                      <a:pPr rtl="0" algn="l"/>
                      <a:r>
                        <a:rPr sz="1300" b="0" i="0" lang="en-US">
                          <a:solidFill>
                            <a:srgbClr val="1C2333"/>
                          </a:solidFill>
                          <a:latin typeface="Segoe UI"/>
                        </a:rPr>
                        <a:t>driven</a:t>
                      </a:r>
                    </a:p>
                  </a:txBody>
                  <a:tcPr>
                    <a:solidFill>
                      <a:srgbClr val="EEF3FA"/>
                    </a:solidFill>
                  </a:tcPr>
                </a:tc>
              </a:tr>
            </a:tbl>
          </a:graphicData>
        </a:graphic>
      </p:graphicFrame>
    </p:spTree>
  </p:cSld>
  <p:clrMapOvr>
    <a:masterClrMapping/>
  </p:clrMapOvr>
  <p:transition spd="med">
    <p:wedge/>
  </p:transition>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a:t>
                      </a:r>
                    </a:p>
                  </a:txBody>
                  <a:tcPr>
                    <a:solidFill>
                      <a:srgbClr val="945222"/>
                    </a:solidFill>
                  </a:tcPr>
                </a:tc>
                <a:tc>
                  <a:txBody>
                    <a:bodyPr/>
                    <a:lstStyle/>
                    <a:p>
                      <a:pPr rtl="0" algn="l"/>
                      <a:r>
                        <a:rPr sz="1400" b="1" i="0" lang="en-US">
                          <a:solidFill>
                            <a:srgbClr val="FFFFFF"/>
                          </a:solidFill>
                          <a:latin typeface="Segoe UI"/>
                        </a:rPr>
                        <a:t>Past</a:t>
                      </a:r>
                    </a:p>
                  </a:txBody>
                  <a:tcPr>
                    <a:solidFill>
                      <a:srgbClr val="945222"/>
                    </a:solidFill>
                  </a:tcPr>
                </a:tc>
              </a:tr>
              <a:tr h="347472">
                <a:tc>
                  <a:txBody>
                    <a:bodyPr/>
                    <a:lstStyle/>
                    <a:p>
                      <a:pPr rtl="1" algn="r"/>
                      <a:r>
                        <a:rPr sz="1600" b="0" i="0" lang="ar-EG" altLang="en-US">
                          <a:solidFill>
                            <a:srgbClr val="1C2333"/>
                          </a:solidFill>
                          <a:latin typeface="Traditional Arabic"/>
                        </a:rPr>
                        <a:t>يلعب</a:t>
                      </a:r>
                    </a:p>
                  </a:txBody>
                  <a:tcPr>
                    <a:solidFill>
                      <a:srgbClr val="FFFFFF"/>
                    </a:solidFill>
                  </a:tcPr>
                </a:tc>
                <a:tc>
                  <a:txBody>
                    <a:bodyPr/>
                    <a:lstStyle/>
                    <a:p>
                      <a:pPr rtl="0" algn="l"/>
                      <a:r>
                        <a:rPr sz="1300" b="0" i="0" lang="en-US">
                          <a:solidFill>
                            <a:srgbClr val="1C2333"/>
                          </a:solidFill>
                          <a:latin typeface="Segoe UI"/>
                        </a:rPr>
                        <a:t>play</a:t>
                      </a:r>
                    </a:p>
                  </a:txBody>
                  <a:tcPr>
                    <a:solidFill>
                      <a:srgbClr val="FFFFFF"/>
                    </a:solidFill>
                  </a:tcPr>
                </a:tc>
                <a:tc>
                  <a:txBody>
                    <a:bodyPr/>
                    <a:lstStyle/>
                    <a:p>
                      <a:pPr rtl="0" algn="l"/>
                      <a:r>
                        <a:rPr sz="1300" b="0" i="0" lang="en-US">
                          <a:solidFill>
                            <a:srgbClr val="1C2333"/>
                          </a:solidFill>
                          <a:latin typeface="Segoe UI"/>
                        </a:rPr>
                        <a:t>played</a:t>
                      </a:r>
                    </a:p>
                  </a:txBody>
                  <a:tcPr>
                    <a:solidFill>
                      <a:srgbClr val="FFFFFF"/>
                    </a:solidFill>
                  </a:tcPr>
                </a:tc>
              </a:tr>
              <a:tr h="347472">
                <a:tc>
                  <a:txBody>
                    <a:bodyPr/>
                    <a:lstStyle/>
                    <a:p>
                      <a:pPr rtl="1" algn="r"/>
                      <a:r>
                        <a:rPr sz="1600" b="0" i="0" lang="ar-EG" altLang="en-US">
                          <a:solidFill>
                            <a:srgbClr val="1C2333"/>
                          </a:solidFill>
                          <a:latin typeface="Traditional Arabic"/>
                        </a:rPr>
                        <a:t>يغسل</a:t>
                      </a:r>
                    </a:p>
                  </a:txBody>
                  <a:tcPr>
                    <a:solidFill>
                      <a:srgbClr val="EEF3FA"/>
                    </a:solidFill>
                  </a:tcPr>
                </a:tc>
                <a:tc>
                  <a:txBody>
                    <a:bodyPr/>
                    <a:lstStyle/>
                    <a:p>
                      <a:pPr rtl="0" algn="l"/>
                      <a:r>
                        <a:rPr sz="1300" b="0" i="0" lang="en-US">
                          <a:solidFill>
                            <a:srgbClr val="1C2333"/>
                          </a:solidFill>
                          <a:latin typeface="Segoe UI"/>
                        </a:rPr>
                        <a:t>wash</a:t>
                      </a:r>
                    </a:p>
                  </a:txBody>
                  <a:tcPr>
                    <a:solidFill>
                      <a:srgbClr val="EEF3FA"/>
                    </a:solidFill>
                  </a:tcPr>
                </a:tc>
                <a:tc>
                  <a:txBody>
                    <a:bodyPr/>
                    <a:lstStyle/>
                    <a:p>
                      <a:pPr rtl="0" algn="l"/>
                      <a:r>
                        <a:rPr sz="1300" b="0" i="0" lang="en-US">
                          <a:solidFill>
                            <a:srgbClr val="1C2333"/>
                          </a:solidFill>
                          <a:latin typeface="Segoe UI"/>
                        </a:rPr>
                        <a:t>washed</a:t>
                      </a:r>
                    </a:p>
                  </a:txBody>
                  <a:tcPr>
                    <a:solidFill>
                      <a:srgbClr val="EEF3FA"/>
                    </a:solidFill>
                  </a:tcPr>
                </a:tc>
              </a:tr>
              <a:tr h="347472">
                <a:tc>
                  <a:txBody>
                    <a:bodyPr/>
                    <a:lstStyle/>
                    <a:p>
                      <a:pPr rtl="1" algn="r"/>
                      <a:r>
                        <a:rPr sz="1600" b="0" i="0" lang="ar-EG" altLang="en-US">
                          <a:solidFill>
                            <a:srgbClr val="1C2333"/>
                          </a:solidFill>
                          <a:latin typeface="Traditional Arabic"/>
                        </a:rPr>
                        <a:t>يمشي</a:t>
                      </a:r>
                    </a:p>
                  </a:txBody>
                  <a:tcPr>
                    <a:solidFill>
                      <a:srgbClr val="FFFFFF"/>
                    </a:solidFill>
                  </a:tcPr>
                </a:tc>
                <a:tc>
                  <a:txBody>
                    <a:bodyPr/>
                    <a:lstStyle/>
                    <a:p>
                      <a:pPr rtl="0" algn="l"/>
                      <a:r>
                        <a:rPr sz="1300" b="0" i="0" lang="en-US">
                          <a:solidFill>
                            <a:srgbClr val="1C2333"/>
                          </a:solidFill>
                          <a:latin typeface="Segoe UI"/>
                        </a:rPr>
                        <a:t>walk</a:t>
                      </a:r>
                    </a:p>
                  </a:txBody>
                  <a:tcPr>
                    <a:solidFill>
                      <a:srgbClr val="FFFFFF"/>
                    </a:solidFill>
                  </a:tcPr>
                </a:tc>
                <a:tc>
                  <a:txBody>
                    <a:bodyPr/>
                    <a:lstStyle/>
                    <a:p>
                      <a:pPr rtl="0" algn="l"/>
                      <a:r>
                        <a:rPr sz="1300" b="0" i="0" lang="en-US">
                          <a:solidFill>
                            <a:srgbClr val="1C2333"/>
                          </a:solidFill>
                          <a:latin typeface="Segoe UI"/>
                        </a:rPr>
                        <a:t>walked</a:t>
                      </a:r>
                    </a:p>
                  </a:txBody>
                  <a:tcPr>
                    <a:solidFill>
                      <a:srgbClr val="FFFFFF"/>
                    </a:solidFill>
                  </a:tcPr>
                </a:tc>
              </a:tr>
              <a:tr h="347472">
                <a:tc>
                  <a:txBody>
                    <a:bodyPr/>
                    <a:lstStyle/>
                    <a:p>
                      <a:pPr rtl="1" algn="r"/>
                      <a:r>
                        <a:rPr sz="1600" b="0" i="0" lang="ar-EG" altLang="en-US">
                          <a:solidFill>
                            <a:srgbClr val="1C2333"/>
                          </a:solidFill>
                          <a:latin typeface="Traditional Arabic"/>
                        </a:rPr>
                        <a:t>يساعد</a:t>
                      </a:r>
                    </a:p>
                  </a:txBody>
                  <a:tcPr>
                    <a:solidFill>
                      <a:srgbClr val="EEF3FA"/>
                    </a:solidFill>
                  </a:tcPr>
                </a:tc>
                <a:tc>
                  <a:txBody>
                    <a:bodyPr/>
                    <a:lstStyle/>
                    <a:p>
                      <a:pPr rtl="0" algn="l"/>
                      <a:r>
                        <a:rPr sz="1300" b="0" i="0" lang="en-US">
                          <a:solidFill>
                            <a:srgbClr val="1C2333"/>
                          </a:solidFill>
                          <a:latin typeface="Segoe UI"/>
                        </a:rPr>
                        <a:t>help</a:t>
                      </a:r>
                    </a:p>
                  </a:txBody>
                  <a:tcPr>
                    <a:solidFill>
                      <a:srgbClr val="EEF3FA"/>
                    </a:solidFill>
                  </a:tcPr>
                </a:tc>
                <a:tc>
                  <a:txBody>
                    <a:bodyPr/>
                    <a:lstStyle/>
                    <a:p>
                      <a:pPr rtl="0" algn="l"/>
                      <a:r>
                        <a:rPr sz="1300" b="0" i="0" lang="en-US">
                          <a:solidFill>
                            <a:srgbClr val="1C2333"/>
                          </a:solidFill>
                          <a:latin typeface="Segoe UI"/>
                        </a:rPr>
                        <a:t>helped</a:t>
                      </a:r>
                    </a:p>
                  </a:txBody>
                  <a:tcPr>
                    <a:solidFill>
                      <a:srgbClr val="EEF3FA"/>
                    </a:solidFill>
                  </a:tcPr>
                </a:tc>
              </a:tr>
              <a:tr h="347472">
                <a:tc>
                  <a:txBody>
                    <a:bodyPr/>
                    <a:lstStyle/>
                    <a:p>
                      <a:pPr rtl="1" algn="r"/>
                      <a:r>
                        <a:rPr sz="1600" b="0" i="0" lang="ar-EG" altLang="en-US">
                          <a:solidFill>
                            <a:srgbClr val="1C2333"/>
                          </a:solidFill>
                          <a:latin typeface="Traditional Arabic"/>
                        </a:rPr>
                        <a:t>يزور</a:t>
                      </a:r>
                    </a:p>
                  </a:txBody>
                  <a:tcPr>
                    <a:solidFill>
                      <a:srgbClr val="FFFFFF"/>
                    </a:solidFill>
                  </a:tcPr>
                </a:tc>
                <a:tc>
                  <a:txBody>
                    <a:bodyPr/>
                    <a:lstStyle/>
                    <a:p>
                      <a:pPr rtl="0" algn="l"/>
                      <a:r>
                        <a:rPr sz="1300" b="0" i="0" lang="en-US">
                          <a:solidFill>
                            <a:srgbClr val="1C2333"/>
                          </a:solidFill>
                          <a:latin typeface="Segoe UI"/>
                        </a:rPr>
                        <a:t>visit</a:t>
                      </a:r>
                    </a:p>
                  </a:txBody>
                  <a:tcPr>
                    <a:solidFill>
                      <a:srgbClr val="FFFFFF"/>
                    </a:solidFill>
                  </a:tcPr>
                </a:tc>
                <a:tc>
                  <a:txBody>
                    <a:bodyPr/>
                    <a:lstStyle/>
                    <a:p>
                      <a:pPr rtl="0" algn="l"/>
                      <a:r>
                        <a:rPr sz="1300" b="0" i="0" lang="en-US">
                          <a:solidFill>
                            <a:srgbClr val="1C2333"/>
                          </a:solidFill>
                          <a:latin typeface="Segoe UI"/>
                        </a:rPr>
                        <a:t>visited</a:t>
                      </a:r>
                    </a:p>
                  </a:txBody>
                  <a:tcPr>
                    <a:solidFill>
                      <a:srgbClr val="FFFFFF"/>
                    </a:solidFill>
                  </a:tcPr>
                </a:tc>
              </a:tr>
              <a:tr h="347472">
                <a:tc>
                  <a:txBody>
                    <a:bodyPr/>
                    <a:lstStyle/>
                    <a:p>
                      <a:pPr rtl="1" algn="r"/>
                      <a:r>
                        <a:rPr sz="1600" b="0" i="0" lang="ar-EG" altLang="en-US">
                          <a:solidFill>
                            <a:srgbClr val="1C2333"/>
                          </a:solidFill>
                          <a:latin typeface="Traditional Arabic"/>
                        </a:rPr>
                        <a:t>يستمع</a:t>
                      </a:r>
                    </a:p>
                  </a:txBody>
                  <a:tcPr>
                    <a:solidFill>
                      <a:srgbClr val="EEF3FA"/>
                    </a:solidFill>
                  </a:tcPr>
                </a:tc>
                <a:tc>
                  <a:txBody>
                    <a:bodyPr/>
                    <a:lstStyle/>
                    <a:p>
                      <a:pPr rtl="0" algn="l"/>
                      <a:r>
                        <a:rPr sz="1300" b="0" i="0" lang="en-US">
                          <a:solidFill>
                            <a:srgbClr val="1C2333"/>
                          </a:solidFill>
                          <a:latin typeface="Segoe UI"/>
                        </a:rPr>
                        <a:t>listen</a:t>
                      </a:r>
                    </a:p>
                  </a:txBody>
                  <a:tcPr>
                    <a:solidFill>
                      <a:srgbClr val="EEF3FA"/>
                    </a:solidFill>
                  </a:tcPr>
                </a:tc>
                <a:tc>
                  <a:txBody>
                    <a:bodyPr/>
                    <a:lstStyle/>
                    <a:p>
                      <a:pPr rtl="0" algn="l"/>
                      <a:r>
                        <a:rPr sz="1300" b="0" i="0" lang="en-US">
                          <a:solidFill>
                            <a:srgbClr val="1C2333"/>
                          </a:solidFill>
                          <a:latin typeface="Segoe UI"/>
                        </a:rPr>
                        <a:t>listened</a:t>
                      </a:r>
                    </a:p>
                  </a:txBody>
                  <a:tcPr>
                    <a:solidFill>
                      <a:srgbClr val="EEF3FA"/>
                    </a:solidFill>
                  </a:tcPr>
                </a:tc>
              </a:tr>
              <a:tr h="347472">
                <a:tc>
                  <a:txBody>
                    <a:bodyPr/>
                    <a:lstStyle/>
                    <a:p>
                      <a:pPr rtl="1" algn="r"/>
                      <a:r>
                        <a:rPr sz="1600" b="0" i="0" lang="ar-EG" altLang="en-US">
                          <a:solidFill>
                            <a:srgbClr val="1C2333"/>
                          </a:solidFill>
                          <a:latin typeface="Traditional Arabic"/>
                        </a:rPr>
                        <a:t>يحب</a:t>
                      </a:r>
                    </a:p>
                  </a:txBody>
                  <a:tcPr>
                    <a:solidFill>
                      <a:srgbClr val="FFFFFF"/>
                    </a:solidFill>
                  </a:tcPr>
                </a:tc>
                <a:tc>
                  <a:txBody>
                    <a:bodyPr/>
                    <a:lstStyle/>
                    <a:p>
                      <a:pPr rtl="0" algn="l"/>
                      <a:r>
                        <a:rPr sz="1300" b="0" i="0" lang="en-US">
                          <a:solidFill>
                            <a:srgbClr val="1C2333"/>
                          </a:solidFill>
                          <a:latin typeface="Segoe UI"/>
                        </a:rPr>
                        <a:t>like</a:t>
                      </a:r>
                    </a:p>
                  </a:txBody>
                  <a:tcPr>
                    <a:solidFill>
                      <a:srgbClr val="FFFFFF"/>
                    </a:solidFill>
                  </a:tcPr>
                </a:tc>
                <a:tc>
                  <a:txBody>
                    <a:bodyPr/>
                    <a:lstStyle/>
                    <a:p>
                      <a:pPr rtl="0" algn="l"/>
                      <a:r>
                        <a:rPr sz="1300" b="0" i="0" lang="en-US">
                          <a:solidFill>
                            <a:srgbClr val="1C2333"/>
                          </a:solidFill>
                          <a:latin typeface="Segoe UI"/>
                        </a:rPr>
                        <a:t>liked</a:t>
                      </a:r>
                    </a:p>
                  </a:txBody>
                  <a:tcPr>
                    <a:solidFill>
                      <a:srgbClr val="FFFFFF"/>
                    </a:solidFill>
                  </a:tcPr>
                </a:tc>
              </a:tr>
              <a:tr h="347472">
                <a:tc>
                  <a:txBody>
                    <a:bodyPr/>
                    <a:lstStyle/>
                    <a:p>
                      <a:pPr rtl="1" algn="r"/>
                      <a:r>
                        <a:rPr sz="1600" b="0" i="0" lang="ar-EG" altLang="en-US">
                          <a:solidFill>
                            <a:srgbClr val="1C2333"/>
                          </a:solidFill>
                          <a:latin typeface="Traditional Arabic"/>
                        </a:rPr>
                        <a:t>يعمل</a:t>
                      </a:r>
                    </a:p>
                  </a:txBody>
                  <a:tcPr>
                    <a:solidFill>
                      <a:srgbClr val="EEF3FA"/>
                    </a:solidFill>
                  </a:tcPr>
                </a:tc>
                <a:tc>
                  <a:txBody>
                    <a:bodyPr/>
                    <a:lstStyle/>
                    <a:p>
                      <a:pPr rtl="0" algn="l"/>
                      <a:r>
                        <a:rPr sz="1300" b="0" i="0" lang="en-US">
                          <a:solidFill>
                            <a:srgbClr val="1C2333"/>
                          </a:solidFill>
                          <a:latin typeface="Segoe UI"/>
                        </a:rPr>
                        <a:t>work</a:t>
                      </a:r>
                    </a:p>
                  </a:txBody>
                  <a:tcPr>
                    <a:solidFill>
                      <a:srgbClr val="EEF3FA"/>
                    </a:solidFill>
                  </a:tcPr>
                </a:tc>
                <a:tc>
                  <a:txBody>
                    <a:bodyPr/>
                    <a:lstStyle/>
                    <a:p>
                      <a:pPr rtl="0" algn="l"/>
                      <a:r>
                        <a:rPr sz="1300" b="0" i="0" lang="en-US">
                          <a:solidFill>
                            <a:srgbClr val="1C2333"/>
                          </a:solidFill>
                          <a:latin typeface="Segoe UI"/>
                        </a:rPr>
                        <a:t>worked</a:t>
                      </a:r>
                    </a:p>
                  </a:txBody>
                  <a:tcPr>
                    <a:solidFill>
                      <a:srgbClr val="EEF3FA"/>
                    </a:solidFill>
                  </a:tcPr>
                </a:tc>
              </a:tr>
              <a:tr h="347472">
                <a:tc>
                  <a:txBody>
                    <a:bodyPr/>
                    <a:lstStyle/>
                    <a:p>
                      <a:pPr rtl="1" algn="r"/>
                      <a:r>
                        <a:rPr sz="1600" b="0" i="0" lang="ar-EG" altLang="en-US">
                          <a:solidFill>
                            <a:srgbClr val="1C2333"/>
                          </a:solidFill>
                          <a:latin typeface="Traditional Arabic"/>
                        </a:rPr>
                        <a:t>يذاكر</a:t>
                      </a:r>
                    </a:p>
                  </a:txBody>
                  <a:tcPr>
                    <a:solidFill>
                      <a:srgbClr val="FFFFFF"/>
                    </a:solidFill>
                  </a:tcPr>
                </a:tc>
                <a:tc>
                  <a:txBody>
                    <a:bodyPr/>
                    <a:lstStyle/>
                    <a:p>
                      <a:pPr rtl="0" algn="l"/>
                      <a:r>
                        <a:rPr sz="1300" b="0" i="0" lang="en-US">
                          <a:solidFill>
                            <a:srgbClr val="1C2333"/>
                          </a:solidFill>
                          <a:latin typeface="Segoe UI"/>
                        </a:rPr>
                        <a:t>study</a:t>
                      </a:r>
                    </a:p>
                  </a:txBody>
                  <a:tcPr>
                    <a:solidFill>
                      <a:srgbClr val="FFFFFF"/>
                    </a:solidFill>
                  </a:tcPr>
                </a:tc>
                <a:tc>
                  <a:txBody>
                    <a:bodyPr/>
                    <a:lstStyle/>
                    <a:p>
                      <a:pPr rtl="0" algn="l"/>
                      <a:r>
                        <a:rPr sz="1300" b="0" i="0" lang="en-US">
                          <a:solidFill>
                            <a:srgbClr val="1C2333"/>
                          </a:solidFill>
                          <a:latin typeface="Segoe UI"/>
                        </a:rPr>
                        <a:t>studied</a:t>
                      </a:r>
                    </a:p>
                  </a:txBody>
                  <a:tcPr>
                    <a:solidFill>
                      <a:srgbClr val="FFFFFF"/>
                    </a:solidFill>
                  </a:tcPr>
                </a:tc>
              </a:tr>
              <a:tr h="347472">
                <a:tc>
                  <a:txBody>
                    <a:bodyPr/>
                    <a:lstStyle/>
                    <a:p>
                      <a:pPr rtl="1" algn="r"/>
                      <a:r>
                        <a:rPr sz="1600" b="0" i="0" lang="ar-EG" altLang="en-US">
                          <a:solidFill>
                            <a:srgbClr val="1C2333"/>
                          </a:solidFill>
                          <a:latin typeface="Traditional Arabic"/>
                        </a:rPr>
                        <a:t>ينظف</a:t>
                      </a:r>
                    </a:p>
                  </a:txBody>
                  <a:tcPr>
                    <a:solidFill>
                      <a:srgbClr val="EEF3FA"/>
                    </a:solidFill>
                  </a:tcPr>
                </a:tc>
                <a:tc>
                  <a:txBody>
                    <a:bodyPr/>
                    <a:lstStyle/>
                    <a:p>
                      <a:pPr rtl="0" algn="l"/>
                      <a:r>
                        <a:rPr sz="1300" b="0" i="0" lang="en-US">
                          <a:solidFill>
                            <a:srgbClr val="1C2333"/>
                          </a:solidFill>
                          <a:latin typeface="Segoe UI"/>
                        </a:rPr>
                        <a:t>clean</a:t>
                      </a:r>
                    </a:p>
                  </a:txBody>
                  <a:tcPr>
                    <a:solidFill>
                      <a:srgbClr val="EEF3FA"/>
                    </a:solidFill>
                  </a:tcPr>
                </a:tc>
                <a:tc>
                  <a:txBody>
                    <a:bodyPr/>
                    <a:lstStyle/>
                    <a:p>
                      <a:pPr rtl="0" algn="l"/>
                      <a:r>
                        <a:rPr sz="1300" b="0" i="0" lang="en-US">
                          <a:solidFill>
                            <a:srgbClr val="1C2333"/>
                          </a:solidFill>
                          <a:latin typeface="Segoe UI"/>
                        </a:rPr>
                        <a:t>cleaned</a:t>
                      </a:r>
                    </a:p>
                  </a:txBody>
                  <a:tcPr>
                    <a:solidFill>
                      <a:srgbClr val="EEF3FA"/>
                    </a:solidFill>
                  </a:tcPr>
                </a:tc>
              </a:tr>
              <a:tr h="347472">
                <a:tc>
                  <a:txBody>
                    <a:bodyPr/>
                    <a:lstStyle/>
                    <a:p>
                      <a:pPr rtl="1" algn="r"/>
                      <a:r>
                        <a:rPr sz="1600" b="0" i="0" lang="ar-EG" altLang="en-US">
                          <a:solidFill>
                            <a:srgbClr val="1C2333"/>
                          </a:solidFill>
                          <a:latin typeface="Traditional Arabic"/>
                        </a:rPr>
                        <a:t>يشاهد</a:t>
                      </a:r>
                    </a:p>
                  </a:txBody>
                  <a:tcPr>
                    <a:solidFill>
                      <a:srgbClr val="FFFFFF"/>
                    </a:solidFill>
                  </a:tcPr>
                </a:tc>
                <a:tc>
                  <a:txBody>
                    <a:bodyPr/>
                    <a:lstStyle/>
                    <a:p>
                      <a:pPr rtl="0" algn="l"/>
                      <a:r>
                        <a:rPr sz="1300" b="0" i="0" lang="en-US">
                          <a:solidFill>
                            <a:srgbClr val="1C2333"/>
                          </a:solidFill>
                          <a:latin typeface="Segoe UI"/>
                        </a:rPr>
                        <a:t>watch</a:t>
                      </a:r>
                    </a:p>
                  </a:txBody>
                  <a:tcPr>
                    <a:solidFill>
                      <a:srgbClr val="FFFFFF"/>
                    </a:solidFill>
                  </a:tcPr>
                </a:tc>
                <a:tc>
                  <a:txBody>
                    <a:bodyPr/>
                    <a:lstStyle/>
                    <a:p>
                      <a:pPr rtl="0" algn="l"/>
                      <a:r>
                        <a:rPr sz="1300" b="0" i="0" lang="en-US">
                          <a:solidFill>
                            <a:srgbClr val="1C2333"/>
                          </a:solidFill>
                          <a:latin typeface="Segoe UI"/>
                        </a:rPr>
                        <a:t>watched</a:t>
                      </a:r>
                    </a:p>
                  </a:txBody>
                  <a:tcPr>
                    <a:solidFill>
                      <a:srgbClr val="FFFFFF"/>
                    </a:solidFill>
                  </a:tcPr>
                </a:tc>
              </a:tr>
              <a:tr h="347472">
                <a:tc>
                  <a:txBody>
                    <a:bodyPr/>
                    <a:lstStyle/>
                    <a:p>
                      <a:pPr rtl="1" algn="r"/>
                      <a:r>
                        <a:rPr sz="1600" b="0" i="0" lang="ar-EG" altLang="en-US">
                          <a:solidFill>
                            <a:srgbClr val="1C2333"/>
                          </a:solidFill>
                          <a:latin typeface="Traditional Arabic"/>
                        </a:rPr>
                        <a:t>يطبخ</a:t>
                      </a:r>
                    </a:p>
                  </a:txBody>
                  <a:tcPr>
                    <a:solidFill>
                      <a:srgbClr val="EEF3FA"/>
                    </a:solidFill>
                  </a:tcPr>
                </a:tc>
                <a:tc>
                  <a:txBody>
                    <a:bodyPr/>
                    <a:lstStyle/>
                    <a:p>
                      <a:pPr rtl="0" algn="l"/>
                      <a:r>
                        <a:rPr sz="1300" b="0" i="0" lang="en-US">
                          <a:solidFill>
                            <a:srgbClr val="1C2333"/>
                          </a:solidFill>
                          <a:latin typeface="Segoe UI"/>
                        </a:rPr>
                        <a:t>cook</a:t>
                      </a:r>
                    </a:p>
                  </a:txBody>
                  <a:tcPr>
                    <a:solidFill>
                      <a:srgbClr val="EEF3FA"/>
                    </a:solidFill>
                  </a:tcPr>
                </a:tc>
                <a:tc>
                  <a:txBody>
                    <a:bodyPr/>
                    <a:lstStyle/>
                    <a:p>
                      <a:pPr rtl="0" algn="l"/>
                      <a:r>
                        <a:rPr sz="1300" b="0" i="0" lang="en-US">
                          <a:solidFill>
                            <a:srgbClr val="1C2333"/>
                          </a:solidFill>
                          <a:latin typeface="Segoe UI"/>
                        </a:rPr>
                        <a:t>cooked</a:t>
                      </a:r>
                    </a:p>
                  </a:txBody>
                  <a:tcPr>
                    <a:solidFill>
                      <a:srgbClr val="EEF3FA"/>
                    </a:solidFill>
                  </a:tcPr>
                </a:tc>
              </a:tr>
            </a:tbl>
          </a:graphicData>
        </a:graphic>
      </p:graphicFrame>
    </p:spTree>
  </p:cSld>
  <p:clrMapOvr>
    <a:masterClrMapping/>
  </p:clrMapOvr>
  <p:transition spd="med">
    <p:zoom dir="in"/>
  </p:transition>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222"/>
                          </a:solidFill>
                          <a:latin typeface="Segoe UI"/>
                        </a:rPr>
                        <a:t>go</a:t>
                      </a:r>
                    </a:p>
                  </a:txBody>
                  <a:tcPr>
                    <a:solidFill>
                      <a:srgbClr val="FFFFFF"/>
                    </a:solidFill>
                  </a:tcPr>
                </a:tc>
                <a:tc>
                  <a:txBody>
                    <a:bodyPr/>
                    <a:lstStyle/>
                    <a:p>
                      <a:pPr rtl="1" algn="r"/>
                      <a:r>
                        <a:rPr sz="1700" b="0" i="0" lang="ar-EG" altLang="en-US">
                          <a:solidFill>
                            <a:srgbClr val="1C2333"/>
                          </a:solidFill>
                          <a:latin typeface="Traditional Arabic"/>
                        </a:rPr>
                        <a:t>يذهب</a:t>
                      </a:r>
                    </a:p>
                  </a:txBody>
                  <a:tcPr>
                    <a:solidFill>
                      <a:srgbClr val="FFFFFF"/>
                    </a:solidFill>
                  </a:tcPr>
                </a:tc>
                <a:tc>
                  <a:txBody>
                    <a:bodyPr/>
                    <a:lstStyle/>
                    <a:p>
                      <a:pPr rtl="0" algn="l"/>
                      <a:r>
                        <a:rPr sz="1500" b="1" i="0" lang="en-US">
                          <a:solidFill>
                            <a:srgbClr val="945222"/>
                          </a:solidFill>
                          <a:latin typeface="Segoe UI"/>
                        </a:rPr>
                        <a:t>run</a:t>
                      </a:r>
                    </a:p>
                  </a:txBody>
                  <a:tcPr>
                    <a:solidFill>
                      <a:srgbClr val="FFFFFF"/>
                    </a:solidFill>
                  </a:tcPr>
                </a:tc>
                <a:tc>
                  <a:txBody>
                    <a:bodyPr/>
                    <a:lstStyle/>
                    <a:p>
                      <a:pPr rtl="1" algn="r"/>
                      <a:r>
                        <a:rPr sz="1700" b="0" i="0" lang="ar-EG" altLang="en-US">
                          <a:solidFill>
                            <a:srgbClr val="1C2333"/>
                          </a:solidFill>
                          <a:latin typeface="Traditional Arabic"/>
                        </a:rPr>
                        <a:t>يجري</a:t>
                      </a:r>
                    </a:p>
                  </a:txBody>
                  <a:tcPr>
                    <a:solidFill>
                      <a:srgbClr val="FFFFFF"/>
                    </a:solidFill>
                  </a:tcPr>
                </a:tc>
                <a:tc>
                  <a:txBody>
                    <a:bodyPr/>
                    <a:lstStyle/>
                    <a:p>
                      <a:pPr rtl="0" algn="l"/>
                      <a:r>
                        <a:rPr sz="1500" b="1" i="0" lang="en-US">
                          <a:solidFill>
                            <a:srgbClr val="945222"/>
                          </a:solidFill>
                          <a:latin typeface="Segoe UI"/>
                        </a:rPr>
                        <a:t>win</a:t>
                      </a:r>
                    </a:p>
                  </a:txBody>
                  <a:tcPr>
                    <a:solidFill>
                      <a:srgbClr val="FFFFFF"/>
                    </a:solidFill>
                  </a:tcPr>
                </a:tc>
                <a:tc>
                  <a:txBody>
                    <a:bodyPr/>
                    <a:lstStyle/>
                    <a:p>
                      <a:pPr rtl="1" algn="r"/>
                      <a:r>
                        <a:rPr sz="1700" b="0" i="0" lang="ar-EG" altLang="en-US">
                          <a:solidFill>
                            <a:srgbClr val="1C2333"/>
                          </a:solidFill>
                          <a:latin typeface="Traditional Arabic"/>
                        </a:rPr>
                        <a:t>يفوز</a:t>
                      </a:r>
                    </a:p>
                  </a:txBody>
                  <a:tcPr>
                    <a:solidFill>
                      <a:srgbClr val="FFFFFF"/>
                    </a:solidFill>
                  </a:tcPr>
                </a:tc>
              </a:tr>
              <a:tr h="384048">
                <a:tc>
                  <a:txBody>
                    <a:bodyPr/>
                    <a:lstStyle/>
                    <a:p>
                      <a:pPr rtl="0" algn="l"/>
                      <a:r>
                        <a:rPr sz="1500" b="1" i="0" lang="en-US">
                          <a:solidFill>
                            <a:srgbClr val="945222"/>
                          </a:solidFill>
                          <a:latin typeface="Segoe UI"/>
                        </a:rPr>
                        <a:t>buy</a:t>
                      </a:r>
                    </a:p>
                  </a:txBody>
                  <a:tcPr>
                    <a:solidFill>
                      <a:srgbClr val="EEF3FA"/>
                    </a:solidFill>
                  </a:tcPr>
                </a:tc>
                <a:tc>
                  <a:txBody>
                    <a:bodyPr/>
                    <a:lstStyle/>
                    <a:p>
                      <a:pPr rtl="1" algn="r"/>
                      <a:r>
                        <a:rPr sz="1700" b="0" i="0" lang="ar-EG" altLang="en-US">
                          <a:solidFill>
                            <a:srgbClr val="1C2333"/>
                          </a:solidFill>
                          <a:latin typeface="Traditional Arabic"/>
                        </a:rPr>
                        <a:t>يشتري</a:t>
                      </a:r>
                    </a:p>
                  </a:txBody>
                  <a:tcPr>
                    <a:solidFill>
                      <a:srgbClr val="EEF3FA"/>
                    </a:solidFill>
                  </a:tcPr>
                </a:tc>
                <a:tc>
                  <a:txBody>
                    <a:bodyPr/>
                    <a:lstStyle/>
                    <a:p>
                      <a:pPr rtl="0" algn="l"/>
                      <a:r>
                        <a:rPr sz="1500" b="1" i="0" lang="en-US">
                          <a:solidFill>
                            <a:srgbClr val="945222"/>
                          </a:solidFill>
                          <a:latin typeface="Segoe UI"/>
                        </a:rPr>
                        <a:t>have / has</a:t>
                      </a:r>
                    </a:p>
                  </a:txBody>
                  <a:tcPr>
                    <a:solidFill>
                      <a:srgbClr val="EEF3FA"/>
                    </a:solidFill>
                  </a:tcPr>
                </a:tc>
                <a:tc>
                  <a:txBody>
                    <a:bodyPr/>
                    <a:lstStyle/>
                    <a:p>
                      <a:pPr rtl="1" algn="r"/>
                      <a:r>
                        <a:rPr sz="1700" b="0" i="0" lang="ar-EG" altLang="en-US">
                          <a:solidFill>
                            <a:srgbClr val="1C2333"/>
                          </a:solidFill>
                          <a:latin typeface="Traditional Arabic"/>
                        </a:rPr>
                        <a:t>يمتلك</a:t>
                      </a:r>
                    </a:p>
                  </a:txBody>
                  <a:tcPr>
                    <a:solidFill>
                      <a:srgbClr val="EEF3FA"/>
                    </a:solidFill>
                  </a:tcPr>
                </a:tc>
                <a:tc>
                  <a:txBody>
                    <a:bodyPr/>
                    <a:lstStyle/>
                    <a:p>
                      <a:pPr rtl="0" algn="l"/>
                      <a:r>
                        <a:rPr sz="1500" b="1" i="0" lang="en-US">
                          <a:solidFill>
                            <a:srgbClr val="945222"/>
                          </a:solidFill>
                          <a:latin typeface="Segoe UI"/>
                        </a:rPr>
                        <a:t>think</a:t>
                      </a:r>
                    </a:p>
                  </a:txBody>
                  <a:tcPr>
                    <a:solidFill>
                      <a:srgbClr val="EEF3FA"/>
                    </a:solidFill>
                  </a:tcPr>
                </a:tc>
                <a:tc>
                  <a:txBody>
                    <a:bodyPr/>
                    <a:lstStyle/>
                    <a:p>
                      <a:pPr rtl="1" algn="r"/>
                      <a:r>
                        <a:rPr sz="1700" b="0" i="0" lang="ar-EG" altLang="en-US">
                          <a:solidFill>
                            <a:srgbClr val="1C2333"/>
                          </a:solidFill>
                          <a:latin typeface="Traditional Arabic"/>
                        </a:rPr>
                        <a:t>يفكر</a:t>
                      </a:r>
                    </a:p>
                  </a:txBody>
                  <a:tcPr>
                    <a:solidFill>
                      <a:srgbClr val="EEF3FA"/>
                    </a:solidFill>
                  </a:tcPr>
                </a:tc>
              </a:tr>
              <a:tr h="384048">
                <a:tc>
                  <a:txBody>
                    <a:bodyPr/>
                    <a:lstStyle/>
                    <a:p>
                      <a:pPr rtl="0" algn="l"/>
                      <a:r>
                        <a:rPr sz="1500" b="1" i="0" lang="en-US">
                          <a:solidFill>
                            <a:srgbClr val="945222"/>
                          </a:solidFill>
                          <a:latin typeface="Segoe UI"/>
                        </a:rPr>
                        <a:t>drink</a:t>
                      </a:r>
                    </a:p>
                  </a:txBody>
                  <a:tcPr>
                    <a:solidFill>
                      <a:srgbClr val="FFFFFF"/>
                    </a:solidFill>
                  </a:tcPr>
                </a:tc>
                <a:tc>
                  <a:txBody>
                    <a:bodyPr/>
                    <a:lstStyle/>
                    <a:p>
                      <a:pPr rtl="1" algn="r"/>
                      <a:r>
                        <a:rPr sz="1700" b="0" i="0" lang="ar-EG" altLang="en-US">
                          <a:solidFill>
                            <a:srgbClr val="1C2333"/>
                          </a:solidFill>
                          <a:latin typeface="Traditional Arabic"/>
                        </a:rPr>
                        <a:t>يشرب</a:t>
                      </a:r>
                    </a:p>
                  </a:txBody>
                  <a:tcPr>
                    <a:solidFill>
                      <a:srgbClr val="FFFFFF"/>
                    </a:solidFill>
                  </a:tcPr>
                </a:tc>
                <a:tc>
                  <a:txBody>
                    <a:bodyPr/>
                    <a:lstStyle/>
                    <a:p>
                      <a:pPr rtl="0" algn="l"/>
                      <a:r>
                        <a:rPr sz="1500" b="1" i="0" lang="en-US">
                          <a:solidFill>
                            <a:srgbClr val="945222"/>
                          </a:solidFill>
                          <a:latin typeface="Segoe UI"/>
                        </a:rPr>
                        <a:t>is / am</a:t>
                      </a:r>
                    </a:p>
                  </a:txBody>
                  <a:tcPr>
                    <a:solidFill>
                      <a:srgbClr val="FFFFFF"/>
                    </a:solidFill>
                  </a:tcPr>
                </a:tc>
                <a:tc>
                  <a:txBody>
                    <a:bodyPr/>
                    <a:lstStyle/>
                    <a:p>
                      <a:pPr rtl="1" algn="r"/>
                      <a:r>
                        <a:rPr sz="1700" b="0" i="0" lang="ar-EG" altLang="en-US">
                          <a:solidFill>
                            <a:srgbClr val="1C2333"/>
                          </a:solidFill>
                          <a:latin typeface="Traditional Arabic"/>
                        </a:rPr>
                        <a:t>يكون</a:t>
                      </a:r>
                    </a:p>
                  </a:txBody>
                  <a:tcPr>
                    <a:solidFill>
                      <a:srgbClr val="FFFFFF"/>
                    </a:solidFill>
                  </a:tcPr>
                </a:tc>
                <a:tc>
                  <a:txBody>
                    <a:bodyPr/>
                    <a:lstStyle/>
                    <a:p>
                      <a:pPr rtl="0" algn="l"/>
                      <a:r>
                        <a:rPr sz="1500" b="1" i="0" lang="en-US">
                          <a:solidFill>
                            <a:srgbClr val="945222"/>
                          </a:solidFill>
                          <a:latin typeface="Segoe UI"/>
                        </a:rPr>
                        <a:t>lose</a:t>
                      </a:r>
                    </a:p>
                  </a:txBody>
                  <a:tcPr>
                    <a:solidFill>
                      <a:srgbClr val="FFFFFF"/>
                    </a:solidFill>
                  </a:tcPr>
                </a:tc>
                <a:tc>
                  <a:txBody>
                    <a:bodyPr/>
                    <a:lstStyle/>
                    <a:p>
                      <a:pPr rtl="1" algn="r"/>
                      <a:r>
                        <a:rPr sz="1700" b="0" i="0" lang="ar-EG" altLang="en-US">
                          <a:solidFill>
                            <a:srgbClr val="1C2333"/>
                          </a:solidFill>
                          <a:latin typeface="Traditional Arabic"/>
                        </a:rPr>
                        <a:t>يفقد</a:t>
                      </a:r>
                    </a:p>
                  </a:txBody>
                  <a:tcPr>
                    <a:solidFill>
                      <a:srgbClr val="FFFFFF"/>
                    </a:solidFill>
                  </a:tcPr>
                </a:tc>
              </a:tr>
              <a:tr h="384048">
                <a:tc>
                  <a:txBody>
                    <a:bodyPr/>
                    <a:lstStyle/>
                    <a:p>
                      <a:pPr rtl="0" algn="l"/>
                      <a:r>
                        <a:rPr sz="1500" b="1" i="0" lang="en-US">
                          <a:solidFill>
                            <a:srgbClr val="945222"/>
                          </a:solidFill>
                          <a:latin typeface="Segoe UI"/>
                        </a:rPr>
                        <a:t>meet</a:t>
                      </a:r>
                    </a:p>
                  </a:txBody>
                  <a:tcPr>
                    <a:solidFill>
                      <a:srgbClr val="EEF3FA"/>
                    </a:solidFill>
                  </a:tcPr>
                </a:tc>
                <a:tc>
                  <a:txBody>
                    <a:bodyPr/>
                    <a:lstStyle/>
                    <a:p>
                      <a:pPr rtl="1" algn="r"/>
                      <a:r>
                        <a:rPr sz="1700" b="0" i="0" lang="ar-EG" altLang="en-US">
                          <a:solidFill>
                            <a:srgbClr val="1C2333"/>
                          </a:solidFill>
                          <a:latin typeface="Traditional Arabic"/>
                        </a:rPr>
                        <a:t>يقابل</a:t>
                      </a:r>
                    </a:p>
                  </a:txBody>
                  <a:tcPr>
                    <a:solidFill>
                      <a:srgbClr val="EEF3FA"/>
                    </a:solidFill>
                  </a:tcPr>
                </a:tc>
                <a:tc>
                  <a:txBody>
                    <a:bodyPr/>
                    <a:lstStyle/>
                    <a:p>
                      <a:pPr rtl="0" algn="l"/>
                      <a:r>
                        <a:rPr sz="1500" b="1" i="0" lang="en-US">
                          <a:solidFill>
                            <a:srgbClr val="945222"/>
                          </a:solidFill>
                          <a:latin typeface="Segoe UI"/>
                        </a:rPr>
                        <a:t>are</a:t>
                      </a:r>
                    </a:p>
                  </a:txBody>
                  <a:tcPr>
                    <a:solidFill>
                      <a:srgbClr val="EEF3FA"/>
                    </a:solidFill>
                  </a:tcPr>
                </a:tc>
                <a:tc>
                  <a:txBody>
                    <a:bodyPr/>
                    <a:lstStyle/>
                    <a:p>
                      <a:pPr rtl="1" algn="r"/>
                      <a:r>
                        <a:rPr sz="1700" b="0" i="0" lang="ar-EG" altLang="en-US">
                          <a:solidFill>
                            <a:srgbClr val="1C2333"/>
                          </a:solidFill>
                          <a:latin typeface="Traditional Arabic"/>
                        </a:rPr>
                        <a:t>يكونون</a:t>
                      </a:r>
                    </a:p>
                  </a:txBody>
                  <a:tcPr>
                    <a:solidFill>
                      <a:srgbClr val="EEF3FA"/>
                    </a:solidFill>
                  </a:tcPr>
                </a:tc>
                <a:tc>
                  <a:txBody>
                    <a:bodyPr/>
                    <a:lstStyle/>
                    <a:p>
                      <a:pPr rtl="0" algn="l"/>
                      <a:r>
                        <a:rPr sz="1500" b="1" i="0" lang="en-US">
                          <a:solidFill>
                            <a:srgbClr val="945222"/>
                          </a:solidFill>
                          <a:latin typeface="Segoe UI"/>
                        </a:rPr>
                        <a:t>get up</a:t>
                      </a:r>
                    </a:p>
                  </a:txBody>
                  <a:tcPr>
                    <a:solidFill>
                      <a:srgbClr val="EEF3FA"/>
                    </a:solidFill>
                  </a:tcPr>
                </a:tc>
                <a:tc>
                  <a:txBody>
                    <a:bodyPr/>
                    <a:lstStyle/>
                    <a:p>
                      <a:pPr rtl="1" algn="r"/>
                      <a:r>
                        <a:rPr sz="1700" b="0" i="0" lang="ar-EG" altLang="en-US">
                          <a:solidFill>
                            <a:srgbClr val="1C2333"/>
                          </a:solidFill>
                          <a:latin typeface="Traditional Arabic"/>
                        </a:rPr>
                        <a:t>يستيقظ</a:t>
                      </a:r>
                    </a:p>
                  </a:txBody>
                  <a:tcPr>
                    <a:solidFill>
                      <a:srgbClr val="EEF3FA"/>
                    </a:solidFill>
                  </a:tcPr>
                </a:tc>
              </a:tr>
              <a:tr h="384048">
                <a:tc>
                  <a:txBody>
                    <a:bodyPr/>
                    <a:lstStyle/>
                    <a:p>
                      <a:pPr rtl="0" algn="l"/>
                      <a:r>
                        <a:rPr sz="1500" b="1" i="0" lang="en-US">
                          <a:solidFill>
                            <a:srgbClr val="945222"/>
                          </a:solidFill>
                          <a:latin typeface="Segoe UI"/>
                        </a:rPr>
                        <a:t>swim</a:t>
                      </a:r>
                    </a:p>
                  </a:txBody>
                  <a:tcPr>
                    <a:solidFill>
                      <a:srgbClr val="FFFFFF"/>
                    </a:solidFill>
                  </a:tcPr>
                </a:tc>
                <a:tc>
                  <a:txBody>
                    <a:bodyPr/>
                    <a:lstStyle/>
                    <a:p>
                      <a:pPr rtl="1" algn="r"/>
                      <a:r>
                        <a:rPr sz="1700" b="0" i="0" lang="ar-EG" altLang="en-US">
                          <a:solidFill>
                            <a:srgbClr val="1C2333"/>
                          </a:solidFill>
                          <a:latin typeface="Traditional Arabic"/>
                        </a:rPr>
                        <a:t>يسبح</a:t>
                      </a:r>
                    </a:p>
                  </a:txBody>
                  <a:tcPr>
                    <a:solidFill>
                      <a:srgbClr val="FFFFFF"/>
                    </a:solidFill>
                  </a:tcPr>
                </a:tc>
                <a:tc>
                  <a:txBody>
                    <a:bodyPr/>
                    <a:lstStyle/>
                    <a:p>
                      <a:pPr rtl="0" algn="l"/>
                      <a:r>
                        <a:rPr sz="1500" b="1" i="0" lang="en-US">
                          <a:solidFill>
                            <a:srgbClr val="945222"/>
                          </a:solidFill>
                          <a:latin typeface="Segoe UI"/>
                        </a:rPr>
                        <a:t>do / does</a:t>
                      </a:r>
                    </a:p>
                  </a:txBody>
                  <a:tcPr>
                    <a:solidFill>
                      <a:srgbClr val="FFFFFF"/>
                    </a:solidFill>
                  </a:tcPr>
                </a:tc>
                <a:tc>
                  <a:txBody>
                    <a:bodyPr/>
                    <a:lstStyle/>
                    <a:p>
                      <a:pPr rtl="1" algn="r"/>
                      <a:r>
                        <a:rPr sz="1700" b="0" i="0" lang="ar-EG" altLang="en-US">
                          <a:solidFill>
                            <a:srgbClr val="1C2333"/>
                          </a:solidFill>
                          <a:latin typeface="Traditional Arabic"/>
                        </a:rPr>
                        <a:t>يفعل</a:t>
                      </a:r>
                    </a:p>
                  </a:txBody>
                  <a:tcPr>
                    <a:solidFill>
                      <a:srgbClr val="FFFFFF"/>
                    </a:solidFill>
                  </a:tcPr>
                </a:tc>
                <a:tc>
                  <a:txBody>
                    <a:bodyPr/>
                    <a:lstStyle/>
                    <a:p>
                      <a:pPr rtl="0" algn="l"/>
                      <a:r>
                        <a:rPr sz="1500" b="1" i="0" lang="en-US">
                          <a:solidFill>
                            <a:srgbClr val="945222"/>
                          </a:solidFill>
                          <a:latin typeface="Segoe UI"/>
                        </a:rPr>
                        <a:t>wear</a:t>
                      </a:r>
                    </a:p>
                  </a:txBody>
                  <a:tcPr>
                    <a:solidFill>
                      <a:srgbClr val="FFFFFF"/>
                    </a:solidFill>
                  </a:tcPr>
                </a:tc>
                <a:tc>
                  <a:txBody>
                    <a:bodyPr/>
                    <a:lstStyle/>
                    <a:p>
                      <a:pPr rtl="1" algn="r"/>
                      <a:r>
                        <a:rPr sz="1700" b="0" i="0" lang="ar-EG" altLang="en-US">
                          <a:solidFill>
                            <a:srgbClr val="1C2333"/>
                          </a:solidFill>
                          <a:latin typeface="Traditional Arabic"/>
                        </a:rPr>
                        <a:t>يرتدي</a:t>
                      </a:r>
                    </a:p>
                  </a:txBody>
                  <a:tcPr>
                    <a:solidFill>
                      <a:srgbClr val="FFFFFF"/>
                    </a:solidFill>
                  </a:tcPr>
                </a:tc>
              </a:tr>
              <a:tr h="384048">
                <a:tc>
                  <a:txBody>
                    <a:bodyPr/>
                    <a:lstStyle/>
                    <a:p>
                      <a:pPr rtl="0" algn="l"/>
                      <a:r>
                        <a:rPr sz="1500" b="1" i="0" lang="en-US">
                          <a:solidFill>
                            <a:srgbClr val="945222"/>
                          </a:solidFill>
                          <a:latin typeface="Segoe UI"/>
                        </a:rPr>
                        <a:t>eat</a:t>
                      </a:r>
                    </a:p>
                  </a:txBody>
                  <a:tcPr>
                    <a:solidFill>
                      <a:srgbClr val="EEF3FA"/>
                    </a:solidFill>
                  </a:tcPr>
                </a:tc>
                <a:tc>
                  <a:txBody>
                    <a:bodyPr/>
                    <a:lstStyle/>
                    <a:p>
                      <a:pPr rtl="1" algn="r"/>
                      <a:r>
                        <a:rPr sz="1700" b="0" i="0" lang="ar-EG" altLang="en-US">
                          <a:solidFill>
                            <a:srgbClr val="1C2333"/>
                          </a:solidFill>
                          <a:latin typeface="Traditional Arabic"/>
                        </a:rPr>
                        <a:t>يأكل</a:t>
                      </a:r>
                    </a:p>
                  </a:txBody>
                  <a:tcPr>
                    <a:solidFill>
                      <a:srgbClr val="EEF3FA"/>
                    </a:solidFill>
                  </a:tcPr>
                </a:tc>
                <a:tc>
                  <a:txBody>
                    <a:bodyPr/>
                    <a:lstStyle/>
                    <a:p>
                      <a:pPr rtl="0" algn="l"/>
                      <a:r>
                        <a:rPr sz="1500" b="1" i="0" lang="en-US">
                          <a:solidFill>
                            <a:srgbClr val="945222"/>
                          </a:solidFill>
                          <a:latin typeface="Segoe UI"/>
                        </a:rPr>
                        <a:t>feel</a:t>
                      </a:r>
                    </a:p>
                  </a:txBody>
                  <a:tcPr>
                    <a:solidFill>
                      <a:srgbClr val="EEF3FA"/>
                    </a:solidFill>
                  </a:tcPr>
                </a:tc>
                <a:tc>
                  <a:txBody>
                    <a:bodyPr/>
                    <a:lstStyle/>
                    <a:p>
                      <a:pPr rtl="1" algn="r"/>
                      <a:r>
                        <a:rPr sz="1700" b="0" i="0" lang="ar-EG" altLang="en-US">
                          <a:solidFill>
                            <a:srgbClr val="1C2333"/>
                          </a:solidFill>
                          <a:latin typeface="Traditional Arabic"/>
                        </a:rPr>
                        <a:t>يشعر</a:t>
                      </a:r>
                    </a:p>
                  </a:txBody>
                  <a:tcPr>
                    <a:solidFill>
                      <a:srgbClr val="EEF3FA"/>
                    </a:solidFill>
                  </a:tcPr>
                </a:tc>
                <a:tc>
                  <a:txBody>
                    <a:bodyPr/>
                    <a:lstStyle/>
                    <a:p>
                      <a:pPr rtl="0" algn="l"/>
                      <a:r>
                        <a:rPr sz="1500" b="1" i="0" lang="en-US">
                          <a:solidFill>
                            <a:srgbClr val="945222"/>
                          </a:solidFill>
                          <a:latin typeface="Segoe UI"/>
                        </a:rPr>
                        <a:t>forget</a:t>
                      </a:r>
                    </a:p>
                  </a:txBody>
                  <a:tcPr>
                    <a:solidFill>
                      <a:srgbClr val="EEF3FA"/>
                    </a:solidFill>
                  </a:tcPr>
                </a:tc>
                <a:tc>
                  <a:txBody>
                    <a:bodyPr/>
                    <a:lstStyle/>
                    <a:p>
                      <a:pPr rtl="1" algn="r"/>
                      <a:r>
                        <a:rPr sz="1700" b="0" i="0" lang="ar-EG" altLang="en-US">
                          <a:solidFill>
                            <a:srgbClr val="1C2333"/>
                          </a:solidFill>
                          <a:latin typeface="Traditional Arabic"/>
                        </a:rPr>
                        <a:t>ينسى</a:t>
                      </a:r>
                    </a:p>
                  </a:txBody>
                  <a:tcPr>
                    <a:solidFill>
                      <a:srgbClr val="EEF3FA"/>
                    </a:solidFill>
                  </a:tcPr>
                </a:tc>
              </a:tr>
              <a:tr h="384048">
                <a:tc>
                  <a:txBody>
                    <a:bodyPr/>
                    <a:lstStyle/>
                    <a:p>
                      <a:pPr rtl="0" algn="l"/>
                      <a:r>
                        <a:rPr sz="1500" b="1" i="0" lang="en-US">
                          <a:solidFill>
                            <a:srgbClr val="945222"/>
                          </a:solidFill>
                          <a:latin typeface="Segoe UI"/>
                        </a:rPr>
                        <a:t>sell</a:t>
                      </a:r>
                    </a:p>
                  </a:txBody>
                  <a:tcPr>
                    <a:solidFill>
                      <a:srgbClr val="FFFFFF"/>
                    </a:solidFill>
                  </a:tcPr>
                </a:tc>
                <a:tc>
                  <a:txBody>
                    <a:bodyPr/>
                    <a:lstStyle/>
                    <a:p>
                      <a:pPr rtl="1" algn="r"/>
                      <a:r>
                        <a:rPr sz="1700" b="0" i="0" lang="ar-EG" altLang="en-US">
                          <a:solidFill>
                            <a:srgbClr val="1C2333"/>
                          </a:solidFill>
                          <a:latin typeface="Traditional Arabic"/>
                        </a:rPr>
                        <a:t>يبيع</a:t>
                      </a:r>
                    </a:p>
                  </a:txBody>
                  <a:tcPr>
                    <a:solidFill>
                      <a:srgbClr val="FFFFFF"/>
                    </a:solidFill>
                  </a:tcPr>
                </a:tc>
                <a:tc>
                  <a:txBody>
                    <a:bodyPr/>
                    <a:lstStyle/>
                    <a:p>
                      <a:pPr rtl="0" algn="l"/>
                      <a:r>
                        <a:rPr sz="1500" b="1" i="0" lang="en-US">
                          <a:solidFill>
                            <a:srgbClr val="945222"/>
                          </a:solidFill>
                          <a:latin typeface="Segoe UI"/>
                        </a:rPr>
                        <a:t>hear</a:t>
                      </a:r>
                    </a:p>
                  </a:txBody>
                  <a:tcPr>
                    <a:solidFill>
                      <a:srgbClr val="FFFFFF"/>
                    </a:solidFill>
                  </a:tcPr>
                </a:tc>
                <a:tc>
                  <a:txBody>
                    <a:bodyPr/>
                    <a:lstStyle/>
                    <a:p>
                      <a:pPr rtl="1" algn="r"/>
                      <a:r>
                        <a:rPr sz="1700" b="0" i="0" lang="ar-EG" altLang="en-US">
                          <a:solidFill>
                            <a:srgbClr val="1C2333"/>
                          </a:solidFill>
                          <a:latin typeface="Traditional Arabic"/>
                        </a:rPr>
                        <a:t>يسمع</a:t>
                      </a:r>
                    </a:p>
                  </a:txBody>
                  <a:tcPr>
                    <a:solidFill>
                      <a:srgbClr val="FFFFFF"/>
                    </a:solidFill>
                  </a:tcPr>
                </a:tc>
                <a:tc>
                  <a:txBody>
                    <a:bodyPr/>
                    <a:lstStyle/>
                    <a:p>
                      <a:pPr rtl="0" algn="l"/>
                      <a:r>
                        <a:rPr sz="1500" b="1" i="0" lang="en-US">
                          <a:solidFill>
                            <a:srgbClr val="945222"/>
                          </a:solidFill>
                          <a:latin typeface="Segoe UI"/>
                        </a:rPr>
                        <a:t>say</a:t>
                      </a:r>
                    </a:p>
                  </a:txBody>
                  <a:tcPr>
                    <a:solidFill>
                      <a:srgbClr val="FFFFFF"/>
                    </a:solidFill>
                  </a:tcPr>
                </a:tc>
                <a:tc>
                  <a:txBody>
                    <a:bodyPr/>
                    <a:lstStyle/>
                    <a:p>
                      <a:pPr rtl="1" algn="r"/>
                      <a:r>
                        <a:rPr sz="1700" b="0" i="0" lang="ar-EG" altLang="en-US">
                          <a:solidFill>
                            <a:srgbClr val="1C2333"/>
                          </a:solidFill>
                          <a:latin typeface="Traditional Arabic"/>
                        </a:rPr>
                        <a:t>يقول</a:t>
                      </a:r>
                    </a:p>
                  </a:txBody>
                  <a:tcPr>
                    <a:solidFill>
                      <a:srgbClr val="FFFFFF"/>
                    </a:solidFill>
                  </a:tcPr>
                </a:tc>
              </a:tr>
              <a:tr h="384048">
                <a:tc>
                  <a:txBody>
                    <a:bodyPr/>
                    <a:lstStyle/>
                    <a:p>
                      <a:pPr rtl="0" algn="l"/>
                      <a:r>
                        <a:rPr sz="1500" b="1" i="0" lang="en-US">
                          <a:solidFill>
                            <a:srgbClr val="945222"/>
                          </a:solidFill>
                          <a:latin typeface="Segoe UI"/>
                        </a:rPr>
                        <a:t>make</a:t>
                      </a:r>
                    </a:p>
                  </a:txBody>
                  <a:tcPr>
                    <a:solidFill>
                      <a:srgbClr val="EEF3FA"/>
                    </a:solidFill>
                  </a:tcPr>
                </a:tc>
                <a:tc>
                  <a:txBody>
                    <a:bodyPr/>
                    <a:lstStyle/>
                    <a:p>
                      <a:pPr rtl="1" algn="r"/>
                      <a:r>
                        <a:rPr sz="1700" b="0" i="0" lang="ar-EG" altLang="en-US">
                          <a:solidFill>
                            <a:srgbClr val="1C2333"/>
                          </a:solidFill>
                          <a:latin typeface="Traditional Arabic"/>
                        </a:rPr>
                        <a:t>يصنع</a:t>
                      </a:r>
                    </a:p>
                  </a:txBody>
                  <a:tcPr>
                    <a:solidFill>
                      <a:srgbClr val="EEF3FA"/>
                    </a:solidFill>
                  </a:tcPr>
                </a:tc>
                <a:tc>
                  <a:txBody>
                    <a:bodyPr/>
                    <a:lstStyle/>
                    <a:p>
                      <a:pPr rtl="0" algn="l"/>
                      <a:r>
                        <a:rPr sz="1500" b="1" i="0" lang="en-US">
                          <a:solidFill>
                            <a:srgbClr val="945222"/>
                          </a:solidFill>
                          <a:latin typeface="Segoe UI"/>
                        </a:rPr>
                        <a:t>take</a:t>
                      </a:r>
                    </a:p>
                  </a:txBody>
                  <a:tcPr>
                    <a:solidFill>
                      <a:srgbClr val="EEF3FA"/>
                    </a:solidFill>
                  </a:tcPr>
                </a:tc>
                <a:tc>
                  <a:txBody>
                    <a:bodyPr/>
                    <a:lstStyle/>
                    <a:p>
                      <a:pPr rtl="1" algn="r"/>
                      <a:r>
                        <a:rPr sz="1700" b="0" i="0" lang="ar-EG" altLang="en-US">
                          <a:solidFill>
                            <a:srgbClr val="1C2333"/>
                          </a:solidFill>
                          <a:latin typeface="Traditional Arabic"/>
                        </a:rPr>
                        <a:t>يأخذ</a:t>
                      </a:r>
                    </a:p>
                  </a:txBody>
                  <a:tcPr>
                    <a:solidFill>
                      <a:srgbClr val="EEF3FA"/>
                    </a:solidFill>
                  </a:tcPr>
                </a:tc>
                <a:tc>
                  <a:txBody>
                    <a:bodyPr/>
                    <a:lstStyle/>
                    <a:p>
                      <a:pPr rtl="0" algn="l"/>
                      <a:r>
                        <a:rPr sz="1500" b="1" i="0" lang="en-US">
                          <a:solidFill>
                            <a:srgbClr val="945222"/>
                          </a:solidFill>
                          <a:latin typeface="Segoe UI"/>
                        </a:rPr>
                        <a:t>know</a:t>
                      </a:r>
                    </a:p>
                  </a:txBody>
                  <a:tcPr>
                    <a:solidFill>
                      <a:srgbClr val="EEF3FA"/>
                    </a:solidFill>
                  </a:tcPr>
                </a:tc>
                <a:tc>
                  <a:txBody>
                    <a:bodyPr/>
                    <a:lstStyle/>
                    <a:p>
                      <a:pPr rtl="1" algn="r"/>
                      <a:r>
                        <a:rPr sz="1700" b="0" i="0" lang="ar-EG" altLang="en-US">
                          <a:solidFill>
                            <a:srgbClr val="1C2333"/>
                          </a:solidFill>
                          <a:latin typeface="Traditional Arabic"/>
                        </a:rPr>
                        <a:t>يعرف</a:t>
                      </a:r>
                    </a:p>
                  </a:txBody>
                  <a:tcPr>
                    <a:solidFill>
                      <a:srgbClr val="EEF3FA"/>
                    </a:solidFill>
                  </a:tcPr>
                </a:tc>
              </a:tr>
            </a:tbl>
          </a:graphicData>
        </a:graphic>
      </p:graphicFrame>
    </p:spTree>
  </p:cSld>
  <p:clrMapOvr>
    <a:masterClrMapping/>
  </p:clrMapOvr>
  <p:transition spd="med">
    <p:comb dir="horz"/>
  </p:transition>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222"/>
                          </a:solidFill>
                          <a:latin typeface="Segoe UI"/>
                        </a:rPr>
                        <a:t>build</a:t>
                      </a:r>
                    </a:p>
                  </a:txBody>
                  <a:tcPr>
                    <a:solidFill>
                      <a:srgbClr val="FFFFFF"/>
                    </a:solidFill>
                  </a:tcPr>
                </a:tc>
                <a:tc>
                  <a:txBody>
                    <a:bodyPr/>
                    <a:lstStyle/>
                    <a:p>
                      <a:pPr rtl="1" algn="r"/>
                      <a:r>
                        <a:rPr sz="1700" b="0" i="0" lang="ar-EG" altLang="en-US">
                          <a:solidFill>
                            <a:srgbClr val="1C2333"/>
                          </a:solidFill>
                          <a:latin typeface="Traditional Arabic"/>
                        </a:rPr>
                        <a:t>يبني</a:t>
                      </a:r>
                    </a:p>
                  </a:txBody>
                  <a:tcPr>
                    <a:solidFill>
                      <a:srgbClr val="FFFFFF"/>
                    </a:solidFill>
                  </a:tcPr>
                </a:tc>
                <a:tc>
                  <a:txBody>
                    <a:bodyPr/>
                    <a:lstStyle/>
                    <a:p>
                      <a:pPr rtl="0" algn="l"/>
                      <a:r>
                        <a:rPr sz="1500" b="1" i="0" lang="en-US">
                          <a:solidFill>
                            <a:srgbClr val="945222"/>
                          </a:solidFill>
                          <a:latin typeface="Segoe UI"/>
                        </a:rPr>
                        <a:t>stand</a:t>
                      </a:r>
                    </a:p>
                  </a:txBody>
                  <a:tcPr>
                    <a:solidFill>
                      <a:srgbClr val="FFFFFF"/>
                    </a:solidFill>
                  </a:tcPr>
                </a:tc>
                <a:tc>
                  <a:txBody>
                    <a:bodyPr/>
                    <a:lstStyle/>
                    <a:p>
                      <a:pPr rtl="1" algn="r"/>
                      <a:r>
                        <a:rPr sz="1700" b="0" i="0" lang="ar-EG" altLang="en-US">
                          <a:solidFill>
                            <a:srgbClr val="1C2333"/>
                          </a:solidFill>
                          <a:latin typeface="Traditional Arabic"/>
                        </a:rPr>
                        <a:t>يقف</a:t>
                      </a:r>
                    </a:p>
                  </a:txBody>
                  <a:tcPr>
                    <a:solidFill>
                      <a:srgbClr val="FFFFFF"/>
                    </a:solidFill>
                  </a:tcPr>
                </a:tc>
                <a:tc>
                  <a:txBody>
                    <a:bodyPr/>
                    <a:lstStyle/>
                    <a:p>
                      <a:pPr rtl="0" algn="l"/>
                      <a:r>
                        <a:rPr sz="1500" b="1" i="0" lang="en-US">
                          <a:solidFill>
                            <a:srgbClr val="945222"/>
                          </a:solidFill>
                          <a:latin typeface="Segoe UI"/>
                        </a:rPr>
                        <a:t>send</a:t>
                      </a:r>
                    </a:p>
                  </a:txBody>
                  <a:tcPr>
                    <a:solidFill>
                      <a:srgbClr val="FFFFFF"/>
                    </a:solidFill>
                  </a:tcPr>
                </a:tc>
                <a:tc>
                  <a:txBody>
                    <a:bodyPr/>
                    <a:lstStyle/>
                    <a:p>
                      <a:pPr rtl="1" algn="r"/>
                      <a:r>
                        <a:rPr sz="1700" b="0" i="0" lang="ar-EG" altLang="en-US">
                          <a:solidFill>
                            <a:srgbClr val="1C2333"/>
                          </a:solidFill>
                          <a:latin typeface="Traditional Arabic"/>
                        </a:rPr>
                        <a:t>يرسل</a:t>
                      </a:r>
                    </a:p>
                  </a:txBody>
                  <a:tcPr>
                    <a:solidFill>
                      <a:srgbClr val="FFFFFF"/>
                    </a:solidFill>
                  </a:tcPr>
                </a:tc>
              </a:tr>
              <a:tr h="384048">
                <a:tc>
                  <a:txBody>
                    <a:bodyPr/>
                    <a:lstStyle/>
                    <a:p>
                      <a:pPr rtl="0" algn="l"/>
                      <a:r>
                        <a:rPr sz="1500" b="1" i="0" lang="en-US">
                          <a:solidFill>
                            <a:srgbClr val="945222"/>
                          </a:solidFill>
                          <a:latin typeface="Segoe UI"/>
                        </a:rPr>
                        <a:t>keep</a:t>
                      </a:r>
                    </a:p>
                  </a:txBody>
                  <a:tcPr>
                    <a:solidFill>
                      <a:srgbClr val="EEF3FA"/>
                    </a:solidFill>
                  </a:tcPr>
                </a:tc>
                <a:tc>
                  <a:txBody>
                    <a:bodyPr/>
                    <a:lstStyle/>
                    <a:p>
                      <a:pPr rtl="1" algn="r"/>
                      <a:r>
                        <a:rPr sz="1700" b="0" i="0" lang="ar-EG" altLang="en-US">
                          <a:solidFill>
                            <a:srgbClr val="1C2333"/>
                          </a:solidFill>
                          <a:latin typeface="Traditional Arabic"/>
                        </a:rPr>
                        <a:t>يحفظ</a:t>
                      </a:r>
                    </a:p>
                  </a:txBody>
                  <a:tcPr>
                    <a:solidFill>
                      <a:srgbClr val="EEF3FA"/>
                    </a:solidFill>
                  </a:tcPr>
                </a:tc>
                <a:tc>
                  <a:txBody>
                    <a:bodyPr/>
                    <a:lstStyle/>
                    <a:p>
                      <a:pPr rtl="0" algn="l"/>
                      <a:r>
                        <a:rPr sz="1500" b="1" i="0" lang="en-US">
                          <a:solidFill>
                            <a:srgbClr val="945222"/>
                          </a:solidFill>
                          <a:latin typeface="Segoe UI"/>
                        </a:rPr>
                        <a:t>leave</a:t>
                      </a:r>
                    </a:p>
                  </a:txBody>
                  <a:tcPr>
                    <a:solidFill>
                      <a:srgbClr val="EEF3FA"/>
                    </a:solidFill>
                  </a:tcPr>
                </a:tc>
                <a:tc>
                  <a:txBody>
                    <a:bodyPr/>
                    <a:lstStyle/>
                    <a:p>
                      <a:pPr rtl="1" algn="r"/>
                      <a:r>
                        <a:rPr sz="1700" b="0" i="0" lang="ar-EG" altLang="en-US">
                          <a:solidFill>
                            <a:srgbClr val="1C2333"/>
                          </a:solidFill>
                          <a:latin typeface="Traditional Arabic"/>
                        </a:rPr>
                        <a:t>يغادر</a:t>
                      </a:r>
                    </a:p>
                  </a:txBody>
                  <a:tcPr>
                    <a:solidFill>
                      <a:srgbClr val="EEF3FA"/>
                    </a:solidFill>
                  </a:tcPr>
                </a:tc>
                <a:tc>
                  <a:txBody>
                    <a:bodyPr/>
                    <a:lstStyle/>
                    <a:p>
                      <a:pPr rtl="0" algn="l"/>
                      <a:r>
                        <a:rPr sz="1500" b="1" i="0" lang="en-US">
                          <a:solidFill>
                            <a:srgbClr val="945222"/>
                          </a:solidFill>
                          <a:latin typeface="Segoe UI"/>
                        </a:rPr>
                        <a:t>bring</a:t>
                      </a:r>
                    </a:p>
                  </a:txBody>
                  <a:tcPr>
                    <a:solidFill>
                      <a:srgbClr val="EEF3FA"/>
                    </a:solidFill>
                  </a:tcPr>
                </a:tc>
                <a:tc>
                  <a:txBody>
                    <a:bodyPr/>
                    <a:lstStyle/>
                    <a:p>
                      <a:pPr rtl="1" algn="r"/>
                      <a:r>
                        <a:rPr sz="1700" b="0" i="0" lang="ar-EG" altLang="en-US">
                          <a:solidFill>
                            <a:srgbClr val="1C2333"/>
                          </a:solidFill>
                          <a:latin typeface="Traditional Arabic"/>
                        </a:rPr>
                        <a:t>يحضر</a:t>
                      </a:r>
                    </a:p>
                  </a:txBody>
                  <a:tcPr>
                    <a:solidFill>
                      <a:srgbClr val="EEF3FA"/>
                    </a:solidFill>
                  </a:tcPr>
                </a:tc>
              </a:tr>
              <a:tr h="384048">
                <a:tc>
                  <a:txBody>
                    <a:bodyPr/>
                    <a:lstStyle/>
                    <a:p>
                      <a:pPr rtl="0" algn="l"/>
                      <a:r>
                        <a:rPr sz="1500" b="1" i="0" lang="en-US">
                          <a:solidFill>
                            <a:srgbClr val="945222"/>
                          </a:solidFill>
                          <a:latin typeface="Segoe UI"/>
                        </a:rPr>
                        <a:t>sleep</a:t>
                      </a:r>
                    </a:p>
                  </a:txBody>
                  <a:tcPr>
                    <a:solidFill>
                      <a:srgbClr val="FFFFFF"/>
                    </a:solidFill>
                  </a:tcPr>
                </a:tc>
                <a:tc>
                  <a:txBody>
                    <a:bodyPr/>
                    <a:lstStyle/>
                    <a:p>
                      <a:pPr rtl="1" algn="r"/>
                      <a:r>
                        <a:rPr sz="1700" b="0" i="0" lang="ar-EG" altLang="en-US">
                          <a:solidFill>
                            <a:srgbClr val="1C2333"/>
                          </a:solidFill>
                          <a:latin typeface="Traditional Arabic"/>
                        </a:rPr>
                        <a:t>ينام</a:t>
                      </a:r>
                    </a:p>
                  </a:txBody>
                  <a:tcPr>
                    <a:solidFill>
                      <a:srgbClr val="FFFFFF"/>
                    </a:solidFill>
                  </a:tcPr>
                </a:tc>
                <a:tc>
                  <a:txBody>
                    <a:bodyPr/>
                    <a:lstStyle/>
                    <a:p>
                      <a:pPr rtl="0" algn="l"/>
                      <a:r>
                        <a:rPr sz="1500" b="1" i="0" lang="en-US">
                          <a:solidFill>
                            <a:srgbClr val="945222"/>
                          </a:solidFill>
                          <a:latin typeface="Segoe UI"/>
                        </a:rPr>
                        <a:t>speak</a:t>
                      </a:r>
                    </a:p>
                  </a:txBody>
                  <a:tcPr>
                    <a:solidFill>
                      <a:srgbClr val="FFFFFF"/>
                    </a:solidFill>
                  </a:tcPr>
                </a:tc>
                <a:tc>
                  <a:txBody>
                    <a:bodyPr/>
                    <a:lstStyle/>
                    <a:p>
                      <a:pPr rtl="1" algn="r"/>
                      <a:r>
                        <a:rPr sz="1700" b="0" i="0" lang="ar-EG" altLang="en-US">
                          <a:solidFill>
                            <a:srgbClr val="1C2333"/>
                          </a:solidFill>
                          <a:latin typeface="Traditional Arabic"/>
                        </a:rPr>
                        <a:t>يتحدث</a:t>
                      </a:r>
                    </a:p>
                  </a:txBody>
                  <a:tcPr>
                    <a:solidFill>
                      <a:srgbClr val="FFFFFF"/>
                    </a:solidFill>
                  </a:tcPr>
                </a:tc>
                <a:tc>
                  <a:txBody>
                    <a:bodyPr/>
                    <a:lstStyle/>
                    <a:p>
                      <a:pPr rtl="0" algn="l"/>
                      <a:r>
                        <a:rPr sz="1500" b="1" i="0" lang="en-US">
                          <a:solidFill>
                            <a:srgbClr val="945222"/>
                          </a:solidFill>
                          <a:latin typeface="Segoe UI"/>
                        </a:rPr>
                        <a:t>choose</a:t>
                      </a:r>
                    </a:p>
                  </a:txBody>
                  <a:tcPr>
                    <a:solidFill>
                      <a:srgbClr val="FFFFFF"/>
                    </a:solidFill>
                  </a:tcPr>
                </a:tc>
                <a:tc>
                  <a:txBody>
                    <a:bodyPr/>
                    <a:lstStyle/>
                    <a:p>
                      <a:pPr rtl="1" algn="r"/>
                      <a:r>
                        <a:rPr sz="1700" b="0" i="0" lang="ar-EG" altLang="en-US">
                          <a:solidFill>
                            <a:srgbClr val="1C2333"/>
                          </a:solidFill>
                          <a:latin typeface="Traditional Arabic"/>
                        </a:rPr>
                        <a:t>يختار</a:t>
                      </a:r>
                    </a:p>
                  </a:txBody>
                  <a:tcPr>
                    <a:solidFill>
                      <a:srgbClr val="FFFFFF"/>
                    </a:solidFill>
                  </a:tcPr>
                </a:tc>
              </a:tr>
              <a:tr h="384048">
                <a:tc>
                  <a:txBody>
                    <a:bodyPr/>
                    <a:lstStyle/>
                    <a:p>
                      <a:pPr rtl="0" algn="l"/>
                      <a:r>
                        <a:rPr sz="1500" b="1" i="0" lang="en-US">
                          <a:solidFill>
                            <a:srgbClr val="945222"/>
                          </a:solidFill>
                          <a:latin typeface="Segoe UI"/>
                        </a:rPr>
                        <a:t>come</a:t>
                      </a:r>
                    </a:p>
                  </a:txBody>
                  <a:tcPr>
                    <a:solidFill>
                      <a:srgbClr val="EEF3FA"/>
                    </a:solidFill>
                  </a:tcPr>
                </a:tc>
                <a:tc>
                  <a:txBody>
                    <a:bodyPr/>
                    <a:lstStyle/>
                    <a:p>
                      <a:pPr rtl="1" algn="r"/>
                      <a:r>
                        <a:rPr sz="1700" b="0" i="0" lang="ar-EG" altLang="en-US">
                          <a:solidFill>
                            <a:srgbClr val="1C2333"/>
                          </a:solidFill>
                          <a:latin typeface="Traditional Arabic"/>
                        </a:rPr>
                        <a:t>يأتي</a:t>
                      </a:r>
                    </a:p>
                  </a:txBody>
                  <a:tcPr>
                    <a:solidFill>
                      <a:srgbClr val="EEF3FA"/>
                    </a:solidFill>
                  </a:tcPr>
                </a:tc>
                <a:tc>
                  <a:txBody>
                    <a:bodyPr/>
                    <a:lstStyle/>
                    <a:p>
                      <a:pPr rtl="0" algn="l"/>
                      <a:r>
                        <a:rPr sz="1500" b="1" i="0" lang="en-US">
                          <a:solidFill>
                            <a:srgbClr val="945222"/>
                          </a:solidFill>
                          <a:latin typeface="Segoe UI"/>
                        </a:rPr>
                        <a:t>give</a:t>
                      </a:r>
                    </a:p>
                  </a:txBody>
                  <a:tcPr>
                    <a:solidFill>
                      <a:srgbClr val="EEF3FA"/>
                    </a:solidFill>
                  </a:tcPr>
                </a:tc>
                <a:tc>
                  <a:txBody>
                    <a:bodyPr/>
                    <a:lstStyle/>
                    <a:p>
                      <a:pPr rtl="1" algn="r"/>
                      <a:r>
                        <a:rPr sz="1700" b="0" i="0" lang="ar-EG" altLang="en-US">
                          <a:solidFill>
                            <a:srgbClr val="1C2333"/>
                          </a:solidFill>
                          <a:latin typeface="Traditional Arabic"/>
                        </a:rPr>
                        <a:t>يعطي</a:t>
                      </a:r>
                    </a:p>
                  </a:txBody>
                  <a:tcPr>
                    <a:solidFill>
                      <a:srgbClr val="EEF3FA"/>
                    </a:solidFill>
                  </a:tcPr>
                </a:tc>
                <a:tc>
                  <a:txBody>
                    <a:bodyPr/>
                    <a:lstStyle/>
                    <a:p>
                      <a:pPr rtl="0" algn="l"/>
                      <a:r>
                        <a:rPr sz="1500" b="1" i="0" lang="en-US">
                          <a:solidFill>
                            <a:srgbClr val="945222"/>
                          </a:solidFill>
                          <a:latin typeface="Segoe UI"/>
                        </a:rPr>
                        <a:t>sweep</a:t>
                      </a:r>
                    </a:p>
                  </a:txBody>
                  <a:tcPr>
                    <a:solidFill>
                      <a:srgbClr val="EEF3FA"/>
                    </a:solidFill>
                  </a:tcPr>
                </a:tc>
                <a:tc>
                  <a:txBody>
                    <a:bodyPr/>
                    <a:lstStyle/>
                    <a:p>
                      <a:pPr rtl="1" algn="r"/>
                      <a:r>
                        <a:rPr sz="1700" b="0" i="0" lang="ar-EG" altLang="en-US">
                          <a:solidFill>
                            <a:srgbClr val="1C2333"/>
                          </a:solidFill>
                          <a:latin typeface="Traditional Arabic"/>
                        </a:rPr>
                        <a:t>يكنس</a:t>
                      </a:r>
                    </a:p>
                  </a:txBody>
                  <a:tcPr>
                    <a:solidFill>
                      <a:srgbClr val="EEF3FA"/>
                    </a:solidFill>
                  </a:tcPr>
                </a:tc>
              </a:tr>
              <a:tr h="384048">
                <a:tc>
                  <a:txBody>
                    <a:bodyPr/>
                    <a:lstStyle/>
                    <a:p>
                      <a:pPr rtl="0" algn="l"/>
                      <a:r>
                        <a:rPr sz="1500" b="1" i="0" lang="en-US">
                          <a:solidFill>
                            <a:srgbClr val="945222"/>
                          </a:solidFill>
                          <a:latin typeface="Segoe UI"/>
                        </a:rPr>
                        <a:t>catch</a:t>
                      </a:r>
                    </a:p>
                  </a:txBody>
                  <a:tcPr>
                    <a:solidFill>
                      <a:srgbClr val="FFFFFF"/>
                    </a:solidFill>
                  </a:tcPr>
                </a:tc>
                <a:tc>
                  <a:txBody>
                    <a:bodyPr/>
                    <a:lstStyle/>
                    <a:p>
                      <a:pPr rtl="1" algn="r"/>
                      <a:r>
                        <a:rPr sz="1700" b="0" i="0" lang="ar-EG" altLang="en-US">
                          <a:solidFill>
                            <a:srgbClr val="1C2333"/>
                          </a:solidFill>
                          <a:latin typeface="Traditional Arabic"/>
                        </a:rPr>
                        <a:t>يلحق</a:t>
                      </a:r>
                    </a:p>
                  </a:txBody>
                  <a:tcPr>
                    <a:solidFill>
                      <a:srgbClr val="FFFFFF"/>
                    </a:solidFill>
                  </a:tcPr>
                </a:tc>
                <a:tc>
                  <a:txBody>
                    <a:bodyPr/>
                    <a:lstStyle/>
                    <a:p>
                      <a:pPr rtl="0" algn="l"/>
                      <a:r>
                        <a:rPr sz="1500" b="1" i="0" lang="en-US">
                          <a:solidFill>
                            <a:srgbClr val="945222"/>
                          </a:solidFill>
                          <a:latin typeface="Segoe UI"/>
                        </a:rPr>
                        <a:t>read</a:t>
                      </a:r>
                    </a:p>
                  </a:txBody>
                  <a:tcPr>
                    <a:solidFill>
                      <a:srgbClr val="FFFFFF"/>
                    </a:solidFill>
                  </a:tcPr>
                </a:tc>
                <a:tc>
                  <a:txBody>
                    <a:bodyPr/>
                    <a:lstStyle/>
                    <a:p>
                      <a:pPr rtl="1" algn="r"/>
                      <a:r>
                        <a:rPr sz="1700" b="0" i="0" lang="ar-EG" altLang="en-US">
                          <a:solidFill>
                            <a:srgbClr val="1C2333"/>
                          </a:solidFill>
                          <a:latin typeface="Traditional Arabic"/>
                        </a:rPr>
                        <a:t>يقرأ</a:t>
                      </a:r>
                    </a:p>
                  </a:txBody>
                  <a:tcPr>
                    <a:solidFill>
                      <a:srgbClr val="FFFFFF"/>
                    </a:solidFill>
                  </a:tcPr>
                </a:tc>
                <a:tc>
                  <a:txBody>
                    <a:bodyPr/>
                    <a:lstStyle/>
                    <a:p>
                      <a:pPr rtl="0" algn="l"/>
                      <a:r>
                        <a:rPr sz="1500" b="1" i="0" lang="en-US">
                          <a:solidFill>
                            <a:srgbClr val="945222"/>
                          </a:solidFill>
                          <a:latin typeface="Segoe UI"/>
                        </a:rPr>
                        <a:t>learn</a:t>
                      </a:r>
                    </a:p>
                  </a:txBody>
                  <a:tcPr>
                    <a:solidFill>
                      <a:srgbClr val="FFFFFF"/>
                    </a:solidFill>
                  </a:tcPr>
                </a:tc>
                <a:tc>
                  <a:txBody>
                    <a:bodyPr/>
                    <a:lstStyle/>
                    <a:p>
                      <a:pPr rtl="1" algn="r"/>
                      <a:r>
                        <a:rPr sz="1700" b="0" i="0" lang="ar-EG" altLang="en-US">
                          <a:solidFill>
                            <a:srgbClr val="1C2333"/>
                          </a:solidFill>
                          <a:latin typeface="Traditional Arabic"/>
                        </a:rPr>
                        <a:t>يتعلم</a:t>
                      </a:r>
                    </a:p>
                  </a:txBody>
                  <a:tcPr>
                    <a:solidFill>
                      <a:srgbClr val="FFFFFF"/>
                    </a:solidFill>
                  </a:tcPr>
                </a:tc>
              </a:tr>
              <a:tr h="384048">
                <a:tc>
                  <a:txBody>
                    <a:bodyPr/>
                    <a:lstStyle/>
                    <a:p>
                      <a:pPr rtl="0" algn="l"/>
                      <a:r>
                        <a:rPr sz="1500" b="1" i="0" lang="en-US">
                          <a:solidFill>
                            <a:srgbClr val="945222"/>
                          </a:solidFill>
                          <a:latin typeface="Segoe UI"/>
                        </a:rPr>
                        <a:t>grow</a:t>
                      </a:r>
                    </a:p>
                  </a:txBody>
                  <a:tcPr>
                    <a:solidFill>
                      <a:srgbClr val="EEF3FA"/>
                    </a:solidFill>
                  </a:tcPr>
                </a:tc>
                <a:tc>
                  <a:txBody>
                    <a:bodyPr/>
                    <a:lstStyle/>
                    <a:p>
                      <a:pPr rtl="1" algn="r"/>
                      <a:r>
                        <a:rPr sz="1700" b="0" i="0" lang="ar-EG" altLang="en-US">
                          <a:solidFill>
                            <a:srgbClr val="1C2333"/>
                          </a:solidFill>
                          <a:latin typeface="Traditional Arabic"/>
                        </a:rPr>
                        <a:t>ينمو</a:t>
                      </a:r>
                    </a:p>
                  </a:txBody>
                  <a:tcPr>
                    <a:solidFill>
                      <a:srgbClr val="EEF3FA"/>
                    </a:solidFill>
                  </a:tcPr>
                </a:tc>
                <a:tc>
                  <a:txBody>
                    <a:bodyPr/>
                    <a:lstStyle/>
                    <a:p>
                      <a:pPr rtl="0" algn="l"/>
                      <a:r>
                        <a:rPr sz="1500" b="1" i="0" lang="en-US">
                          <a:solidFill>
                            <a:srgbClr val="945222"/>
                          </a:solidFill>
                          <a:latin typeface="Segoe UI"/>
                        </a:rPr>
                        <a:t>ride</a:t>
                      </a:r>
                    </a:p>
                  </a:txBody>
                  <a:tcPr>
                    <a:solidFill>
                      <a:srgbClr val="EEF3FA"/>
                    </a:solidFill>
                  </a:tcPr>
                </a:tc>
                <a:tc>
                  <a:txBody>
                    <a:bodyPr/>
                    <a:lstStyle/>
                    <a:p>
                      <a:pPr rtl="1" algn="r"/>
                      <a:r>
                        <a:rPr sz="1700" b="0" i="0" lang="ar-EG" altLang="en-US">
                          <a:solidFill>
                            <a:srgbClr val="1C2333"/>
                          </a:solidFill>
                          <a:latin typeface="Traditional Arabic"/>
                        </a:rPr>
                        <a:t>يركب</a:t>
                      </a:r>
                    </a:p>
                  </a:txBody>
                  <a:tcPr>
                    <a:solidFill>
                      <a:srgbClr val="EEF3FA"/>
                    </a:solidFill>
                  </a:tcPr>
                </a:tc>
                <a:tc>
                  <a:txBody>
                    <a:bodyPr/>
                    <a:lstStyle/>
                    <a:p>
                      <a:pPr rtl="0" algn="l"/>
                      <a:r>
                        <a:rPr sz="1500" b="1" i="0" lang="en-US">
                          <a:solidFill>
                            <a:srgbClr val="945222"/>
                          </a:solidFill>
                          <a:latin typeface="Segoe UI"/>
                        </a:rPr>
                        <a:t>drive</a:t>
                      </a:r>
                    </a:p>
                  </a:txBody>
                  <a:tcPr>
                    <a:solidFill>
                      <a:srgbClr val="EEF3FA"/>
                    </a:solidFill>
                  </a:tcPr>
                </a:tc>
                <a:tc>
                  <a:txBody>
                    <a:bodyPr/>
                    <a:lstStyle/>
                    <a:p>
                      <a:pPr rtl="1" algn="r"/>
                      <a:r>
                        <a:rPr sz="1700" b="0" i="0" lang="ar-EG" altLang="en-US">
                          <a:solidFill>
                            <a:srgbClr val="1C2333"/>
                          </a:solidFill>
                          <a:latin typeface="Traditional Arabic"/>
                        </a:rPr>
                        <a:t>يقود</a:t>
                      </a:r>
                    </a:p>
                  </a:txBody>
                  <a:tcPr>
                    <a:solidFill>
                      <a:srgbClr val="EEF3FA"/>
                    </a:solidFill>
                  </a:tcPr>
                </a:tc>
              </a:tr>
              <a:tr h="384048">
                <a:tc>
                  <a:txBody>
                    <a:bodyPr/>
                    <a:lstStyle/>
                    <a:p>
                      <a:pPr rtl="0" algn="l"/>
                      <a:r>
                        <a:rPr sz="1500" b="1" i="0" lang="en-US">
                          <a:solidFill>
                            <a:srgbClr val="945222"/>
                          </a:solidFill>
                          <a:latin typeface="Segoe UI"/>
                        </a:rPr>
                        <a:t>pay</a:t>
                      </a:r>
                    </a:p>
                  </a:txBody>
                  <a:tcPr>
                    <a:solidFill>
                      <a:srgbClr val="FFFFFF"/>
                    </a:solidFill>
                  </a:tcPr>
                </a:tc>
                <a:tc>
                  <a:txBody>
                    <a:bodyPr/>
                    <a:lstStyle/>
                    <a:p>
                      <a:pPr rtl="1" algn="r"/>
                      <a:r>
                        <a:rPr sz="1700" b="0" i="0" lang="ar-EG" altLang="en-US">
                          <a:solidFill>
                            <a:srgbClr val="1C2333"/>
                          </a:solidFill>
                          <a:latin typeface="Traditional Arabic"/>
                        </a:rPr>
                        <a:t>يدفع</a:t>
                      </a:r>
                    </a:p>
                  </a:txBody>
                  <a:tcPr>
                    <a:solidFill>
                      <a:srgbClr val="FFFFFF"/>
                    </a:solidFill>
                  </a:tcPr>
                </a:tc>
                <a:tc>
                  <a:txBody>
                    <a:bodyPr/>
                    <a:lstStyle/>
                    <a:p>
                      <a:pPr rtl="0" algn="l"/>
                      <a:r>
                        <a:rPr sz="1500" b="1" i="0" lang="en-US">
                          <a:solidFill>
                            <a:srgbClr val="945222"/>
                          </a:solidFill>
                          <a:latin typeface="Segoe UI"/>
                        </a:rPr>
                        <a:t>see</a:t>
                      </a:r>
                    </a:p>
                  </a:txBody>
                  <a:tcPr>
                    <a:solidFill>
                      <a:srgbClr val="FFFFFF"/>
                    </a:solidFill>
                  </a:tcPr>
                </a:tc>
                <a:tc>
                  <a:txBody>
                    <a:bodyPr/>
                    <a:lstStyle/>
                    <a:p>
                      <a:pPr rtl="1" algn="r"/>
                      <a:r>
                        <a:rPr sz="1700" b="0" i="0" lang="ar-EG" altLang="en-US">
                          <a:solidFill>
                            <a:srgbClr val="1C2333"/>
                          </a:solidFill>
                          <a:latin typeface="Traditional Arabic"/>
                        </a:rPr>
                        <a:t>يرى</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945222"/>
                          </a:solidFill>
                          <a:latin typeface="Segoe UI"/>
                        </a:rPr>
                        <a:t>find</a:t>
                      </a:r>
                    </a:p>
                  </a:txBody>
                  <a:tcPr>
                    <a:solidFill>
                      <a:srgbClr val="EEF3FA"/>
                    </a:solidFill>
                  </a:tcPr>
                </a:tc>
                <a:tc>
                  <a:txBody>
                    <a:bodyPr/>
                    <a:lstStyle/>
                    <a:p>
                      <a:pPr rtl="1" algn="r"/>
                      <a:r>
                        <a:rPr sz="1700" b="0" i="0" lang="ar-EG" altLang="en-US">
                          <a:solidFill>
                            <a:srgbClr val="1C2333"/>
                          </a:solidFill>
                          <a:latin typeface="Traditional Arabic"/>
                        </a:rPr>
                        <a:t>يجد</a:t>
                      </a:r>
                    </a:p>
                  </a:txBody>
                  <a:tcPr>
                    <a:solidFill>
                      <a:srgbClr val="EEF3FA"/>
                    </a:solidFill>
                  </a:tcPr>
                </a:tc>
                <a:tc>
                  <a:txBody>
                    <a:bodyPr/>
                    <a:lstStyle/>
                    <a:p>
                      <a:pPr rtl="0" algn="l"/>
                      <a:r>
                        <a:rPr sz="1500" b="1" i="0" lang="en-US">
                          <a:solidFill>
                            <a:srgbClr val="945222"/>
                          </a:solidFill>
                          <a:latin typeface="Segoe UI"/>
                        </a:rPr>
                        <a:t>fly</a:t>
                      </a:r>
                    </a:p>
                  </a:txBody>
                  <a:tcPr>
                    <a:solidFill>
                      <a:srgbClr val="EEF3FA"/>
                    </a:solidFill>
                  </a:tcPr>
                </a:tc>
                <a:tc>
                  <a:txBody>
                    <a:bodyPr/>
                    <a:lstStyle/>
                    <a:p>
                      <a:pPr rtl="1" algn="r"/>
                      <a:r>
                        <a:rPr sz="1700" b="0" i="0" lang="ar-EG" altLang="en-US">
                          <a:solidFill>
                            <a:srgbClr val="1C2333"/>
                          </a:solidFill>
                          <a:latin typeface="Traditional Arabic"/>
                        </a:rPr>
                        <a:t>يطير</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newsflash/>
  </p:transition>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(1/6)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past of go (يذهب) is ……   (stood – went – said)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past of buy (يشتري) is ……   (bought – left – drove)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bought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past of drink (يشرب) is ……   (built – heard – drank)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drank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past of meet (يقابل) is ……   (sold – caught – met)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met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 past of swim (يسبح) is ……   (swam – felt – flew)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swam</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(2/6)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 past of eat (يأكل) is ……   (learnt – ate – flew)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past of sell (يبيع) is ……   (met – sold – was)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sold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past of make (يصنع) is ……   (built – made – learnt)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made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 past of run (يجري) is ……   (ran – went – did)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ran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The past of have / has (يمتلك) is ……   (had – won – spoke)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had</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(3/6)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 past of is / am (يكون) is ……   (sold – felt – was)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 past of are (يكونون) is ……   (met – paid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The past of do / does (يفعل) is ……   (did – swam – met)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The past of feel (يشعر) is ……   (wore – felt – ate)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felt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 past of hear (يسمع) is ……   (flew – caught – heard)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heard</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(4/6)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 past of take (يأخذ) is ……   (learnt – took – had)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took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 past of win (يفوز) is ……   (won – grew – paid)</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won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The past of think (يفكر) is ……   (felt – thought – swam)</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thought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The past of lose (يفقد) is ……   (caught – ate – lost)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lost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The past of get up (يستيقظ) is ……   (came – got up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got up</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(5/6)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The past of wear (يرتدي) is ……   (lost – grew – wore)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wore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The past of forget (ينسى) is ……   (kept – swam – forgot)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forgot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The past of say (يقول) is ……   (drove – lost – said)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said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The past of know (يعرف) is ……   (wore – had – knew)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knew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25) The past of build (يبني) is ……   (got up – drank – built)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built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(6/6)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26) The past of keep (يحفظ) is ……   (paid – came – kept)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kept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27) The past of sleep (ينام) is ……   (brought – spoke – slept)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slept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28) The past of come (يأتي) is ……   (flew – came – paid)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came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29) The past of catch (يلحق) is ……   (kept – came – caught)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caught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30) The past of grow (ينمو) is ……   (found – felt – grew)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grew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Give the past simple of: pay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paid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Give the past simple of: find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found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Give the past simple of: stand</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stood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Give the past simple of: leave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left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Give the past simple of: speak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spoke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Give the past simple of: give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gave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Give the past simple of: read</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read</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Give the past simple of: ride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rode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Give the past simple of: see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saw</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Give the past simple of: fly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flew</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Give the past simple of: send</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sent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Give the past simple of: bring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brought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Give the past simple of: choose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chose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Give the past simple of: sweep</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swept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Give the past simple of: learn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learnt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Give the past simple of: drive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drove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Give the past simple of: play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played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Give the past simple of: wash</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washed</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Give the past simple of: walk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walked</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Give the past simple of: help</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helped</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Give the past simple of: visit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visited</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22) Give the past simple of: listen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listened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23) Give the past simple of: like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24) Give the past simple of: work</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worked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25) Give the past simple of: study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studied</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26) Give the past simple of: clean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cleaned</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27) Give the past simple of: watch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watched</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28) Give the past simple of: cook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cooked</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21</a:t>
            </a:r>
          </a:p>
          <a:p>
            <a:pPr algn="ctr" rtl="0"/>
            <a:r>
              <a:rPr sz="4600" b="1" i="0" lang="en-US">
                <a:solidFill>
                  <a:srgbClr val="FFFFFF"/>
                </a:solidFill>
                <a:latin typeface="Segoe UI"/>
              </a:rPr>
              <a:t>The Past Simple Tense</a:t>
            </a:r>
          </a:p>
          <a:p>
            <a:pPr algn="ctr" rtl="1"/>
            <a:r>
              <a:rPr sz="2900" b="0" i="0" lang="ar-EG" altLang="en-US">
                <a:solidFill>
                  <a:srgbClr val="FFFFFF"/>
                </a:solidFill>
                <a:latin typeface="Traditional Arabic"/>
              </a:rPr>
              <a:t>زمن الماضي البسيط</a:t>
            </a:r>
          </a:p>
        </p:txBody>
      </p:sp>
    </p:spTree>
  </p:cSld>
  <p:clrMapOvr>
    <a:masterClrMapping/>
  </p:clrMapOvr>
  <p:transition spd="med">
    <p:zoom dir="in"/>
  </p:transition>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C"/>
                </a:solidFill>
                <a:latin typeface="Traditional Arabic"/>
              </a:rPr>
              <a:t>▶ فاعل + التصريف الثاني للفعل + باقي الجملة .</a:t>
            </a:r>
          </a:p>
          <a:p>
            <a:pPr rtl="1" algn="r">
              <a:spcAft>
                <a:spcPts val="600"/>
              </a:spcAft>
            </a:pPr>
            <a:r>
              <a:rPr sz="2100" b="0" i="0" lang="ar-EG" altLang="en-US">
                <a:solidFill>
                  <a:srgbClr val="1C2333"/>
                </a:solidFill>
                <a:latin typeface="Traditional Arabic"/>
              </a:rPr>
              <a:t>يُستخدم للتعبير عن شيء حدث في الماضي وانتهى.</a:t>
            </a:r>
          </a:p>
          <a:p>
            <a:pPr rtl="1" algn="r">
              <a:spcAft>
                <a:spcPts val="600"/>
              </a:spcAft>
            </a:pPr>
            <a:r>
              <a:rPr sz="2100" b="0" i="0" lang="ar-EG" altLang="en-US">
                <a:solidFill>
                  <a:srgbClr val="1C2333"/>
                </a:solidFill>
                <a:latin typeface="Traditional Arabic"/>
              </a:rPr>
              <a:t>• live → live d — يضاف للفعل d إذا كان آخره e.</a:t>
            </a:r>
          </a:p>
          <a:p>
            <a:pPr rtl="1" algn="r">
              <a:spcAft>
                <a:spcPts val="600"/>
              </a:spcAft>
            </a:pPr>
            <a:r>
              <a:rPr sz="2100" b="0" i="0" lang="ar-EG" altLang="en-US">
                <a:solidFill>
                  <a:srgbClr val="1C2333"/>
                </a:solidFill>
                <a:latin typeface="Traditional Arabic"/>
              </a:rPr>
              <a:t>• study → stud ied — إذا انتهى الفعل بـ y وقبلها ساكن نحذفها ونضيف ied.</a:t>
            </a:r>
          </a:p>
          <a:p>
            <a:pPr rtl="1" algn="r">
              <a:spcAft>
                <a:spcPts val="600"/>
              </a:spcAft>
            </a:pPr>
            <a:r>
              <a:rPr sz="2100" b="0" i="0" lang="ar-EG" altLang="en-US">
                <a:solidFill>
                  <a:srgbClr val="1C2333"/>
                </a:solidFill>
                <a:latin typeface="Traditional Arabic"/>
              </a:rPr>
              <a:t>• play → play ed — إذا انتهى الفعل بـ y وقبلها متحرك نضيف ed.</a:t>
            </a:r>
          </a:p>
          <a:p>
            <a:pPr rtl="1" algn="r">
              <a:spcAft>
                <a:spcPts val="600"/>
              </a:spcAft>
            </a:pPr>
            <a:r>
              <a:rPr sz="2100" b="0" i="0" lang="ar-EG" altLang="en-US">
                <a:solidFill>
                  <a:srgbClr val="1C2333"/>
                </a:solidFill>
                <a:latin typeface="Traditional Arabic"/>
              </a:rPr>
              <a:t>• watch → watch ed — باقي الأفعال المنتظمة يضاف لها ed.</a:t>
            </a:r>
          </a:p>
        </p:txBody>
      </p:sp>
    </p:spTree>
  </p:cSld>
  <p:clrMapOvr>
    <a:masterClrMapping/>
  </p:clrMapOvr>
  <p:transition spd="med">
    <p:circle/>
  </p:transition>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1" algn="r"/>
            <a:r>
              <a:rPr sz="1700" b="0" i="0" lang="ar-EG" altLang="en-US">
                <a:solidFill>
                  <a:srgbClr val="DDE6F3"/>
                </a:solidFill>
                <a:latin typeface="Traditional Arabic"/>
              </a:rPr>
              <a:t>Keywords — الكلمات الدالة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Keyword | المعنى | ملاحظة</a:t>
            </a:r>
          </a:p>
          <a:p>
            <a:pPr rtl="1" algn="r">
              <a:spcAft>
                <a:spcPts val="600"/>
              </a:spcAft>
            </a:pPr>
            <a:r>
              <a:rPr sz="2100" b="0" i="0" lang="ar-EG" altLang="en-US">
                <a:solidFill>
                  <a:srgbClr val="1C2333"/>
                </a:solidFill>
                <a:latin typeface="Traditional Arabic"/>
              </a:rPr>
              <a:t>yesterday | أمس | تأتي في آخر الكلام</a:t>
            </a:r>
          </a:p>
          <a:p>
            <a:pPr rtl="1" algn="r">
              <a:spcAft>
                <a:spcPts val="600"/>
              </a:spcAft>
            </a:pPr>
            <a:r>
              <a:rPr sz="2100" b="0" i="0" lang="ar-EG" altLang="en-US">
                <a:solidFill>
                  <a:srgbClr val="1C2333"/>
                </a:solidFill>
                <a:latin typeface="Traditional Arabic"/>
              </a:rPr>
              <a:t>ago | منذ | يأتي قبلها مدة زمنية</a:t>
            </a:r>
          </a:p>
          <a:p>
            <a:pPr rtl="1" algn="r">
              <a:spcAft>
                <a:spcPts val="600"/>
              </a:spcAft>
            </a:pPr>
            <a:r>
              <a:rPr sz="2100" b="0" i="0" lang="ar-EG" altLang="en-US">
                <a:solidFill>
                  <a:srgbClr val="1C2333"/>
                </a:solidFill>
                <a:latin typeface="Traditional Arabic"/>
              </a:rPr>
              <a:t>last … | الماضي | يأتي بعدها فترة زمنية: last night / last week</a:t>
            </a:r>
          </a:p>
          <a:p>
            <a:pPr rtl="1" algn="r">
              <a:spcAft>
                <a:spcPts val="600"/>
              </a:spcAft>
            </a:pPr>
            <a:r>
              <a:rPr sz="2100" b="0" i="0" lang="ar-EG" altLang="en-US">
                <a:solidFill>
                  <a:srgbClr val="1C2333"/>
                </a:solidFill>
                <a:latin typeface="Traditional Arabic"/>
              </a:rPr>
              <a:t>in + سنة | في عام | يأتي بعدها سنة: in 2005</a:t>
            </a:r>
          </a:p>
          <a:p>
            <a:pPr rtl="1" algn="r">
              <a:spcAft>
                <a:spcPts val="600"/>
              </a:spcAft>
            </a:pPr>
            <a:r>
              <a:rPr sz="2100" b="0" i="0" lang="ar-EG" altLang="en-US">
                <a:solidFill>
                  <a:srgbClr val="1C2333"/>
                </a:solidFill>
                <a:latin typeface="Traditional Arabic"/>
              </a:rPr>
              <a:t>once / one day | ذات مرة / يوم ما | </a:t>
            </a:r>
          </a:p>
          <a:p>
            <a:pPr rtl="0" algn="l">
              <a:spcAft>
                <a:spcPts val="600"/>
              </a:spcAft>
            </a:pPr>
            <a:r>
              <a:rPr sz="1800" b="0" i="0" lang="en-US">
                <a:solidFill>
                  <a:srgbClr val="1C2333"/>
                </a:solidFill>
                <a:latin typeface="Segoe UI"/>
              </a:rPr>
              <a:t>in the past | في الماضي | </a:t>
            </a:r>
          </a:p>
          <a:p>
            <a:pPr rtl="0" algn="l">
              <a:spcAft>
                <a:spcPts val="600"/>
              </a:spcAft>
            </a:pPr>
            <a:r>
              <a:rPr sz="1800" b="0" i="0" lang="en-US">
                <a:solidFill>
                  <a:srgbClr val="1C2333"/>
                </a:solidFill>
                <a:latin typeface="Segoe UI"/>
              </a:rPr>
              <a:t>When I was … | عندما كنت | </a:t>
            </a:r>
          </a:p>
        </p:txBody>
      </p:sp>
    </p:spTree>
  </p:cSld>
  <p:clrMapOvr>
    <a:masterClrMapping/>
  </p:clrMapOvr>
  <p:transition spd="med">
    <p:diamond/>
  </p:transition>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C"/>
                </a:solidFill>
                <a:latin typeface="Traditional Arabic"/>
              </a:rPr>
              <a:t>▶ فاعل + didn't + مصدر + باقي الجملة .</a:t>
            </a:r>
          </a:p>
          <a:p>
            <a:pPr rtl="1" algn="r">
              <a:spcAft>
                <a:spcPts val="600"/>
              </a:spcAft>
            </a:pPr>
            <a:r>
              <a:rPr sz="2100" b="0" i="0" lang="ar-EG" altLang="en-US">
                <a:solidFill>
                  <a:srgbClr val="1C2333"/>
                </a:solidFill>
                <a:latin typeface="Traditional Arabic"/>
              </a:rPr>
              <a:t>النفي مع جميع الضمائر، ويعود الفعل للمصدر.</a:t>
            </a:r>
          </a:p>
          <a:p>
            <a:pPr rtl="1" algn="r">
              <a:spcAft>
                <a:spcPts val="600"/>
              </a:spcAft>
            </a:pPr>
            <a:r>
              <a:rPr sz="2300" b="1" i="0" lang="ar-EG" altLang="en-US">
                <a:solidFill>
                  <a:srgbClr val="94222C"/>
                </a:solidFill>
                <a:latin typeface="Traditional Arabic"/>
              </a:rPr>
              <a:t>▶ Did + فاعل + مصدر + باقي الجملة ?</a:t>
            </a:r>
          </a:p>
          <a:p>
            <a:pPr rtl="1" algn="r">
              <a:spcAft>
                <a:spcPts val="600"/>
              </a:spcAft>
            </a:pPr>
            <a:r>
              <a:rPr sz="2100" b="0" i="0" lang="ar-EG" altLang="en-US">
                <a:solidFill>
                  <a:srgbClr val="1C2333"/>
                </a:solidFill>
                <a:latin typeface="Traditional Arabic"/>
              </a:rPr>
              <a:t>    السؤال بـ Did ويعود الفعل للمصدر.</a:t>
            </a:r>
          </a:p>
          <a:p>
            <a:pPr rtl="1" algn="r">
              <a:spcAft>
                <a:spcPts val="600"/>
              </a:spcAft>
            </a:pPr>
            <a:r>
              <a:rPr sz="2300" b="1" i="0" lang="ar-EG" altLang="en-US">
                <a:solidFill>
                  <a:srgbClr val="94222C"/>
                </a:solidFill>
                <a:latin typeface="Traditional Arabic"/>
              </a:rPr>
              <a:t>▶ أداة استفهام + did + فاعل + مصدر … ?</a:t>
            </a:r>
          </a:p>
          <a:p>
            <a:pPr rtl="1" algn="r">
              <a:spcAft>
                <a:spcPts val="600"/>
              </a:spcAft>
            </a:pPr>
            <a:r>
              <a:rPr sz="2100" b="0" i="0" lang="ar-EG" altLang="en-US">
                <a:solidFill>
                  <a:srgbClr val="1C2333"/>
                </a:solidFill>
                <a:latin typeface="Traditional Arabic"/>
              </a:rPr>
              <a:t>السؤال بأداة استفهام.</a:t>
            </a:r>
          </a:p>
        </p:txBody>
      </p:sp>
    </p:spTree>
  </p:cSld>
  <p:clrMapOvr>
    <a:masterClrMapping/>
  </p:clrMapOvr>
  <p:transition spd="med">
    <p:wedge/>
  </p:transition>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A) Translate into Arabic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played football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لعبت كرة القدم أمس.</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visited Cairo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زار القاهرة الأسبوع الماضي.</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studied English three days ago.</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ذاكرنا الإنجليزية منذ ثلاثة أيام.</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swam in the Red Sea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سبحت في البحر الأحمر أمس.</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mum baked a cake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خبزت أمي كعكة الليلة الماضية.</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walked to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didn't walk to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visited Cairo last year.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visit Cairo last year.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studied English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didn't study English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mum baked a cake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didn't bake a cake last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washed our car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didn't wash our car yesterday.</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played football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didn't play football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They went to Alexandria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didn't go to Alexandria last week.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sister watched TV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didn't watch TV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It rained a lot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didn't rain a lot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went to the club with my friends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didn't go to the club with my friends yesterday.</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met my friend last week.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meet your friend last week?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sister played tennis yesterday.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your sister play tennis yesterday?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studied Arabic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he study Arabic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They cleaned the house three hours ago.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they clean the house three hours ago?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went to the museum last weekend.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she go to the museum last weekend?</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Omar met his friend last year.</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Omar meet his friend last year?</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visited London in 2015.</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visit London in 2015?</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parents had a nice weekend last week.</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your parents have a nice weekend last week?</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climbed the mountain yesterday.</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climb the mountain yesterday?</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Did you watch TV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did. / No, I didn't.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Did she listen to music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did. / No, she didn't.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Did they play football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Did he visit the zoo last week?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did. / No, he didn't.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Did Rody study English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did. / No, she didn't.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Did your parents travel to Cairo last week?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Did he plant a tree yesterday?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did. / No, he didn't.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Did your mother bake a cake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did. / No, she didn't.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Did you walk to school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did. / No, I didn't.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Did it rain a lot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did. / No, it didn't.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Did they listen to music yesterday?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she didn't like milk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she like milk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I went to school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go to school last week?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he didn't visit Cairo last month.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he visit Cairo last month?</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I studied English last year.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study English last year?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Yes, they played football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they play football last night?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 we didn't see the lion in the zoo.</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see the lion in the zoo?</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Yes, my mum drove the car yesterday.</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your mum drive the car yesterday?</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No, students didn't play football yesterday.</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students play football yesterday?</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went to Alexandria yesterday. (When)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did you go to Alexandria?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father travelled to Paris by plane. (How)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father travel to Paris?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studied English last night. (What)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they study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went to school with my friend. (Who)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did you go to school with?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had a new house last year. (What)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they have last year?</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played football in the club. (Where)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did he play football?</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didn't go to school because she was ill. (Why)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didn't she go to school?</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parents went to Cairo by car. (How)</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parents go to Cairo?</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went to school to learn. (Why)</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did they go to school?</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visited London last year.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visit London last year? / Where did you visit last year?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Where did you play tennis?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played tennis in the club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Did they visit the pyramids?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What did your mum bake?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baked a cake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met my friend last year.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did you meet your friend?</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climbed a mountain.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you climb?</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father bought a new car.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your father buy?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He built a new house.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he build?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Did you saw the pyramids? (correct)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see the pyramids?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We didn't go to school late.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go to school late?</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did you go to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went to school by bus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What did you study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studied English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Where did they play football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played football in the club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Who did you watch TV with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watched TV with my family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What did they buy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bought a new car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How did she travel to Paris?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travelled by plane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Who did he play tennis with?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played tennis with his brother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When did they study Arabic?</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studied Arabic last night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Where did your father travel last week?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travelled to Alexandria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What did your mother bake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baked a cake .</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Where did you go yesterday? (Cairo)</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went to Cairo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What did your friends play last night? (football)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played football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How did they go to work yesterday? (by bus)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went to work by bus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Why didn't she go to school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go to school because she was ill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Who did you study English with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studied English with my mum .</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When did you meet your friend?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met my friend yesterday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Where did he travel last year?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travelled to London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What did she bake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baked a pie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When did your father go to work?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went to work at 8 o'clock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How did your mother go to hospital?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went to hospital by taxi .</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 TV at home last night.   (watch – watched – watching)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watched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 visit Cairo last year.   (don't – doesn't – didn't)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you see the accident yesterday?   (Did – Do – Does)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in the sea last week.   (swam – swim – swimming)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swam</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Where …… you go yesterday?   (does – did – do)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What did you …… last night?   (eat – ate – eating)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eat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Last summer my family …… a nice holiday.   (has – had – have)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father …… a new car last week.   (buys – bought – buy)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bought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She …… to the market yesterday.   (go – went – goes)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 a great movie last night.   (saw – see – seen)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saw</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Where …… they play football after school yesterday?   (do – did – does)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We …… a big meal on Friday.   (has – had – having)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He …… to school late yesterday.   (came – come – comes)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came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My brother …… a new bike last week.   (buy – buys – bought)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bought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They …… in Paris in 2010.   (live – lives – lived)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lived</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 …… in London two years ago.   (am – was – were)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She …… a cake for her birthday yesterday.   (make – made – making)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made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They …… to the museum yesterday.   (goes – go – went)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 he watch TV last night?   (Does – Did – Do)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It …… rain a lot last night.   (don't – doesn't – didn't)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didn't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yesterday – She – English – study – didn't.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study English yesterday.</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 – you – What – week – did – last?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you do last week?</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went – summer – family – to – Alexandria – last – My.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family went to Alexandria last summer.</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football – night – He – in – played – the club – last.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played football in the club last night.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didn't – school – you – Why – to – go – yesterday?</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didn't you go to school yesterday?</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mum – baked – night – cake – last – a – My.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baked a cake last night.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parents – did – to – How – travel – your – Cairo?</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parents travel to Cairo?</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in – visited – I – Paris – 2010 – my family – and.</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family and I visited Paris in 2010.</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month – We – last – visited – uncle – our.</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visited our uncle last month.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Where do you go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did you go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didn't bought a new dress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buy a new dress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meet my friend last week.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met my friend last week.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 you go to the cinema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go to the cinema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How did your parents travelled to Cairo?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parents travel to Cairo?</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didn't built a new house last year.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didn't build a new house last year.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brother has a new baby yesterday.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had a new baby yesterday.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Where did you go to school? By bus.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 go to school? By bus.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Did you saw the pyramids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see the pyramids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Where did you get up? At 7 o'clock.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did you get up? At 7 o'clock.</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When did you live with? With my parents.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did you live with? With my parents.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My friend come early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 came early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She study English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studied English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How did Ali went to school?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Ali go to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My mum make a nice pie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made a nice pie yesterday.</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She isn't at school yesterday.</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wasn't at school yesterday.</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We didn't sad last night.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weren't sad last night.</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Did you at home yesterday?</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at home yesterday?</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Where …… you go last Friday?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Where did you go last Friday?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I …… to the zoo with my family.</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I went to the zoo with my family.</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 animals did you see?</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What animals did you see?</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I …… lions, elephants, and tigers.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I saw lions, elephants, and tigers.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Did you enjoy the trip?</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Did you enjoy the trip?</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Yes, I did. It was great.</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Have a nice day.</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Have a nice day.</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Thank you.</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When …… you arrive at the museum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When did you arrive at the museum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We …… there at 10 a.m.</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We arrived there at 10 a.m.</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 you take any photos?</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Did you take any photos?</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Yes, I …… many photos.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Yes, I took many photos.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How was it?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How was it?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It …… amazing.</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It was amazing.</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Lst>
  </p:timing>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Where …… you go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Where did you go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I …… to the supermarket.</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I went to the supermarket.</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What did you …… ?</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What did you buy ?</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I bought milk, rice, and bread.</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I bought milk, rice, and bread.</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 you buy anything else?</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Did you buy anything else?</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No, ……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No, I didn't .'</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Have a nice day.</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Have a nice day.</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Thank you.</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circle(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ircle(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circle(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circle(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Where …… you go after school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Where did you go after school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 …… to the library.</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 went to the library.</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 did you read?</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What did you read?</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 …… a book about animals.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 read a book about animals.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Who did you go with?</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Who did you go with?</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 …… with my friend Ali.</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 went with my friend Ali.</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box(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ox(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ox(in)">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Lst>
  </p:timing>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22</a:t>
            </a:r>
          </a:p>
          <a:p>
            <a:pPr algn="ctr" rtl="0"/>
            <a:r>
              <a:rPr sz="4600" b="1" i="0" lang="en-US">
                <a:solidFill>
                  <a:srgbClr val="FFFFFF"/>
                </a:solidFill>
                <a:latin typeface="Segoe UI"/>
              </a:rPr>
              <a:t>Should</a:t>
            </a:r>
          </a:p>
          <a:p>
            <a:pPr algn="ctr" rtl="1"/>
            <a:r>
              <a:rPr sz="2900" b="0" i="0" lang="ar-EG" altLang="en-US">
                <a:solidFill>
                  <a:srgbClr val="FFFFFF"/>
                </a:solidFill>
                <a:latin typeface="Traditional Arabic"/>
              </a:rPr>
              <a:t>فعل النصيحة</a:t>
            </a:r>
          </a:p>
        </p:txBody>
      </p:sp>
    </p:spTree>
  </p:cSld>
  <p:clrMapOvr>
    <a:masterClrMapping/>
  </p:clrMapOvr>
  <p:transition spd="med">
    <p:zoom dir="in"/>
  </p:transition>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9435"/>
                </a:solidFill>
                <a:latin typeface="Traditional Arabic"/>
              </a:rPr>
              <a:t>▶ فاعل + should + مصدر + باقي الجملة .</a:t>
            </a:r>
          </a:p>
          <a:p>
            <a:pPr rtl="1" algn="r">
              <a:spcAft>
                <a:spcPts val="600"/>
              </a:spcAft>
            </a:pPr>
            <a:r>
              <a:rPr sz="2100" b="0" i="0" lang="ar-EG" altLang="en-US">
                <a:solidFill>
                  <a:srgbClr val="1C2333"/>
                </a:solidFill>
                <a:latin typeface="Traditional Arabic"/>
              </a:rPr>
              <a:t>    تُستخدم should لإعطاء النصيحة، ويأتي بعدها الفعل في المصدر بدون to.</a:t>
            </a:r>
          </a:p>
          <a:p>
            <a:pPr rtl="0" algn="l">
              <a:spcAft>
                <a:spcPts val="600"/>
              </a:spcAft>
            </a:pPr>
            <a:r>
              <a:rPr sz="2000" b="1" i="0" lang="en-US">
                <a:solidFill>
                  <a:srgbClr val="229435"/>
                </a:solidFill>
                <a:latin typeface="Segoe UI"/>
              </a:rPr>
              <a:t>▶ should not = shouldn't</a:t>
            </a:r>
          </a:p>
          <a:p>
            <a:pPr rtl="1" algn="r">
              <a:spcAft>
                <a:spcPts val="600"/>
              </a:spcAft>
            </a:pPr>
            <a:r>
              <a:rPr sz="2100" b="0" i="0" lang="ar-EG" altLang="en-US">
                <a:solidFill>
                  <a:srgbClr val="1C2333"/>
                </a:solidFill>
                <a:latin typeface="Traditional Arabic"/>
              </a:rPr>
              <a:t>    النفي بإضافة not بعد should.</a:t>
            </a:r>
          </a:p>
          <a:p>
            <a:pPr rtl="1" algn="r">
              <a:spcAft>
                <a:spcPts val="600"/>
              </a:spcAft>
            </a:pPr>
            <a:r>
              <a:rPr sz="2300" b="1" i="0" lang="ar-EG" altLang="en-US">
                <a:solidFill>
                  <a:srgbClr val="229435"/>
                </a:solidFill>
                <a:latin typeface="Traditional Arabic"/>
              </a:rPr>
              <a:t>▶ Should + فاعل + مصدر … ?</a:t>
            </a:r>
          </a:p>
          <a:p>
            <a:pPr rtl="1" algn="r">
              <a:spcAft>
                <a:spcPts val="600"/>
              </a:spcAft>
            </a:pPr>
            <a:r>
              <a:rPr sz="2100" b="0" i="0" lang="ar-EG" altLang="en-US">
                <a:solidFill>
                  <a:srgbClr val="1C2333"/>
                </a:solidFill>
                <a:latin typeface="Traditional Arabic"/>
              </a:rPr>
              <a:t>    السؤال بتقديم should على الفاعل.</a:t>
            </a:r>
          </a:p>
          <a:p>
            <a:pPr rtl="1" algn="r">
              <a:spcAft>
                <a:spcPts val="600"/>
              </a:spcAft>
            </a:pPr>
            <a:r>
              <a:rPr sz="2300" b="1" i="0" lang="ar-EG" altLang="en-US">
                <a:solidFill>
                  <a:srgbClr val="229435"/>
                </a:solidFill>
                <a:latin typeface="Traditional Arabic"/>
              </a:rPr>
              <a:t>▶ أداة استفهام + should + فاعل + مصدر … ?</a:t>
            </a:r>
          </a:p>
          <a:p>
            <a:pPr rtl="1" algn="r">
              <a:spcAft>
                <a:spcPts val="600"/>
              </a:spcAft>
            </a:pPr>
            <a:r>
              <a:rPr sz="2100" b="0" i="0" lang="ar-EG" altLang="en-US">
                <a:solidFill>
                  <a:srgbClr val="1C2333"/>
                </a:solidFill>
                <a:latin typeface="Traditional Arabic"/>
              </a:rPr>
              <a:t>السؤال بأداة استفهام.</a:t>
            </a:r>
          </a:p>
          <a:p>
            <a:pPr rtl="0" algn="l">
              <a:spcAft>
                <a:spcPts val="600"/>
              </a:spcAft>
            </a:pPr>
            <a:r>
              <a:rPr sz="1700" b="0" i="1" lang="en-US">
                <a:solidFill>
                  <a:srgbClr val="5B6478"/>
                </a:solidFill>
                <a:latin typeface="Segoe UI"/>
              </a:rPr>
              <a:t>   e.g. You should eat healthy food. – You shouldn't lie. – Should he take medicine?</a:t>
            </a:r>
          </a:p>
        </p:txBody>
      </p:sp>
    </p:spTree>
  </p:cSld>
  <p:clrMapOvr>
    <a:masterClrMapping/>
  </p:clrMapOvr>
  <p:transition spd="med">
    <p:comb dir="horz"/>
  </p:transition>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You …… eat healthy food.   (should – shouldn't)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You …… lie.   (should – shouldn't)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You …… drive fast.   (should – shouldn't)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 be on time.   (should – shouldn't)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You …… help your parents.   (should – shouldn't)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You …… stay up late.   (should – shouldn't)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You …… help the poor.   (should – shouldn't)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 be lazy.   (should – shouldn't)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 waste your time.   (should – shouldn't)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should join us.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they join us?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should stay at home.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stay at home?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should wear a coat.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she wear a coat?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should play sports.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we play sports?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should take medicine.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take medicine?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should leave early.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we leave early?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should study hard.</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she study hard?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should follow the school rules.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follow the school rules?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He should help his parents.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help his parents?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should go to bed early.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go to bed early?</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They should eat healthy food.</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they eat healthy food?</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You should leave early.</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leave early?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should go to school early. (When)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they go to school?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should study English. (What)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you study?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should arrive on time. (When)</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he arrive?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should go to school on foot. (How)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should she go to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You should help your parents. (Who)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should I help?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should play football. (What)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you play?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You should eat healthy food. (What)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I 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They should travel to Cairo. (Where)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should they travel?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 movie should start at 7 o'clock. (When)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the movie start?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should go to work by train. (How)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should he go to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She should help her mom. (Who)</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should she help?</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You should to study hard.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 study hard.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You should not to go to school.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 not go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Should he studies hard?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study hard?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should eats healthy food.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 eat healthy food.</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should working hard.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should work hard.</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She shouldn't is late.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shouldn't be late.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shouldn't to leave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shouldn't leave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 should practicing more.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should practise more.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What they should do?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they do?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should clean the room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should clean the room . / Should I clean the room?</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She shouldn't cries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shouldn't cry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They should are calm at the library.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should be calm at the library.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How you should go to school?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should you go to school?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What Mona should do?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Mona do?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Should he drinks fresh water?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drink fresh water?</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You should waste your time.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shouldn't waste your time.</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When should it starts ?</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it start ?</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Where should I sitting ?</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should I sit ?</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